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MFT 701. Introduce the course as an invitation to see relationships rather than individuals as the unit of clinical work. Name the four phases and the assessment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description slowly. Invite students to say, in one sentence, what they hope this course will change about how they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outcomes are the contract for the semester. Point out that the final portfolio asks for evidence of all six, not a grade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 class in time. Note that theory is front-loaded so that clinical work in the second half can be comparative rather than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weekly rhythm and the preparation expected before each lecture. The seminar is where the learning happens; the lecture only sets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assessment. Emphasise that the case formulation is formative — feedback in Week 9 is meant to feed the final examination.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 Foundations. Read the phase description and name the four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 Begin from the essential question: “When the unit of treatment is a relationship, what exactly is it that changes?”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Begin from the essential question: “What kind of explanation does a system require — and what kind of cause is a pattern?”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3. Begin from the essential question: “How did a profession learn to see relationships — and what did it cost to learn?”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4. Begin from the essential question: “If the problem lives in the organisation of the family, what exactly do we change?”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II: Theoretical Cartography. Read the phase description and name the four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5. Begin from the essential question: “How does the past continue to speak in the present — and who is loyal to whom?”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6. Begin from the essential question: “What happens when the therapist stops explaining and starts experiencing?”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7. Begin from the essential question: “If meaning is made in language, what is therapy making?”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8. Begin from the essential question: “How does a therapist choose a theory — and then hold it lightly?”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III: The Clinical Encounter. Read the phase description and name the four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9.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9. Begin from the essential question: “How do you join a system without joining its triangles?”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10. Begin from the essential question: “What must a therapist know before intervening — and what does the asking itself do?”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11. Begin from the essential question: “Whose confidence is it, when the client is a family?”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12. Begin from the essential question: “Whose normal is the therapy measuring against?”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IV: Integration &amp; Transition. Read the phase description and name the four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13.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13. Begin from the essential question: “How does a child’s symptom speak for the family — and to it?”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14.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14. Begin from the essential question: “What if the problem is not the argument, but the cycle beneath it?”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15.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15. Begin from the essential question: “When the family changes shape, what holds it together — and what must be made safe first?”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vignette aloud, then give pairs three minutes on the first prompt. Take responses without correcting them. Use the second prompt to surface what is absent from the room, and the third to move toward a testable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16. Ask the essential question and let it sit. Preview the three outcomes; do not read the key terms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16. Begin from the essential question: “How will you know your work is helping — and who are you becoming as a therapist?” Do not resolve it for the class. Work through the three blocks, using a clinical example for each. Close by naming the one idea students must be able to use in supervision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slowly, one element at a time. Ask a student to narrate it back to you in their own words, then ask what the diagram leaves out. The caption is part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protocol: five minutes of silent writing, then pairs, then plenary. Protect the reflective frame — this is not a debate. Draw out two or three contributions and connect them back to the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working vocabulary. Ask each student to choose one term they could not yet define precisely, and to write a definition in their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primary texts. The deck is a map; the reading is the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claim: the family is the context of the solution. Invite one sentence from each student about what they will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jpe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jpe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jpe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jpe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365760"/>
            <a:ext cx="11460450" cy="6126480"/>
          </a:xfrm>
          <a:prstGeom prst="rect">
            <a:avLst/>
          </a:prstGeom>
          <a:solidFill>
            <a:srgbClr val="FFFFFF">
              <a:alpha val="0"/>
            </a:srgbClr>
          </a:solidFill>
          <a:ln w="6350">
            <a:solidFill>
              <a:srgbClr val="C2A05F"/>
            </a:solidFill>
            <a:prstDash val="solid"/>
          </a:ln>
        </p:spPr>
      </p:sp>
      <p:sp>
        <p:nvSpPr>
          <p:cNvPr id="3" name="Shape 1"/>
          <p:cNvSpPr/>
          <p:nvPr/>
        </p:nvSpPr>
        <p:spPr>
          <a:xfrm>
            <a:off x="493776" y="493776"/>
            <a:ext cx="438912" cy="91"/>
          </a:xfrm>
          <a:prstGeom prst="line">
            <a:avLst/>
          </a:prstGeom>
          <a:noFill/>
          <a:ln w="10160">
            <a:solidFill>
              <a:srgbClr val="E7D3A9">
                <a:alpha val="70000"/>
              </a:srgbClr>
            </a:solidFill>
            <a:prstDash val="solid"/>
            <a:headEnd type="none"/>
            <a:tailEnd type="none"/>
          </a:ln>
        </p:spPr>
      </p:sp>
      <p:sp>
        <p:nvSpPr>
          <p:cNvPr id="4" name="Shape 2"/>
          <p:cNvSpPr/>
          <p:nvPr/>
        </p:nvSpPr>
        <p:spPr>
          <a:xfrm>
            <a:off x="493776" y="493776"/>
            <a:ext cx="91" cy="438912"/>
          </a:xfrm>
          <a:prstGeom prst="line">
            <a:avLst/>
          </a:prstGeom>
          <a:noFill/>
          <a:ln w="10160">
            <a:solidFill>
              <a:srgbClr val="E7D3A9">
                <a:alpha val="70000"/>
              </a:srgbClr>
            </a:solidFill>
            <a:prstDash val="solid"/>
            <a:headEnd type="none"/>
            <a:tailEnd type="none"/>
          </a:ln>
        </p:spPr>
      </p:sp>
      <p:sp>
        <p:nvSpPr>
          <p:cNvPr id="5" name="Text 3"/>
          <p:cNvSpPr txBox="1"/>
          <p:nvPr/>
        </p:nvSpPr>
        <p:spPr>
          <a:xfrm>
            <a:off x="914400" y="960120"/>
            <a:ext cx="7498080" cy="262636"/>
          </a:xfrm>
          <a:prstGeom prst="rect">
            <a:avLst/>
          </a:prstGeom>
          <a:noFill/>
          <a:ln/>
        </p:spPr>
        <p:txBody>
          <a:bodyPr wrap="square" lIns="0" tIns="0" rIns="0" bIns="0" rtlCol="0" anchor="t"/>
          <a:lstStyle/>
          <a:p>
            <a:pPr algn="l" indent="0" marL="0">
              <a:lnSpc>
                <a:spcPts val="1188"/>
              </a:lnSpc>
              <a:buNone/>
            </a:pPr>
            <a:r>
              <a:rPr lang="en-US" sz="880" spc="320" kern="0" dirty="0">
                <a:solidFill>
                  <a:srgbClr val="E7D3A9"/>
                </a:solidFill>
                <a:latin typeface="Calibri" pitchFamily="34" charset="0"/>
                <a:ea typeface="Calibri" pitchFamily="34" charset="-122"/>
                <a:cs typeface="Calibri" pitchFamily="34" charset="-120"/>
              </a:rPr>
              <a:t>MASTER OF MARRIAGE AND FAMILY THERAPY</a:t>
            </a:r>
            <a:endParaRPr lang="en-US" sz="880" dirty="0"/>
          </a:p>
        </p:txBody>
      </p:sp>
      <p:sp>
        <p:nvSpPr>
          <p:cNvPr id="6" name="Shape 4"/>
          <p:cNvSpPr/>
          <p:nvPr/>
        </p:nvSpPr>
        <p:spPr>
          <a:xfrm>
            <a:off x="932688" y="1298448"/>
            <a:ext cx="987552" cy="91"/>
          </a:xfrm>
          <a:prstGeom prst="line">
            <a:avLst/>
          </a:prstGeom>
          <a:noFill/>
          <a:ln w="10160">
            <a:solidFill>
              <a:srgbClr val="C2A05F">
                <a:alpha val="80000"/>
              </a:srgbClr>
            </a:solidFill>
            <a:prstDash val="solid"/>
            <a:headEnd type="none"/>
            <a:tailEnd type="none"/>
          </a:ln>
        </p:spPr>
      </p:sp>
      <p:sp>
        <p:nvSpPr>
          <p:cNvPr id="7" name="Text 5"/>
          <p:cNvSpPr txBox="1"/>
          <p:nvPr/>
        </p:nvSpPr>
        <p:spPr>
          <a:xfrm>
            <a:off x="896112" y="1883664"/>
            <a:ext cx="8138160" cy="2139696"/>
          </a:xfrm>
          <a:prstGeom prst="rect">
            <a:avLst/>
          </a:prstGeom>
          <a:noFill/>
          <a:ln/>
        </p:spPr>
        <p:txBody>
          <a:bodyPr wrap="square" lIns="0" tIns="0" rIns="0" bIns="0" rtlCol="0" anchor="t"/>
          <a:lstStyle/>
          <a:p>
            <a:pPr algn="l" indent="0" marL="0">
              <a:lnSpc>
                <a:spcPts val="5724"/>
              </a:lnSpc>
              <a:buNone/>
            </a:pPr>
            <a:r>
              <a:rPr lang="en-US" sz="5400" dirty="0">
                <a:solidFill>
                  <a:srgbClr val="F8F3E9"/>
                </a:solidFill>
                <a:latin typeface="Georgia" pitchFamily="34" charset="0"/>
                <a:ea typeface="Georgia" pitchFamily="34" charset="-122"/>
                <a:cs typeface="Georgia" pitchFamily="34" charset="-120"/>
              </a:rPr>
              <a:t>Fundamentals of Marriage</a:t>
            </a:r>
            <a:endParaRPr lang="en-US" sz="5400" dirty="0"/>
          </a:p>
          <a:p>
            <a:pPr algn="l" indent="0" marL="0">
              <a:lnSpc>
                <a:spcPts val="5724"/>
              </a:lnSpc>
              <a:buNone/>
            </a:pPr>
            <a:r>
              <a:rPr lang="en-US" sz="5400" dirty="0">
                <a:solidFill>
                  <a:srgbClr val="F8F3E9"/>
                </a:solidFill>
                <a:latin typeface="Georgia" pitchFamily="34" charset="0"/>
                <a:ea typeface="Georgia" pitchFamily="34" charset="-122"/>
                <a:cs typeface="Georgia" pitchFamily="34" charset="-120"/>
              </a:rPr>
              <a:t>and Family Therapy</a:t>
            </a:r>
            <a:endParaRPr lang="en-US" sz="5400" dirty="0"/>
          </a:p>
        </p:txBody>
      </p:sp>
      <p:sp>
        <p:nvSpPr>
          <p:cNvPr id="8" name="Shape 6"/>
          <p:cNvSpPr/>
          <p:nvPr/>
        </p:nvSpPr>
        <p:spPr>
          <a:xfrm>
            <a:off x="932688" y="3648456"/>
            <a:ext cx="2084832" cy="91"/>
          </a:xfrm>
          <a:prstGeom prst="line">
            <a:avLst/>
          </a:prstGeom>
          <a:noFill/>
          <a:ln w="11430">
            <a:solidFill>
              <a:srgbClr val="C2A05F"/>
            </a:solidFill>
            <a:prstDash val="solid"/>
            <a:headEnd type="none"/>
            <a:tailEnd type="none"/>
          </a:ln>
        </p:spPr>
      </p:sp>
      <p:sp>
        <p:nvSpPr>
          <p:cNvPr id="9" name="Text 7"/>
          <p:cNvSpPr txBox="1"/>
          <p:nvPr/>
        </p:nvSpPr>
        <p:spPr>
          <a:xfrm>
            <a:off x="914400" y="3813048"/>
            <a:ext cx="7680960" cy="487680"/>
          </a:xfrm>
          <a:prstGeom prst="rect">
            <a:avLst/>
          </a:prstGeom>
          <a:noFill/>
          <a:ln/>
        </p:spPr>
        <p:txBody>
          <a:bodyPr wrap="square" lIns="0" tIns="0" rIns="0" bIns="0" rtlCol="0" anchor="t"/>
          <a:lstStyle/>
          <a:p>
            <a:pPr algn="l" indent="0" marL="0">
              <a:lnSpc>
                <a:spcPts val="2240"/>
              </a:lnSpc>
              <a:buNone/>
            </a:pPr>
            <a:r>
              <a:rPr lang="en-US" sz="1600" i="1" dirty="0">
                <a:solidFill>
                  <a:srgbClr val="E7D3A9"/>
                </a:solidFill>
                <a:latin typeface="Georgia" pitchFamily="34" charset="0"/>
                <a:ea typeface="Georgia" pitchFamily="34" charset="-122"/>
                <a:cs typeface="Georgia" pitchFamily="34" charset="-120"/>
              </a:rPr>
              <a:t>A Sixteen-Week Graduate Seminar</a:t>
            </a:r>
            <a:endParaRPr lang="en-US" sz="1600" dirty="0"/>
          </a:p>
        </p:txBody>
      </p:sp>
      <p:sp>
        <p:nvSpPr>
          <p:cNvPr id="10" name="Text 8"/>
          <p:cNvSpPr txBox="1"/>
          <p:nvPr/>
        </p:nvSpPr>
        <p:spPr>
          <a:xfrm>
            <a:off x="914400" y="4361688"/>
            <a:ext cx="7315200" cy="274574"/>
          </a:xfrm>
          <a:prstGeom prst="rect">
            <a:avLst/>
          </a:prstGeom>
          <a:noFill/>
          <a:ln/>
        </p:spPr>
        <p:txBody>
          <a:bodyPr wrap="square" lIns="0" tIns="0" rIns="0" bIns="0" rtlCol="0" anchor="t"/>
          <a:lstStyle/>
          <a:p>
            <a:pPr algn="l" indent="0" marL="0">
              <a:lnSpc>
                <a:spcPts val="1242"/>
              </a:lnSpc>
              <a:buNone/>
            </a:pPr>
            <a:r>
              <a:rPr lang="en-US" sz="920" spc="120" kern="0" dirty="0">
                <a:solidFill>
                  <a:srgbClr val="EFE5D3"/>
                </a:solidFill>
                <a:latin typeface="Calibri" pitchFamily="34" charset="0"/>
                <a:ea typeface="Calibri" pitchFamily="34" charset="-122"/>
                <a:cs typeface="Calibri" pitchFamily="34" charset="-120"/>
              </a:rPr>
              <a:t>THEORY · PRACTICE · SUPERVISION · PROFESSIONAL IDENTITY</a:t>
            </a:r>
            <a:endParaRPr lang="en-US" sz="920" dirty="0"/>
          </a:p>
        </p:txBody>
      </p:sp>
      <p:sp>
        <p:nvSpPr>
          <p:cNvPr id="11" name="Text 9"/>
          <p:cNvSpPr txBox="1"/>
          <p:nvPr/>
        </p:nvSpPr>
        <p:spPr>
          <a:xfrm>
            <a:off x="8732520" y="1847088"/>
            <a:ext cx="2834640" cy="328295"/>
          </a:xfrm>
          <a:prstGeom prst="rect">
            <a:avLst/>
          </a:prstGeom>
          <a:noFill/>
          <a:ln/>
        </p:spPr>
        <p:txBody>
          <a:bodyPr wrap="square" lIns="0" tIns="0" rIns="0" bIns="0" rtlCol="0" anchor="t"/>
          <a:lstStyle/>
          <a:p>
            <a:pPr algn="r" indent="0" marL="0">
              <a:lnSpc>
                <a:spcPts val="1485"/>
              </a:lnSpc>
              <a:buNone/>
            </a:pPr>
            <a:r>
              <a:rPr lang="en-US" sz="1100" spc="800" kern="0" dirty="0">
                <a:solidFill>
                  <a:srgbClr val="C2A05F"/>
                </a:solidFill>
                <a:latin typeface="Calibri" pitchFamily="34" charset="0"/>
                <a:ea typeface="Calibri" pitchFamily="34" charset="-122"/>
                <a:cs typeface="Calibri" pitchFamily="34" charset="-120"/>
              </a:rPr>
              <a:t>MFT</a:t>
            </a:r>
            <a:endParaRPr lang="en-US" sz="1100" dirty="0"/>
          </a:p>
        </p:txBody>
      </p:sp>
      <p:sp>
        <p:nvSpPr>
          <p:cNvPr id="12" name="Shape 10"/>
          <p:cNvSpPr/>
          <p:nvPr/>
        </p:nvSpPr>
        <p:spPr>
          <a:xfrm>
            <a:off x="9802368" y="2139696"/>
            <a:ext cx="1444752" cy="91"/>
          </a:xfrm>
          <a:prstGeom prst="line">
            <a:avLst/>
          </a:prstGeom>
          <a:noFill/>
          <a:ln w="7620">
            <a:solidFill>
              <a:srgbClr val="C2A05F">
                <a:alpha val="70000"/>
              </a:srgbClr>
            </a:solidFill>
            <a:prstDash val="solid"/>
            <a:headEnd type="none"/>
            <a:tailEnd type="none"/>
          </a:ln>
        </p:spPr>
      </p:sp>
      <p:sp>
        <p:nvSpPr>
          <p:cNvPr id="13" name="Text 11"/>
          <p:cNvSpPr txBox="1"/>
          <p:nvPr/>
        </p:nvSpPr>
        <p:spPr>
          <a:xfrm>
            <a:off x="8549640" y="2212848"/>
            <a:ext cx="2788920" cy="2336800"/>
          </a:xfrm>
          <a:prstGeom prst="rect">
            <a:avLst/>
          </a:prstGeom>
          <a:noFill/>
          <a:ln/>
        </p:spPr>
        <p:txBody>
          <a:bodyPr wrap="square" lIns="0" tIns="0" rIns="0" bIns="0" rtlCol="0" anchor="t"/>
          <a:lstStyle/>
          <a:p>
            <a:pPr algn="r" indent="0" marL="0">
              <a:lnSpc>
                <a:spcPts val="9200"/>
              </a:lnSpc>
              <a:buNone/>
            </a:pPr>
            <a:r>
              <a:rPr lang="en-US" sz="9200" dirty="0">
                <a:solidFill>
                  <a:srgbClr val="E7D3A9"/>
                </a:solidFill>
                <a:latin typeface="Georgia" pitchFamily="34" charset="0"/>
                <a:ea typeface="Georgia" pitchFamily="34" charset="-122"/>
                <a:cs typeface="Georgia" pitchFamily="34" charset="-120"/>
              </a:rPr>
              <a:t>701</a:t>
            </a:r>
            <a:endParaRPr lang="en-US" sz="9200" dirty="0"/>
          </a:p>
        </p:txBody>
      </p:sp>
      <p:sp>
        <p:nvSpPr>
          <p:cNvPr id="14" name="Text 12"/>
          <p:cNvSpPr txBox="1"/>
          <p:nvPr/>
        </p:nvSpPr>
        <p:spPr>
          <a:xfrm>
            <a:off x="8595360" y="3703320"/>
            <a:ext cx="2743200" cy="238760"/>
          </a:xfrm>
          <a:prstGeom prst="rect">
            <a:avLst/>
          </a:prstGeom>
          <a:noFill/>
          <a:ln/>
        </p:spPr>
        <p:txBody>
          <a:bodyPr wrap="square" lIns="0" tIns="0" rIns="0" bIns="0" rtlCol="0" anchor="t"/>
          <a:lstStyle/>
          <a:p>
            <a:pPr algn="r" indent="0" marL="0">
              <a:lnSpc>
                <a:spcPts val="1080"/>
              </a:lnSpc>
              <a:buNone/>
            </a:pPr>
            <a:r>
              <a:rPr lang="en-US" sz="800" spc="320" kern="0" dirty="0">
                <a:solidFill>
                  <a:srgbClr val="EFE5D3"/>
                </a:solidFill>
                <a:latin typeface="Calibri" pitchFamily="34" charset="0"/>
                <a:ea typeface="Calibri" pitchFamily="34" charset="-122"/>
                <a:cs typeface="Calibri" pitchFamily="34" charset="-120"/>
              </a:rPr>
              <a:t>COURSE DECK</a:t>
            </a:r>
            <a:endParaRPr lang="en-US" sz="800" dirty="0"/>
          </a:p>
        </p:txBody>
      </p:sp>
      <p:sp>
        <p:nvSpPr>
          <p:cNvPr id="15" name="Text 13"/>
          <p:cNvSpPr txBox="1"/>
          <p:nvPr/>
        </p:nvSpPr>
        <p:spPr>
          <a:xfrm>
            <a:off x="8595360" y="3950208"/>
            <a:ext cx="2743200" cy="387985"/>
          </a:xfrm>
          <a:prstGeom prst="rect">
            <a:avLst/>
          </a:prstGeom>
          <a:noFill/>
          <a:ln/>
        </p:spPr>
        <p:txBody>
          <a:bodyPr wrap="square" lIns="0" tIns="0" rIns="0" bIns="0" rtlCol="0" anchor="t"/>
          <a:lstStyle/>
          <a:p>
            <a:pPr algn="r" indent="0" marL="0">
              <a:lnSpc>
                <a:spcPts val="1755"/>
              </a:lnSpc>
              <a:buNone/>
            </a:pPr>
            <a:r>
              <a:rPr lang="en-US" sz="1300" i="1" dirty="0">
                <a:solidFill>
                  <a:srgbClr val="EFE5D3"/>
                </a:solidFill>
                <a:latin typeface="Georgia" pitchFamily="34" charset="0"/>
                <a:ea typeface="Georgia" pitchFamily="34" charset="-122"/>
                <a:cs typeface="Georgia" pitchFamily="34" charset="-120"/>
              </a:rPr>
              <a:t>Weeks 1 – 16</a:t>
            </a:r>
            <a:endParaRPr lang="en-US" sz="1300" dirty="0"/>
          </a:p>
        </p:txBody>
      </p:sp>
      <p:sp>
        <p:nvSpPr>
          <p:cNvPr id="16" name="Shape 14"/>
          <p:cNvSpPr/>
          <p:nvPr/>
        </p:nvSpPr>
        <p:spPr>
          <a:xfrm>
            <a:off x="914400" y="5358384"/>
            <a:ext cx="6949440" cy="91"/>
          </a:xfrm>
          <a:prstGeom prst="line">
            <a:avLst/>
          </a:prstGeom>
          <a:noFill/>
          <a:ln w="6350">
            <a:solidFill>
              <a:srgbClr val="C2A05F">
                <a:alpha val="35000"/>
              </a:srgbClr>
            </a:solidFill>
            <a:prstDash val="solid"/>
            <a:headEnd type="none"/>
            <a:tailEnd type="none"/>
          </a:ln>
        </p:spPr>
      </p:sp>
      <p:sp>
        <p:nvSpPr>
          <p:cNvPr id="17" name="Text 15"/>
          <p:cNvSpPr txBox="1"/>
          <p:nvPr/>
        </p:nvSpPr>
        <p:spPr>
          <a:xfrm>
            <a:off x="914400" y="5486400"/>
            <a:ext cx="4937760" cy="238760"/>
          </a:xfrm>
          <a:prstGeom prst="rect">
            <a:avLst/>
          </a:prstGeom>
          <a:noFill/>
          <a:ln/>
        </p:spPr>
        <p:txBody>
          <a:bodyPr wrap="square" lIns="0" tIns="0" rIns="0" bIns="0" rtlCol="0" anchor="t"/>
          <a:lstStyle/>
          <a:p>
            <a:pPr algn="l" indent="0" marL="0">
              <a:lnSpc>
                <a:spcPts val="1080"/>
              </a:lnSpc>
              <a:buNone/>
            </a:pPr>
            <a:r>
              <a:rPr lang="en-US" sz="800" spc="180" kern="0" dirty="0">
                <a:solidFill>
                  <a:srgbClr val="EFE5D3"/>
                </a:solidFill>
                <a:latin typeface="Calibri" pitchFamily="34" charset="0"/>
                <a:ea typeface="Calibri" pitchFamily="34" charset="-122"/>
                <a:cs typeface="Calibri" pitchFamily="34" charset="-120"/>
              </a:rPr>
              <a:t>FIRST SEMESTER</a:t>
            </a:r>
            <a:endParaRPr lang="en-US" sz="800" dirty="0"/>
          </a:p>
        </p:txBody>
      </p:sp>
      <p:sp>
        <p:nvSpPr>
          <p:cNvPr id="18" name="Text 16"/>
          <p:cNvSpPr txBox="1"/>
          <p:nvPr/>
        </p:nvSpPr>
        <p:spPr>
          <a:xfrm>
            <a:off x="6035040" y="5486400"/>
            <a:ext cx="2377440" cy="238760"/>
          </a:xfrm>
          <a:prstGeom prst="rect">
            <a:avLst/>
          </a:prstGeom>
          <a:noFill/>
          <a:ln/>
        </p:spPr>
        <p:txBody>
          <a:bodyPr wrap="square" lIns="0" tIns="0" rIns="0" bIns="0" rtlCol="0" anchor="t"/>
          <a:lstStyle/>
          <a:p>
            <a:pPr algn="l" indent="0" marL="0">
              <a:lnSpc>
                <a:spcPts val="1080"/>
              </a:lnSpc>
              <a:buNone/>
            </a:pPr>
            <a:r>
              <a:rPr lang="en-US" sz="800" spc="180" kern="0" dirty="0">
                <a:solidFill>
                  <a:srgbClr val="EFE5D3"/>
                </a:solidFill>
                <a:latin typeface="Calibri" pitchFamily="34" charset="0"/>
                <a:ea typeface="Calibri" pitchFamily="34" charset="-122"/>
                <a:cs typeface="Calibri" pitchFamily="34" charset="-120"/>
              </a:rPr>
              <a:t>1.71 UNITS</a:t>
            </a:r>
            <a:endParaRPr lang="en-US" sz="800" dirty="0"/>
          </a:p>
        </p:txBody>
      </p:sp>
      <p:sp>
        <p:nvSpPr>
          <p:cNvPr id="19" name="Text 17"/>
          <p:cNvSpPr txBox="1"/>
          <p:nvPr/>
        </p:nvSpPr>
        <p:spPr>
          <a:xfrm>
            <a:off x="8595360" y="5486400"/>
            <a:ext cx="2743200" cy="238760"/>
          </a:xfrm>
          <a:prstGeom prst="rect">
            <a:avLst/>
          </a:prstGeom>
          <a:noFill/>
          <a:ln/>
        </p:spPr>
        <p:txBody>
          <a:bodyPr wrap="square" lIns="0" tIns="0" rIns="0" bIns="0" rtlCol="0" anchor="t"/>
          <a:lstStyle/>
          <a:p>
            <a:pPr algn="r" indent="0" marL="0">
              <a:lnSpc>
                <a:spcPts val="1080"/>
              </a:lnSpc>
              <a:buNone/>
            </a:pPr>
            <a:r>
              <a:rPr lang="en-US" sz="800" spc="180" kern="0" dirty="0">
                <a:solidFill>
                  <a:srgbClr val="8B8375"/>
                </a:solidFill>
                <a:latin typeface="Calibri" pitchFamily="34" charset="0"/>
                <a:ea typeface="Calibri" pitchFamily="34" charset="-122"/>
                <a:cs typeface="Calibri" pitchFamily="34" charset="-120"/>
              </a:rPr>
              <a:t>16 WEEKS · 77 SLIDES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COURSE DESCRIPTION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02</a:t>
            </a:r>
            <a:endParaRPr lang="en-US" sz="950" dirty="0"/>
          </a:p>
        </p:txBody>
      </p:sp>
      <p:sp>
        <p:nvSpPr>
          <p:cNvPr id="8" name="Text 6"/>
          <p:cNvSpPr txBox="1"/>
          <p:nvPr/>
        </p:nvSpPr>
        <p:spPr>
          <a:xfrm>
            <a:off x="822960" y="960120"/>
            <a:ext cx="6812280" cy="1028700"/>
          </a:xfrm>
          <a:prstGeom prst="rect">
            <a:avLst/>
          </a:prstGeom>
          <a:noFill/>
          <a:ln/>
        </p:spPr>
        <p:txBody>
          <a:bodyPr wrap="square" lIns="0" tIns="0" rIns="0" bIns="0" rtlCol="0" anchor="t"/>
          <a:lstStyle/>
          <a:p>
            <a:pPr algn="l" indent="0" marL="0">
              <a:lnSpc>
                <a:spcPts val="2800"/>
              </a:lnSpc>
              <a:buNone/>
            </a:pPr>
            <a:r>
              <a:rPr lang="en-US" sz="2500" dirty="0">
                <a:solidFill>
                  <a:srgbClr val="1B1815"/>
                </a:solidFill>
                <a:latin typeface="Georgia" pitchFamily="34" charset="0"/>
                <a:ea typeface="Georgia" pitchFamily="34" charset="-122"/>
                <a:cs typeface="Georgia" pitchFamily="34" charset="-120"/>
              </a:rPr>
              <a:t>A discipline of relationship, not a technique of</a:t>
            </a:r>
            <a:endParaRPr lang="en-US" sz="2500" dirty="0"/>
          </a:p>
          <a:p>
            <a:pPr algn="l" indent="0" marL="0">
              <a:lnSpc>
                <a:spcPts val="2800"/>
              </a:lnSpc>
              <a:buNone/>
            </a:pPr>
            <a:r>
              <a:rPr lang="en-US" sz="2500" dirty="0">
                <a:solidFill>
                  <a:srgbClr val="1B1815"/>
                </a:solidFill>
                <a:latin typeface="Georgia" pitchFamily="34" charset="0"/>
                <a:ea typeface="Georgia" pitchFamily="34" charset="-122"/>
                <a:cs typeface="Georgia" pitchFamily="34" charset="-120"/>
              </a:rPr>
              <a:t>repair</a:t>
            </a:r>
            <a:endParaRPr lang="en-US" sz="2500" dirty="0"/>
          </a:p>
        </p:txBody>
      </p:sp>
      <p:sp>
        <p:nvSpPr>
          <p:cNvPr id="9" name="Text 7"/>
          <p:cNvSpPr txBox="1"/>
          <p:nvPr/>
        </p:nvSpPr>
        <p:spPr>
          <a:xfrm>
            <a:off x="822960" y="1817624"/>
            <a:ext cx="6675120" cy="942340"/>
          </a:xfrm>
          <a:prstGeom prst="rect">
            <a:avLst/>
          </a:prstGeom>
          <a:noFill/>
          <a:ln/>
        </p:spPr>
        <p:txBody>
          <a:bodyPr wrap="square" lIns="0" tIns="0" rIns="0" bIns="0" rtlCol="0" anchor="t"/>
          <a:lstStyle/>
          <a:p>
            <a:pPr algn="l" indent="0" marL="0">
              <a:lnSpc>
                <a:spcPts val="1590"/>
              </a:lnSpc>
              <a:buNone/>
            </a:pPr>
            <a:r>
              <a:rPr lang="en-US" sz="1060" dirty="0">
                <a:solidFill>
                  <a:srgbClr val="5B544A"/>
                </a:solidFill>
                <a:latin typeface="Calibri" pitchFamily="34" charset="0"/>
                <a:ea typeface="Calibri" pitchFamily="34" charset="-122"/>
                <a:cs typeface="Calibri" pitchFamily="34" charset="-120"/>
              </a:rPr>
              <a:t>This course introduces marriage and family therapy as a distinctive discipline: a way of understanding distress as it is</a:t>
            </a:r>
            <a:endParaRPr lang="en-US" sz="1060" dirty="0"/>
          </a:p>
          <a:p>
            <a:pPr algn="l" indent="0" marL="0">
              <a:lnSpc>
                <a:spcPts val="1590"/>
              </a:lnSpc>
              <a:buNone/>
            </a:pPr>
            <a:r>
              <a:rPr lang="en-US" sz="1060" dirty="0">
                <a:solidFill>
                  <a:srgbClr val="5B544A"/>
                </a:solidFill>
                <a:latin typeface="Calibri" pitchFamily="34" charset="0"/>
                <a:ea typeface="Calibri" pitchFamily="34" charset="-122"/>
                <a:cs typeface="Calibri" pitchFamily="34" charset="-120"/>
              </a:rPr>
              <a:t>produced, maintained and transformed in relationships. Students encounter the field’s intellectual history, its major</a:t>
            </a:r>
            <a:endParaRPr lang="en-US" sz="1060" dirty="0"/>
          </a:p>
          <a:p>
            <a:pPr algn="l" indent="0" marL="0">
              <a:lnSpc>
                <a:spcPts val="1590"/>
              </a:lnSpc>
              <a:buNone/>
            </a:pPr>
            <a:r>
              <a:rPr lang="en-US" sz="1060" dirty="0">
                <a:solidFill>
                  <a:srgbClr val="5B544A"/>
                </a:solidFill>
                <a:latin typeface="Calibri" pitchFamily="34" charset="0"/>
                <a:ea typeface="Calibri" pitchFamily="34" charset="-122"/>
                <a:cs typeface="Calibri" pitchFamily="34" charset="-120"/>
              </a:rPr>
              <a:t>theoretical traditions, and the practical and ethical demands of clinical work with couples and families. The emphasis</a:t>
            </a:r>
            <a:endParaRPr lang="en-US" sz="1060" dirty="0"/>
          </a:p>
          <a:p>
            <a:pPr algn="l" indent="0" marL="0">
              <a:lnSpc>
                <a:spcPts val="1590"/>
              </a:lnSpc>
              <a:buNone/>
            </a:pPr>
            <a:r>
              <a:rPr lang="en-US" sz="1060" dirty="0">
                <a:solidFill>
                  <a:srgbClr val="5B544A"/>
                </a:solidFill>
                <a:latin typeface="Calibri" pitchFamily="34" charset="0"/>
                <a:ea typeface="Calibri" pitchFamily="34" charset="-122"/>
                <a:cs typeface="Calibri" pitchFamily="34" charset="-120"/>
              </a:rPr>
              <a:t>throughout is on systemic thinking — learning to see patterns, contexts and meanings rather than isolated symptoms.</a:t>
            </a:r>
            <a:endParaRPr lang="en-US" sz="1060" dirty="0"/>
          </a:p>
        </p:txBody>
      </p:sp>
      <p:sp>
        <p:nvSpPr>
          <p:cNvPr id="10" name="Shape 8"/>
          <p:cNvSpPr/>
          <p:nvPr/>
        </p:nvSpPr>
        <p:spPr>
          <a:xfrm>
            <a:off x="7882128" y="1097280"/>
            <a:ext cx="3483864" cy="3054096"/>
          </a:xfrm>
          <a:prstGeom prst="roundRect">
            <a:avLst>
              <a:gd name="adj" fmla="val 179"/>
            </a:avLst>
          </a:prstGeom>
          <a:solidFill>
            <a:srgbClr val="EFE5D3">
              <a:alpha val="50000"/>
            </a:srgbClr>
          </a:solidFill>
          <a:ln w="12700">
            <a:solidFill>
              <a:srgbClr val="FFFFFF">
                <a:alpha val="0"/>
              </a:srgbClr>
            </a:solidFill>
            <a:prstDash val="solid"/>
          </a:ln>
        </p:spPr>
      </p:sp>
      <p:sp>
        <p:nvSpPr>
          <p:cNvPr id="11" name="Text 9"/>
          <p:cNvSpPr txBox="1"/>
          <p:nvPr/>
        </p:nvSpPr>
        <p:spPr>
          <a:xfrm>
            <a:off x="8138160" y="1298448"/>
            <a:ext cx="3026664" cy="196977"/>
          </a:xfrm>
          <a:prstGeom prst="rect">
            <a:avLst/>
          </a:prstGeom>
          <a:noFill/>
          <a:ln/>
        </p:spPr>
        <p:txBody>
          <a:bodyPr wrap="square" lIns="0" tIns="0" rIns="0" bIns="0" rtlCol="0" anchor="t"/>
          <a:lstStyle/>
          <a:p>
            <a:pPr algn="l" indent="0" marL="0">
              <a:lnSpc>
                <a:spcPts val="891"/>
              </a:lnSpc>
              <a:buNone/>
            </a:pPr>
            <a:r>
              <a:rPr lang="en-US" sz="660" b="1" spc="190" kern="0" dirty="0">
                <a:solidFill>
                  <a:srgbClr val="96733C"/>
                </a:solidFill>
                <a:latin typeface="Calibri" pitchFamily="34" charset="0"/>
                <a:ea typeface="Calibri" pitchFamily="34" charset="-122"/>
                <a:cs typeface="Calibri" pitchFamily="34" charset="-120"/>
              </a:rPr>
              <a:t>AT A GLANCE</a:t>
            </a:r>
            <a:endParaRPr lang="en-US" sz="660" dirty="0"/>
          </a:p>
        </p:txBody>
      </p:sp>
      <p:sp>
        <p:nvSpPr>
          <p:cNvPr id="12" name="Text 10"/>
          <p:cNvSpPr txBox="1"/>
          <p:nvPr/>
        </p:nvSpPr>
        <p:spPr>
          <a:xfrm>
            <a:off x="8138160" y="1627632"/>
            <a:ext cx="960120" cy="208915"/>
          </a:xfrm>
          <a:prstGeom prst="rect">
            <a:avLst/>
          </a:prstGeom>
          <a:noFill/>
          <a:ln/>
        </p:spPr>
        <p:txBody>
          <a:bodyPr wrap="square" lIns="0" tIns="0" rIns="0" bIns="0" rtlCol="0" anchor="t"/>
          <a:lstStyle/>
          <a:p>
            <a:pPr algn="l" indent="0" marL="0">
              <a:lnSpc>
                <a:spcPts val="945"/>
              </a:lnSpc>
              <a:buNone/>
            </a:pPr>
            <a:r>
              <a:rPr lang="en-US" sz="700" spc="110" kern="0" dirty="0">
                <a:solidFill>
                  <a:srgbClr val="8B8375"/>
                </a:solidFill>
                <a:latin typeface="Calibri" pitchFamily="34" charset="0"/>
                <a:ea typeface="Calibri" pitchFamily="34" charset="-122"/>
                <a:cs typeface="Calibri" pitchFamily="34" charset="-120"/>
              </a:rPr>
              <a:t>SEMESTER</a:t>
            </a:r>
            <a:endParaRPr lang="en-US" sz="700" dirty="0"/>
          </a:p>
        </p:txBody>
      </p:sp>
      <p:sp>
        <p:nvSpPr>
          <p:cNvPr id="13" name="Text 11"/>
          <p:cNvSpPr txBox="1"/>
          <p:nvPr/>
        </p:nvSpPr>
        <p:spPr>
          <a:xfrm>
            <a:off x="9125712" y="1600200"/>
            <a:ext cx="2020824" cy="240030"/>
          </a:xfrm>
          <a:prstGeom prst="rect">
            <a:avLst/>
          </a:prstGeom>
          <a:noFill/>
          <a:ln/>
        </p:spPr>
        <p:txBody>
          <a:bodyPr wrap="square" lIns="0" tIns="0" rIns="0" bIns="0" rtlCol="0" anchor="t"/>
          <a:lstStyle/>
          <a:p>
            <a:pPr algn="l" indent="0" marL="0">
              <a:lnSpc>
                <a:spcPts val="1050"/>
              </a:lnSpc>
              <a:buNone/>
            </a:pPr>
            <a:r>
              <a:rPr lang="en-US" sz="840" dirty="0">
                <a:solidFill>
                  <a:srgbClr val="3F3A33"/>
                </a:solidFill>
                <a:latin typeface="Calibri" pitchFamily="34" charset="0"/>
                <a:ea typeface="Calibri" pitchFamily="34" charset="-122"/>
                <a:cs typeface="Calibri" pitchFamily="34" charset="-120"/>
              </a:rPr>
              <a:t>First Semester</a:t>
            </a:r>
            <a:endParaRPr lang="en-US" sz="840" dirty="0"/>
          </a:p>
        </p:txBody>
      </p:sp>
      <p:sp>
        <p:nvSpPr>
          <p:cNvPr id="14" name="Shape 12"/>
          <p:cNvSpPr/>
          <p:nvPr/>
        </p:nvSpPr>
        <p:spPr>
          <a:xfrm>
            <a:off x="8138160" y="1975104"/>
            <a:ext cx="2990088" cy="91"/>
          </a:xfrm>
          <a:prstGeom prst="line">
            <a:avLst/>
          </a:prstGeom>
          <a:noFill/>
          <a:ln w="4445">
            <a:solidFill>
              <a:srgbClr val="D9CDB7"/>
            </a:solidFill>
            <a:prstDash val="solid"/>
            <a:headEnd type="none"/>
            <a:tailEnd type="none"/>
          </a:ln>
        </p:spPr>
      </p:sp>
      <p:sp>
        <p:nvSpPr>
          <p:cNvPr id="15" name="Text 13"/>
          <p:cNvSpPr txBox="1"/>
          <p:nvPr/>
        </p:nvSpPr>
        <p:spPr>
          <a:xfrm>
            <a:off x="8138160" y="2084832"/>
            <a:ext cx="960120" cy="208915"/>
          </a:xfrm>
          <a:prstGeom prst="rect">
            <a:avLst/>
          </a:prstGeom>
          <a:noFill/>
          <a:ln/>
        </p:spPr>
        <p:txBody>
          <a:bodyPr wrap="square" lIns="0" tIns="0" rIns="0" bIns="0" rtlCol="0" anchor="t"/>
          <a:lstStyle/>
          <a:p>
            <a:pPr algn="l" indent="0" marL="0">
              <a:lnSpc>
                <a:spcPts val="945"/>
              </a:lnSpc>
              <a:buNone/>
            </a:pPr>
            <a:r>
              <a:rPr lang="en-US" sz="700" spc="110" kern="0" dirty="0">
                <a:solidFill>
                  <a:srgbClr val="8B8375"/>
                </a:solidFill>
                <a:latin typeface="Calibri" pitchFamily="34" charset="0"/>
                <a:ea typeface="Calibri" pitchFamily="34" charset="-122"/>
                <a:cs typeface="Calibri" pitchFamily="34" charset="-120"/>
              </a:rPr>
              <a:t>CREDIT</a:t>
            </a:r>
            <a:endParaRPr lang="en-US" sz="700" dirty="0"/>
          </a:p>
        </p:txBody>
      </p:sp>
      <p:sp>
        <p:nvSpPr>
          <p:cNvPr id="16" name="Text 14"/>
          <p:cNvSpPr txBox="1"/>
          <p:nvPr/>
        </p:nvSpPr>
        <p:spPr>
          <a:xfrm>
            <a:off x="9125712" y="2057400"/>
            <a:ext cx="2020824" cy="240030"/>
          </a:xfrm>
          <a:prstGeom prst="rect">
            <a:avLst/>
          </a:prstGeom>
          <a:noFill/>
          <a:ln/>
        </p:spPr>
        <p:txBody>
          <a:bodyPr wrap="square" lIns="0" tIns="0" rIns="0" bIns="0" rtlCol="0" anchor="t"/>
          <a:lstStyle/>
          <a:p>
            <a:pPr algn="l" indent="0" marL="0">
              <a:lnSpc>
                <a:spcPts val="1050"/>
              </a:lnSpc>
              <a:buNone/>
            </a:pPr>
            <a:r>
              <a:rPr lang="en-US" sz="840" dirty="0">
                <a:solidFill>
                  <a:srgbClr val="3F3A33"/>
                </a:solidFill>
                <a:latin typeface="Calibri" pitchFamily="34" charset="0"/>
                <a:ea typeface="Calibri" pitchFamily="34" charset="-122"/>
                <a:cs typeface="Calibri" pitchFamily="34" charset="-120"/>
              </a:rPr>
              <a:t>1.71 units</a:t>
            </a:r>
            <a:endParaRPr lang="en-US" sz="840" dirty="0"/>
          </a:p>
        </p:txBody>
      </p:sp>
      <p:sp>
        <p:nvSpPr>
          <p:cNvPr id="17" name="Shape 15"/>
          <p:cNvSpPr/>
          <p:nvPr/>
        </p:nvSpPr>
        <p:spPr>
          <a:xfrm>
            <a:off x="8138160" y="2432304"/>
            <a:ext cx="2990088" cy="91"/>
          </a:xfrm>
          <a:prstGeom prst="line">
            <a:avLst/>
          </a:prstGeom>
          <a:noFill/>
          <a:ln w="4445">
            <a:solidFill>
              <a:srgbClr val="D9CDB7"/>
            </a:solidFill>
            <a:prstDash val="solid"/>
            <a:headEnd type="none"/>
            <a:tailEnd type="none"/>
          </a:ln>
        </p:spPr>
      </p:sp>
      <p:sp>
        <p:nvSpPr>
          <p:cNvPr id="18" name="Text 16"/>
          <p:cNvSpPr txBox="1"/>
          <p:nvPr/>
        </p:nvSpPr>
        <p:spPr>
          <a:xfrm>
            <a:off x="8138160" y="2542032"/>
            <a:ext cx="960120" cy="208915"/>
          </a:xfrm>
          <a:prstGeom prst="rect">
            <a:avLst/>
          </a:prstGeom>
          <a:noFill/>
          <a:ln/>
        </p:spPr>
        <p:txBody>
          <a:bodyPr wrap="square" lIns="0" tIns="0" rIns="0" bIns="0" rtlCol="0" anchor="t"/>
          <a:lstStyle/>
          <a:p>
            <a:pPr algn="l" indent="0" marL="0">
              <a:lnSpc>
                <a:spcPts val="945"/>
              </a:lnSpc>
              <a:buNone/>
            </a:pPr>
            <a:r>
              <a:rPr lang="en-US" sz="700" spc="110" kern="0" dirty="0">
                <a:solidFill>
                  <a:srgbClr val="8B8375"/>
                </a:solidFill>
                <a:latin typeface="Calibri" pitchFamily="34" charset="0"/>
                <a:ea typeface="Calibri" pitchFamily="34" charset="-122"/>
                <a:cs typeface="Calibri" pitchFamily="34" charset="-120"/>
              </a:rPr>
              <a:t>DURATION</a:t>
            </a:r>
            <a:endParaRPr lang="en-US" sz="700" dirty="0"/>
          </a:p>
        </p:txBody>
      </p:sp>
      <p:sp>
        <p:nvSpPr>
          <p:cNvPr id="19" name="Text 17"/>
          <p:cNvSpPr txBox="1"/>
          <p:nvPr/>
        </p:nvSpPr>
        <p:spPr>
          <a:xfrm>
            <a:off x="9125712" y="2514600"/>
            <a:ext cx="2020824" cy="240030"/>
          </a:xfrm>
          <a:prstGeom prst="rect">
            <a:avLst/>
          </a:prstGeom>
          <a:noFill/>
          <a:ln/>
        </p:spPr>
        <p:txBody>
          <a:bodyPr wrap="square" lIns="0" tIns="0" rIns="0" bIns="0" rtlCol="0" anchor="t"/>
          <a:lstStyle/>
          <a:p>
            <a:pPr algn="l" indent="0" marL="0">
              <a:lnSpc>
                <a:spcPts val="1050"/>
              </a:lnSpc>
              <a:buNone/>
            </a:pPr>
            <a:r>
              <a:rPr lang="en-US" sz="840" dirty="0">
                <a:solidFill>
                  <a:srgbClr val="3F3A33"/>
                </a:solidFill>
                <a:latin typeface="Calibri" pitchFamily="34" charset="0"/>
                <a:ea typeface="Calibri" pitchFamily="34" charset="-122"/>
                <a:cs typeface="Calibri" pitchFamily="34" charset="-120"/>
              </a:rPr>
              <a:t>16 weeks · 4 phases</a:t>
            </a:r>
            <a:endParaRPr lang="en-US" sz="840" dirty="0"/>
          </a:p>
        </p:txBody>
      </p:sp>
      <p:sp>
        <p:nvSpPr>
          <p:cNvPr id="20" name="Shape 18"/>
          <p:cNvSpPr/>
          <p:nvPr/>
        </p:nvSpPr>
        <p:spPr>
          <a:xfrm>
            <a:off x="8138160" y="2889504"/>
            <a:ext cx="2990088" cy="91"/>
          </a:xfrm>
          <a:prstGeom prst="line">
            <a:avLst/>
          </a:prstGeom>
          <a:noFill/>
          <a:ln w="4445">
            <a:solidFill>
              <a:srgbClr val="D9CDB7"/>
            </a:solidFill>
            <a:prstDash val="solid"/>
            <a:headEnd type="none"/>
            <a:tailEnd type="none"/>
          </a:ln>
        </p:spPr>
      </p:sp>
      <p:sp>
        <p:nvSpPr>
          <p:cNvPr id="21" name="Text 19"/>
          <p:cNvSpPr txBox="1"/>
          <p:nvPr/>
        </p:nvSpPr>
        <p:spPr>
          <a:xfrm>
            <a:off x="8138160" y="2999232"/>
            <a:ext cx="960120" cy="208915"/>
          </a:xfrm>
          <a:prstGeom prst="rect">
            <a:avLst/>
          </a:prstGeom>
          <a:noFill/>
          <a:ln/>
        </p:spPr>
        <p:txBody>
          <a:bodyPr wrap="square" lIns="0" tIns="0" rIns="0" bIns="0" rtlCol="0" anchor="t"/>
          <a:lstStyle/>
          <a:p>
            <a:pPr algn="l" indent="0" marL="0">
              <a:lnSpc>
                <a:spcPts val="945"/>
              </a:lnSpc>
              <a:buNone/>
            </a:pPr>
            <a:r>
              <a:rPr lang="en-US" sz="700" spc="110" kern="0" dirty="0">
                <a:solidFill>
                  <a:srgbClr val="8B8375"/>
                </a:solidFill>
                <a:latin typeface="Calibri" pitchFamily="34" charset="0"/>
                <a:ea typeface="Calibri" pitchFamily="34" charset="-122"/>
                <a:cs typeface="Calibri" pitchFamily="34" charset="-120"/>
              </a:rPr>
              <a:t>STRUCTURE</a:t>
            </a:r>
            <a:endParaRPr lang="en-US" sz="700" dirty="0"/>
          </a:p>
        </p:txBody>
      </p:sp>
      <p:sp>
        <p:nvSpPr>
          <p:cNvPr id="22" name="Text 20"/>
          <p:cNvSpPr txBox="1"/>
          <p:nvPr/>
        </p:nvSpPr>
        <p:spPr>
          <a:xfrm>
            <a:off x="9125712" y="2971800"/>
            <a:ext cx="2020824" cy="240030"/>
          </a:xfrm>
          <a:prstGeom prst="rect">
            <a:avLst/>
          </a:prstGeom>
          <a:noFill/>
          <a:ln/>
        </p:spPr>
        <p:txBody>
          <a:bodyPr wrap="square" lIns="0" tIns="0" rIns="0" bIns="0" rtlCol="0" anchor="t"/>
          <a:lstStyle/>
          <a:p>
            <a:pPr algn="l" indent="0" marL="0">
              <a:lnSpc>
                <a:spcPts val="1050"/>
              </a:lnSpc>
              <a:buNone/>
            </a:pPr>
            <a:r>
              <a:rPr lang="en-US" sz="840" dirty="0">
                <a:solidFill>
                  <a:srgbClr val="3F3A33"/>
                </a:solidFill>
                <a:latin typeface="Calibri" pitchFamily="34" charset="0"/>
                <a:ea typeface="Calibri" pitchFamily="34" charset="-122"/>
                <a:cs typeface="Calibri" pitchFamily="34" charset="-120"/>
              </a:rPr>
              <a:t>Lecture · seminar · skills lab</a:t>
            </a:r>
            <a:endParaRPr lang="en-US" sz="840" dirty="0"/>
          </a:p>
        </p:txBody>
      </p:sp>
      <p:sp>
        <p:nvSpPr>
          <p:cNvPr id="23" name="Shape 21"/>
          <p:cNvSpPr/>
          <p:nvPr/>
        </p:nvSpPr>
        <p:spPr>
          <a:xfrm>
            <a:off x="8138160" y="3346704"/>
            <a:ext cx="2990088" cy="91"/>
          </a:xfrm>
          <a:prstGeom prst="line">
            <a:avLst/>
          </a:prstGeom>
          <a:noFill/>
          <a:ln w="4445">
            <a:solidFill>
              <a:srgbClr val="D9CDB7"/>
            </a:solidFill>
            <a:prstDash val="solid"/>
            <a:headEnd type="none"/>
            <a:tailEnd type="none"/>
          </a:ln>
        </p:spPr>
      </p:sp>
      <p:sp>
        <p:nvSpPr>
          <p:cNvPr id="24" name="Text 22"/>
          <p:cNvSpPr txBox="1"/>
          <p:nvPr/>
        </p:nvSpPr>
        <p:spPr>
          <a:xfrm>
            <a:off x="8138160" y="3456432"/>
            <a:ext cx="960120" cy="208915"/>
          </a:xfrm>
          <a:prstGeom prst="rect">
            <a:avLst/>
          </a:prstGeom>
          <a:noFill/>
          <a:ln/>
        </p:spPr>
        <p:txBody>
          <a:bodyPr wrap="square" lIns="0" tIns="0" rIns="0" bIns="0" rtlCol="0" anchor="t"/>
          <a:lstStyle/>
          <a:p>
            <a:pPr algn="l" indent="0" marL="0">
              <a:lnSpc>
                <a:spcPts val="945"/>
              </a:lnSpc>
              <a:buNone/>
            </a:pPr>
            <a:r>
              <a:rPr lang="en-US" sz="700" spc="110" kern="0" dirty="0">
                <a:solidFill>
                  <a:srgbClr val="8B8375"/>
                </a:solidFill>
                <a:latin typeface="Calibri" pitchFamily="34" charset="0"/>
                <a:ea typeface="Calibri" pitchFamily="34" charset="-122"/>
                <a:cs typeface="Calibri" pitchFamily="34" charset="-120"/>
              </a:rPr>
              <a:t>ASSESSMENT</a:t>
            </a:r>
            <a:endParaRPr lang="en-US" sz="700" dirty="0"/>
          </a:p>
        </p:txBody>
      </p:sp>
      <p:sp>
        <p:nvSpPr>
          <p:cNvPr id="25" name="Text 23"/>
          <p:cNvSpPr txBox="1"/>
          <p:nvPr/>
        </p:nvSpPr>
        <p:spPr>
          <a:xfrm>
            <a:off x="9125712" y="3429000"/>
            <a:ext cx="2020824" cy="240030"/>
          </a:xfrm>
          <a:prstGeom prst="rect">
            <a:avLst/>
          </a:prstGeom>
          <a:noFill/>
          <a:ln/>
        </p:spPr>
        <p:txBody>
          <a:bodyPr wrap="square" lIns="0" tIns="0" rIns="0" bIns="0" rtlCol="0" anchor="t"/>
          <a:lstStyle/>
          <a:p>
            <a:pPr algn="l" indent="0" marL="0">
              <a:lnSpc>
                <a:spcPts val="1050"/>
              </a:lnSpc>
              <a:buNone/>
            </a:pPr>
            <a:r>
              <a:rPr lang="en-US" sz="840" dirty="0">
                <a:solidFill>
                  <a:srgbClr val="3F3A33"/>
                </a:solidFill>
                <a:latin typeface="Calibri" pitchFamily="34" charset="0"/>
                <a:ea typeface="Calibri" pitchFamily="34" charset="-122"/>
                <a:cs typeface="Calibri" pitchFamily="34" charset="-120"/>
              </a:rPr>
              <a:t>Formulation · exam · participation</a:t>
            </a:r>
            <a:endParaRPr lang="en-US" sz="840" dirty="0"/>
          </a:p>
        </p:txBody>
      </p:sp>
      <p:sp>
        <p:nvSpPr>
          <p:cNvPr id="26" name="Text 24"/>
          <p:cNvSpPr txBox="1"/>
          <p:nvPr/>
        </p:nvSpPr>
        <p:spPr>
          <a:xfrm>
            <a:off x="822960" y="4407408"/>
            <a:ext cx="4846320"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AIM OF THE COURSE</a:t>
            </a:r>
            <a:endParaRPr lang="en-US" sz="750" dirty="0"/>
          </a:p>
        </p:txBody>
      </p:sp>
      <p:sp>
        <p:nvSpPr>
          <p:cNvPr id="27" name="Shape 25"/>
          <p:cNvSpPr/>
          <p:nvPr/>
        </p:nvSpPr>
        <p:spPr>
          <a:xfrm>
            <a:off x="822960" y="4608576"/>
            <a:ext cx="310896" cy="91"/>
          </a:xfrm>
          <a:prstGeom prst="line">
            <a:avLst/>
          </a:prstGeom>
          <a:noFill/>
          <a:ln w="10160">
            <a:solidFill>
              <a:srgbClr val="96733C"/>
            </a:solidFill>
            <a:prstDash val="solid"/>
            <a:headEnd type="none"/>
            <a:tailEnd type="none"/>
          </a:ln>
        </p:spPr>
      </p:sp>
      <p:sp>
        <p:nvSpPr>
          <p:cNvPr id="28" name="Shape 26"/>
          <p:cNvSpPr/>
          <p:nvPr/>
        </p:nvSpPr>
        <p:spPr>
          <a:xfrm>
            <a:off x="822960" y="4869180"/>
            <a:ext cx="128016" cy="91"/>
          </a:xfrm>
          <a:prstGeom prst="line">
            <a:avLst/>
          </a:prstGeom>
          <a:noFill/>
          <a:ln w="11430">
            <a:solidFill>
              <a:srgbClr val="C2A05F"/>
            </a:solidFill>
            <a:prstDash val="solid"/>
            <a:headEnd type="none"/>
            <a:tailEnd type="none"/>
          </a:ln>
        </p:spPr>
      </p:sp>
      <p:sp>
        <p:nvSpPr>
          <p:cNvPr id="29" name="Text 27"/>
          <p:cNvSpPr txBox="1"/>
          <p:nvPr/>
        </p:nvSpPr>
        <p:spPr>
          <a:xfrm>
            <a:off x="1042416" y="4773168"/>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Establish a systemic vocabulary for describing relational problems.</a:t>
            </a:r>
            <a:endParaRPr lang="en-US" sz="860" dirty="0"/>
          </a:p>
        </p:txBody>
      </p:sp>
      <p:sp>
        <p:nvSpPr>
          <p:cNvPr id="30" name="Shape 28"/>
          <p:cNvSpPr/>
          <p:nvPr/>
        </p:nvSpPr>
        <p:spPr>
          <a:xfrm>
            <a:off x="822960" y="5074768"/>
            <a:ext cx="128016" cy="91"/>
          </a:xfrm>
          <a:prstGeom prst="line">
            <a:avLst/>
          </a:prstGeom>
          <a:noFill/>
          <a:ln w="11430">
            <a:solidFill>
              <a:srgbClr val="C2A05F"/>
            </a:solidFill>
            <a:prstDash val="solid"/>
            <a:headEnd type="none"/>
            <a:tailEnd type="none"/>
          </a:ln>
        </p:spPr>
      </p:sp>
      <p:sp>
        <p:nvSpPr>
          <p:cNvPr id="31" name="Text 29"/>
          <p:cNvSpPr txBox="1"/>
          <p:nvPr/>
        </p:nvSpPr>
        <p:spPr>
          <a:xfrm>
            <a:off x="1042416" y="4978756"/>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Map the major models of family therapy and their points of divergence.</a:t>
            </a:r>
            <a:endParaRPr lang="en-US" sz="860" dirty="0"/>
          </a:p>
        </p:txBody>
      </p:sp>
      <p:sp>
        <p:nvSpPr>
          <p:cNvPr id="32" name="Shape 30"/>
          <p:cNvSpPr/>
          <p:nvPr/>
        </p:nvSpPr>
        <p:spPr>
          <a:xfrm>
            <a:off x="822960" y="5280355"/>
            <a:ext cx="128016" cy="91"/>
          </a:xfrm>
          <a:prstGeom prst="line">
            <a:avLst/>
          </a:prstGeom>
          <a:noFill/>
          <a:ln w="11430">
            <a:solidFill>
              <a:srgbClr val="C2A05F"/>
            </a:solidFill>
            <a:prstDash val="solid"/>
            <a:headEnd type="none"/>
            <a:tailEnd type="none"/>
          </a:ln>
        </p:spPr>
      </p:sp>
      <p:sp>
        <p:nvSpPr>
          <p:cNvPr id="33" name="Text 31"/>
          <p:cNvSpPr txBox="1"/>
          <p:nvPr/>
        </p:nvSpPr>
        <p:spPr>
          <a:xfrm>
            <a:off x="1042416" y="5184343"/>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Practise core clinical skills: joining, assessment, formulation, intervention.</a:t>
            </a:r>
            <a:endParaRPr lang="en-US" sz="860" dirty="0"/>
          </a:p>
        </p:txBody>
      </p:sp>
      <p:sp>
        <p:nvSpPr>
          <p:cNvPr id="34" name="Shape 32"/>
          <p:cNvSpPr/>
          <p:nvPr/>
        </p:nvSpPr>
        <p:spPr>
          <a:xfrm>
            <a:off x="822960" y="5485943"/>
            <a:ext cx="128016" cy="91"/>
          </a:xfrm>
          <a:prstGeom prst="line">
            <a:avLst/>
          </a:prstGeom>
          <a:noFill/>
          <a:ln w="11430">
            <a:solidFill>
              <a:srgbClr val="C2A05F"/>
            </a:solidFill>
            <a:prstDash val="solid"/>
            <a:headEnd type="none"/>
            <a:tailEnd type="none"/>
          </a:ln>
        </p:spPr>
      </p:sp>
      <p:sp>
        <p:nvSpPr>
          <p:cNvPr id="35" name="Text 33"/>
          <p:cNvSpPr txBox="1"/>
          <p:nvPr/>
        </p:nvSpPr>
        <p:spPr>
          <a:xfrm>
            <a:off x="1042416" y="5389931"/>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Locate practice within ethical, cultural and legal frameworks.</a:t>
            </a:r>
            <a:endParaRPr lang="en-US" sz="860" dirty="0"/>
          </a:p>
        </p:txBody>
      </p:sp>
      <p:sp>
        <p:nvSpPr>
          <p:cNvPr id="36" name="Shape 34"/>
          <p:cNvSpPr/>
          <p:nvPr/>
        </p:nvSpPr>
        <p:spPr>
          <a:xfrm>
            <a:off x="822960" y="5691530"/>
            <a:ext cx="128016" cy="91"/>
          </a:xfrm>
          <a:prstGeom prst="line">
            <a:avLst/>
          </a:prstGeom>
          <a:noFill/>
          <a:ln w="11430">
            <a:solidFill>
              <a:srgbClr val="C2A05F"/>
            </a:solidFill>
            <a:prstDash val="solid"/>
            <a:headEnd type="none"/>
            <a:tailEnd type="none"/>
          </a:ln>
        </p:spPr>
      </p:sp>
      <p:sp>
        <p:nvSpPr>
          <p:cNvPr id="37" name="Text 35"/>
          <p:cNvSpPr txBox="1"/>
          <p:nvPr/>
        </p:nvSpPr>
        <p:spPr>
          <a:xfrm>
            <a:off x="1042416" y="5595518"/>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Begin a reflective professional identity grounded in evidence and supervision.</a:t>
            </a:r>
            <a:endParaRPr lang="en-US" sz="860" dirty="0"/>
          </a:p>
        </p:txBody>
      </p:sp>
      <p:sp>
        <p:nvSpPr>
          <p:cNvPr id="38" name="Text 36"/>
          <p:cNvSpPr txBox="1"/>
          <p:nvPr/>
        </p:nvSpPr>
        <p:spPr>
          <a:xfrm>
            <a:off x="6263640" y="4407408"/>
            <a:ext cx="4846320"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WHAT MAKES MFT DISTINCT</a:t>
            </a:r>
            <a:endParaRPr lang="en-US" sz="750" dirty="0"/>
          </a:p>
        </p:txBody>
      </p:sp>
      <p:sp>
        <p:nvSpPr>
          <p:cNvPr id="39" name="Shape 37"/>
          <p:cNvSpPr/>
          <p:nvPr/>
        </p:nvSpPr>
        <p:spPr>
          <a:xfrm>
            <a:off x="6263640" y="4608576"/>
            <a:ext cx="310896" cy="91"/>
          </a:xfrm>
          <a:prstGeom prst="line">
            <a:avLst/>
          </a:prstGeom>
          <a:noFill/>
          <a:ln w="10160">
            <a:solidFill>
              <a:srgbClr val="6E8274"/>
            </a:solidFill>
            <a:prstDash val="solid"/>
            <a:headEnd type="none"/>
            <a:tailEnd type="none"/>
          </a:ln>
        </p:spPr>
      </p:sp>
      <p:sp>
        <p:nvSpPr>
          <p:cNvPr id="40" name="Shape 38"/>
          <p:cNvSpPr/>
          <p:nvPr/>
        </p:nvSpPr>
        <p:spPr>
          <a:xfrm>
            <a:off x="6263640" y="4869180"/>
            <a:ext cx="128016" cy="91"/>
          </a:xfrm>
          <a:prstGeom prst="line">
            <a:avLst/>
          </a:prstGeom>
          <a:noFill/>
          <a:ln w="11430">
            <a:solidFill>
              <a:srgbClr val="C2A05F"/>
            </a:solidFill>
            <a:prstDash val="solid"/>
            <a:headEnd type="none"/>
            <a:tailEnd type="none"/>
          </a:ln>
        </p:spPr>
      </p:sp>
      <p:sp>
        <p:nvSpPr>
          <p:cNvPr id="41" name="Text 39"/>
          <p:cNvSpPr txBox="1"/>
          <p:nvPr/>
        </p:nvSpPr>
        <p:spPr>
          <a:xfrm>
            <a:off x="6483096" y="4773168"/>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The relational system, not the individual, is the unit of assessment.</a:t>
            </a:r>
            <a:endParaRPr lang="en-US" sz="860" dirty="0"/>
          </a:p>
        </p:txBody>
      </p:sp>
      <p:sp>
        <p:nvSpPr>
          <p:cNvPr id="42" name="Shape 40"/>
          <p:cNvSpPr/>
          <p:nvPr/>
        </p:nvSpPr>
        <p:spPr>
          <a:xfrm>
            <a:off x="6263640" y="5074768"/>
            <a:ext cx="128016" cy="91"/>
          </a:xfrm>
          <a:prstGeom prst="line">
            <a:avLst/>
          </a:prstGeom>
          <a:noFill/>
          <a:ln w="11430">
            <a:solidFill>
              <a:srgbClr val="C2A05F"/>
            </a:solidFill>
            <a:prstDash val="solid"/>
            <a:headEnd type="none"/>
            <a:tailEnd type="none"/>
          </a:ln>
        </p:spPr>
      </p:sp>
      <p:sp>
        <p:nvSpPr>
          <p:cNvPr id="43" name="Text 41"/>
          <p:cNvSpPr txBox="1"/>
          <p:nvPr/>
        </p:nvSpPr>
        <p:spPr>
          <a:xfrm>
            <a:off x="6483096" y="4978756"/>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Symptoms are understood as maintained by current interaction, not only by history.</a:t>
            </a:r>
            <a:endParaRPr lang="en-US" sz="860" dirty="0"/>
          </a:p>
        </p:txBody>
      </p:sp>
      <p:sp>
        <p:nvSpPr>
          <p:cNvPr id="44" name="Shape 42"/>
          <p:cNvSpPr/>
          <p:nvPr/>
        </p:nvSpPr>
        <p:spPr>
          <a:xfrm>
            <a:off x="6263640" y="5280355"/>
            <a:ext cx="128016" cy="91"/>
          </a:xfrm>
          <a:prstGeom prst="line">
            <a:avLst/>
          </a:prstGeom>
          <a:noFill/>
          <a:ln w="11430">
            <a:solidFill>
              <a:srgbClr val="C2A05F"/>
            </a:solidFill>
            <a:prstDash val="solid"/>
            <a:headEnd type="none"/>
            <a:tailEnd type="none"/>
          </a:ln>
        </p:spPr>
      </p:sp>
      <p:sp>
        <p:nvSpPr>
          <p:cNvPr id="45" name="Text 43"/>
          <p:cNvSpPr txBox="1"/>
          <p:nvPr/>
        </p:nvSpPr>
        <p:spPr>
          <a:xfrm>
            <a:off x="6483096" y="5184343"/>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The therapist is a participant in the system, not an external observer.</a:t>
            </a:r>
            <a:endParaRPr lang="en-US" sz="860" dirty="0"/>
          </a:p>
        </p:txBody>
      </p:sp>
      <p:sp>
        <p:nvSpPr>
          <p:cNvPr id="46" name="Shape 44"/>
          <p:cNvSpPr/>
          <p:nvPr/>
        </p:nvSpPr>
        <p:spPr>
          <a:xfrm>
            <a:off x="6263640" y="5485943"/>
            <a:ext cx="128016" cy="91"/>
          </a:xfrm>
          <a:prstGeom prst="line">
            <a:avLst/>
          </a:prstGeom>
          <a:noFill/>
          <a:ln w="11430">
            <a:solidFill>
              <a:srgbClr val="C2A05F"/>
            </a:solidFill>
            <a:prstDash val="solid"/>
            <a:headEnd type="none"/>
            <a:tailEnd type="none"/>
          </a:ln>
        </p:spPr>
      </p:sp>
      <p:sp>
        <p:nvSpPr>
          <p:cNvPr id="47" name="Text 45"/>
          <p:cNvSpPr txBox="1"/>
          <p:nvPr/>
        </p:nvSpPr>
        <p:spPr>
          <a:xfrm>
            <a:off x="6483096" y="5389931"/>
            <a:ext cx="4672584" cy="259944"/>
          </a:xfrm>
          <a:prstGeom prst="rect">
            <a:avLst/>
          </a:prstGeom>
          <a:noFill/>
          <a:ln/>
        </p:spPr>
        <p:txBody>
          <a:bodyPr wrap="square" lIns="0" tIns="0" rIns="0" bIns="0" rtlCol="0" anchor="t"/>
          <a:lstStyle/>
          <a:p>
            <a:pPr algn="l" indent="0" marL="0">
              <a:lnSpc>
                <a:spcPts val="1187"/>
              </a:lnSpc>
              <a:buNone/>
            </a:pPr>
            <a:r>
              <a:rPr lang="en-US" sz="860" dirty="0">
                <a:solidFill>
                  <a:srgbClr val="3F3A33"/>
                </a:solidFill>
                <a:latin typeface="Calibri" pitchFamily="34" charset="0"/>
                <a:ea typeface="Calibri" pitchFamily="34" charset="-122"/>
                <a:cs typeface="Calibri" pitchFamily="34" charset="-120"/>
              </a:rPr>
              <a:t>Change is evaluated in relationships — and through the client’s own feedback.</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LEARNING OUTCOMES</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03</a:t>
            </a:r>
            <a:endParaRPr lang="en-US" sz="950" dirty="0"/>
          </a:p>
        </p:txBody>
      </p:sp>
      <p:sp>
        <p:nvSpPr>
          <p:cNvPr id="8" name="Text 6"/>
          <p:cNvSpPr txBox="1"/>
          <p:nvPr/>
        </p:nvSpPr>
        <p:spPr>
          <a:xfrm>
            <a:off x="822960" y="932688"/>
            <a:ext cx="8595360" cy="220853"/>
          </a:xfrm>
          <a:prstGeom prst="rect">
            <a:avLst/>
          </a:prstGeom>
          <a:noFill/>
          <a:ln/>
        </p:spPr>
        <p:txBody>
          <a:bodyPr wrap="square" lIns="0" tIns="0" rIns="0" bIns="0" rtlCol="0" anchor="t"/>
          <a:lstStyle/>
          <a:p>
            <a:pPr algn="l" indent="0" marL="0">
              <a:lnSpc>
                <a:spcPts val="999"/>
              </a:lnSpc>
              <a:buNone/>
            </a:pPr>
            <a:r>
              <a:rPr lang="en-US" sz="740" b="1" spc="200" kern="0" dirty="0">
                <a:solidFill>
                  <a:srgbClr val="96733C"/>
                </a:solidFill>
                <a:latin typeface="Calibri" pitchFamily="34" charset="0"/>
                <a:ea typeface="Calibri" pitchFamily="34" charset="-122"/>
                <a:cs typeface="Calibri" pitchFamily="34" charset="-120"/>
              </a:rPr>
              <a:t>ON COMPLETION</a:t>
            </a:r>
            <a:endParaRPr lang="en-US" sz="740" dirty="0"/>
          </a:p>
        </p:txBody>
      </p:sp>
      <p:sp>
        <p:nvSpPr>
          <p:cNvPr id="9" name="Text 7"/>
          <p:cNvSpPr txBox="1"/>
          <p:nvPr/>
        </p:nvSpPr>
        <p:spPr>
          <a:xfrm>
            <a:off x="822960" y="1207008"/>
            <a:ext cx="85953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What you will be able to do</a:t>
            </a:r>
            <a:endParaRPr lang="en-US" sz="2700" dirty="0"/>
          </a:p>
        </p:txBody>
      </p:sp>
      <p:sp>
        <p:nvSpPr>
          <p:cNvPr id="10" name="Text 8"/>
          <p:cNvSpPr txBox="1"/>
          <p:nvPr/>
        </p:nvSpPr>
        <p:spPr>
          <a:xfrm>
            <a:off x="822960" y="1719072"/>
            <a:ext cx="8138160" cy="387248"/>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Six outcomes frame the course. Each week names the subset it develops; the final portfolio invites you to evidence all six.</a:t>
            </a:r>
            <a:endParaRPr lang="en-US" sz="1260" dirty="0"/>
          </a:p>
        </p:txBody>
      </p:sp>
      <p:sp>
        <p:nvSpPr>
          <p:cNvPr id="11" name="Text 9"/>
          <p:cNvSpPr txBox="1"/>
          <p:nvPr/>
        </p:nvSpPr>
        <p:spPr>
          <a:xfrm>
            <a:off x="822960" y="2011680"/>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a:t>
            </a:r>
            <a:endParaRPr lang="en-US" sz="1000" dirty="0"/>
          </a:p>
        </p:txBody>
      </p:sp>
      <p:sp>
        <p:nvSpPr>
          <p:cNvPr id="12" name="Shape 10"/>
          <p:cNvSpPr/>
          <p:nvPr/>
        </p:nvSpPr>
        <p:spPr>
          <a:xfrm>
            <a:off x="1207008" y="2103120"/>
            <a:ext cx="4754880" cy="91"/>
          </a:xfrm>
          <a:prstGeom prst="line">
            <a:avLst/>
          </a:prstGeom>
          <a:noFill/>
          <a:ln w="5715">
            <a:solidFill>
              <a:srgbClr val="D9CDB7"/>
            </a:solidFill>
            <a:prstDash val="solid"/>
            <a:headEnd type="none"/>
            <a:tailEnd type="none"/>
          </a:ln>
        </p:spPr>
      </p:sp>
      <p:sp>
        <p:nvSpPr>
          <p:cNvPr id="13" name="Text 11"/>
          <p:cNvSpPr txBox="1"/>
          <p:nvPr/>
        </p:nvSpPr>
        <p:spPr>
          <a:xfrm>
            <a:off x="822960" y="2304288"/>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Explain the systemic epistemology that distinguishes MFT from individually oriented</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psychotherapy.</a:t>
            </a:r>
            <a:endParaRPr lang="en-US" sz="1040" dirty="0"/>
          </a:p>
        </p:txBody>
      </p:sp>
      <p:sp>
        <p:nvSpPr>
          <p:cNvPr id="14" name="Text 12"/>
          <p:cNvSpPr txBox="1"/>
          <p:nvPr/>
        </p:nvSpPr>
        <p:spPr>
          <a:xfrm>
            <a:off x="6355080" y="2011680"/>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02</a:t>
            </a:r>
            <a:endParaRPr lang="en-US" sz="1000" dirty="0"/>
          </a:p>
        </p:txBody>
      </p:sp>
      <p:sp>
        <p:nvSpPr>
          <p:cNvPr id="15" name="Shape 13"/>
          <p:cNvSpPr/>
          <p:nvPr/>
        </p:nvSpPr>
        <p:spPr>
          <a:xfrm>
            <a:off x="6739128" y="2103120"/>
            <a:ext cx="4754880" cy="91"/>
          </a:xfrm>
          <a:prstGeom prst="line">
            <a:avLst/>
          </a:prstGeom>
          <a:noFill/>
          <a:ln w="5715">
            <a:solidFill>
              <a:srgbClr val="D9CDB7"/>
            </a:solidFill>
            <a:prstDash val="solid"/>
            <a:headEnd type="none"/>
            <a:tailEnd type="none"/>
          </a:ln>
        </p:spPr>
      </p:sp>
      <p:sp>
        <p:nvSpPr>
          <p:cNvPr id="16" name="Text 14"/>
          <p:cNvSpPr txBox="1"/>
          <p:nvPr/>
        </p:nvSpPr>
        <p:spPr>
          <a:xfrm>
            <a:off x="6355080" y="2304288"/>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Compare the major models of family therapy — structural, strategic, intergenerational,</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experiential, cognitive-behavioural, solution-focused and narrative.</a:t>
            </a:r>
            <a:endParaRPr lang="en-US" sz="1040" dirty="0"/>
          </a:p>
        </p:txBody>
      </p:sp>
      <p:sp>
        <p:nvSpPr>
          <p:cNvPr id="17" name="Text 15"/>
          <p:cNvSpPr txBox="1"/>
          <p:nvPr/>
        </p:nvSpPr>
        <p:spPr>
          <a:xfrm>
            <a:off x="822960" y="3127248"/>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03</a:t>
            </a:r>
            <a:endParaRPr lang="en-US" sz="1000" dirty="0"/>
          </a:p>
        </p:txBody>
      </p:sp>
      <p:sp>
        <p:nvSpPr>
          <p:cNvPr id="18" name="Shape 16"/>
          <p:cNvSpPr/>
          <p:nvPr/>
        </p:nvSpPr>
        <p:spPr>
          <a:xfrm>
            <a:off x="1207008" y="3218688"/>
            <a:ext cx="4754880" cy="91"/>
          </a:xfrm>
          <a:prstGeom prst="line">
            <a:avLst/>
          </a:prstGeom>
          <a:noFill/>
          <a:ln w="5715">
            <a:solidFill>
              <a:srgbClr val="D9CDB7"/>
            </a:solidFill>
            <a:prstDash val="solid"/>
            <a:headEnd type="none"/>
            <a:tailEnd type="none"/>
          </a:ln>
        </p:spPr>
      </p:sp>
      <p:sp>
        <p:nvSpPr>
          <p:cNvPr id="19" name="Text 17"/>
          <p:cNvSpPr txBox="1"/>
          <p:nvPr/>
        </p:nvSpPr>
        <p:spPr>
          <a:xfrm>
            <a:off x="822960" y="3419856"/>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Conduct a first session: join a multi-person system, negotiate consent, and elicit each</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member’s description of the problem.</a:t>
            </a:r>
            <a:endParaRPr lang="en-US" sz="1040" dirty="0"/>
          </a:p>
        </p:txBody>
      </p:sp>
      <p:sp>
        <p:nvSpPr>
          <p:cNvPr id="20" name="Text 18"/>
          <p:cNvSpPr txBox="1"/>
          <p:nvPr/>
        </p:nvSpPr>
        <p:spPr>
          <a:xfrm>
            <a:off x="6355080" y="3127248"/>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04</a:t>
            </a:r>
            <a:endParaRPr lang="en-US" sz="1000" dirty="0"/>
          </a:p>
        </p:txBody>
      </p:sp>
      <p:sp>
        <p:nvSpPr>
          <p:cNvPr id="21" name="Shape 19"/>
          <p:cNvSpPr/>
          <p:nvPr/>
        </p:nvSpPr>
        <p:spPr>
          <a:xfrm>
            <a:off x="6739128" y="3218688"/>
            <a:ext cx="4754880" cy="91"/>
          </a:xfrm>
          <a:prstGeom prst="line">
            <a:avLst/>
          </a:prstGeom>
          <a:noFill/>
          <a:ln w="5715">
            <a:solidFill>
              <a:srgbClr val="D9CDB7"/>
            </a:solidFill>
            <a:prstDash val="solid"/>
            <a:headEnd type="none"/>
            <a:tailEnd type="none"/>
          </a:ln>
        </p:spPr>
      </p:sp>
      <p:sp>
        <p:nvSpPr>
          <p:cNvPr id="22" name="Text 20"/>
          <p:cNvSpPr txBox="1"/>
          <p:nvPr/>
        </p:nvSpPr>
        <p:spPr>
          <a:xfrm>
            <a:off x="6355080" y="3419856"/>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Construct a three-generation genogram and use circular questioning to assess relational</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patterns.</a:t>
            </a:r>
            <a:endParaRPr lang="en-US" sz="1040" dirty="0"/>
          </a:p>
        </p:txBody>
      </p:sp>
      <p:sp>
        <p:nvSpPr>
          <p:cNvPr id="23" name="Text 21"/>
          <p:cNvSpPr txBox="1"/>
          <p:nvPr/>
        </p:nvSpPr>
        <p:spPr>
          <a:xfrm>
            <a:off x="822960" y="4242816"/>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05</a:t>
            </a:r>
            <a:endParaRPr lang="en-US" sz="1000" dirty="0"/>
          </a:p>
        </p:txBody>
      </p:sp>
      <p:sp>
        <p:nvSpPr>
          <p:cNvPr id="24" name="Shape 22"/>
          <p:cNvSpPr/>
          <p:nvPr/>
        </p:nvSpPr>
        <p:spPr>
          <a:xfrm>
            <a:off x="1207008" y="4334256"/>
            <a:ext cx="4754880" cy="91"/>
          </a:xfrm>
          <a:prstGeom prst="line">
            <a:avLst/>
          </a:prstGeom>
          <a:noFill/>
          <a:ln w="5715">
            <a:solidFill>
              <a:srgbClr val="D9CDB7"/>
            </a:solidFill>
            <a:prstDash val="solid"/>
            <a:headEnd type="none"/>
            <a:tailEnd type="none"/>
          </a:ln>
        </p:spPr>
      </p:sp>
      <p:sp>
        <p:nvSpPr>
          <p:cNvPr id="25" name="Text 23"/>
          <p:cNvSpPr txBox="1"/>
          <p:nvPr/>
        </p:nvSpPr>
        <p:spPr>
          <a:xfrm>
            <a:off x="822960" y="4535424"/>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Formulate a case systemically, integrating developmental, cultural, ethical and risk</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considerations.</a:t>
            </a:r>
            <a:endParaRPr lang="en-US" sz="1040" dirty="0"/>
          </a:p>
        </p:txBody>
      </p:sp>
      <p:sp>
        <p:nvSpPr>
          <p:cNvPr id="26" name="Text 24"/>
          <p:cNvSpPr txBox="1"/>
          <p:nvPr/>
        </p:nvSpPr>
        <p:spPr>
          <a:xfrm>
            <a:off x="6355080" y="4242816"/>
            <a:ext cx="54864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06</a:t>
            </a:r>
            <a:endParaRPr lang="en-US" sz="1000" dirty="0"/>
          </a:p>
        </p:txBody>
      </p:sp>
      <p:sp>
        <p:nvSpPr>
          <p:cNvPr id="27" name="Shape 25"/>
          <p:cNvSpPr/>
          <p:nvPr/>
        </p:nvSpPr>
        <p:spPr>
          <a:xfrm>
            <a:off x="6739128" y="4334256"/>
            <a:ext cx="4754880" cy="91"/>
          </a:xfrm>
          <a:prstGeom prst="line">
            <a:avLst/>
          </a:prstGeom>
          <a:noFill/>
          <a:ln w="5715">
            <a:solidFill>
              <a:srgbClr val="D9CDB7"/>
            </a:solidFill>
            <a:prstDash val="solid"/>
            <a:headEnd type="none"/>
            <a:tailEnd type="none"/>
          </a:ln>
        </p:spPr>
      </p:sp>
      <p:sp>
        <p:nvSpPr>
          <p:cNvPr id="28" name="Text 26"/>
          <p:cNvSpPr txBox="1"/>
          <p:nvPr/>
        </p:nvSpPr>
        <p:spPr>
          <a:xfrm>
            <a:off x="6355080" y="4535424"/>
            <a:ext cx="5047488" cy="501904"/>
          </a:xfrm>
          <a:prstGeom prst="rect">
            <a:avLst/>
          </a:prstGeom>
          <a:noFill/>
          <a:ln/>
        </p:spPr>
        <p:txBody>
          <a:bodyPr wrap="square" lIns="0" tIns="0" rIns="0" bIns="0" rtlCol="0" anchor="t"/>
          <a:lstStyle/>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Use routine outcome monitoring and reflective practice to evaluate and improve your own</a:t>
            </a:r>
            <a:endParaRPr lang="en-US" sz="1040" dirty="0"/>
          </a:p>
          <a:p>
            <a:pPr algn="l" indent="0" marL="0">
              <a:lnSpc>
                <a:spcPts val="1456"/>
              </a:lnSpc>
              <a:buNone/>
            </a:pPr>
            <a:r>
              <a:rPr lang="en-US" sz="1040" dirty="0">
                <a:solidFill>
                  <a:srgbClr val="3F3A33"/>
                </a:solidFill>
                <a:latin typeface="Calibri" pitchFamily="34" charset="0"/>
                <a:ea typeface="Calibri" pitchFamily="34" charset="-122"/>
                <a:cs typeface="Calibri" pitchFamily="34" charset="-120"/>
              </a:rPr>
              <a:t>clinical work.</a:t>
            </a:r>
            <a:endParaRPr lang="en-US" sz="1040" dirty="0"/>
          </a:p>
        </p:txBody>
      </p:sp>
      <p:sp>
        <p:nvSpPr>
          <p:cNvPr id="29" name="Shape 27"/>
          <p:cNvSpPr/>
          <p:nvPr/>
        </p:nvSpPr>
        <p:spPr>
          <a:xfrm>
            <a:off x="822960" y="5541264"/>
            <a:ext cx="10546050" cy="91"/>
          </a:xfrm>
          <a:prstGeom prst="line">
            <a:avLst/>
          </a:prstGeom>
          <a:noFill/>
          <a:ln w="6350">
            <a:solidFill>
              <a:srgbClr val="D9CDB7"/>
            </a:solidFill>
            <a:prstDash val="solid"/>
            <a:headEnd type="none"/>
            <a:tailEnd type="none"/>
          </a:ln>
        </p:spPr>
      </p:sp>
      <p:sp>
        <p:nvSpPr>
          <p:cNvPr id="30" name="Text 28"/>
          <p:cNvSpPr txBox="1"/>
          <p:nvPr/>
        </p:nvSpPr>
        <p:spPr>
          <a:xfrm>
            <a:off x="822960" y="5650992"/>
            <a:ext cx="1051560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Mapping · each week names the outcomes it develops, so you can trace your own progress across the sixteen weeks.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THE SIXTEEN-WEEK ARC</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04</a:t>
            </a:r>
            <a:endParaRPr lang="en-US" sz="950" dirty="0"/>
          </a:p>
        </p:txBody>
      </p:sp>
      <p:sp>
        <p:nvSpPr>
          <p:cNvPr id="8" name="Text 6"/>
          <p:cNvSpPr txBox="1"/>
          <p:nvPr/>
        </p:nvSpPr>
        <p:spPr>
          <a:xfrm>
            <a:off x="822960" y="914400"/>
            <a:ext cx="9601200" cy="835660"/>
          </a:xfrm>
          <a:prstGeom prst="rect">
            <a:avLst/>
          </a:prstGeom>
          <a:noFill/>
          <a:ln/>
        </p:spPr>
        <p:txBody>
          <a:bodyPr wrap="square" lIns="0" tIns="0" rIns="0" bIns="0" rtlCol="0" anchor="t"/>
          <a:lstStyle/>
          <a:p>
            <a:pPr algn="l" indent="0" marL="0">
              <a:lnSpc>
                <a:spcPts val="3780"/>
              </a:lnSpc>
              <a:buNone/>
            </a:pPr>
            <a:r>
              <a:rPr lang="en-US" sz="2800" dirty="0">
                <a:solidFill>
                  <a:srgbClr val="1B1815"/>
                </a:solidFill>
                <a:latin typeface="Georgia" pitchFamily="34" charset="0"/>
                <a:ea typeface="Georgia" pitchFamily="34" charset="-122"/>
                <a:cs typeface="Georgia" pitchFamily="34" charset="-120"/>
              </a:rPr>
              <a:t>The shape of the semester</a:t>
            </a:r>
            <a:endParaRPr lang="en-US" sz="2800" dirty="0"/>
          </a:p>
        </p:txBody>
      </p:sp>
      <p:sp>
        <p:nvSpPr>
          <p:cNvPr id="9" name="Text 7"/>
          <p:cNvSpPr txBox="1"/>
          <p:nvPr/>
        </p:nvSpPr>
        <p:spPr>
          <a:xfrm>
            <a:off x="822960" y="1371600"/>
            <a:ext cx="8778240" cy="353568"/>
          </a:xfrm>
          <a:prstGeom prst="rect">
            <a:avLst/>
          </a:prstGeom>
          <a:noFill/>
          <a:ln/>
        </p:spPr>
        <p:txBody>
          <a:bodyPr wrap="square" lIns="0" tIns="0" rIns="0" bIns="0" rtlCol="0" anchor="t"/>
          <a:lstStyle/>
          <a:p>
            <a:pPr algn="l" indent="0" marL="0">
              <a:lnSpc>
                <a:spcPts val="1624"/>
              </a:lnSpc>
              <a:buNone/>
            </a:pPr>
            <a:r>
              <a:rPr lang="en-US" sz="1160" dirty="0">
                <a:solidFill>
                  <a:srgbClr val="5B544A"/>
                </a:solidFill>
                <a:latin typeface="Calibri" pitchFamily="34" charset="0"/>
                <a:ea typeface="Calibri" pitchFamily="34" charset="-122"/>
                <a:cs typeface="Calibri" pitchFamily="34" charset="-120"/>
              </a:rPr>
              <a:t>Four phases, each a distinct mode of learning: foundations, theoretical cartography, clinical encounter, then integration.</a:t>
            </a:r>
            <a:endParaRPr lang="en-US" sz="1160" dirty="0"/>
          </a:p>
        </p:txBody>
      </p:sp>
      <p:sp>
        <p:nvSpPr>
          <p:cNvPr id="10" name="Shape 8"/>
          <p:cNvSpPr/>
          <p:nvPr/>
        </p:nvSpPr>
        <p:spPr>
          <a:xfrm>
            <a:off x="822960" y="2258568"/>
            <a:ext cx="2457450" cy="3319272"/>
          </a:xfrm>
          <a:prstGeom prst="roundRect">
            <a:avLst>
              <a:gd name="adj" fmla="val 623"/>
            </a:avLst>
          </a:prstGeom>
          <a:solidFill>
            <a:srgbClr val="FDFAF3"/>
          </a:solidFill>
          <a:ln w="8890">
            <a:solidFill>
              <a:srgbClr val="D9CDB7"/>
            </a:solidFill>
            <a:prstDash val="solid"/>
          </a:ln>
        </p:spPr>
      </p:sp>
      <p:sp>
        <p:nvSpPr>
          <p:cNvPr id="11" name="Shape 9"/>
          <p:cNvSpPr/>
          <p:nvPr/>
        </p:nvSpPr>
        <p:spPr>
          <a:xfrm>
            <a:off x="822960" y="2258568"/>
            <a:ext cx="2457450" cy="50292"/>
          </a:xfrm>
          <a:prstGeom prst="rect">
            <a:avLst/>
          </a:prstGeom>
          <a:solidFill>
            <a:srgbClr val="C2A05F"/>
          </a:solidFill>
          <a:ln w="12700">
            <a:solidFill>
              <a:srgbClr val="FFFFFF">
                <a:alpha val="0"/>
              </a:srgbClr>
            </a:solidFill>
            <a:prstDash val="solid"/>
          </a:ln>
        </p:spPr>
      </p:sp>
      <p:sp>
        <p:nvSpPr>
          <p:cNvPr id="12" name="Text 10"/>
          <p:cNvSpPr txBox="1"/>
          <p:nvPr/>
        </p:nvSpPr>
        <p:spPr>
          <a:xfrm>
            <a:off x="987552" y="2441448"/>
            <a:ext cx="2128266" cy="226822"/>
          </a:xfrm>
          <a:prstGeom prst="rect">
            <a:avLst/>
          </a:prstGeom>
          <a:noFill/>
          <a:ln/>
        </p:spPr>
        <p:txBody>
          <a:bodyPr wrap="square" lIns="0" tIns="0" rIns="0" bIns="0" rtlCol="0" anchor="t"/>
          <a:lstStyle/>
          <a:p>
            <a:pPr algn="l" indent="0" marL="0">
              <a:lnSpc>
                <a:spcPts val="1026"/>
              </a:lnSpc>
              <a:buNone/>
            </a:pPr>
            <a:r>
              <a:rPr lang="en-US" sz="760" b="1" spc="180" kern="0" dirty="0">
                <a:solidFill>
                  <a:srgbClr val="96733C"/>
                </a:solidFill>
                <a:latin typeface="Calibri" pitchFamily="34" charset="0"/>
                <a:ea typeface="Calibri" pitchFamily="34" charset="-122"/>
                <a:cs typeface="Calibri" pitchFamily="34" charset="-120"/>
              </a:rPr>
              <a:t>PHASE I</a:t>
            </a:r>
            <a:endParaRPr lang="en-US" sz="760" dirty="0"/>
          </a:p>
        </p:txBody>
      </p:sp>
      <p:sp>
        <p:nvSpPr>
          <p:cNvPr id="13" name="Text 11"/>
          <p:cNvSpPr txBox="1"/>
          <p:nvPr/>
        </p:nvSpPr>
        <p:spPr>
          <a:xfrm>
            <a:off x="987552" y="2660904"/>
            <a:ext cx="2128266" cy="421259"/>
          </a:xfrm>
          <a:prstGeom prst="rect">
            <a:avLst/>
          </a:prstGeom>
          <a:noFill/>
          <a:ln/>
        </p:spPr>
        <p:txBody>
          <a:bodyPr wrap="square" lIns="0" tIns="0" rIns="0" bIns="0" rtlCol="0" anchor="t"/>
          <a:lstStyle/>
          <a:p>
            <a:pPr algn="l" indent="0" marL="0">
              <a:lnSpc>
                <a:spcPts val="1767"/>
              </a:lnSpc>
              <a:buNone/>
            </a:pPr>
            <a:r>
              <a:rPr lang="en-US" sz="1550" dirty="0">
                <a:solidFill>
                  <a:srgbClr val="1B1815"/>
                </a:solidFill>
                <a:latin typeface="Georgia" pitchFamily="34" charset="0"/>
                <a:ea typeface="Georgia" pitchFamily="34" charset="-122"/>
                <a:cs typeface="Georgia" pitchFamily="34" charset="-120"/>
              </a:rPr>
              <a:t>Foundations</a:t>
            </a:r>
            <a:endParaRPr lang="en-US" sz="1550" dirty="0"/>
          </a:p>
        </p:txBody>
      </p:sp>
      <p:sp>
        <p:nvSpPr>
          <p:cNvPr id="14" name="Text 12"/>
          <p:cNvSpPr txBox="1"/>
          <p:nvPr/>
        </p:nvSpPr>
        <p:spPr>
          <a:xfrm>
            <a:off x="987552" y="3374136"/>
            <a:ext cx="2128266" cy="239522"/>
          </a:xfrm>
          <a:prstGeom prst="rect">
            <a:avLst/>
          </a:prstGeom>
          <a:noFill/>
          <a:ln/>
        </p:spPr>
        <p:txBody>
          <a:bodyPr wrap="square" lIns="0" tIns="0" rIns="0" bIns="0" rtlCol="0" anchor="t"/>
          <a:lstStyle/>
          <a:p>
            <a:pPr algn="l" indent="0" marL="0">
              <a:lnSpc>
                <a:spcPts val="1066"/>
              </a:lnSpc>
              <a:buNone/>
            </a:pPr>
            <a:r>
              <a:rPr lang="en-US" sz="820" spc="60" kern="0" dirty="0">
                <a:solidFill>
                  <a:srgbClr val="5B544A"/>
                </a:solidFill>
                <a:latin typeface="Calibri" pitchFamily="34" charset="0"/>
                <a:ea typeface="Calibri" pitchFamily="34" charset="-122"/>
                <a:cs typeface="Calibri" pitchFamily="34" charset="-120"/>
              </a:rPr>
              <a:t>Weeks 1–4</a:t>
            </a:r>
            <a:endParaRPr lang="en-US" sz="820" dirty="0"/>
          </a:p>
        </p:txBody>
      </p:sp>
      <p:sp>
        <p:nvSpPr>
          <p:cNvPr id="15" name="Shape 13"/>
          <p:cNvSpPr/>
          <p:nvPr/>
        </p:nvSpPr>
        <p:spPr>
          <a:xfrm>
            <a:off x="987552" y="3575304"/>
            <a:ext cx="493776" cy="91"/>
          </a:xfrm>
          <a:prstGeom prst="line">
            <a:avLst/>
          </a:prstGeom>
          <a:noFill/>
          <a:ln w="7620">
            <a:solidFill>
              <a:srgbClr val="D9CDB7"/>
            </a:solidFill>
            <a:prstDash val="solid"/>
            <a:headEnd type="none"/>
            <a:tailEnd type="none"/>
          </a:ln>
        </p:spPr>
      </p:sp>
      <p:sp>
        <p:nvSpPr>
          <p:cNvPr id="16" name="Shape 14"/>
          <p:cNvSpPr/>
          <p:nvPr/>
        </p:nvSpPr>
        <p:spPr>
          <a:xfrm>
            <a:off x="960120" y="3689604"/>
            <a:ext cx="192024" cy="192024"/>
          </a:xfrm>
          <a:prstGeom prst="ellipse">
            <a:avLst/>
          </a:prstGeom>
          <a:solidFill>
            <a:srgbClr val="FFFFFF">
              <a:alpha val="0"/>
            </a:srgbClr>
          </a:solidFill>
          <a:ln w="7620">
            <a:solidFill>
              <a:srgbClr val="C2A05F"/>
            </a:solidFill>
            <a:prstDash val="solid"/>
          </a:ln>
        </p:spPr>
      </p:sp>
      <p:sp>
        <p:nvSpPr>
          <p:cNvPr id="17" name="Text 15"/>
          <p:cNvSpPr txBox="1"/>
          <p:nvPr/>
        </p:nvSpPr>
        <p:spPr>
          <a:xfrm>
            <a:off x="960120" y="3743706"/>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a:t>
            </a:r>
            <a:endParaRPr lang="en-US" sz="660" dirty="0"/>
          </a:p>
        </p:txBody>
      </p:sp>
      <p:sp>
        <p:nvSpPr>
          <p:cNvPr id="18" name="Text 16"/>
          <p:cNvSpPr txBox="1"/>
          <p:nvPr/>
        </p:nvSpPr>
        <p:spPr>
          <a:xfrm>
            <a:off x="1225296" y="3675888"/>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What is MFT?</a:t>
            </a:r>
            <a:endParaRPr lang="en-US" sz="840" dirty="0"/>
          </a:p>
        </p:txBody>
      </p:sp>
      <p:sp>
        <p:nvSpPr>
          <p:cNvPr id="19" name="Shape 17"/>
          <p:cNvSpPr/>
          <p:nvPr/>
        </p:nvSpPr>
        <p:spPr>
          <a:xfrm>
            <a:off x="960120" y="4091940"/>
            <a:ext cx="192024" cy="192024"/>
          </a:xfrm>
          <a:prstGeom prst="ellipse">
            <a:avLst/>
          </a:prstGeom>
          <a:solidFill>
            <a:srgbClr val="FFFFFF">
              <a:alpha val="0"/>
            </a:srgbClr>
          </a:solidFill>
          <a:ln w="7620">
            <a:solidFill>
              <a:srgbClr val="C2A05F"/>
            </a:solidFill>
            <a:prstDash val="solid"/>
          </a:ln>
        </p:spPr>
      </p:sp>
      <p:sp>
        <p:nvSpPr>
          <p:cNvPr id="20" name="Text 18"/>
          <p:cNvSpPr txBox="1"/>
          <p:nvPr/>
        </p:nvSpPr>
        <p:spPr>
          <a:xfrm>
            <a:off x="960120" y="4146042"/>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2</a:t>
            </a:r>
            <a:endParaRPr lang="en-US" sz="660" dirty="0"/>
          </a:p>
        </p:txBody>
      </p:sp>
      <p:sp>
        <p:nvSpPr>
          <p:cNvPr id="21" name="Text 19"/>
          <p:cNvSpPr txBox="1"/>
          <p:nvPr/>
        </p:nvSpPr>
        <p:spPr>
          <a:xfrm>
            <a:off x="1225296" y="4078224"/>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Cybernetics &amp; the systemic lens</a:t>
            </a:r>
            <a:endParaRPr lang="en-US" sz="840" dirty="0"/>
          </a:p>
        </p:txBody>
      </p:sp>
      <p:sp>
        <p:nvSpPr>
          <p:cNvPr id="22" name="Shape 20"/>
          <p:cNvSpPr/>
          <p:nvPr/>
        </p:nvSpPr>
        <p:spPr>
          <a:xfrm>
            <a:off x="960120" y="4494276"/>
            <a:ext cx="192024" cy="192024"/>
          </a:xfrm>
          <a:prstGeom prst="ellipse">
            <a:avLst/>
          </a:prstGeom>
          <a:solidFill>
            <a:srgbClr val="FFFFFF">
              <a:alpha val="0"/>
            </a:srgbClr>
          </a:solidFill>
          <a:ln w="7620">
            <a:solidFill>
              <a:srgbClr val="C2A05F"/>
            </a:solidFill>
            <a:prstDash val="solid"/>
          </a:ln>
        </p:spPr>
      </p:sp>
      <p:sp>
        <p:nvSpPr>
          <p:cNvPr id="23" name="Text 21"/>
          <p:cNvSpPr txBox="1"/>
          <p:nvPr/>
        </p:nvSpPr>
        <p:spPr>
          <a:xfrm>
            <a:off x="960120" y="4548378"/>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3</a:t>
            </a:r>
            <a:endParaRPr lang="en-US" sz="660" dirty="0"/>
          </a:p>
        </p:txBody>
      </p:sp>
      <p:sp>
        <p:nvSpPr>
          <p:cNvPr id="24" name="Text 22"/>
          <p:cNvSpPr txBox="1"/>
          <p:nvPr/>
        </p:nvSpPr>
        <p:spPr>
          <a:xfrm>
            <a:off x="1225296" y="4480560"/>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A short history of the field</a:t>
            </a:r>
            <a:endParaRPr lang="en-US" sz="840" dirty="0"/>
          </a:p>
        </p:txBody>
      </p:sp>
      <p:sp>
        <p:nvSpPr>
          <p:cNvPr id="25" name="Shape 23"/>
          <p:cNvSpPr/>
          <p:nvPr/>
        </p:nvSpPr>
        <p:spPr>
          <a:xfrm>
            <a:off x="960120" y="4896612"/>
            <a:ext cx="192024" cy="192024"/>
          </a:xfrm>
          <a:prstGeom prst="ellipse">
            <a:avLst/>
          </a:prstGeom>
          <a:solidFill>
            <a:srgbClr val="FFFFFF">
              <a:alpha val="0"/>
            </a:srgbClr>
          </a:solidFill>
          <a:ln w="7620">
            <a:solidFill>
              <a:srgbClr val="C2A05F"/>
            </a:solidFill>
            <a:prstDash val="solid"/>
          </a:ln>
        </p:spPr>
      </p:sp>
      <p:sp>
        <p:nvSpPr>
          <p:cNvPr id="26" name="Text 24"/>
          <p:cNvSpPr txBox="1"/>
          <p:nvPr/>
        </p:nvSpPr>
        <p:spPr>
          <a:xfrm>
            <a:off x="960120" y="4950714"/>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4</a:t>
            </a:r>
            <a:endParaRPr lang="en-US" sz="660" dirty="0"/>
          </a:p>
        </p:txBody>
      </p:sp>
      <p:sp>
        <p:nvSpPr>
          <p:cNvPr id="27" name="Text 25"/>
          <p:cNvSpPr txBox="1"/>
          <p:nvPr/>
        </p:nvSpPr>
        <p:spPr>
          <a:xfrm>
            <a:off x="1225296" y="4882896"/>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Structural &amp; strategic foundations</a:t>
            </a:r>
            <a:endParaRPr lang="en-US" sz="840" dirty="0"/>
          </a:p>
        </p:txBody>
      </p:sp>
      <p:sp>
        <p:nvSpPr>
          <p:cNvPr id="28" name="Shape 26"/>
          <p:cNvSpPr/>
          <p:nvPr/>
        </p:nvSpPr>
        <p:spPr>
          <a:xfrm>
            <a:off x="3518154" y="2258568"/>
            <a:ext cx="2457450" cy="3319272"/>
          </a:xfrm>
          <a:prstGeom prst="roundRect">
            <a:avLst>
              <a:gd name="adj" fmla="val 623"/>
            </a:avLst>
          </a:prstGeom>
          <a:solidFill>
            <a:srgbClr val="FBF7EF"/>
          </a:solidFill>
          <a:ln w="8890">
            <a:solidFill>
              <a:srgbClr val="D9CDB7"/>
            </a:solidFill>
            <a:prstDash val="solid"/>
          </a:ln>
        </p:spPr>
      </p:sp>
      <p:sp>
        <p:nvSpPr>
          <p:cNvPr id="29" name="Shape 27"/>
          <p:cNvSpPr/>
          <p:nvPr/>
        </p:nvSpPr>
        <p:spPr>
          <a:xfrm>
            <a:off x="3518154" y="2258568"/>
            <a:ext cx="2457450" cy="50292"/>
          </a:xfrm>
          <a:prstGeom prst="rect">
            <a:avLst/>
          </a:prstGeom>
          <a:solidFill>
            <a:srgbClr val="6E8274"/>
          </a:solidFill>
          <a:ln w="12700">
            <a:solidFill>
              <a:srgbClr val="FFFFFF">
                <a:alpha val="0"/>
              </a:srgbClr>
            </a:solidFill>
            <a:prstDash val="solid"/>
          </a:ln>
        </p:spPr>
      </p:sp>
      <p:sp>
        <p:nvSpPr>
          <p:cNvPr id="30" name="Text 28"/>
          <p:cNvSpPr txBox="1"/>
          <p:nvPr/>
        </p:nvSpPr>
        <p:spPr>
          <a:xfrm>
            <a:off x="3682746" y="2441448"/>
            <a:ext cx="2128266" cy="226822"/>
          </a:xfrm>
          <a:prstGeom prst="rect">
            <a:avLst/>
          </a:prstGeom>
          <a:noFill/>
          <a:ln/>
        </p:spPr>
        <p:txBody>
          <a:bodyPr wrap="square" lIns="0" tIns="0" rIns="0" bIns="0" rtlCol="0" anchor="t"/>
          <a:lstStyle/>
          <a:p>
            <a:pPr algn="l" indent="0" marL="0">
              <a:lnSpc>
                <a:spcPts val="1026"/>
              </a:lnSpc>
              <a:buNone/>
            </a:pPr>
            <a:r>
              <a:rPr lang="en-US" sz="760" b="1" spc="180" kern="0" dirty="0">
                <a:solidFill>
                  <a:srgbClr val="6E8274"/>
                </a:solidFill>
                <a:latin typeface="Calibri" pitchFamily="34" charset="0"/>
                <a:ea typeface="Calibri" pitchFamily="34" charset="-122"/>
                <a:cs typeface="Calibri" pitchFamily="34" charset="-120"/>
              </a:rPr>
              <a:t>PHASE II</a:t>
            </a:r>
            <a:endParaRPr lang="en-US" sz="760" dirty="0"/>
          </a:p>
        </p:txBody>
      </p:sp>
      <p:sp>
        <p:nvSpPr>
          <p:cNvPr id="31" name="Text 29"/>
          <p:cNvSpPr txBox="1"/>
          <p:nvPr/>
        </p:nvSpPr>
        <p:spPr>
          <a:xfrm>
            <a:off x="3682746" y="2660904"/>
            <a:ext cx="2128266" cy="421259"/>
          </a:xfrm>
          <a:prstGeom prst="rect">
            <a:avLst/>
          </a:prstGeom>
          <a:noFill/>
          <a:ln/>
        </p:spPr>
        <p:txBody>
          <a:bodyPr wrap="square" lIns="0" tIns="0" rIns="0" bIns="0" rtlCol="0" anchor="t"/>
          <a:lstStyle/>
          <a:p>
            <a:pPr algn="l" indent="0" marL="0">
              <a:lnSpc>
                <a:spcPts val="1767"/>
              </a:lnSpc>
              <a:buNone/>
            </a:pPr>
            <a:r>
              <a:rPr lang="en-US" sz="1550" dirty="0">
                <a:solidFill>
                  <a:srgbClr val="1B1815"/>
                </a:solidFill>
                <a:latin typeface="Georgia" pitchFamily="34" charset="0"/>
                <a:ea typeface="Georgia" pitchFamily="34" charset="-122"/>
                <a:cs typeface="Georgia" pitchFamily="34" charset="-120"/>
              </a:rPr>
              <a:t>Theoretical Cartography</a:t>
            </a:r>
            <a:endParaRPr lang="en-US" sz="1550" dirty="0"/>
          </a:p>
        </p:txBody>
      </p:sp>
      <p:sp>
        <p:nvSpPr>
          <p:cNvPr id="32" name="Text 30"/>
          <p:cNvSpPr txBox="1"/>
          <p:nvPr/>
        </p:nvSpPr>
        <p:spPr>
          <a:xfrm>
            <a:off x="3682746" y="3374136"/>
            <a:ext cx="2128266" cy="239522"/>
          </a:xfrm>
          <a:prstGeom prst="rect">
            <a:avLst/>
          </a:prstGeom>
          <a:noFill/>
          <a:ln/>
        </p:spPr>
        <p:txBody>
          <a:bodyPr wrap="square" lIns="0" tIns="0" rIns="0" bIns="0" rtlCol="0" anchor="t"/>
          <a:lstStyle/>
          <a:p>
            <a:pPr algn="l" indent="0" marL="0">
              <a:lnSpc>
                <a:spcPts val="1066"/>
              </a:lnSpc>
              <a:buNone/>
            </a:pPr>
            <a:r>
              <a:rPr lang="en-US" sz="820" spc="60" kern="0" dirty="0">
                <a:solidFill>
                  <a:srgbClr val="5B544A"/>
                </a:solidFill>
                <a:latin typeface="Calibri" pitchFamily="34" charset="0"/>
                <a:ea typeface="Calibri" pitchFamily="34" charset="-122"/>
                <a:cs typeface="Calibri" pitchFamily="34" charset="-120"/>
              </a:rPr>
              <a:t>Weeks 5–8</a:t>
            </a:r>
            <a:endParaRPr lang="en-US" sz="820" dirty="0"/>
          </a:p>
        </p:txBody>
      </p:sp>
      <p:sp>
        <p:nvSpPr>
          <p:cNvPr id="33" name="Shape 31"/>
          <p:cNvSpPr/>
          <p:nvPr/>
        </p:nvSpPr>
        <p:spPr>
          <a:xfrm>
            <a:off x="3682746" y="3575304"/>
            <a:ext cx="493776" cy="91"/>
          </a:xfrm>
          <a:prstGeom prst="line">
            <a:avLst/>
          </a:prstGeom>
          <a:noFill/>
          <a:ln w="7620">
            <a:solidFill>
              <a:srgbClr val="D9CDB7"/>
            </a:solidFill>
            <a:prstDash val="solid"/>
            <a:headEnd type="none"/>
            <a:tailEnd type="none"/>
          </a:ln>
        </p:spPr>
      </p:sp>
      <p:sp>
        <p:nvSpPr>
          <p:cNvPr id="34" name="Shape 32"/>
          <p:cNvSpPr/>
          <p:nvPr/>
        </p:nvSpPr>
        <p:spPr>
          <a:xfrm>
            <a:off x="3655314" y="3689604"/>
            <a:ext cx="192024" cy="192024"/>
          </a:xfrm>
          <a:prstGeom prst="ellipse">
            <a:avLst/>
          </a:prstGeom>
          <a:solidFill>
            <a:srgbClr val="FFFFFF">
              <a:alpha val="0"/>
            </a:srgbClr>
          </a:solidFill>
          <a:ln w="7620">
            <a:solidFill>
              <a:srgbClr val="C2A05F"/>
            </a:solidFill>
            <a:prstDash val="solid"/>
          </a:ln>
        </p:spPr>
      </p:sp>
      <p:sp>
        <p:nvSpPr>
          <p:cNvPr id="35" name="Text 33"/>
          <p:cNvSpPr txBox="1"/>
          <p:nvPr/>
        </p:nvSpPr>
        <p:spPr>
          <a:xfrm>
            <a:off x="3655314" y="3743706"/>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5</a:t>
            </a:r>
            <a:endParaRPr lang="en-US" sz="660" dirty="0"/>
          </a:p>
        </p:txBody>
      </p:sp>
      <p:sp>
        <p:nvSpPr>
          <p:cNvPr id="36" name="Text 34"/>
          <p:cNvSpPr txBox="1"/>
          <p:nvPr/>
        </p:nvSpPr>
        <p:spPr>
          <a:xfrm>
            <a:off x="3920490" y="3675888"/>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Intergenerational &amp; contextual</a:t>
            </a:r>
            <a:endParaRPr lang="en-US" sz="840" dirty="0"/>
          </a:p>
        </p:txBody>
      </p:sp>
      <p:sp>
        <p:nvSpPr>
          <p:cNvPr id="37" name="Shape 35"/>
          <p:cNvSpPr/>
          <p:nvPr/>
        </p:nvSpPr>
        <p:spPr>
          <a:xfrm>
            <a:off x="3655314" y="4091940"/>
            <a:ext cx="192024" cy="192024"/>
          </a:xfrm>
          <a:prstGeom prst="ellipse">
            <a:avLst/>
          </a:prstGeom>
          <a:solidFill>
            <a:srgbClr val="FFFFFF">
              <a:alpha val="0"/>
            </a:srgbClr>
          </a:solidFill>
          <a:ln w="7620">
            <a:solidFill>
              <a:srgbClr val="C2A05F"/>
            </a:solidFill>
            <a:prstDash val="solid"/>
          </a:ln>
        </p:spPr>
      </p:sp>
      <p:sp>
        <p:nvSpPr>
          <p:cNvPr id="38" name="Text 36"/>
          <p:cNvSpPr txBox="1"/>
          <p:nvPr/>
        </p:nvSpPr>
        <p:spPr>
          <a:xfrm>
            <a:off x="3655314" y="4146042"/>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6</a:t>
            </a:r>
            <a:endParaRPr lang="en-US" sz="660" dirty="0"/>
          </a:p>
        </p:txBody>
      </p:sp>
      <p:sp>
        <p:nvSpPr>
          <p:cNvPr id="39" name="Text 37"/>
          <p:cNvSpPr txBox="1"/>
          <p:nvPr/>
        </p:nvSpPr>
        <p:spPr>
          <a:xfrm>
            <a:off x="3920490" y="4078224"/>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Experiential &amp; humanistic</a:t>
            </a:r>
            <a:endParaRPr lang="en-US" sz="840" dirty="0"/>
          </a:p>
        </p:txBody>
      </p:sp>
      <p:sp>
        <p:nvSpPr>
          <p:cNvPr id="40" name="Shape 38"/>
          <p:cNvSpPr/>
          <p:nvPr/>
        </p:nvSpPr>
        <p:spPr>
          <a:xfrm>
            <a:off x="3655314" y="4494276"/>
            <a:ext cx="192024" cy="192024"/>
          </a:xfrm>
          <a:prstGeom prst="ellipse">
            <a:avLst/>
          </a:prstGeom>
          <a:solidFill>
            <a:srgbClr val="FFFFFF">
              <a:alpha val="0"/>
            </a:srgbClr>
          </a:solidFill>
          <a:ln w="7620">
            <a:solidFill>
              <a:srgbClr val="C2A05F"/>
            </a:solidFill>
            <a:prstDash val="solid"/>
          </a:ln>
        </p:spPr>
      </p:sp>
      <p:sp>
        <p:nvSpPr>
          <p:cNvPr id="41" name="Text 39"/>
          <p:cNvSpPr txBox="1"/>
          <p:nvPr/>
        </p:nvSpPr>
        <p:spPr>
          <a:xfrm>
            <a:off x="3655314" y="4548378"/>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7</a:t>
            </a:r>
            <a:endParaRPr lang="en-US" sz="660" dirty="0"/>
          </a:p>
        </p:txBody>
      </p:sp>
      <p:sp>
        <p:nvSpPr>
          <p:cNvPr id="42" name="Text 40"/>
          <p:cNvSpPr txBox="1"/>
          <p:nvPr/>
        </p:nvSpPr>
        <p:spPr>
          <a:xfrm>
            <a:off x="3920490" y="4480560"/>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Postmodern &amp; constructivist</a:t>
            </a:r>
            <a:endParaRPr lang="en-US" sz="840" dirty="0"/>
          </a:p>
        </p:txBody>
      </p:sp>
      <p:sp>
        <p:nvSpPr>
          <p:cNvPr id="43" name="Shape 41"/>
          <p:cNvSpPr/>
          <p:nvPr/>
        </p:nvSpPr>
        <p:spPr>
          <a:xfrm>
            <a:off x="3655314" y="4896612"/>
            <a:ext cx="192024" cy="192024"/>
          </a:xfrm>
          <a:prstGeom prst="ellipse">
            <a:avLst/>
          </a:prstGeom>
          <a:solidFill>
            <a:srgbClr val="FFFFFF">
              <a:alpha val="0"/>
            </a:srgbClr>
          </a:solidFill>
          <a:ln w="7620">
            <a:solidFill>
              <a:srgbClr val="C2A05F"/>
            </a:solidFill>
            <a:prstDash val="solid"/>
          </a:ln>
        </p:spPr>
      </p:sp>
      <p:sp>
        <p:nvSpPr>
          <p:cNvPr id="44" name="Text 42"/>
          <p:cNvSpPr txBox="1"/>
          <p:nvPr/>
        </p:nvSpPr>
        <p:spPr>
          <a:xfrm>
            <a:off x="3655314" y="4950714"/>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8</a:t>
            </a:r>
            <a:endParaRPr lang="en-US" sz="660" dirty="0"/>
          </a:p>
        </p:txBody>
      </p:sp>
      <p:sp>
        <p:nvSpPr>
          <p:cNvPr id="45" name="Text 43"/>
          <p:cNvSpPr txBox="1"/>
          <p:nvPr/>
        </p:nvSpPr>
        <p:spPr>
          <a:xfrm>
            <a:off x="3920490" y="4882896"/>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Integrative formulation</a:t>
            </a:r>
            <a:endParaRPr lang="en-US" sz="840" dirty="0"/>
          </a:p>
        </p:txBody>
      </p:sp>
      <p:sp>
        <p:nvSpPr>
          <p:cNvPr id="46" name="Shape 44"/>
          <p:cNvSpPr/>
          <p:nvPr/>
        </p:nvSpPr>
        <p:spPr>
          <a:xfrm>
            <a:off x="6213348" y="2258568"/>
            <a:ext cx="2457450" cy="3319272"/>
          </a:xfrm>
          <a:prstGeom prst="roundRect">
            <a:avLst>
              <a:gd name="adj" fmla="val 623"/>
            </a:avLst>
          </a:prstGeom>
          <a:solidFill>
            <a:srgbClr val="FDFAF3"/>
          </a:solidFill>
          <a:ln w="8890">
            <a:solidFill>
              <a:srgbClr val="D9CDB7"/>
            </a:solidFill>
            <a:prstDash val="solid"/>
          </a:ln>
        </p:spPr>
      </p:sp>
      <p:sp>
        <p:nvSpPr>
          <p:cNvPr id="47" name="Shape 45"/>
          <p:cNvSpPr/>
          <p:nvPr/>
        </p:nvSpPr>
        <p:spPr>
          <a:xfrm>
            <a:off x="6213348" y="2258568"/>
            <a:ext cx="2457450" cy="50292"/>
          </a:xfrm>
          <a:prstGeom prst="rect">
            <a:avLst/>
          </a:prstGeom>
          <a:solidFill>
            <a:srgbClr val="C2A05F"/>
          </a:solidFill>
          <a:ln w="12700">
            <a:solidFill>
              <a:srgbClr val="FFFFFF">
                <a:alpha val="0"/>
              </a:srgbClr>
            </a:solidFill>
            <a:prstDash val="solid"/>
          </a:ln>
        </p:spPr>
      </p:sp>
      <p:sp>
        <p:nvSpPr>
          <p:cNvPr id="48" name="Text 46"/>
          <p:cNvSpPr txBox="1"/>
          <p:nvPr/>
        </p:nvSpPr>
        <p:spPr>
          <a:xfrm>
            <a:off x="6377940" y="2441448"/>
            <a:ext cx="2128266" cy="226822"/>
          </a:xfrm>
          <a:prstGeom prst="rect">
            <a:avLst/>
          </a:prstGeom>
          <a:noFill/>
          <a:ln/>
        </p:spPr>
        <p:txBody>
          <a:bodyPr wrap="square" lIns="0" tIns="0" rIns="0" bIns="0" rtlCol="0" anchor="t"/>
          <a:lstStyle/>
          <a:p>
            <a:pPr algn="l" indent="0" marL="0">
              <a:lnSpc>
                <a:spcPts val="1026"/>
              </a:lnSpc>
              <a:buNone/>
            </a:pPr>
            <a:r>
              <a:rPr lang="en-US" sz="760" b="1" spc="180" kern="0" dirty="0">
                <a:solidFill>
                  <a:srgbClr val="96733C"/>
                </a:solidFill>
                <a:latin typeface="Calibri" pitchFamily="34" charset="0"/>
                <a:ea typeface="Calibri" pitchFamily="34" charset="-122"/>
                <a:cs typeface="Calibri" pitchFamily="34" charset="-120"/>
              </a:rPr>
              <a:t>PHASE III</a:t>
            </a:r>
            <a:endParaRPr lang="en-US" sz="760" dirty="0"/>
          </a:p>
        </p:txBody>
      </p:sp>
      <p:sp>
        <p:nvSpPr>
          <p:cNvPr id="49" name="Text 47"/>
          <p:cNvSpPr txBox="1"/>
          <p:nvPr/>
        </p:nvSpPr>
        <p:spPr>
          <a:xfrm>
            <a:off x="6377940" y="2660904"/>
            <a:ext cx="2128266" cy="421259"/>
          </a:xfrm>
          <a:prstGeom prst="rect">
            <a:avLst/>
          </a:prstGeom>
          <a:noFill/>
          <a:ln/>
        </p:spPr>
        <p:txBody>
          <a:bodyPr wrap="square" lIns="0" tIns="0" rIns="0" bIns="0" rtlCol="0" anchor="t"/>
          <a:lstStyle/>
          <a:p>
            <a:pPr algn="l" indent="0" marL="0">
              <a:lnSpc>
                <a:spcPts val="1767"/>
              </a:lnSpc>
              <a:buNone/>
            </a:pPr>
            <a:r>
              <a:rPr lang="en-US" sz="1550" dirty="0">
                <a:solidFill>
                  <a:srgbClr val="1B1815"/>
                </a:solidFill>
                <a:latin typeface="Georgia" pitchFamily="34" charset="0"/>
                <a:ea typeface="Georgia" pitchFamily="34" charset="-122"/>
                <a:cs typeface="Georgia" pitchFamily="34" charset="-120"/>
              </a:rPr>
              <a:t>The Clinical Encounter</a:t>
            </a:r>
            <a:endParaRPr lang="en-US" sz="1550" dirty="0"/>
          </a:p>
        </p:txBody>
      </p:sp>
      <p:sp>
        <p:nvSpPr>
          <p:cNvPr id="50" name="Text 48"/>
          <p:cNvSpPr txBox="1"/>
          <p:nvPr/>
        </p:nvSpPr>
        <p:spPr>
          <a:xfrm>
            <a:off x="6377940" y="3374136"/>
            <a:ext cx="2128266" cy="239522"/>
          </a:xfrm>
          <a:prstGeom prst="rect">
            <a:avLst/>
          </a:prstGeom>
          <a:noFill/>
          <a:ln/>
        </p:spPr>
        <p:txBody>
          <a:bodyPr wrap="square" lIns="0" tIns="0" rIns="0" bIns="0" rtlCol="0" anchor="t"/>
          <a:lstStyle/>
          <a:p>
            <a:pPr algn="l" indent="0" marL="0">
              <a:lnSpc>
                <a:spcPts val="1066"/>
              </a:lnSpc>
              <a:buNone/>
            </a:pPr>
            <a:r>
              <a:rPr lang="en-US" sz="820" spc="60" kern="0" dirty="0">
                <a:solidFill>
                  <a:srgbClr val="5B544A"/>
                </a:solidFill>
                <a:latin typeface="Calibri" pitchFamily="34" charset="0"/>
                <a:ea typeface="Calibri" pitchFamily="34" charset="-122"/>
                <a:cs typeface="Calibri" pitchFamily="34" charset="-120"/>
              </a:rPr>
              <a:t>Weeks 9–12</a:t>
            </a:r>
            <a:endParaRPr lang="en-US" sz="820" dirty="0"/>
          </a:p>
        </p:txBody>
      </p:sp>
      <p:sp>
        <p:nvSpPr>
          <p:cNvPr id="51" name="Shape 49"/>
          <p:cNvSpPr/>
          <p:nvPr/>
        </p:nvSpPr>
        <p:spPr>
          <a:xfrm>
            <a:off x="6377940" y="3575304"/>
            <a:ext cx="493776" cy="91"/>
          </a:xfrm>
          <a:prstGeom prst="line">
            <a:avLst/>
          </a:prstGeom>
          <a:noFill/>
          <a:ln w="7620">
            <a:solidFill>
              <a:srgbClr val="D9CDB7"/>
            </a:solidFill>
            <a:prstDash val="solid"/>
            <a:headEnd type="none"/>
            <a:tailEnd type="none"/>
          </a:ln>
        </p:spPr>
      </p:sp>
      <p:sp>
        <p:nvSpPr>
          <p:cNvPr id="52" name="Shape 50"/>
          <p:cNvSpPr/>
          <p:nvPr/>
        </p:nvSpPr>
        <p:spPr>
          <a:xfrm>
            <a:off x="6350508" y="3689604"/>
            <a:ext cx="192024" cy="192024"/>
          </a:xfrm>
          <a:prstGeom prst="ellipse">
            <a:avLst/>
          </a:prstGeom>
          <a:solidFill>
            <a:srgbClr val="FFFFFF">
              <a:alpha val="0"/>
            </a:srgbClr>
          </a:solidFill>
          <a:ln w="7620">
            <a:solidFill>
              <a:srgbClr val="C2A05F"/>
            </a:solidFill>
            <a:prstDash val="solid"/>
          </a:ln>
        </p:spPr>
      </p:sp>
      <p:sp>
        <p:nvSpPr>
          <p:cNvPr id="53" name="Text 51"/>
          <p:cNvSpPr txBox="1"/>
          <p:nvPr/>
        </p:nvSpPr>
        <p:spPr>
          <a:xfrm>
            <a:off x="6350508" y="3743706"/>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9</a:t>
            </a:r>
            <a:endParaRPr lang="en-US" sz="660" dirty="0"/>
          </a:p>
        </p:txBody>
      </p:sp>
      <p:sp>
        <p:nvSpPr>
          <p:cNvPr id="54" name="Text 52"/>
          <p:cNvSpPr txBox="1"/>
          <p:nvPr/>
        </p:nvSpPr>
        <p:spPr>
          <a:xfrm>
            <a:off x="6615684" y="3675888"/>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First session &amp; alliance</a:t>
            </a:r>
            <a:endParaRPr lang="en-US" sz="840" dirty="0"/>
          </a:p>
        </p:txBody>
      </p:sp>
      <p:sp>
        <p:nvSpPr>
          <p:cNvPr id="55" name="Shape 53"/>
          <p:cNvSpPr/>
          <p:nvPr/>
        </p:nvSpPr>
        <p:spPr>
          <a:xfrm>
            <a:off x="6350508" y="4091940"/>
            <a:ext cx="192024" cy="192024"/>
          </a:xfrm>
          <a:prstGeom prst="ellipse">
            <a:avLst/>
          </a:prstGeom>
          <a:solidFill>
            <a:srgbClr val="FFFFFF">
              <a:alpha val="0"/>
            </a:srgbClr>
          </a:solidFill>
          <a:ln w="7620">
            <a:solidFill>
              <a:srgbClr val="C2A05F"/>
            </a:solidFill>
            <a:prstDash val="solid"/>
          </a:ln>
        </p:spPr>
      </p:sp>
      <p:sp>
        <p:nvSpPr>
          <p:cNvPr id="56" name="Text 54"/>
          <p:cNvSpPr txBox="1"/>
          <p:nvPr/>
        </p:nvSpPr>
        <p:spPr>
          <a:xfrm>
            <a:off x="6350508" y="4146042"/>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10</a:t>
            </a:r>
            <a:endParaRPr lang="en-US" sz="660" dirty="0"/>
          </a:p>
        </p:txBody>
      </p:sp>
      <p:sp>
        <p:nvSpPr>
          <p:cNvPr id="57" name="Text 55"/>
          <p:cNvSpPr txBox="1"/>
          <p:nvPr/>
        </p:nvSpPr>
        <p:spPr>
          <a:xfrm>
            <a:off x="6615684" y="4078224"/>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Assessment &amp; genograms</a:t>
            </a:r>
            <a:endParaRPr lang="en-US" sz="840" dirty="0"/>
          </a:p>
        </p:txBody>
      </p:sp>
      <p:sp>
        <p:nvSpPr>
          <p:cNvPr id="58" name="Shape 56"/>
          <p:cNvSpPr/>
          <p:nvPr/>
        </p:nvSpPr>
        <p:spPr>
          <a:xfrm>
            <a:off x="6350508" y="4494276"/>
            <a:ext cx="192024" cy="192024"/>
          </a:xfrm>
          <a:prstGeom prst="ellipse">
            <a:avLst/>
          </a:prstGeom>
          <a:solidFill>
            <a:srgbClr val="FFFFFF">
              <a:alpha val="0"/>
            </a:srgbClr>
          </a:solidFill>
          <a:ln w="7620">
            <a:solidFill>
              <a:srgbClr val="C2A05F"/>
            </a:solidFill>
            <a:prstDash val="solid"/>
          </a:ln>
        </p:spPr>
      </p:sp>
      <p:sp>
        <p:nvSpPr>
          <p:cNvPr id="59" name="Text 57"/>
          <p:cNvSpPr txBox="1"/>
          <p:nvPr/>
        </p:nvSpPr>
        <p:spPr>
          <a:xfrm>
            <a:off x="6350508" y="4548378"/>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11</a:t>
            </a:r>
            <a:endParaRPr lang="en-US" sz="660" dirty="0"/>
          </a:p>
        </p:txBody>
      </p:sp>
      <p:sp>
        <p:nvSpPr>
          <p:cNvPr id="60" name="Text 58"/>
          <p:cNvSpPr txBox="1"/>
          <p:nvPr/>
        </p:nvSpPr>
        <p:spPr>
          <a:xfrm>
            <a:off x="6615684" y="4480560"/>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Ethics, law &amp; governance</a:t>
            </a:r>
            <a:endParaRPr lang="en-US" sz="840" dirty="0"/>
          </a:p>
        </p:txBody>
      </p:sp>
      <p:sp>
        <p:nvSpPr>
          <p:cNvPr id="61" name="Shape 59"/>
          <p:cNvSpPr/>
          <p:nvPr/>
        </p:nvSpPr>
        <p:spPr>
          <a:xfrm>
            <a:off x="6350508" y="4896612"/>
            <a:ext cx="192024" cy="192024"/>
          </a:xfrm>
          <a:prstGeom prst="ellipse">
            <a:avLst/>
          </a:prstGeom>
          <a:solidFill>
            <a:srgbClr val="FFFFFF">
              <a:alpha val="0"/>
            </a:srgbClr>
          </a:solidFill>
          <a:ln w="7620">
            <a:solidFill>
              <a:srgbClr val="C2A05F"/>
            </a:solidFill>
            <a:prstDash val="solid"/>
          </a:ln>
        </p:spPr>
      </p:sp>
      <p:sp>
        <p:nvSpPr>
          <p:cNvPr id="62" name="Text 60"/>
          <p:cNvSpPr txBox="1"/>
          <p:nvPr/>
        </p:nvSpPr>
        <p:spPr>
          <a:xfrm>
            <a:off x="6350508" y="4950714"/>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12</a:t>
            </a:r>
            <a:endParaRPr lang="en-US" sz="660" dirty="0"/>
          </a:p>
        </p:txBody>
      </p:sp>
      <p:sp>
        <p:nvSpPr>
          <p:cNvPr id="63" name="Text 61"/>
          <p:cNvSpPr txBox="1"/>
          <p:nvPr/>
        </p:nvSpPr>
        <p:spPr>
          <a:xfrm>
            <a:off x="6615684" y="4882896"/>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Culture, power &amp; location</a:t>
            </a:r>
            <a:endParaRPr lang="en-US" sz="840" dirty="0"/>
          </a:p>
        </p:txBody>
      </p:sp>
      <p:sp>
        <p:nvSpPr>
          <p:cNvPr id="64" name="Shape 62"/>
          <p:cNvSpPr/>
          <p:nvPr/>
        </p:nvSpPr>
        <p:spPr>
          <a:xfrm>
            <a:off x="8908542" y="2258568"/>
            <a:ext cx="2457450" cy="3319272"/>
          </a:xfrm>
          <a:prstGeom prst="roundRect">
            <a:avLst>
              <a:gd name="adj" fmla="val 623"/>
            </a:avLst>
          </a:prstGeom>
          <a:solidFill>
            <a:srgbClr val="FBF7EF"/>
          </a:solidFill>
          <a:ln w="8890">
            <a:solidFill>
              <a:srgbClr val="D9CDB7"/>
            </a:solidFill>
            <a:prstDash val="solid"/>
          </a:ln>
        </p:spPr>
      </p:sp>
      <p:sp>
        <p:nvSpPr>
          <p:cNvPr id="65" name="Shape 63"/>
          <p:cNvSpPr/>
          <p:nvPr/>
        </p:nvSpPr>
        <p:spPr>
          <a:xfrm>
            <a:off x="8908542" y="2258568"/>
            <a:ext cx="2457450" cy="50292"/>
          </a:xfrm>
          <a:prstGeom prst="rect">
            <a:avLst/>
          </a:prstGeom>
          <a:solidFill>
            <a:srgbClr val="6E8274"/>
          </a:solidFill>
          <a:ln w="12700">
            <a:solidFill>
              <a:srgbClr val="FFFFFF">
                <a:alpha val="0"/>
              </a:srgbClr>
            </a:solidFill>
            <a:prstDash val="solid"/>
          </a:ln>
        </p:spPr>
      </p:sp>
      <p:sp>
        <p:nvSpPr>
          <p:cNvPr id="66" name="Text 64"/>
          <p:cNvSpPr txBox="1"/>
          <p:nvPr/>
        </p:nvSpPr>
        <p:spPr>
          <a:xfrm>
            <a:off x="9073134" y="2441448"/>
            <a:ext cx="2128266" cy="226822"/>
          </a:xfrm>
          <a:prstGeom prst="rect">
            <a:avLst/>
          </a:prstGeom>
          <a:noFill/>
          <a:ln/>
        </p:spPr>
        <p:txBody>
          <a:bodyPr wrap="square" lIns="0" tIns="0" rIns="0" bIns="0" rtlCol="0" anchor="t"/>
          <a:lstStyle/>
          <a:p>
            <a:pPr algn="l" indent="0" marL="0">
              <a:lnSpc>
                <a:spcPts val="1026"/>
              </a:lnSpc>
              <a:buNone/>
            </a:pPr>
            <a:r>
              <a:rPr lang="en-US" sz="760" b="1" spc="180" kern="0" dirty="0">
                <a:solidFill>
                  <a:srgbClr val="6E8274"/>
                </a:solidFill>
                <a:latin typeface="Calibri" pitchFamily="34" charset="0"/>
                <a:ea typeface="Calibri" pitchFamily="34" charset="-122"/>
                <a:cs typeface="Calibri" pitchFamily="34" charset="-120"/>
              </a:rPr>
              <a:t>PHASE IV</a:t>
            </a:r>
            <a:endParaRPr lang="en-US" sz="760" dirty="0"/>
          </a:p>
        </p:txBody>
      </p:sp>
      <p:sp>
        <p:nvSpPr>
          <p:cNvPr id="67" name="Text 65"/>
          <p:cNvSpPr txBox="1"/>
          <p:nvPr/>
        </p:nvSpPr>
        <p:spPr>
          <a:xfrm>
            <a:off x="9073134" y="2660904"/>
            <a:ext cx="2128266" cy="421259"/>
          </a:xfrm>
          <a:prstGeom prst="rect">
            <a:avLst/>
          </a:prstGeom>
          <a:noFill/>
          <a:ln/>
        </p:spPr>
        <p:txBody>
          <a:bodyPr wrap="square" lIns="0" tIns="0" rIns="0" bIns="0" rtlCol="0" anchor="t"/>
          <a:lstStyle/>
          <a:p>
            <a:pPr algn="l" indent="0" marL="0">
              <a:lnSpc>
                <a:spcPts val="1767"/>
              </a:lnSpc>
              <a:buNone/>
            </a:pPr>
            <a:r>
              <a:rPr lang="en-US" sz="1550" dirty="0">
                <a:solidFill>
                  <a:srgbClr val="1B1815"/>
                </a:solidFill>
                <a:latin typeface="Georgia" pitchFamily="34" charset="0"/>
                <a:ea typeface="Georgia" pitchFamily="34" charset="-122"/>
                <a:cs typeface="Georgia" pitchFamily="34" charset="-120"/>
              </a:rPr>
              <a:t>Integration &amp; Transition</a:t>
            </a:r>
            <a:endParaRPr lang="en-US" sz="1550" dirty="0"/>
          </a:p>
        </p:txBody>
      </p:sp>
      <p:sp>
        <p:nvSpPr>
          <p:cNvPr id="68" name="Text 66"/>
          <p:cNvSpPr txBox="1"/>
          <p:nvPr/>
        </p:nvSpPr>
        <p:spPr>
          <a:xfrm>
            <a:off x="9073134" y="3374136"/>
            <a:ext cx="2128266" cy="239522"/>
          </a:xfrm>
          <a:prstGeom prst="rect">
            <a:avLst/>
          </a:prstGeom>
          <a:noFill/>
          <a:ln/>
        </p:spPr>
        <p:txBody>
          <a:bodyPr wrap="square" lIns="0" tIns="0" rIns="0" bIns="0" rtlCol="0" anchor="t"/>
          <a:lstStyle/>
          <a:p>
            <a:pPr algn="l" indent="0" marL="0">
              <a:lnSpc>
                <a:spcPts val="1066"/>
              </a:lnSpc>
              <a:buNone/>
            </a:pPr>
            <a:r>
              <a:rPr lang="en-US" sz="820" spc="60" kern="0" dirty="0">
                <a:solidFill>
                  <a:srgbClr val="5B544A"/>
                </a:solidFill>
                <a:latin typeface="Calibri" pitchFamily="34" charset="0"/>
                <a:ea typeface="Calibri" pitchFamily="34" charset="-122"/>
                <a:cs typeface="Calibri" pitchFamily="34" charset="-120"/>
              </a:rPr>
              <a:t>Weeks 13–16</a:t>
            </a:r>
            <a:endParaRPr lang="en-US" sz="820" dirty="0"/>
          </a:p>
        </p:txBody>
      </p:sp>
      <p:sp>
        <p:nvSpPr>
          <p:cNvPr id="69" name="Shape 67"/>
          <p:cNvSpPr/>
          <p:nvPr/>
        </p:nvSpPr>
        <p:spPr>
          <a:xfrm>
            <a:off x="9073134" y="3575304"/>
            <a:ext cx="493776" cy="91"/>
          </a:xfrm>
          <a:prstGeom prst="line">
            <a:avLst/>
          </a:prstGeom>
          <a:noFill/>
          <a:ln w="7620">
            <a:solidFill>
              <a:srgbClr val="D9CDB7"/>
            </a:solidFill>
            <a:prstDash val="solid"/>
            <a:headEnd type="none"/>
            <a:tailEnd type="none"/>
          </a:ln>
        </p:spPr>
      </p:sp>
      <p:sp>
        <p:nvSpPr>
          <p:cNvPr id="70" name="Shape 68"/>
          <p:cNvSpPr/>
          <p:nvPr/>
        </p:nvSpPr>
        <p:spPr>
          <a:xfrm>
            <a:off x="9045702" y="3689604"/>
            <a:ext cx="192024" cy="192024"/>
          </a:xfrm>
          <a:prstGeom prst="ellipse">
            <a:avLst/>
          </a:prstGeom>
          <a:solidFill>
            <a:srgbClr val="FFFFFF">
              <a:alpha val="0"/>
            </a:srgbClr>
          </a:solidFill>
          <a:ln w="7620">
            <a:solidFill>
              <a:srgbClr val="C2A05F"/>
            </a:solidFill>
            <a:prstDash val="solid"/>
          </a:ln>
        </p:spPr>
      </p:sp>
      <p:sp>
        <p:nvSpPr>
          <p:cNvPr id="71" name="Text 69"/>
          <p:cNvSpPr txBox="1"/>
          <p:nvPr/>
        </p:nvSpPr>
        <p:spPr>
          <a:xfrm>
            <a:off x="9045702" y="3743706"/>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13</a:t>
            </a:r>
            <a:endParaRPr lang="en-US" sz="660" dirty="0"/>
          </a:p>
        </p:txBody>
      </p:sp>
      <p:sp>
        <p:nvSpPr>
          <p:cNvPr id="72" name="Text 70"/>
          <p:cNvSpPr txBox="1"/>
          <p:nvPr/>
        </p:nvSpPr>
        <p:spPr>
          <a:xfrm>
            <a:off x="9310878" y="3675888"/>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Children &amp; adolescents</a:t>
            </a:r>
            <a:endParaRPr lang="en-US" sz="840" dirty="0"/>
          </a:p>
        </p:txBody>
      </p:sp>
      <p:sp>
        <p:nvSpPr>
          <p:cNvPr id="73" name="Shape 71"/>
          <p:cNvSpPr/>
          <p:nvPr/>
        </p:nvSpPr>
        <p:spPr>
          <a:xfrm>
            <a:off x="9045702" y="4091940"/>
            <a:ext cx="192024" cy="192024"/>
          </a:xfrm>
          <a:prstGeom prst="ellipse">
            <a:avLst/>
          </a:prstGeom>
          <a:solidFill>
            <a:srgbClr val="FFFFFF">
              <a:alpha val="0"/>
            </a:srgbClr>
          </a:solidFill>
          <a:ln w="7620">
            <a:solidFill>
              <a:srgbClr val="C2A05F"/>
            </a:solidFill>
            <a:prstDash val="solid"/>
          </a:ln>
        </p:spPr>
      </p:sp>
      <p:sp>
        <p:nvSpPr>
          <p:cNvPr id="74" name="Text 72"/>
          <p:cNvSpPr txBox="1"/>
          <p:nvPr/>
        </p:nvSpPr>
        <p:spPr>
          <a:xfrm>
            <a:off x="9045702" y="4146042"/>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14</a:t>
            </a:r>
            <a:endParaRPr lang="en-US" sz="660" dirty="0"/>
          </a:p>
        </p:txBody>
      </p:sp>
      <p:sp>
        <p:nvSpPr>
          <p:cNvPr id="75" name="Text 73"/>
          <p:cNvSpPr txBox="1"/>
          <p:nvPr/>
        </p:nvSpPr>
        <p:spPr>
          <a:xfrm>
            <a:off x="9310878" y="4078224"/>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Couples &amp; attachment</a:t>
            </a:r>
            <a:endParaRPr lang="en-US" sz="840" dirty="0"/>
          </a:p>
        </p:txBody>
      </p:sp>
      <p:sp>
        <p:nvSpPr>
          <p:cNvPr id="76" name="Shape 74"/>
          <p:cNvSpPr/>
          <p:nvPr/>
        </p:nvSpPr>
        <p:spPr>
          <a:xfrm>
            <a:off x="9045702" y="4494276"/>
            <a:ext cx="192024" cy="192024"/>
          </a:xfrm>
          <a:prstGeom prst="ellipse">
            <a:avLst/>
          </a:prstGeom>
          <a:solidFill>
            <a:srgbClr val="FFFFFF">
              <a:alpha val="0"/>
            </a:srgbClr>
          </a:solidFill>
          <a:ln w="7620">
            <a:solidFill>
              <a:srgbClr val="C2A05F"/>
            </a:solidFill>
            <a:prstDash val="solid"/>
          </a:ln>
        </p:spPr>
      </p:sp>
      <p:sp>
        <p:nvSpPr>
          <p:cNvPr id="77" name="Text 75"/>
          <p:cNvSpPr txBox="1"/>
          <p:nvPr/>
        </p:nvSpPr>
        <p:spPr>
          <a:xfrm>
            <a:off x="9045702" y="4548378"/>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15</a:t>
            </a:r>
            <a:endParaRPr lang="en-US" sz="660" dirty="0"/>
          </a:p>
        </p:txBody>
      </p:sp>
      <p:sp>
        <p:nvSpPr>
          <p:cNvPr id="78" name="Text 76"/>
          <p:cNvSpPr txBox="1"/>
          <p:nvPr/>
        </p:nvSpPr>
        <p:spPr>
          <a:xfrm>
            <a:off x="9310878" y="4480560"/>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Transitions &amp; crisis</a:t>
            </a:r>
            <a:endParaRPr lang="en-US" sz="840" dirty="0"/>
          </a:p>
        </p:txBody>
      </p:sp>
      <p:sp>
        <p:nvSpPr>
          <p:cNvPr id="79" name="Shape 77"/>
          <p:cNvSpPr/>
          <p:nvPr/>
        </p:nvSpPr>
        <p:spPr>
          <a:xfrm>
            <a:off x="9045702" y="4896612"/>
            <a:ext cx="192024" cy="192024"/>
          </a:xfrm>
          <a:prstGeom prst="ellipse">
            <a:avLst/>
          </a:prstGeom>
          <a:solidFill>
            <a:srgbClr val="FFFFFF">
              <a:alpha val="0"/>
            </a:srgbClr>
          </a:solidFill>
          <a:ln w="7620">
            <a:solidFill>
              <a:srgbClr val="C2A05F"/>
            </a:solidFill>
            <a:prstDash val="solid"/>
          </a:ln>
        </p:spPr>
      </p:sp>
      <p:sp>
        <p:nvSpPr>
          <p:cNvPr id="80" name="Text 78"/>
          <p:cNvSpPr txBox="1"/>
          <p:nvPr/>
        </p:nvSpPr>
        <p:spPr>
          <a:xfrm>
            <a:off x="9045702" y="4950714"/>
            <a:ext cx="192024" cy="192024"/>
          </a:xfrm>
          <a:prstGeom prst="rect">
            <a:avLst/>
          </a:prstGeom>
          <a:noFill/>
          <a:ln/>
        </p:spPr>
        <p:txBody>
          <a:bodyPr wrap="square" lIns="0" tIns="0" rIns="0" bIns="0" rtlCol="0" anchor="t"/>
          <a:lstStyle/>
          <a:p>
            <a:pPr algn="ctr" indent="0" marL="0">
              <a:lnSpc>
                <a:spcPts val="660"/>
              </a:lnSpc>
              <a:buNone/>
            </a:pPr>
            <a:r>
              <a:rPr lang="en-US" sz="660" b="1" dirty="0">
                <a:solidFill>
                  <a:srgbClr val="96733C"/>
                </a:solidFill>
                <a:latin typeface="Calibri" pitchFamily="34" charset="0"/>
                <a:ea typeface="Calibri" pitchFamily="34" charset="-122"/>
                <a:cs typeface="Calibri" pitchFamily="34" charset="-120"/>
              </a:rPr>
              <a:t>16</a:t>
            </a:r>
            <a:endParaRPr lang="en-US" sz="660" dirty="0"/>
          </a:p>
        </p:txBody>
      </p:sp>
      <p:sp>
        <p:nvSpPr>
          <p:cNvPr id="81" name="Text 79"/>
          <p:cNvSpPr txBox="1"/>
          <p:nvPr/>
        </p:nvSpPr>
        <p:spPr>
          <a:xfrm>
            <a:off x="9310878" y="4882896"/>
            <a:ext cx="1954530" cy="232562"/>
          </a:xfrm>
          <a:prstGeom prst="rect">
            <a:avLst/>
          </a:prstGeom>
          <a:noFill/>
          <a:ln/>
        </p:spPr>
        <p:txBody>
          <a:bodyPr wrap="square" lIns="0" tIns="0" rIns="0" bIns="0" rtlCol="0" anchor="t"/>
          <a:lstStyle/>
          <a:p>
            <a:pPr algn="l" indent="0" marL="0">
              <a:lnSpc>
                <a:spcPts val="991"/>
              </a:lnSpc>
              <a:buNone/>
            </a:pPr>
            <a:r>
              <a:rPr lang="en-US" sz="840" dirty="0">
                <a:solidFill>
                  <a:srgbClr val="3F3A33"/>
                </a:solidFill>
                <a:latin typeface="Calibri" pitchFamily="34" charset="0"/>
                <a:ea typeface="Calibri" pitchFamily="34" charset="-122"/>
                <a:cs typeface="Calibri" pitchFamily="34" charset="-120"/>
              </a:rPr>
              <a:t>Evidence &amp; professional identity</a:t>
            </a:r>
            <a:endParaRPr lang="en-US" sz="840" dirty="0"/>
          </a:p>
        </p:txBody>
      </p:sp>
      <p:sp>
        <p:nvSpPr>
          <p:cNvPr id="82" name="Shape 80"/>
          <p:cNvSpPr/>
          <p:nvPr/>
        </p:nvSpPr>
        <p:spPr>
          <a:xfrm>
            <a:off x="822960" y="2039112"/>
            <a:ext cx="10543032" cy="91"/>
          </a:xfrm>
          <a:prstGeom prst="line">
            <a:avLst/>
          </a:prstGeom>
          <a:noFill/>
          <a:ln w="10160">
            <a:solidFill>
              <a:srgbClr val="D9CDB7"/>
            </a:solidFill>
            <a:prstDash val="solid"/>
            <a:headEnd type="none"/>
            <a:tailEnd type="none"/>
          </a:ln>
        </p:spPr>
      </p:sp>
      <p:sp>
        <p:nvSpPr>
          <p:cNvPr id="83" name="Shape 81"/>
          <p:cNvSpPr/>
          <p:nvPr/>
        </p:nvSpPr>
        <p:spPr>
          <a:xfrm>
            <a:off x="781812" y="1997964"/>
            <a:ext cx="82296" cy="82296"/>
          </a:xfrm>
          <a:prstGeom prst="ellipse">
            <a:avLst/>
          </a:prstGeom>
          <a:solidFill>
            <a:srgbClr val="C2A05F"/>
          </a:solidFill>
          <a:ln w="12700">
            <a:solidFill>
              <a:srgbClr val="FFFFFF">
                <a:alpha val="0"/>
              </a:srgbClr>
            </a:solidFill>
            <a:prstDash val="solid"/>
          </a:ln>
        </p:spPr>
      </p:sp>
      <p:sp>
        <p:nvSpPr>
          <p:cNvPr id="84" name="Shape 82"/>
          <p:cNvSpPr/>
          <p:nvPr/>
        </p:nvSpPr>
        <p:spPr>
          <a:xfrm>
            <a:off x="1498397" y="2011680"/>
            <a:ext cx="54864" cy="54864"/>
          </a:xfrm>
          <a:prstGeom prst="ellipse">
            <a:avLst/>
          </a:prstGeom>
          <a:solidFill>
            <a:srgbClr val="D9CDB7"/>
          </a:solidFill>
          <a:ln w="12700">
            <a:solidFill>
              <a:srgbClr val="FFFFFF">
                <a:alpha val="0"/>
              </a:srgbClr>
            </a:solidFill>
            <a:prstDash val="solid"/>
          </a:ln>
        </p:spPr>
      </p:sp>
      <p:sp>
        <p:nvSpPr>
          <p:cNvPr id="85" name="Shape 83"/>
          <p:cNvSpPr/>
          <p:nvPr/>
        </p:nvSpPr>
        <p:spPr>
          <a:xfrm>
            <a:off x="2201266" y="2011680"/>
            <a:ext cx="54864" cy="54864"/>
          </a:xfrm>
          <a:prstGeom prst="ellipse">
            <a:avLst/>
          </a:prstGeom>
          <a:solidFill>
            <a:srgbClr val="D9CDB7"/>
          </a:solidFill>
          <a:ln w="12700">
            <a:solidFill>
              <a:srgbClr val="FFFFFF">
                <a:alpha val="0"/>
              </a:srgbClr>
            </a:solidFill>
            <a:prstDash val="solid"/>
          </a:ln>
        </p:spPr>
      </p:sp>
      <p:sp>
        <p:nvSpPr>
          <p:cNvPr id="86" name="Shape 84"/>
          <p:cNvSpPr/>
          <p:nvPr/>
        </p:nvSpPr>
        <p:spPr>
          <a:xfrm>
            <a:off x="2904134" y="2011680"/>
            <a:ext cx="54864" cy="54864"/>
          </a:xfrm>
          <a:prstGeom prst="ellipse">
            <a:avLst/>
          </a:prstGeom>
          <a:solidFill>
            <a:srgbClr val="D9CDB7"/>
          </a:solidFill>
          <a:ln w="12700">
            <a:solidFill>
              <a:srgbClr val="FFFFFF">
                <a:alpha val="0"/>
              </a:srgbClr>
            </a:solidFill>
            <a:prstDash val="solid"/>
          </a:ln>
        </p:spPr>
      </p:sp>
      <p:sp>
        <p:nvSpPr>
          <p:cNvPr id="87" name="Shape 85"/>
          <p:cNvSpPr/>
          <p:nvPr/>
        </p:nvSpPr>
        <p:spPr>
          <a:xfrm>
            <a:off x="3593287" y="1997964"/>
            <a:ext cx="82296" cy="82296"/>
          </a:xfrm>
          <a:prstGeom prst="ellipse">
            <a:avLst/>
          </a:prstGeom>
          <a:solidFill>
            <a:srgbClr val="C2A05F"/>
          </a:solidFill>
          <a:ln w="12700">
            <a:solidFill>
              <a:srgbClr val="FFFFFF">
                <a:alpha val="0"/>
              </a:srgbClr>
            </a:solidFill>
            <a:prstDash val="solid"/>
          </a:ln>
        </p:spPr>
      </p:sp>
      <p:sp>
        <p:nvSpPr>
          <p:cNvPr id="88" name="Shape 86"/>
          <p:cNvSpPr/>
          <p:nvPr/>
        </p:nvSpPr>
        <p:spPr>
          <a:xfrm>
            <a:off x="4309872" y="2011680"/>
            <a:ext cx="54864" cy="54864"/>
          </a:xfrm>
          <a:prstGeom prst="ellipse">
            <a:avLst/>
          </a:prstGeom>
          <a:solidFill>
            <a:srgbClr val="D9CDB7"/>
          </a:solidFill>
          <a:ln w="12700">
            <a:solidFill>
              <a:srgbClr val="FFFFFF">
                <a:alpha val="0"/>
              </a:srgbClr>
            </a:solidFill>
            <a:prstDash val="solid"/>
          </a:ln>
        </p:spPr>
      </p:sp>
      <p:sp>
        <p:nvSpPr>
          <p:cNvPr id="89" name="Shape 87"/>
          <p:cNvSpPr/>
          <p:nvPr/>
        </p:nvSpPr>
        <p:spPr>
          <a:xfrm>
            <a:off x="5012741" y="2011680"/>
            <a:ext cx="54864" cy="54864"/>
          </a:xfrm>
          <a:prstGeom prst="ellipse">
            <a:avLst/>
          </a:prstGeom>
          <a:solidFill>
            <a:srgbClr val="D9CDB7"/>
          </a:solidFill>
          <a:ln w="12700">
            <a:solidFill>
              <a:srgbClr val="FFFFFF">
                <a:alpha val="0"/>
              </a:srgbClr>
            </a:solidFill>
            <a:prstDash val="solid"/>
          </a:ln>
        </p:spPr>
      </p:sp>
      <p:sp>
        <p:nvSpPr>
          <p:cNvPr id="90" name="Shape 88"/>
          <p:cNvSpPr/>
          <p:nvPr/>
        </p:nvSpPr>
        <p:spPr>
          <a:xfrm>
            <a:off x="5715610" y="2011680"/>
            <a:ext cx="54864" cy="54864"/>
          </a:xfrm>
          <a:prstGeom prst="ellipse">
            <a:avLst/>
          </a:prstGeom>
          <a:solidFill>
            <a:srgbClr val="D9CDB7"/>
          </a:solidFill>
          <a:ln w="12700">
            <a:solidFill>
              <a:srgbClr val="FFFFFF">
                <a:alpha val="0"/>
              </a:srgbClr>
            </a:solidFill>
            <a:prstDash val="solid"/>
          </a:ln>
        </p:spPr>
      </p:sp>
      <p:sp>
        <p:nvSpPr>
          <p:cNvPr id="91" name="Shape 89"/>
          <p:cNvSpPr/>
          <p:nvPr/>
        </p:nvSpPr>
        <p:spPr>
          <a:xfrm>
            <a:off x="6404762" y="1997964"/>
            <a:ext cx="82296" cy="82296"/>
          </a:xfrm>
          <a:prstGeom prst="ellipse">
            <a:avLst/>
          </a:prstGeom>
          <a:solidFill>
            <a:srgbClr val="C2A05F"/>
          </a:solidFill>
          <a:ln w="12700">
            <a:solidFill>
              <a:srgbClr val="FFFFFF">
                <a:alpha val="0"/>
              </a:srgbClr>
            </a:solidFill>
            <a:prstDash val="solid"/>
          </a:ln>
        </p:spPr>
      </p:sp>
      <p:sp>
        <p:nvSpPr>
          <p:cNvPr id="92" name="Shape 90"/>
          <p:cNvSpPr/>
          <p:nvPr/>
        </p:nvSpPr>
        <p:spPr>
          <a:xfrm>
            <a:off x="7121347" y="2011680"/>
            <a:ext cx="54864" cy="54864"/>
          </a:xfrm>
          <a:prstGeom prst="ellipse">
            <a:avLst/>
          </a:prstGeom>
          <a:solidFill>
            <a:srgbClr val="D9CDB7"/>
          </a:solidFill>
          <a:ln w="12700">
            <a:solidFill>
              <a:srgbClr val="FFFFFF">
                <a:alpha val="0"/>
              </a:srgbClr>
            </a:solidFill>
            <a:prstDash val="solid"/>
          </a:ln>
        </p:spPr>
      </p:sp>
      <p:sp>
        <p:nvSpPr>
          <p:cNvPr id="93" name="Shape 91"/>
          <p:cNvSpPr/>
          <p:nvPr/>
        </p:nvSpPr>
        <p:spPr>
          <a:xfrm>
            <a:off x="7824216" y="2011680"/>
            <a:ext cx="54864" cy="54864"/>
          </a:xfrm>
          <a:prstGeom prst="ellipse">
            <a:avLst/>
          </a:prstGeom>
          <a:solidFill>
            <a:srgbClr val="D9CDB7"/>
          </a:solidFill>
          <a:ln w="12700">
            <a:solidFill>
              <a:srgbClr val="FFFFFF">
                <a:alpha val="0"/>
              </a:srgbClr>
            </a:solidFill>
            <a:prstDash val="solid"/>
          </a:ln>
        </p:spPr>
      </p:sp>
      <p:sp>
        <p:nvSpPr>
          <p:cNvPr id="94" name="Shape 92"/>
          <p:cNvSpPr/>
          <p:nvPr/>
        </p:nvSpPr>
        <p:spPr>
          <a:xfrm>
            <a:off x="8527085" y="2011680"/>
            <a:ext cx="54864" cy="54864"/>
          </a:xfrm>
          <a:prstGeom prst="ellipse">
            <a:avLst/>
          </a:prstGeom>
          <a:solidFill>
            <a:srgbClr val="D9CDB7"/>
          </a:solidFill>
          <a:ln w="12700">
            <a:solidFill>
              <a:srgbClr val="FFFFFF">
                <a:alpha val="0"/>
              </a:srgbClr>
            </a:solidFill>
            <a:prstDash val="solid"/>
          </a:ln>
        </p:spPr>
      </p:sp>
      <p:sp>
        <p:nvSpPr>
          <p:cNvPr id="95" name="Shape 93"/>
          <p:cNvSpPr/>
          <p:nvPr/>
        </p:nvSpPr>
        <p:spPr>
          <a:xfrm>
            <a:off x="9216238" y="1997964"/>
            <a:ext cx="82296" cy="82296"/>
          </a:xfrm>
          <a:prstGeom prst="ellipse">
            <a:avLst/>
          </a:prstGeom>
          <a:solidFill>
            <a:srgbClr val="C2A05F"/>
          </a:solidFill>
          <a:ln w="12700">
            <a:solidFill>
              <a:srgbClr val="FFFFFF">
                <a:alpha val="0"/>
              </a:srgbClr>
            </a:solidFill>
            <a:prstDash val="solid"/>
          </a:ln>
        </p:spPr>
      </p:sp>
      <p:sp>
        <p:nvSpPr>
          <p:cNvPr id="96" name="Shape 94"/>
          <p:cNvSpPr/>
          <p:nvPr/>
        </p:nvSpPr>
        <p:spPr>
          <a:xfrm>
            <a:off x="9932822" y="2011680"/>
            <a:ext cx="54864" cy="54864"/>
          </a:xfrm>
          <a:prstGeom prst="ellipse">
            <a:avLst/>
          </a:prstGeom>
          <a:solidFill>
            <a:srgbClr val="D9CDB7"/>
          </a:solidFill>
          <a:ln w="12700">
            <a:solidFill>
              <a:srgbClr val="FFFFFF">
                <a:alpha val="0"/>
              </a:srgbClr>
            </a:solidFill>
            <a:prstDash val="solid"/>
          </a:ln>
        </p:spPr>
      </p:sp>
      <p:sp>
        <p:nvSpPr>
          <p:cNvPr id="97" name="Shape 95"/>
          <p:cNvSpPr/>
          <p:nvPr/>
        </p:nvSpPr>
        <p:spPr>
          <a:xfrm>
            <a:off x="10635691" y="2011680"/>
            <a:ext cx="54864" cy="54864"/>
          </a:xfrm>
          <a:prstGeom prst="ellipse">
            <a:avLst/>
          </a:prstGeom>
          <a:solidFill>
            <a:srgbClr val="D9CDB7"/>
          </a:solidFill>
          <a:ln w="12700">
            <a:solidFill>
              <a:srgbClr val="FFFFFF">
                <a:alpha val="0"/>
              </a:srgbClr>
            </a:solidFill>
            <a:prstDash val="solid"/>
          </a:ln>
        </p:spPr>
      </p:sp>
      <p:sp>
        <p:nvSpPr>
          <p:cNvPr id="98" name="Shape 96"/>
          <p:cNvSpPr/>
          <p:nvPr/>
        </p:nvSpPr>
        <p:spPr>
          <a:xfrm>
            <a:off x="11338560" y="2011680"/>
            <a:ext cx="54864" cy="54864"/>
          </a:xfrm>
          <a:prstGeom prst="ellipse">
            <a:avLst/>
          </a:prstGeom>
          <a:solidFill>
            <a:srgbClr val="D9CDB7"/>
          </a:solidFill>
          <a:ln w="12700">
            <a:solidFill>
              <a:srgbClr val="FFFFFF">
                <a:alpha val="0"/>
              </a:srgbClr>
            </a:solidFill>
            <a:prstDash val="solid"/>
          </a:ln>
        </p:spPr>
      </p:sp>
      <p:sp>
        <p:nvSpPr>
          <p:cNvPr id="99" name="Text 97"/>
          <p:cNvSpPr txBox="1"/>
          <p:nvPr/>
        </p:nvSpPr>
        <p:spPr>
          <a:xfrm>
            <a:off x="822960" y="1764792"/>
            <a:ext cx="10543032" cy="196977"/>
          </a:xfrm>
          <a:prstGeom prst="rect">
            <a:avLst/>
          </a:prstGeom>
          <a:noFill/>
          <a:ln/>
        </p:spPr>
        <p:txBody>
          <a:bodyPr wrap="square" lIns="0" tIns="0" rIns="0" bIns="0" rtlCol="0" anchor="t"/>
          <a:lstStyle/>
          <a:p>
            <a:pPr algn="ctr" indent="0" marL="0">
              <a:lnSpc>
                <a:spcPts val="891"/>
              </a:lnSpc>
              <a:buNone/>
            </a:pPr>
            <a:r>
              <a:rPr lang="en-US" sz="660" spc="140" kern="0" dirty="0">
                <a:solidFill>
                  <a:srgbClr val="5B544A"/>
                </a:solidFill>
                <a:latin typeface="Calibri" pitchFamily="34" charset="0"/>
                <a:ea typeface="Calibri" pitchFamily="34" charset="-122"/>
                <a:cs typeface="Calibri" pitchFamily="34" charset="-120"/>
              </a:rPr>
              <a:t>WEEK 1 · A SIXTEEN-WEEK PROGRESSION · WEEK 16</a:t>
            </a:r>
            <a:endParaRPr lang="en-US" sz="6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THE WEEKLY RHYTHM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05</a:t>
            </a:r>
            <a:endParaRPr lang="en-US" sz="950" dirty="0"/>
          </a:p>
        </p:txBody>
      </p:sp>
      <p:sp>
        <p:nvSpPr>
          <p:cNvPr id="8" name="Text 6"/>
          <p:cNvSpPr txBox="1"/>
          <p:nvPr/>
        </p:nvSpPr>
        <p:spPr>
          <a:xfrm>
            <a:off x="822960" y="932688"/>
            <a:ext cx="8961120" cy="220853"/>
          </a:xfrm>
          <a:prstGeom prst="rect">
            <a:avLst/>
          </a:prstGeom>
          <a:noFill/>
          <a:ln/>
        </p:spPr>
        <p:txBody>
          <a:bodyPr wrap="square" lIns="0" tIns="0" rIns="0" bIns="0" rtlCol="0" anchor="t"/>
          <a:lstStyle/>
          <a:p>
            <a:pPr algn="l" indent="0" marL="0">
              <a:lnSpc>
                <a:spcPts val="999"/>
              </a:lnSpc>
              <a:buNone/>
            </a:pPr>
            <a:r>
              <a:rPr lang="en-US" sz="740" b="1" spc="200" kern="0" dirty="0">
                <a:solidFill>
                  <a:srgbClr val="96733C"/>
                </a:solidFill>
                <a:latin typeface="Calibri" pitchFamily="34" charset="0"/>
                <a:ea typeface="Calibri" pitchFamily="34" charset="-122"/>
                <a:cs typeface="Calibri" pitchFamily="34" charset="-120"/>
              </a:rPr>
              <a:t>HOW EACH WEEK WORKS</a:t>
            </a:r>
            <a:endParaRPr lang="en-US" sz="740" dirty="0"/>
          </a:p>
        </p:txBody>
      </p:sp>
      <p:sp>
        <p:nvSpPr>
          <p:cNvPr id="9" name="Text 7"/>
          <p:cNvSpPr txBox="1"/>
          <p:nvPr/>
        </p:nvSpPr>
        <p:spPr>
          <a:xfrm>
            <a:off x="822960" y="1207008"/>
            <a:ext cx="896112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Read, wrestle, practise, reflect</a:t>
            </a:r>
            <a:endParaRPr lang="en-US" sz="2700" dirty="0"/>
          </a:p>
        </p:txBody>
      </p:sp>
      <p:sp>
        <p:nvSpPr>
          <p:cNvPr id="10" name="Text 8"/>
          <p:cNvSpPr txBox="1"/>
          <p:nvPr/>
        </p:nvSpPr>
        <p:spPr>
          <a:xfrm>
            <a:off x="822960" y="1719072"/>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Each week follows the same four-beat structure. The deck is a teaching instrument, not a transcript: the slides carry the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argument, the seminar does the work.</a:t>
            </a:r>
            <a:endParaRPr lang="en-US" sz="1260" dirty="0"/>
          </a:p>
        </p:txBody>
      </p:sp>
      <p:sp>
        <p:nvSpPr>
          <p:cNvPr id="11" name="Shape 9"/>
          <p:cNvSpPr/>
          <p:nvPr/>
        </p:nvSpPr>
        <p:spPr>
          <a:xfrm>
            <a:off x="822960" y="2999232"/>
            <a:ext cx="2471166" cy="2395728"/>
          </a:xfrm>
          <a:prstGeom prst="roundRect">
            <a:avLst>
              <a:gd name="adj" fmla="val 437"/>
            </a:avLst>
          </a:prstGeom>
          <a:solidFill>
            <a:srgbClr val="FBF7EF"/>
          </a:solidFill>
          <a:ln w="7620">
            <a:solidFill>
              <a:srgbClr val="D9CDB7"/>
            </a:solidFill>
            <a:prstDash val="solid"/>
          </a:ln>
        </p:spPr>
      </p:sp>
      <p:sp>
        <p:nvSpPr>
          <p:cNvPr id="12" name="Shape 10"/>
          <p:cNvSpPr/>
          <p:nvPr/>
        </p:nvSpPr>
        <p:spPr>
          <a:xfrm>
            <a:off x="822960" y="2999232"/>
            <a:ext cx="2471166" cy="45720"/>
          </a:xfrm>
          <a:prstGeom prst="rect">
            <a:avLst/>
          </a:prstGeom>
          <a:solidFill>
            <a:srgbClr val="C2A05F"/>
          </a:solidFill>
          <a:ln w="12700">
            <a:solidFill>
              <a:srgbClr val="FFFFFF">
                <a:alpha val="0"/>
              </a:srgbClr>
            </a:solidFill>
            <a:prstDash val="solid"/>
          </a:ln>
        </p:spPr>
      </p:sp>
      <p:sp>
        <p:nvSpPr>
          <p:cNvPr id="13" name="Text 11"/>
          <p:cNvSpPr txBox="1"/>
          <p:nvPr/>
        </p:nvSpPr>
        <p:spPr>
          <a:xfrm>
            <a:off x="1005840" y="3200400"/>
            <a:ext cx="2105406" cy="214884"/>
          </a:xfrm>
          <a:prstGeom prst="rect">
            <a:avLst/>
          </a:prstGeom>
          <a:noFill/>
          <a:ln/>
        </p:spPr>
        <p:txBody>
          <a:bodyPr wrap="square" lIns="0" tIns="0" rIns="0" bIns="0" rtlCol="0" anchor="t"/>
          <a:lstStyle/>
          <a:p>
            <a:pPr algn="l" indent="0" marL="0">
              <a:lnSpc>
                <a:spcPts val="972"/>
              </a:lnSpc>
              <a:buNone/>
            </a:pPr>
            <a:r>
              <a:rPr lang="en-US" sz="720" spc="180" kern="0" dirty="0">
                <a:solidFill>
                  <a:srgbClr val="96733C"/>
                </a:solidFill>
                <a:latin typeface="Calibri" pitchFamily="34" charset="0"/>
                <a:ea typeface="Calibri" pitchFamily="34" charset="-122"/>
                <a:cs typeface="Calibri" pitchFamily="34" charset="-120"/>
              </a:rPr>
              <a:t>01</a:t>
            </a:r>
            <a:endParaRPr lang="en-US" sz="720" dirty="0"/>
          </a:p>
        </p:txBody>
      </p:sp>
      <p:sp>
        <p:nvSpPr>
          <p:cNvPr id="14" name="Text 12"/>
          <p:cNvSpPr txBox="1"/>
          <p:nvPr/>
        </p:nvSpPr>
        <p:spPr>
          <a:xfrm>
            <a:off x="1005840" y="3456432"/>
            <a:ext cx="2105406" cy="409575"/>
          </a:xfrm>
          <a:prstGeom prst="rect">
            <a:avLst/>
          </a:prstGeom>
          <a:noFill/>
          <a:ln/>
        </p:spPr>
        <p:txBody>
          <a:bodyPr wrap="square" lIns="0" tIns="0" rIns="0" bIns="0" rtlCol="0" anchor="t"/>
          <a:lstStyle/>
          <a:p>
            <a:pPr algn="l" indent="0" marL="0">
              <a:lnSpc>
                <a:spcPts val="1725"/>
              </a:lnSpc>
              <a:buNone/>
            </a:pPr>
            <a:r>
              <a:rPr lang="en-US" sz="1500" dirty="0">
                <a:solidFill>
                  <a:srgbClr val="1B1815"/>
                </a:solidFill>
                <a:latin typeface="Georgia" pitchFamily="34" charset="0"/>
                <a:ea typeface="Georgia" pitchFamily="34" charset="-122"/>
                <a:cs typeface="Georgia" pitchFamily="34" charset="-120"/>
              </a:rPr>
              <a:t>Read</a:t>
            </a:r>
            <a:endParaRPr lang="en-US" sz="1500" dirty="0"/>
          </a:p>
        </p:txBody>
      </p:sp>
      <p:sp>
        <p:nvSpPr>
          <p:cNvPr id="15" name="Text 13"/>
          <p:cNvSpPr txBox="1"/>
          <p:nvPr/>
        </p:nvSpPr>
        <p:spPr>
          <a:xfrm>
            <a:off x="1005840" y="3931920"/>
            <a:ext cx="2105406" cy="601218"/>
          </a:xfrm>
          <a:prstGeom prst="rect">
            <a:avLst/>
          </a:prstGeom>
          <a:noFill/>
          <a:ln/>
        </p:spPr>
        <p:txBody>
          <a:bodyPr wrap="square" lIns="0" tIns="0" rIns="0" bIns="0" rtlCol="0" anchor="t"/>
          <a:lstStyle/>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Two set readings frame the week. Read for</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argument, not coverage: what does this</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model see, and what does it miss?</a:t>
            </a:r>
            <a:endParaRPr lang="en-US" sz="900" dirty="0"/>
          </a:p>
        </p:txBody>
      </p:sp>
      <p:sp>
        <p:nvSpPr>
          <p:cNvPr id="16" name="Text 14"/>
          <p:cNvSpPr txBox="1"/>
          <p:nvPr/>
        </p:nvSpPr>
        <p:spPr>
          <a:xfrm>
            <a:off x="1005840" y="5102352"/>
            <a:ext cx="2105406" cy="208915"/>
          </a:xfrm>
          <a:prstGeom prst="rect">
            <a:avLst/>
          </a:prstGeom>
          <a:noFill/>
          <a:ln/>
        </p:spPr>
        <p:txBody>
          <a:bodyPr wrap="square" lIns="0" tIns="0" rIns="0" bIns="0" rtlCol="0" anchor="t"/>
          <a:lstStyle/>
          <a:p>
            <a:pPr algn="l" indent="0" marL="0">
              <a:lnSpc>
                <a:spcPts val="945"/>
              </a:lnSpc>
              <a:buNone/>
            </a:pPr>
            <a:r>
              <a:rPr lang="en-US" sz="700" spc="120" kern="0" dirty="0">
                <a:solidFill>
                  <a:srgbClr val="8B8375"/>
                </a:solidFill>
                <a:latin typeface="Calibri" pitchFamily="34" charset="0"/>
                <a:ea typeface="Calibri" pitchFamily="34" charset="-122"/>
                <a:cs typeface="Calibri" pitchFamily="34" charset="-120"/>
              </a:rPr>
              <a:t>BEFORE THE LECTURE</a:t>
            </a:r>
            <a:endParaRPr lang="en-US" sz="700" dirty="0"/>
          </a:p>
        </p:txBody>
      </p:sp>
      <p:sp>
        <p:nvSpPr>
          <p:cNvPr id="17" name="Shape 15"/>
          <p:cNvSpPr/>
          <p:nvPr/>
        </p:nvSpPr>
        <p:spPr>
          <a:xfrm>
            <a:off x="3513582" y="2999232"/>
            <a:ext cx="2471166" cy="2395728"/>
          </a:xfrm>
          <a:prstGeom prst="roundRect">
            <a:avLst>
              <a:gd name="adj" fmla="val 437"/>
            </a:avLst>
          </a:prstGeom>
          <a:solidFill>
            <a:srgbClr val="FCF8EF"/>
          </a:solidFill>
          <a:ln w="7620">
            <a:solidFill>
              <a:srgbClr val="D9CDB7"/>
            </a:solidFill>
            <a:prstDash val="solid"/>
          </a:ln>
        </p:spPr>
      </p:sp>
      <p:sp>
        <p:nvSpPr>
          <p:cNvPr id="18" name="Shape 16"/>
          <p:cNvSpPr/>
          <p:nvPr/>
        </p:nvSpPr>
        <p:spPr>
          <a:xfrm>
            <a:off x="3513582" y="2999232"/>
            <a:ext cx="2471166" cy="45720"/>
          </a:xfrm>
          <a:prstGeom prst="rect">
            <a:avLst/>
          </a:prstGeom>
          <a:solidFill>
            <a:srgbClr val="6E8274"/>
          </a:solidFill>
          <a:ln w="12700">
            <a:solidFill>
              <a:srgbClr val="FFFFFF">
                <a:alpha val="0"/>
              </a:srgbClr>
            </a:solidFill>
            <a:prstDash val="solid"/>
          </a:ln>
        </p:spPr>
      </p:sp>
      <p:sp>
        <p:nvSpPr>
          <p:cNvPr id="19" name="Text 17"/>
          <p:cNvSpPr txBox="1"/>
          <p:nvPr/>
        </p:nvSpPr>
        <p:spPr>
          <a:xfrm>
            <a:off x="3696462" y="3200400"/>
            <a:ext cx="2105406" cy="214884"/>
          </a:xfrm>
          <a:prstGeom prst="rect">
            <a:avLst/>
          </a:prstGeom>
          <a:noFill/>
          <a:ln/>
        </p:spPr>
        <p:txBody>
          <a:bodyPr wrap="square" lIns="0" tIns="0" rIns="0" bIns="0" rtlCol="0" anchor="t"/>
          <a:lstStyle/>
          <a:p>
            <a:pPr algn="l" indent="0" marL="0">
              <a:lnSpc>
                <a:spcPts val="972"/>
              </a:lnSpc>
              <a:buNone/>
            </a:pPr>
            <a:r>
              <a:rPr lang="en-US" sz="720" spc="180" kern="0" dirty="0">
                <a:solidFill>
                  <a:srgbClr val="6E8274"/>
                </a:solidFill>
                <a:latin typeface="Calibri" pitchFamily="34" charset="0"/>
                <a:ea typeface="Calibri" pitchFamily="34" charset="-122"/>
                <a:cs typeface="Calibri" pitchFamily="34" charset="-120"/>
              </a:rPr>
              <a:t>02</a:t>
            </a:r>
            <a:endParaRPr lang="en-US" sz="720" dirty="0"/>
          </a:p>
        </p:txBody>
      </p:sp>
      <p:sp>
        <p:nvSpPr>
          <p:cNvPr id="20" name="Text 18"/>
          <p:cNvSpPr txBox="1"/>
          <p:nvPr/>
        </p:nvSpPr>
        <p:spPr>
          <a:xfrm>
            <a:off x="3696462" y="3456432"/>
            <a:ext cx="2105406" cy="409575"/>
          </a:xfrm>
          <a:prstGeom prst="rect">
            <a:avLst/>
          </a:prstGeom>
          <a:noFill/>
          <a:ln/>
        </p:spPr>
        <p:txBody>
          <a:bodyPr wrap="square" lIns="0" tIns="0" rIns="0" bIns="0" rtlCol="0" anchor="t"/>
          <a:lstStyle/>
          <a:p>
            <a:pPr algn="l" indent="0" marL="0">
              <a:lnSpc>
                <a:spcPts val="1725"/>
              </a:lnSpc>
              <a:buNone/>
            </a:pPr>
            <a:r>
              <a:rPr lang="en-US" sz="1500" dirty="0">
                <a:solidFill>
                  <a:srgbClr val="1B1815"/>
                </a:solidFill>
                <a:latin typeface="Georgia" pitchFamily="34" charset="0"/>
                <a:ea typeface="Georgia" pitchFamily="34" charset="-122"/>
                <a:cs typeface="Georgia" pitchFamily="34" charset="-120"/>
              </a:rPr>
              <a:t>Wrestle</a:t>
            </a:r>
            <a:endParaRPr lang="en-US" sz="1500" dirty="0"/>
          </a:p>
        </p:txBody>
      </p:sp>
      <p:sp>
        <p:nvSpPr>
          <p:cNvPr id="21" name="Text 19"/>
          <p:cNvSpPr txBox="1"/>
          <p:nvPr/>
        </p:nvSpPr>
        <p:spPr>
          <a:xfrm>
            <a:off x="3696462" y="3931920"/>
            <a:ext cx="2105406" cy="601218"/>
          </a:xfrm>
          <a:prstGeom prst="rect">
            <a:avLst/>
          </a:prstGeom>
          <a:noFill/>
          <a:ln/>
        </p:spPr>
        <p:txBody>
          <a:bodyPr wrap="square" lIns="0" tIns="0" rIns="0" bIns="0" rtlCol="0" anchor="t"/>
          <a:lstStyle/>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The lecture introduces the model and its</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clinical logic. Expect to compare it with the</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models already in the room.</a:t>
            </a:r>
            <a:endParaRPr lang="en-US" sz="900" dirty="0"/>
          </a:p>
        </p:txBody>
      </p:sp>
      <p:sp>
        <p:nvSpPr>
          <p:cNvPr id="22" name="Text 20"/>
          <p:cNvSpPr txBox="1"/>
          <p:nvPr/>
        </p:nvSpPr>
        <p:spPr>
          <a:xfrm>
            <a:off x="3696462" y="5102352"/>
            <a:ext cx="2105406" cy="208915"/>
          </a:xfrm>
          <a:prstGeom prst="rect">
            <a:avLst/>
          </a:prstGeom>
          <a:noFill/>
          <a:ln/>
        </p:spPr>
        <p:txBody>
          <a:bodyPr wrap="square" lIns="0" tIns="0" rIns="0" bIns="0" rtlCol="0" anchor="t"/>
          <a:lstStyle/>
          <a:p>
            <a:pPr algn="l" indent="0" marL="0">
              <a:lnSpc>
                <a:spcPts val="945"/>
              </a:lnSpc>
              <a:buNone/>
            </a:pPr>
            <a:r>
              <a:rPr lang="en-US" sz="700" spc="120" kern="0" dirty="0">
                <a:solidFill>
                  <a:srgbClr val="8B8375"/>
                </a:solidFill>
                <a:latin typeface="Calibri" pitchFamily="34" charset="0"/>
                <a:ea typeface="Calibri" pitchFamily="34" charset="-122"/>
                <a:cs typeface="Calibri" pitchFamily="34" charset="-120"/>
              </a:rPr>
              <a:t>LECTURE · 2 HOURS</a:t>
            </a:r>
            <a:endParaRPr lang="en-US" sz="700" dirty="0"/>
          </a:p>
        </p:txBody>
      </p:sp>
      <p:sp>
        <p:nvSpPr>
          <p:cNvPr id="23" name="Shape 21"/>
          <p:cNvSpPr/>
          <p:nvPr/>
        </p:nvSpPr>
        <p:spPr>
          <a:xfrm>
            <a:off x="6204204" y="2999232"/>
            <a:ext cx="2471166" cy="2395728"/>
          </a:xfrm>
          <a:prstGeom prst="roundRect">
            <a:avLst>
              <a:gd name="adj" fmla="val 437"/>
            </a:avLst>
          </a:prstGeom>
          <a:solidFill>
            <a:srgbClr val="FBF7EF"/>
          </a:solidFill>
          <a:ln w="7620">
            <a:solidFill>
              <a:srgbClr val="D9CDB7"/>
            </a:solidFill>
            <a:prstDash val="solid"/>
          </a:ln>
        </p:spPr>
      </p:sp>
      <p:sp>
        <p:nvSpPr>
          <p:cNvPr id="24" name="Shape 22"/>
          <p:cNvSpPr/>
          <p:nvPr/>
        </p:nvSpPr>
        <p:spPr>
          <a:xfrm>
            <a:off x="6204204" y="2999232"/>
            <a:ext cx="2471166" cy="45720"/>
          </a:xfrm>
          <a:prstGeom prst="rect">
            <a:avLst/>
          </a:prstGeom>
          <a:solidFill>
            <a:srgbClr val="C2A05F"/>
          </a:solidFill>
          <a:ln w="12700">
            <a:solidFill>
              <a:srgbClr val="FFFFFF">
                <a:alpha val="0"/>
              </a:srgbClr>
            </a:solidFill>
            <a:prstDash val="solid"/>
          </a:ln>
        </p:spPr>
      </p:sp>
      <p:sp>
        <p:nvSpPr>
          <p:cNvPr id="25" name="Text 23"/>
          <p:cNvSpPr txBox="1"/>
          <p:nvPr/>
        </p:nvSpPr>
        <p:spPr>
          <a:xfrm>
            <a:off x="6387084" y="3200400"/>
            <a:ext cx="2105406" cy="214884"/>
          </a:xfrm>
          <a:prstGeom prst="rect">
            <a:avLst/>
          </a:prstGeom>
          <a:noFill/>
          <a:ln/>
        </p:spPr>
        <p:txBody>
          <a:bodyPr wrap="square" lIns="0" tIns="0" rIns="0" bIns="0" rtlCol="0" anchor="t"/>
          <a:lstStyle/>
          <a:p>
            <a:pPr algn="l" indent="0" marL="0">
              <a:lnSpc>
                <a:spcPts val="972"/>
              </a:lnSpc>
              <a:buNone/>
            </a:pPr>
            <a:r>
              <a:rPr lang="en-US" sz="720" spc="180" kern="0" dirty="0">
                <a:solidFill>
                  <a:srgbClr val="96733C"/>
                </a:solidFill>
                <a:latin typeface="Calibri" pitchFamily="34" charset="0"/>
                <a:ea typeface="Calibri" pitchFamily="34" charset="-122"/>
                <a:cs typeface="Calibri" pitchFamily="34" charset="-120"/>
              </a:rPr>
              <a:t>03</a:t>
            </a:r>
            <a:endParaRPr lang="en-US" sz="720" dirty="0"/>
          </a:p>
        </p:txBody>
      </p:sp>
      <p:sp>
        <p:nvSpPr>
          <p:cNvPr id="26" name="Text 24"/>
          <p:cNvSpPr txBox="1"/>
          <p:nvPr/>
        </p:nvSpPr>
        <p:spPr>
          <a:xfrm>
            <a:off x="6387084" y="3456432"/>
            <a:ext cx="2105406" cy="409575"/>
          </a:xfrm>
          <a:prstGeom prst="rect">
            <a:avLst/>
          </a:prstGeom>
          <a:noFill/>
          <a:ln/>
        </p:spPr>
        <p:txBody>
          <a:bodyPr wrap="square" lIns="0" tIns="0" rIns="0" bIns="0" rtlCol="0" anchor="t"/>
          <a:lstStyle/>
          <a:p>
            <a:pPr algn="l" indent="0" marL="0">
              <a:lnSpc>
                <a:spcPts val="1725"/>
              </a:lnSpc>
              <a:buNone/>
            </a:pPr>
            <a:r>
              <a:rPr lang="en-US" sz="1500" dirty="0">
                <a:solidFill>
                  <a:srgbClr val="1B1815"/>
                </a:solidFill>
                <a:latin typeface="Georgia" pitchFamily="34" charset="0"/>
                <a:ea typeface="Georgia" pitchFamily="34" charset="-122"/>
                <a:cs typeface="Georgia" pitchFamily="34" charset="-120"/>
              </a:rPr>
              <a:t>Practise</a:t>
            </a:r>
            <a:endParaRPr lang="en-US" sz="1500" dirty="0"/>
          </a:p>
        </p:txBody>
      </p:sp>
      <p:sp>
        <p:nvSpPr>
          <p:cNvPr id="27" name="Text 25"/>
          <p:cNvSpPr txBox="1"/>
          <p:nvPr/>
        </p:nvSpPr>
        <p:spPr>
          <a:xfrm>
            <a:off x="6387084" y="3931920"/>
            <a:ext cx="2105406" cy="601218"/>
          </a:xfrm>
          <a:prstGeom prst="rect">
            <a:avLst/>
          </a:prstGeom>
          <a:noFill/>
          <a:ln/>
        </p:spPr>
        <p:txBody>
          <a:bodyPr wrap="square" lIns="0" tIns="0" rIns="0" bIns="0" rtlCol="0" anchor="t"/>
          <a:lstStyle/>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Seminar and skills lab: role-play, live</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supervision, genogram construction, case</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formulation in small groups.</a:t>
            </a:r>
            <a:endParaRPr lang="en-US" sz="900" dirty="0"/>
          </a:p>
        </p:txBody>
      </p:sp>
      <p:sp>
        <p:nvSpPr>
          <p:cNvPr id="28" name="Text 26"/>
          <p:cNvSpPr txBox="1"/>
          <p:nvPr/>
        </p:nvSpPr>
        <p:spPr>
          <a:xfrm>
            <a:off x="6387084" y="5102352"/>
            <a:ext cx="2105406" cy="208915"/>
          </a:xfrm>
          <a:prstGeom prst="rect">
            <a:avLst/>
          </a:prstGeom>
          <a:noFill/>
          <a:ln/>
        </p:spPr>
        <p:txBody>
          <a:bodyPr wrap="square" lIns="0" tIns="0" rIns="0" bIns="0" rtlCol="0" anchor="t"/>
          <a:lstStyle/>
          <a:p>
            <a:pPr algn="l" indent="0" marL="0">
              <a:lnSpc>
                <a:spcPts val="945"/>
              </a:lnSpc>
              <a:buNone/>
            </a:pPr>
            <a:r>
              <a:rPr lang="en-US" sz="700" spc="120" kern="0" dirty="0">
                <a:solidFill>
                  <a:srgbClr val="8B8375"/>
                </a:solidFill>
                <a:latin typeface="Calibri" pitchFamily="34" charset="0"/>
                <a:ea typeface="Calibri" pitchFamily="34" charset="-122"/>
                <a:cs typeface="Calibri" pitchFamily="34" charset="-120"/>
              </a:rPr>
              <a:t>SEMINAR · 2 HOURS</a:t>
            </a:r>
            <a:endParaRPr lang="en-US" sz="700" dirty="0"/>
          </a:p>
        </p:txBody>
      </p:sp>
      <p:sp>
        <p:nvSpPr>
          <p:cNvPr id="29" name="Shape 27"/>
          <p:cNvSpPr/>
          <p:nvPr/>
        </p:nvSpPr>
        <p:spPr>
          <a:xfrm>
            <a:off x="8894826" y="2999232"/>
            <a:ext cx="2471166" cy="2395728"/>
          </a:xfrm>
          <a:prstGeom prst="roundRect">
            <a:avLst>
              <a:gd name="adj" fmla="val 437"/>
            </a:avLst>
          </a:prstGeom>
          <a:solidFill>
            <a:srgbClr val="FCF8EF"/>
          </a:solidFill>
          <a:ln w="7620">
            <a:solidFill>
              <a:srgbClr val="D9CDB7"/>
            </a:solidFill>
            <a:prstDash val="solid"/>
          </a:ln>
        </p:spPr>
      </p:sp>
      <p:sp>
        <p:nvSpPr>
          <p:cNvPr id="30" name="Shape 28"/>
          <p:cNvSpPr/>
          <p:nvPr/>
        </p:nvSpPr>
        <p:spPr>
          <a:xfrm>
            <a:off x="8894826" y="2999232"/>
            <a:ext cx="2471166" cy="45720"/>
          </a:xfrm>
          <a:prstGeom prst="rect">
            <a:avLst/>
          </a:prstGeom>
          <a:solidFill>
            <a:srgbClr val="6E8274"/>
          </a:solidFill>
          <a:ln w="12700">
            <a:solidFill>
              <a:srgbClr val="FFFFFF">
                <a:alpha val="0"/>
              </a:srgbClr>
            </a:solidFill>
            <a:prstDash val="solid"/>
          </a:ln>
        </p:spPr>
      </p:sp>
      <p:sp>
        <p:nvSpPr>
          <p:cNvPr id="31" name="Text 29"/>
          <p:cNvSpPr txBox="1"/>
          <p:nvPr/>
        </p:nvSpPr>
        <p:spPr>
          <a:xfrm>
            <a:off x="9077706" y="3200400"/>
            <a:ext cx="2105406" cy="214884"/>
          </a:xfrm>
          <a:prstGeom prst="rect">
            <a:avLst/>
          </a:prstGeom>
          <a:noFill/>
          <a:ln/>
        </p:spPr>
        <p:txBody>
          <a:bodyPr wrap="square" lIns="0" tIns="0" rIns="0" bIns="0" rtlCol="0" anchor="t"/>
          <a:lstStyle/>
          <a:p>
            <a:pPr algn="l" indent="0" marL="0">
              <a:lnSpc>
                <a:spcPts val="972"/>
              </a:lnSpc>
              <a:buNone/>
            </a:pPr>
            <a:r>
              <a:rPr lang="en-US" sz="720" spc="180" kern="0" dirty="0">
                <a:solidFill>
                  <a:srgbClr val="6E8274"/>
                </a:solidFill>
                <a:latin typeface="Calibri" pitchFamily="34" charset="0"/>
                <a:ea typeface="Calibri" pitchFamily="34" charset="-122"/>
                <a:cs typeface="Calibri" pitchFamily="34" charset="-120"/>
              </a:rPr>
              <a:t>04</a:t>
            </a:r>
            <a:endParaRPr lang="en-US" sz="720" dirty="0"/>
          </a:p>
        </p:txBody>
      </p:sp>
      <p:sp>
        <p:nvSpPr>
          <p:cNvPr id="32" name="Text 30"/>
          <p:cNvSpPr txBox="1"/>
          <p:nvPr/>
        </p:nvSpPr>
        <p:spPr>
          <a:xfrm>
            <a:off x="9077706" y="3456432"/>
            <a:ext cx="2105406" cy="409575"/>
          </a:xfrm>
          <a:prstGeom prst="rect">
            <a:avLst/>
          </a:prstGeom>
          <a:noFill/>
          <a:ln/>
        </p:spPr>
        <p:txBody>
          <a:bodyPr wrap="square" lIns="0" tIns="0" rIns="0" bIns="0" rtlCol="0" anchor="t"/>
          <a:lstStyle/>
          <a:p>
            <a:pPr algn="l" indent="0" marL="0">
              <a:lnSpc>
                <a:spcPts val="1725"/>
              </a:lnSpc>
              <a:buNone/>
            </a:pPr>
            <a:r>
              <a:rPr lang="en-US" sz="1500" dirty="0">
                <a:solidFill>
                  <a:srgbClr val="1B1815"/>
                </a:solidFill>
                <a:latin typeface="Georgia" pitchFamily="34" charset="0"/>
                <a:ea typeface="Georgia" pitchFamily="34" charset="-122"/>
                <a:cs typeface="Georgia" pitchFamily="34" charset="-120"/>
              </a:rPr>
              <a:t>Reflect</a:t>
            </a:r>
            <a:endParaRPr lang="en-US" sz="1500" dirty="0"/>
          </a:p>
        </p:txBody>
      </p:sp>
      <p:sp>
        <p:nvSpPr>
          <p:cNvPr id="33" name="Text 31"/>
          <p:cNvSpPr txBox="1"/>
          <p:nvPr/>
        </p:nvSpPr>
        <p:spPr>
          <a:xfrm>
            <a:off x="9077706" y="3931920"/>
            <a:ext cx="2105406" cy="438912"/>
          </a:xfrm>
          <a:prstGeom prst="rect">
            <a:avLst/>
          </a:prstGeom>
          <a:noFill/>
          <a:ln/>
        </p:spPr>
        <p:txBody>
          <a:bodyPr wrap="square" lIns="0" tIns="0" rIns="0" bIns="0" rtlCol="0" anchor="t"/>
          <a:lstStyle/>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A weekly journal entry: what did this week</a:t>
            </a:r>
            <a:endParaRPr lang="en-US" sz="900" dirty="0"/>
          </a:p>
          <a:p>
            <a:pPr algn="l" indent="0" marL="0">
              <a:lnSpc>
                <a:spcPts val="1278"/>
              </a:lnSpc>
              <a:buNone/>
            </a:pPr>
            <a:r>
              <a:rPr lang="en-US" sz="900" dirty="0">
                <a:solidFill>
                  <a:srgbClr val="3F3A33"/>
                </a:solidFill>
                <a:latin typeface="Calibri" pitchFamily="34" charset="0"/>
                <a:ea typeface="Calibri" pitchFamily="34" charset="-122"/>
                <a:cs typeface="Calibri" pitchFamily="34" charset="-120"/>
              </a:rPr>
              <a:t>ask of you, personally and professionally?</a:t>
            </a:r>
            <a:endParaRPr lang="en-US" sz="900" dirty="0"/>
          </a:p>
        </p:txBody>
      </p:sp>
      <p:sp>
        <p:nvSpPr>
          <p:cNvPr id="34" name="Text 32"/>
          <p:cNvSpPr txBox="1"/>
          <p:nvPr/>
        </p:nvSpPr>
        <p:spPr>
          <a:xfrm>
            <a:off x="9077706" y="5102352"/>
            <a:ext cx="2105406" cy="208915"/>
          </a:xfrm>
          <a:prstGeom prst="rect">
            <a:avLst/>
          </a:prstGeom>
          <a:noFill/>
          <a:ln/>
        </p:spPr>
        <p:txBody>
          <a:bodyPr wrap="square" lIns="0" tIns="0" rIns="0" bIns="0" rtlCol="0" anchor="t"/>
          <a:lstStyle/>
          <a:p>
            <a:pPr algn="l" indent="0" marL="0">
              <a:lnSpc>
                <a:spcPts val="945"/>
              </a:lnSpc>
              <a:buNone/>
            </a:pPr>
            <a:r>
              <a:rPr lang="en-US" sz="700" spc="120" kern="0" dirty="0">
                <a:solidFill>
                  <a:srgbClr val="8B8375"/>
                </a:solidFill>
                <a:latin typeface="Calibri" pitchFamily="34" charset="0"/>
                <a:ea typeface="Calibri" pitchFamily="34" charset="-122"/>
                <a:cs typeface="Calibri" pitchFamily="34" charset="-120"/>
              </a:rPr>
              <a:t>JOURNAL · 20 MINUTES</a:t>
            </a:r>
            <a:endParaRPr lang="en-US" sz="700" dirty="0"/>
          </a:p>
        </p:txBody>
      </p:sp>
      <p:sp>
        <p:nvSpPr>
          <p:cNvPr id="35" name="Shape 33"/>
          <p:cNvSpPr/>
          <p:nvPr/>
        </p:nvSpPr>
        <p:spPr>
          <a:xfrm>
            <a:off x="822960" y="5577840"/>
            <a:ext cx="10546050" cy="91"/>
          </a:xfrm>
          <a:prstGeom prst="line">
            <a:avLst/>
          </a:prstGeom>
          <a:noFill/>
          <a:ln w="6350">
            <a:solidFill>
              <a:srgbClr val="D9CDB7"/>
            </a:solidFill>
            <a:prstDash val="solid"/>
            <a:headEnd type="none"/>
            <a:tailEnd type="none"/>
          </a:ln>
        </p:spPr>
      </p:sp>
      <p:sp>
        <p:nvSpPr>
          <p:cNvPr id="36" name="Text 34"/>
          <p:cNvSpPr txBox="1"/>
          <p:nvPr/>
        </p:nvSpPr>
        <p:spPr>
          <a:xfrm>
            <a:off x="822960" y="5687568"/>
            <a:ext cx="1051560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Preparation is not optional: seminar time is spent applying the reading, not summarising it.</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TEACHING &amp; ASSESSMENT</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06</a:t>
            </a:r>
            <a:endParaRPr lang="en-US" sz="950" dirty="0"/>
          </a:p>
        </p:txBody>
      </p:sp>
      <p:sp>
        <p:nvSpPr>
          <p:cNvPr id="8" name="Text 6"/>
          <p:cNvSpPr txBox="1"/>
          <p:nvPr/>
        </p:nvSpPr>
        <p:spPr>
          <a:xfrm>
            <a:off x="822960" y="932688"/>
            <a:ext cx="8778240" cy="220853"/>
          </a:xfrm>
          <a:prstGeom prst="rect">
            <a:avLst/>
          </a:prstGeom>
          <a:noFill/>
          <a:ln/>
        </p:spPr>
        <p:txBody>
          <a:bodyPr wrap="square" lIns="0" tIns="0" rIns="0" bIns="0" rtlCol="0" anchor="t"/>
          <a:lstStyle/>
          <a:p>
            <a:pPr algn="l" indent="0" marL="0">
              <a:lnSpc>
                <a:spcPts val="999"/>
              </a:lnSpc>
              <a:buNone/>
            </a:pPr>
            <a:r>
              <a:rPr lang="en-US" sz="740" b="1" spc="200" kern="0" dirty="0">
                <a:solidFill>
                  <a:srgbClr val="96733C"/>
                </a:solidFill>
                <a:latin typeface="Calibri" pitchFamily="34" charset="0"/>
                <a:ea typeface="Calibri" pitchFamily="34" charset="-122"/>
                <a:cs typeface="Calibri" pitchFamily="34" charset="-120"/>
              </a:rPr>
              <a:t>ASSESSMENT</a:t>
            </a:r>
            <a:endParaRPr lang="en-US" sz="740" dirty="0"/>
          </a:p>
        </p:txBody>
      </p:sp>
      <p:sp>
        <p:nvSpPr>
          <p:cNvPr id="9" name="Text 7"/>
          <p:cNvSpPr txBox="1"/>
          <p:nvPr/>
        </p:nvSpPr>
        <p:spPr>
          <a:xfrm>
            <a:off x="822960" y="1207008"/>
            <a:ext cx="877824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How the course is examined</a:t>
            </a:r>
            <a:endParaRPr lang="en-US" sz="2700" dirty="0"/>
          </a:p>
        </p:txBody>
      </p:sp>
      <p:sp>
        <p:nvSpPr>
          <p:cNvPr id="10" name="Text 8"/>
          <p:cNvSpPr txBox="1"/>
          <p:nvPr/>
        </p:nvSpPr>
        <p:spPr>
          <a:xfrm>
            <a:off x="822960" y="1719072"/>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Assessment is cumulative and clinical in character: you are asked to show that you can think systemically, write clearly, and</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defend a formulation.</a:t>
            </a:r>
            <a:endParaRPr lang="en-US" sz="1260" dirty="0"/>
          </a:p>
        </p:txBody>
      </p:sp>
      <p:sp>
        <p:nvSpPr>
          <p:cNvPr id="11" name="Shape 9"/>
          <p:cNvSpPr/>
          <p:nvPr/>
        </p:nvSpPr>
        <p:spPr>
          <a:xfrm>
            <a:off x="822960" y="2798064"/>
            <a:ext cx="10546050" cy="91"/>
          </a:xfrm>
          <a:prstGeom prst="line">
            <a:avLst/>
          </a:prstGeom>
          <a:noFill/>
          <a:ln w="11430">
            <a:solidFill>
              <a:srgbClr val="C2A05F"/>
            </a:solidFill>
            <a:prstDash val="solid"/>
            <a:headEnd type="none"/>
            <a:tailEnd type="none"/>
          </a:ln>
        </p:spPr>
      </p:sp>
      <p:sp>
        <p:nvSpPr>
          <p:cNvPr id="12" name="Text 10"/>
          <p:cNvSpPr txBox="1"/>
          <p:nvPr/>
        </p:nvSpPr>
        <p:spPr>
          <a:xfrm>
            <a:off x="822960" y="2907792"/>
            <a:ext cx="3657600" cy="214884"/>
          </a:xfrm>
          <a:prstGeom prst="rect">
            <a:avLst/>
          </a:prstGeom>
          <a:noFill/>
          <a:ln/>
        </p:spPr>
        <p:txBody>
          <a:bodyPr wrap="square" lIns="0" tIns="0" rIns="0" bIns="0" rtlCol="0" anchor="t"/>
          <a:lstStyle/>
          <a:p>
            <a:pPr algn="l" indent="0" marL="0">
              <a:lnSpc>
                <a:spcPts val="972"/>
              </a:lnSpc>
              <a:buNone/>
            </a:pPr>
            <a:r>
              <a:rPr lang="en-US" sz="720" b="1" spc="150" kern="0" dirty="0">
                <a:solidFill>
                  <a:srgbClr val="96733C"/>
                </a:solidFill>
                <a:latin typeface="Calibri" pitchFamily="34" charset="0"/>
                <a:ea typeface="Calibri" pitchFamily="34" charset="-122"/>
                <a:cs typeface="Calibri" pitchFamily="34" charset="-120"/>
              </a:rPr>
              <a:t>COMPONENT</a:t>
            </a:r>
            <a:endParaRPr lang="en-US" sz="720" dirty="0"/>
          </a:p>
        </p:txBody>
      </p:sp>
      <p:sp>
        <p:nvSpPr>
          <p:cNvPr id="13" name="Text 11"/>
          <p:cNvSpPr txBox="1"/>
          <p:nvPr/>
        </p:nvSpPr>
        <p:spPr>
          <a:xfrm>
            <a:off x="4663440" y="2907792"/>
            <a:ext cx="2560320" cy="214884"/>
          </a:xfrm>
          <a:prstGeom prst="rect">
            <a:avLst/>
          </a:prstGeom>
          <a:noFill/>
          <a:ln/>
        </p:spPr>
        <p:txBody>
          <a:bodyPr wrap="square" lIns="0" tIns="0" rIns="0" bIns="0" rtlCol="0" anchor="t"/>
          <a:lstStyle/>
          <a:p>
            <a:pPr algn="l" indent="0" marL="0">
              <a:lnSpc>
                <a:spcPts val="972"/>
              </a:lnSpc>
              <a:buNone/>
            </a:pPr>
            <a:r>
              <a:rPr lang="en-US" sz="720" b="1" spc="150" kern="0" dirty="0">
                <a:solidFill>
                  <a:srgbClr val="96733C"/>
                </a:solidFill>
                <a:latin typeface="Calibri" pitchFamily="34" charset="0"/>
                <a:ea typeface="Calibri" pitchFamily="34" charset="-122"/>
                <a:cs typeface="Calibri" pitchFamily="34" charset="-120"/>
              </a:rPr>
              <a:t>FORMAT</a:t>
            </a:r>
            <a:endParaRPr lang="en-US" sz="720" dirty="0"/>
          </a:p>
        </p:txBody>
      </p:sp>
      <p:sp>
        <p:nvSpPr>
          <p:cNvPr id="14" name="Text 12"/>
          <p:cNvSpPr txBox="1"/>
          <p:nvPr/>
        </p:nvSpPr>
        <p:spPr>
          <a:xfrm>
            <a:off x="7406640" y="2907792"/>
            <a:ext cx="3779490" cy="214884"/>
          </a:xfrm>
          <a:prstGeom prst="rect">
            <a:avLst/>
          </a:prstGeom>
          <a:noFill/>
          <a:ln/>
        </p:spPr>
        <p:txBody>
          <a:bodyPr wrap="square" lIns="0" tIns="0" rIns="0" bIns="0" rtlCol="0" anchor="t"/>
          <a:lstStyle/>
          <a:p>
            <a:pPr algn="l" indent="0" marL="0">
              <a:lnSpc>
                <a:spcPts val="972"/>
              </a:lnSpc>
              <a:buNone/>
            </a:pPr>
            <a:r>
              <a:rPr lang="en-US" sz="720" b="1" spc="150" kern="0" dirty="0">
                <a:solidFill>
                  <a:srgbClr val="96733C"/>
                </a:solidFill>
                <a:latin typeface="Calibri" pitchFamily="34" charset="0"/>
                <a:ea typeface="Calibri" pitchFamily="34" charset="-122"/>
                <a:cs typeface="Calibri" pitchFamily="34" charset="-120"/>
              </a:rPr>
              <a:t>WEIGHT</a:t>
            </a:r>
            <a:endParaRPr lang="en-US" sz="720" dirty="0"/>
          </a:p>
        </p:txBody>
      </p:sp>
      <p:sp>
        <p:nvSpPr>
          <p:cNvPr id="15" name="Text 13"/>
          <p:cNvSpPr txBox="1"/>
          <p:nvPr/>
        </p:nvSpPr>
        <p:spPr>
          <a:xfrm>
            <a:off x="822960" y="3255264"/>
            <a:ext cx="3657600" cy="376047"/>
          </a:xfrm>
          <a:prstGeom prst="rect">
            <a:avLst/>
          </a:prstGeom>
          <a:noFill/>
          <a:ln/>
        </p:spPr>
        <p:txBody>
          <a:bodyPr wrap="square" lIns="0" tIns="0" rIns="0" bIns="0" rtlCol="0" anchor="t"/>
          <a:lstStyle/>
          <a:p>
            <a:pPr algn="l" indent="0" marL="0">
              <a:lnSpc>
                <a:spcPts val="1701"/>
              </a:lnSpc>
              <a:buNone/>
            </a:pPr>
            <a:r>
              <a:rPr lang="en-US" sz="1260" dirty="0">
                <a:solidFill>
                  <a:srgbClr val="1B1815"/>
                </a:solidFill>
                <a:latin typeface="Georgia" pitchFamily="34" charset="0"/>
                <a:ea typeface="Georgia" pitchFamily="34" charset="-122"/>
                <a:cs typeface="Georgia" pitchFamily="34" charset="-120"/>
              </a:rPr>
              <a:t>Integrative case formulation</a:t>
            </a:r>
            <a:endParaRPr lang="en-US" sz="1260" dirty="0"/>
          </a:p>
        </p:txBody>
      </p:sp>
      <p:sp>
        <p:nvSpPr>
          <p:cNvPr id="16" name="Text 14"/>
          <p:cNvSpPr txBox="1"/>
          <p:nvPr/>
        </p:nvSpPr>
        <p:spPr>
          <a:xfrm>
            <a:off x="4663440" y="3273552"/>
            <a:ext cx="2560320" cy="411480"/>
          </a:xfrm>
          <a:prstGeom prst="rect">
            <a:avLst/>
          </a:prstGeom>
          <a:noFill/>
          <a:ln/>
        </p:spPr>
        <p:txBody>
          <a:bodyPr wrap="square" lIns="0" tIns="0" rIns="0" bIns="0" rtlCol="0" anchor="t"/>
          <a:lstStyle/>
          <a:p>
            <a:pPr algn="l" indent="0" marL="0">
              <a:lnSpc>
                <a:spcPts val="1170"/>
              </a:lnSpc>
              <a:buNone/>
            </a:pPr>
            <a:r>
              <a:rPr lang="en-US" sz="900" dirty="0">
                <a:solidFill>
                  <a:srgbClr val="3F3A33"/>
                </a:solidFill>
                <a:latin typeface="Calibri" pitchFamily="34" charset="0"/>
                <a:ea typeface="Calibri" pitchFamily="34" charset="-122"/>
                <a:cs typeface="Calibri" pitchFamily="34" charset="-120"/>
              </a:rPr>
              <a:t>2,500 words · one family, three models, a defended</a:t>
            </a:r>
            <a:endParaRPr lang="en-US" sz="900" dirty="0"/>
          </a:p>
          <a:p>
            <a:pPr algn="l" indent="0" marL="0">
              <a:lnSpc>
                <a:spcPts val="1170"/>
              </a:lnSpc>
              <a:buNone/>
            </a:pPr>
            <a:r>
              <a:rPr lang="en-US" sz="900" dirty="0">
                <a:solidFill>
                  <a:srgbClr val="3F3A33"/>
                </a:solidFill>
                <a:latin typeface="Calibri" pitchFamily="34" charset="0"/>
                <a:ea typeface="Calibri" pitchFamily="34" charset="-122"/>
                <a:cs typeface="Calibri" pitchFamily="34" charset="-120"/>
              </a:rPr>
              <a:t>intervention plan</a:t>
            </a:r>
            <a:endParaRPr lang="en-US" sz="900" dirty="0"/>
          </a:p>
        </p:txBody>
      </p:sp>
      <p:sp>
        <p:nvSpPr>
          <p:cNvPr id="17" name="Text 15"/>
          <p:cNvSpPr txBox="1"/>
          <p:nvPr/>
        </p:nvSpPr>
        <p:spPr>
          <a:xfrm>
            <a:off x="7406640" y="3255264"/>
            <a:ext cx="914400" cy="417830"/>
          </a:xfrm>
          <a:prstGeom prst="rect">
            <a:avLst/>
          </a:prstGeom>
          <a:noFill/>
          <a:ln/>
        </p:spPr>
        <p:txBody>
          <a:bodyPr wrap="square" lIns="0" tIns="0" rIns="0" bIns="0" rtlCol="0" anchor="t"/>
          <a:lstStyle/>
          <a:p>
            <a:pPr algn="l" indent="0" marL="0">
              <a:lnSpc>
                <a:spcPts val="1890"/>
              </a:lnSpc>
              <a:buNone/>
            </a:pPr>
            <a:r>
              <a:rPr lang="en-US" sz="1400" dirty="0">
                <a:solidFill>
                  <a:srgbClr val="96733C"/>
                </a:solidFill>
                <a:latin typeface="Georgia" pitchFamily="34" charset="0"/>
                <a:ea typeface="Georgia" pitchFamily="34" charset="-122"/>
                <a:cs typeface="Georgia" pitchFamily="34" charset="-120"/>
              </a:rPr>
              <a:t>30%</a:t>
            </a:r>
            <a:endParaRPr lang="en-US" sz="1400" dirty="0"/>
          </a:p>
        </p:txBody>
      </p:sp>
      <p:sp>
        <p:nvSpPr>
          <p:cNvPr id="18" name="Shape 16"/>
          <p:cNvSpPr/>
          <p:nvPr/>
        </p:nvSpPr>
        <p:spPr>
          <a:xfrm>
            <a:off x="822960" y="3694176"/>
            <a:ext cx="10546050" cy="91"/>
          </a:xfrm>
          <a:prstGeom prst="line">
            <a:avLst/>
          </a:prstGeom>
          <a:noFill/>
          <a:ln w="5715">
            <a:solidFill>
              <a:srgbClr val="D9CDB7">
                <a:alpha val="80000"/>
              </a:srgbClr>
            </a:solidFill>
            <a:prstDash val="solid"/>
            <a:headEnd type="none"/>
            <a:tailEnd type="none"/>
          </a:ln>
        </p:spPr>
      </p:sp>
      <p:sp>
        <p:nvSpPr>
          <p:cNvPr id="19" name="Text 17"/>
          <p:cNvSpPr txBox="1"/>
          <p:nvPr/>
        </p:nvSpPr>
        <p:spPr>
          <a:xfrm>
            <a:off x="822960" y="3858768"/>
            <a:ext cx="3657600" cy="376047"/>
          </a:xfrm>
          <a:prstGeom prst="rect">
            <a:avLst/>
          </a:prstGeom>
          <a:noFill/>
          <a:ln/>
        </p:spPr>
        <p:txBody>
          <a:bodyPr wrap="square" lIns="0" tIns="0" rIns="0" bIns="0" rtlCol="0" anchor="t"/>
          <a:lstStyle/>
          <a:p>
            <a:pPr algn="l" indent="0" marL="0">
              <a:lnSpc>
                <a:spcPts val="1701"/>
              </a:lnSpc>
              <a:buNone/>
            </a:pPr>
            <a:r>
              <a:rPr lang="en-US" sz="1260" dirty="0">
                <a:solidFill>
                  <a:srgbClr val="1B1815"/>
                </a:solidFill>
                <a:latin typeface="Georgia" pitchFamily="34" charset="0"/>
                <a:ea typeface="Georgia" pitchFamily="34" charset="-122"/>
                <a:cs typeface="Georgia" pitchFamily="34" charset="-120"/>
              </a:rPr>
              <a:t>Seminar participation</a:t>
            </a:r>
            <a:endParaRPr lang="en-US" sz="1260" dirty="0"/>
          </a:p>
        </p:txBody>
      </p:sp>
      <p:sp>
        <p:nvSpPr>
          <p:cNvPr id="20" name="Text 18"/>
          <p:cNvSpPr txBox="1"/>
          <p:nvPr/>
        </p:nvSpPr>
        <p:spPr>
          <a:xfrm>
            <a:off x="4663440" y="3877056"/>
            <a:ext cx="2560320" cy="262890"/>
          </a:xfrm>
          <a:prstGeom prst="rect">
            <a:avLst/>
          </a:prstGeom>
          <a:noFill/>
          <a:ln/>
        </p:spPr>
        <p:txBody>
          <a:bodyPr wrap="square" lIns="0" tIns="0" rIns="0" bIns="0" rtlCol="0" anchor="t"/>
          <a:lstStyle/>
          <a:p>
            <a:pPr algn="l" indent="0" marL="0">
              <a:lnSpc>
                <a:spcPts val="1170"/>
              </a:lnSpc>
              <a:buNone/>
            </a:pPr>
            <a:r>
              <a:rPr lang="en-US" sz="900" dirty="0">
                <a:solidFill>
                  <a:srgbClr val="3F3A33"/>
                </a:solidFill>
                <a:latin typeface="Calibri" pitchFamily="34" charset="0"/>
                <a:ea typeface="Calibri" pitchFamily="34" charset="-122"/>
                <a:cs typeface="Calibri" pitchFamily="34" charset="-120"/>
              </a:rPr>
              <a:t>Prepared contribution, role-play, peer feedback</a:t>
            </a:r>
            <a:endParaRPr lang="en-US" sz="900" dirty="0"/>
          </a:p>
        </p:txBody>
      </p:sp>
      <p:sp>
        <p:nvSpPr>
          <p:cNvPr id="21" name="Text 19"/>
          <p:cNvSpPr txBox="1"/>
          <p:nvPr/>
        </p:nvSpPr>
        <p:spPr>
          <a:xfrm>
            <a:off x="7406640" y="3858768"/>
            <a:ext cx="914400" cy="417830"/>
          </a:xfrm>
          <a:prstGeom prst="rect">
            <a:avLst/>
          </a:prstGeom>
          <a:noFill/>
          <a:ln/>
        </p:spPr>
        <p:txBody>
          <a:bodyPr wrap="square" lIns="0" tIns="0" rIns="0" bIns="0" rtlCol="0" anchor="t"/>
          <a:lstStyle/>
          <a:p>
            <a:pPr algn="l" indent="0" marL="0">
              <a:lnSpc>
                <a:spcPts val="1890"/>
              </a:lnSpc>
              <a:buNone/>
            </a:pPr>
            <a:r>
              <a:rPr lang="en-US" sz="1400" dirty="0">
                <a:solidFill>
                  <a:srgbClr val="96733C"/>
                </a:solidFill>
                <a:latin typeface="Georgia" pitchFamily="34" charset="0"/>
                <a:ea typeface="Georgia" pitchFamily="34" charset="-122"/>
                <a:cs typeface="Georgia" pitchFamily="34" charset="-120"/>
              </a:rPr>
              <a:t>15%</a:t>
            </a:r>
            <a:endParaRPr lang="en-US" sz="1400" dirty="0"/>
          </a:p>
        </p:txBody>
      </p:sp>
      <p:sp>
        <p:nvSpPr>
          <p:cNvPr id="22" name="Shape 20"/>
          <p:cNvSpPr/>
          <p:nvPr/>
        </p:nvSpPr>
        <p:spPr>
          <a:xfrm>
            <a:off x="822960" y="4297680"/>
            <a:ext cx="10546050" cy="91"/>
          </a:xfrm>
          <a:prstGeom prst="line">
            <a:avLst/>
          </a:prstGeom>
          <a:noFill/>
          <a:ln w="5715">
            <a:solidFill>
              <a:srgbClr val="D9CDB7">
                <a:alpha val="80000"/>
              </a:srgbClr>
            </a:solidFill>
            <a:prstDash val="solid"/>
            <a:headEnd type="none"/>
            <a:tailEnd type="none"/>
          </a:ln>
        </p:spPr>
      </p:sp>
      <p:sp>
        <p:nvSpPr>
          <p:cNvPr id="23" name="Text 21"/>
          <p:cNvSpPr txBox="1"/>
          <p:nvPr/>
        </p:nvSpPr>
        <p:spPr>
          <a:xfrm>
            <a:off x="822960" y="4462272"/>
            <a:ext cx="3657600" cy="376047"/>
          </a:xfrm>
          <a:prstGeom prst="rect">
            <a:avLst/>
          </a:prstGeom>
          <a:noFill/>
          <a:ln/>
        </p:spPr>
        <p:txBody>
          <a:bodyPr wrap="square" lIns="0" tIns="0" rIns="0" bIns="0" rtlCol="0" anchor="t"/>
          <a:lstStyle/>
          <a:p>
            <a:pPr algn="l" indent="0" marL="0">
              <a:lnSpc>
                <a:spcPts val="1701"/>
              </a:lnSpc>
              <a:buNone/>
            </a:pPr>
            <a:r>
              <a:rPr lang="en-US" sz="1260" dirty="0">
                <a:solidFill>
                  <a:srgbClr val="1B1815"/>
                </a:solidFill>
                <a:latin typeface="Georgia" pitchFamily="34" charset="0"/>
                <a:ea typeface="Georgia" pitchFamily="34" charset="-122"/>
                <a:cs typeface="Georgia" pitchFamily="34" charset="-120"/>
              </a:rPr>
              <a:t>Mid-semester examination</a:t>
            </a:r>
            <a:endParaRPr lang="en-US" sz="1260" dirty="0"/>
          </a:p>
        </p:txBody>
      </p:sp>
      <p:sp>
        <p:nvSpPr>
          <p:cNvPr id="24" name="Text 22"/>
          <p:cNvSpPr txBox="1"/>
          <p:nvPr/>
        </p:nvSpPr>
        <p:spPr>
          <a:xfrm>
            <a:off x="4663440" y="4480560"/>
            <a:ext cx="2560320" cy="262890"/>
          </a:xfrm>
          <a:prstGeom prst="rect">
            <a:avLst/>
          </a:prstGeom>
          <a:noFill/>
          <a:ln/>
        </p:spPr>
        <p:txBody>
          <a:bodyPr wrap="square" lIns="0" tIns="0" rIns="0" bIns="0" rtlCol="0" anchor="t"/>
          <a:lstStyle/>
          <a:p>
            <a:pPr algn="l" indent="0" marL="0">
              <a:lnSpc>
                <a:spcPts val="1170"/>
              </a:lnSpc>
              <a:buNone/>
            </a:pPr>
            <a:r>
              <a:rPr lang="en-US" sz="900" dirty="0">
                <a:solidFill>
                  <a:srgbClr val="3F3A33"/>
                </a:solidFill>
                <a:latin typeface="Calibri" pitchFamily="34" charset="0"/>
                <a:ea typeface="Calibri" pitchFamily="34" charset="-122"/>
                <a:cs typeface="Calibri" pitchFamily="34" charset="-120"/>
              </a:rPr>
              <a:t>Short answers and a seen case</a:t>
            </a:r>
            <a:endParaRPr lang="en-US" sz="900" dirty="0"/>
          </a:p>
        </p:txBody>
      </p:sp>
      <p:sp>
        <p:nvSpPr>
          <p:cNvPr id="25" name="Text 23"/>
          <p:cNvSpPr txBox="1"/>
          <p:nvPr/>
        </p:nvSpPr>
        <p:spPr>
          <a:xfrm>
            <a:off x="7406640" y="4462272"/>
            <a:ext cx="914400" cy="417830"/>
          </a:xfrm>
          <a:prstGeom prst="rect">
            <a:avLst/>
          </a:prstGeom>
          <a:noFill/>
          <a:ln/>
        </p:spPr>
        <p:txBody>
          <a:bodyPr wrap="square" lIns="0" tIns="0" rIns="0" bIns="0" rtlCol="0" anchor="t"/>
          <a:lstStyle/>
          <a:p>
            <a:pPr algn="l" indent="0" marL="0">
              <a:lnSpc>
                <a:spcPts val="1890"/>
              </a:lnSpc>
              <a:buNone/>
            </a:pPr>
            <a:r>
              <a:rPr lang="en-US" sz="1400" dirty="0">
                <a:solidFill>
                  <a:srgbClr val="96733C"/>
                </a:solidFill>
                <a:latin typeface="Georgia" pitchFamily="34" charset="0"/>
                <a:ea typeface="Georgia" pitchFamily="34" charset="-122"/>
                <a:cs typeface="Georgia" pitchFamily="34" charset="-120"/>
              </a:rPr>
              <a:t>20%</a:t>
            </a:r>
            <a:endParaRPr lang="en-US" sz="1400" dirty="0"/>
          </a:p>
        </p:txBody>
      </p:sp>
      <p:sp>
        <p:nvSpPr>
          <p:cNvPr id="26" name="Shape 24"/>
          <p:cNvSpPr/>
          <p:nvPr/>
        </p:nvSpPr>
        <p:spPr>
          <a:xfrm>
            <a:off x="822960" y="4901184"/>
            <a:ext cx="10546050" cy="91"/>
          </a:xfrm>
          <a:prstGeom prst="line">
            <a:avLst/>
          </a:prstGeom>
          <a:noFill/>
          <a:ln w="5715">
            <a:solidFill>
              <a:srgbClr val="D9CDB7">
                <a:alpha val="80000"/>
              </a:srgbClr>
            </a:solidFill>
            <a:prstDash val="solid"/>
            <a:headEnd type="none"/>
            <a:tailEnd type="none"/>
          </a:ln>
        </p:spPr>
      </p:sp>
      <p:sp>
        <p:nvSpPr>
          <p:cNvPr id="27" name="Text 25"/>
          <p:cNvSpPr txBox="1"/>
          <p:nvPr/>
        </p:nvSpPr>
        <p:spPr>
          <a:xfrm>
            <a:off x="822960" y="5065776"/>
            <a:ext cx="3657600" cy="376047"/>
          </a:xfrm>
          <a:prstGeom prst="rect">
            <a:avLst/>
          </a:prstGeom>
          <a:noFill/>
          <a:ln/>
        </p:spPr>
        <p:txBody>
          <a:bodyPr wrap="square" lIns="0" tIns="0" rIns="0" bIns="0" rtlCol="0" anchor="t"/>
          <a:lstStyle/>
          <a:p>
            <a:pPr algn="l" indent="0" marL="0">
              <a:lnSpc>
                <a:spcPts val="1701"/>
              </a:lnSpc>
              <a:buNone/>
            </a:pPr>
            <a:r>
              <a:rPr lang="en-US" sz="1260" dirty="0">
                <a:solidFill>
                  <a:srgbClr val="1B1815"/>
                </a:solidFill>
                <a:latin typeface="Georgia" pitchFamily="34" charset="0"/>
                <a:ea typeface="Georgia" pitchFamily="34" charset="-122"/>
                <a:cs typeface="Georgia" pitchFamily="34" charset="-120"/>
              </a:rPr>
              <a:t>Final examination</a:t>
            </a:r>
            <a:endParaRPr lang="en-US" sz="1260" dirty="0"/>
          </a:p>
        </p:txBody>
      </p:sp>
      <p:sp>
        <p:nvSpPr>
          <p:cNvPr id="28" name="Text 26"/>
          <p:cNvSpPr txBox="1"/>
          <p:nvPr/>
        </p:nvSpPr>
        <p:spPr>
          <a:xfrm>
            <a:off x="4663440" y="5084064"/>
            <a:ext cx="2560320" cy="262890"/>
          </a:xfrm>
          <a:prstGeom prst="rect">
            <a:avLst/>
          </a:prstGeom>
          <a:noFill/>
          <a:ln/>
        </p:spPr>
        <p:txBody>
          <a:bodyPr wrap="square" lIns="0" tIns="0" rIns="0" bIns="0" rtlCol="0" anchor="t"/>
          <a:lstStyle/>
          <a:p>
            <a:pPr algn="l" indent="0" marL="0">
              <a:lnSpc>
                <a:spcPts val="1170"/>
              </a:lnSpc>
              <a:buNone/>
            </a:pPr>
            <a:r>
              <a:rPr lang="en-US" sz="900" dirty="0">
                <a:solidFill>
                  <a:srgbClr val="3F3A33"/>
                </a:solidFill>
                <a:latin typeface="Calibri" pitchFamily="34" charset="0"/>
                <a:ea typeface="Calibri" pitchFamily="34" charset="-122"/>
                <a:cs typeface="Calibri" pitchFamily="34" charset="-120"/>
              </a:rPr>
              <a:t>Essay questions across the full syllabus</a:t>
            </a:r>
            <a:endParaRPr lang="en-US" sz="900" dirty="0"/>
          </a:p>
        </p:txBody>
      </p:sp>
      <p:sp>
        <p:nvSpPr>
          <p:cNvPr id="29" name="Text 27"/>
          <p:cNvSpPr txBox="1"/>
          <p:nvPr/>
        </p:nvSpPr>
        <p:spPr>
          <a:xfrm>
            <a:off x="7406640" y="5065776"/>
            <a:ext cx="914400" cy="417830"/>
          </a:xfrm>
          <a:prstGeom prst="rect">
            <a:avLst/>
          </a:prstGeom>
          <a:noFill/>
          <a:ln/>
        </p:spPr>
        <p:txBody>
          <a:bodyPr wrap="square" lIns="0" tIns="0" rIns="0" bIns="0" rtlCol="0" anchor="t"/>
          <a:lstStyle/>
          <a:p>
            <a:pPr algn="l" indent="0" marL="0">
              <a:lnSpc>
                <a:spcPts val="1890"/>
              </a:lnSpc>
              <a:buNone/>
            </a:pPr>
            <a:r>
              <a:rPr lang="en-US" sz="1400" dirty="0">
                <a:solidFill>
                  <a:srgbClr val="96733C"/>
                </a:solidFill>
                <a:latin typeface="Georgia" pitchFamily="34" charset="0"/>
                <a:ea typeface="Georgia" pitchFamily="34" charset="-122"/>
                <a:cs typeface="Georgia" pitchFamily="34" charset="-120"/>
              </a:rPr>
              <a:t>35%</a:t>
            </a:r>
            <a:endParaRPr lang="en-US" sz="1400" dirty="0"/>
          </a:p>
        </p:txBody>
      </p:sp>
      <p:sp>
        <p:nvSpPr>
          <p:cNvPr id="30" name="Shape 28"/>
          <p:cNvSpPr/>
          <p:nvPr/>
        </p:nvSpPr>
        <p:spPr>
          <a:xfrm>
            <a:off x="822960" y="5504688"/>
            <a:ext cx="10546050" cy="91"/>
          </a:xfrm>
          <a:prstGeom prst="line">
            <a:avLst/>
          </a:prstGeom>
          <a:noFill/>
          <a:ln w="5715">
            <a:solidFill>
              <a:srgbClr val="D9CDB7">
                <a:alpha val="80000"/>
              </a:srgbClr>
            </a:solidFill>
            <a:prstDash val="solid"/>
            <a:headEnd type="none"/>
            <a:tailEnd type="none"/>
          </a:ln>
        </p:spPr>
      </p:sp>
      <p:sp>
        <p:nvSpPr>
          <p:cNvPr id="31" name="Shape 29"/>
          <p:cNvSpPr/>
          <p:nvPr/>
        </p:nvSpPr>
        <p:spPr>
          <a:xfrm>
            <a:off x="822960" y="5797296"/>
            <a:ext cx="10546050" cy="91"/>
          </a:xfrm>
          <a:prstGeom prst="line">
            <a:avLst/>
          </a:prstGeom>
          <a:noFill/>
          <a:ln w="10160">
            <a:solidFill>
              <a:srgbClr val="C2A05F"/>
            </a:solidFill>
            <a:prstDash val="solid"/>
            <a:headEnd type="none"/>
            <a:tailEnd type="none"/>
          </a:ln>
        </p:spPr>
      </p:sp>
      <p:sp>
        <p:nvSpPr>
          <p:cNvPr id="32" name="Shape 30"/>
          <p:cNvSpPr/>
          <p:nvPr/>
        </p:nvSpPr>
        <p:spPr>
          <a:xfrm>
            <a:off x="864108" y="6057900"/>
            <a:ext cx="64008" cy="64008"/>
          </a:xfrm>
          <a:prstGeom prst="ellipse">
            <a:avLst/>
          </a:prstGeom>
          <a:solidFill>
            <a:srgbClr val="C2A05F"/>
          </a:solidFill>
          <a:ln w="12700">
            <a:solidFill>
              <a:srgbClr val="FFFFFF">
                <a:alpha val="0"/>
              </a:srgbClr>
            </a:solidFill>
            <a:prstDash val="solid"/>
          </a:ln>
        </p:spPr>
      </p:sp>
      <p:sp>
        <p:nvSpPr>
          <p:cNvPr id="33" name="Text 31"/>
          <p:cNvSpPr txBox="1"/>
          <p:nvPr/>
        </p:nvSpPr>
        <p:spPr>
          <a:xfrm>
            <a:off x="1042416" y="5961888"/>
            <a:ext cx="3200400" cy="256667"/>
          </a:xfrm>
          <a:prstGeom prst="rect">
            <a:avLst/>
          </a:prstGeom>
          <a:noFill/>
          <a:ln/>
        </p:spPr>
        <p:txBody>
          <a:bodyPr wrap="square" lIns="0" tIns="0" rIns="0" bIns="0" rtlCol="0" anchor="t"/>
          <a:lstStyle/>
          <a:p>
            <a:pPr algn="l" indent="0" marL="0">
              <a:lnSpc>
                <a:spcPts val="1161"/>
              </a:lnSpc>
              <a:buNone/>
            </a:pPr>
            <a:r>
              <a:rPr lang="en-US" sz="860" i="1" dirty="0">
                <a:solidFill>
                  <a:srgbClr val="96733C"/>
                </a:solidFill>
                <a:latin typeface="Calibri" pitchFamily="34" charset="0"/>
                <a:ea typeface="Calibri" pitchFamily="34" charset="-122"/>
                <a:cs typeface="Calibri" pitchFamily="34" charset="-120"/>
              </a:rPr>
              <a:t>Feedback before grades</a:t>
            </a:r>
            <a:endParaRPr lang="en-US" sz="860" dirty="0"/>
          </a:p>
        </p:txBody>
      </p:sp>
      <p:sp>
        <p:nvSpPr>
          <p:cNvPr id="34" name="Shape 32"/>
          <p:cNvSpPr/>
          <p:nvPr/>
        </p:nvSpPr>
        <p:spPr>
          <a:xfrm>
            <a:off x="4430268" y="6057900"/>
            <a:ext cx="64008" cy="64008"/>
          </a:xfrm>
          <a:prstGeom prst="ellipse">
            <a:avLst/>
          </a:prstGeom>
          <a:solidFill>
            <a:srgbClr val="C2A05F"/>
          </a:solidFill>
          <a:ln w="12700">
            <a:solidFill>
              <a:srgbClr val="FFFFFF">
                <a:alpha val="0"/>
              </a:srgbClr>
            </a:solidFill>
            <a:prstDash val="solid"/>
          </a:ln>
        </p:spPr>
      </p:sp>
      <p:sp>
        <p:nvSpPr>
          <p:cNvPr id="35" name="Text 33"/>
          <p:cNvSpPr txBox="1"/>
          <p:nvPr/>
        </p:nvSpPr>
        <p:spPr>
          <a:xfrm>
            <a:off x="4608576" y="5961888"/>
            <a:ext cx="3200400" cy="256667"/>
          </a:xfrm>
          <a:prstGeom prst="rect">
            <a:avLst/>
          </a:prstGeom>
          <a:noFill/>
          <a:ln/>
        </p:spPr>
        <p:txBody>
          <a:bodyPr wrap="square" lIns="0" tIns="0" rIns="0" bIns="0" rtlCol="0" anchor="t"/>
          <a:lstStyle/>
          <a:p>
            <a:pPr algn="l" indent="0" marL="0">
              <a:lnSpc>
                <a:spcPts val="1161"/>
              </a:lnSpc>
              <a:buNone/>
            </a:pPr>
            <a:r>
              <a:rPr lang="en-US" sz="860" i="1" dirty="0">
                <a:solidFill>
                  <a:srgbClr val="96733C"/>
                </a:solidFill>
                <a:latin typeface="Calibri" pitchFamily="34" charset="0"/>
                <a:ea typeface="Calibri" pitchFamily="34" charset="-122"/>
                <a:cs typeface="Calibri" pitchFamily="34" charset="-120"/>
              </a:rPr>
              <a:t>Formulation over recall</a:t>
            </a:r>
            <a:endParaRPr lang="en-US" sz="860" dirty="0"/>
          </a:p>
        </p:txBody>
      </p:sp>
      <p:sp>
        <p:nvSpPr>
          <p:cNvPr id="36" name="Shape 34"/>
          <p:cNvSpPr/>
          <p:nvPr/>
        </p:nvSpPr>
        <p:spPr>
          <a:xfrm>
            <a:off x="7996428" y="6057900"/>
            <a:ext cx="64008" cy="64008"/>
          </a:xfrm>
          <a:prstGeom prst="ellipse">
            <a:avLst/>
          </a:prstGeom>
          <a:solidFill>
            <a:srgbClr val="C2A05F"/>
          </a:solidFill>
          <a:ln w="12700">
            <a:solidFill>
              <a:srgbClr val="FFFFFF">
                <a:alpha val="0"/>
              </a:srgbClr>
            </a:solidFill>
            <a:prstDash val="solid"/>
          </a:ln>
        </p:spPr>
      </p:sp>
      <p:sp>
        <p:nvSpPr>
          <p:cNvPr id="37" name="Text 35"/>
          <p:cNvSpPr txBox="1"/>
          <p:nvPr/>
        </p:nvSpPr>
        <p:spPr>
          <a:xfrm>
            <a:off x="8174736" y="5961888"/>
            <a:ext cx="3200400" cy="256667"/>
          </a:xfrm>
          <a:prstGeom prst="rect">
            <a:avLst/>
          </a:prstGeom>
          <a:noFill/>
          <a:ln/>
        </p:spPr>
        <p:txBody>
          <a:bodyPr wrap="square" lIns="0" tIns="0" rIns="0" bIns="0" rtlCol="0" anchor="t"/>
          <a:lstStyle/>
          <a:p>
            <a:pPr algn="l" indent="0" marL="0">
              <a:lnSpc>
                <a:spcPts val="1161"/>
              </a:lnSpc>
              <a:buNone/>
            </a:pPr>
            <a:r>
              <a:rPr lang="en-US" sz="860" i="1" dirty="0">
                <a:solidFill>
                  <a:srgbClr val="96733C"/>
                </a:solidFill>
                <a:latin typeface="Calibri" pitchFamily="34" charset="0"/>
                <a:ea typeface="Calibri" pitchFamily="34" charset="-122"/>
                <a:cs typeface="Calibri" pitchFamily="34" charset="-120"/>
              </a:rPr>
              <a:t>Ethical reasoning evidenced</a:t>
            </a:r>
            <a:endParaRPr lang="en-US"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6400800" cy="238760"/>
          </a:xfrm>
          <a:prstGeom prst="rect">
            <a:avLst/>
          </a:prstGeom>
          <a:noFill/>
          <a:ln/>
        </p:spPr>
        <p:txBody>
          <a:bodyPr wrap="square" lIns="0" tIns="0" rIns="0" bIns="0" rtlCol="0" anchor="t"/>
          <a:lstStyle/>
          <a:p>
            <a:pPr algn="l" indent="0" marL="0">
              <a:lnSpc>
                <a:spcPts val="1080"/>
              </a:lnSpc>
              <a:buNone/>
            </a:pPr>
            <a:r>
              <a:rPr lang="en-US" sz="800" spc="300" kern="0" dirty="0">
                <a:solidFill>
                  <a:srgbClr val="C2A05F"/>
                </a:solidFill>
                <a:latin typeface="Calibri" pitchFamily="34" charset="0"/>
                <a:ea typeface="Calibri" pitchFamily="34" charset="-122"/>
                <a:cs typeface="Calibri" pitchFamily="34" charset="-120"/>
              </a:rPr>
              <a:t>PHASE I · WEEKS 1–4</a:t>
            </a:r>
            <a:endParaRPr lang="en-US" sz="800" dirty="0"/>
          </a:p>
        </p:txBody>
      </p:sp>
      <p:sp>
        <p:nvSpPr>
          <p:cNvPr id="3" name="Text 1"/>
          <p:cNvSpPr txBox="1"/>
          <p:nvPr/>
        </p:nvSpPr>
        <p:spPr>
          <a:xfrm>
            <a:off x="6035040" y="-457200"/>
            <a:ext cx="5486400" cy="7620000"/>
          </a:xfrm>
          <a:prstGeom prst="rect">
            <a:avLst/>
          </a:prstGeom>
          <a:noFill/>
          <a:ln/>
        </p:spPr>
        <p:txBody>
          <a:bodyPr wrap="square" lIns="0" tIns="0" rIns="0" bIns="0" rtlCol="0" anchor="t"/>
          <a:lstStyle/>
          <a:p>
            <a:pPr algn="r" indent="0" marL="0">
              <a:lnSpc>
                <a:spcPts val="30000"/>
              </a:lnSpc>
              <a:buNone/>
            </a:pPr>
            <a:r>
              <a:rPr lang="en-US" sz="30000" dirty="0">
                <a:solidFill>
                  <a:srgbClr val="181611"/>
                </a:solidFill>
                <a:latin typeface="Georgia" pitchFamily="34" charset="0"/>
                <a:ea typeface="Georgia" pitchFamily="34" charset="-122"/>
                <a:cs typeface="Georgia" pitchFamily="34" charset="-120"/>
              </a:rPr>
              <a:t>01</a:t>
            </a:r>
            <a:endParaRPr lang="en-US" sz="30000" dirty="0"/>
          </a:p>
        </p:txBody>
      </p:sp>
      <p:sp>
        <p:nvSpPr>
          <p:cNvPr id="4" name="Text 2"/>
          <p:cNvSpPr txBox="1"/>
          <p:nvPr/>
        </p:nvSpPr>
        <p:spPr>
          <a:xfrm>
            <a:off x="822960" y="1874520"/>
            <a:ext cx="6766560" cy="1215136"/>
          </a:xfrm>
          <a:prstGeom prst="rect">
            <a:avLst/>
          </a:prstGeom>
          <a:noFill/>
          <a:ln/>
        </p:spPr>
        <p:txBody>
          <a:bodyPr wrap="square" lIns="0" tIns="0" rIns="0" bIns="0" rtlCol="0" anchor="t"/>
          <a:lstStyle/>
          <a:p>
            <a:pPr algn="l" indent="0" marL="0">
              <a:lnSpc>
                <a:spcPts val="4968"/>
              </a:lnSpc>
              <a:buNone/>
            </a:pPr>
            <a:r>
              <a:rPr lang="en-US" sz="4600" dirty="0">
                <a:solidFill>
                  <a:srgbClr val="F8F3E9"/>
                </a:solidFill>
                <a:latin typeface="Georgia" pitchFamily="34" charset="0"/>
                <a:ea typeface="Georgia" pitchFamily="34" charset="-122"/>
                <a:cs typeface="Georgia" pitchFamily="34" charset="-120"/>
              </a:rPr>
              <a:t>Foundations</a:t>
            </a:r>
            <a:endParaRPr lang="en-US" sz="4600" dirty="0"/>
          </a:p>
        </p:txBody>
      </p:sp>
      <p:sp>
        <p:nvSpPr>
          <p:cNvPr id="5" name="Text 3"/>
          <p:cNvSpPr txBox="1"/>
          <p:nvPr/>
        </p:nvSpPr>
        <p:spPr>
          <a:xfrm>
            <a:off x="822960" y="3429000"/>
            <a:ext cx="6035040" cy="736600"/>
          </a:xfrm>
          <a:prstGeom prst="rect">
            <a:avLst/>
          </a:prstGeom>
          <a:noFill/>
          <a:ln/>
        </p:spPr>
        <p:txBody>
          <a:bodyPr wrap="square" lIns="0" tIns="0" rIns="0" bIns="0" rtlCol="0" anchor="t"/>
          <a:lstStyle/>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Learning to see systems: the history, the cybernetic grammar, and the</a:t>
            </a:r>
            <a:endParaRPr lang="en-US" sz="1450" dirty="0"/>
          </a:p>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first maps of family structure.</a:t>
            </a:r>
            <a:endParaRPr lang="en-US" sz="1450" dirty="0"/>
          </a:p>
        </p:txBody>
      </p:sp>
      <p:sp>
        <p:nvSpPr>
          <p:cNvPr id="6" name="Shape 4"/>
          <p:cNvSpPr/>
          <p:nvPr/>
        </p:nvSpPr>
        <p:spPr>
          <a:xfrm>
            <a:off x="822960" y="4572000"/>
            <a:ext cx="1554480" cy="91"/>
          </a:xfrm>
          <a:prstGeom prst="line">
            <a:avLst/>
          </a:prstGeom>
          <a:noFill/>
          <a:ln w="10160">
            <a:solidFill>
              <a:srgbClr val="C2A05F"/>
            </a:solidFill>
            <a:prstDash val="solid"/>
            <a:headEnd type="none"/>
            <a:tailEnd type="none"/>
          </a:ln>
        </p:spPr>
      </p:sp>
      <p:sp>
        <p:nvSpPr>
          <p:cNvPr id="7" name="Text 5"/>
          <p:cNvSpPr txBox="1"/>
          <p:nvPr/>
        </p:nvSpPr>
        <p:spPr>
          <a:xfrm>
            <a:off x="82296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a:t>
            </a:r>
            <a:endParaRPr lang="en-US" sz="1000" dirty="0"/>
          </a:p>
        </p:txBody>
      </p:sp>
      <p:sp>
        <p:nvSpPr>
          <p:cNvPr id="8" name="Text 6"/>
          <p:cNvSpPr txBox="1"/>
          <p:nvPr/>
        </p:nvSpPr>
        <p:spPr>
          <a:xfrm>
            <a:off x="82296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What is MFT?</a:t>
            </a:r>
            <a:endParaRPr lang="en-US" sz="760" dirty="0"/>
          </a:p>
        </p:txBody>
      </p:sp>
      <p:sp>
        <p:nvSpPr>
          <p:cNvPr id="9" name="Text 7"/>
          <p:cNvSpPr txBox="1"/>
          <p:nvPr/>
        </p:nvSpPr>
        <p:spPr>
          <a:xfrm>
            <a:off x="224028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02</a:t>
            </a:r>
            <a:endParaRPr lang="en-US" sz="1000" dirty="0"/>
          </a:p>
        </p:txBody>
      </p:sp>
      <p:sp>
        <p:nvSpPr>
          <p:cNvPr id="10" name="Text 8"/>
          <p:cNvSpPr txBox="1"/>
          <p:nvPr/>
        </p:nvSpPr>
        <p:spPr>
          <a:xfrm>
            <a:off x="2240280" y="5074920"/>
            <a:ext cx="1234440" cy="33782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Cybernetics &amp; the systemic</a:t>
            </a:r>
            <a:endParaRPr lang="en-US" sz="760" dirty="0"/>
          </a:p>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lens</a:t>
            </a:r>
            <a:endParaRPr lang="en-US" sz="760" dirty="0"/>
          </a:p>
        </p:txBody>
      </p:sp>
      <p:sp>
        <p:nvSpPr>
          <p:cNvPr id="11" name="Text 9"/>
          <p:cNvSpPr txBox="1"/>
          <p:nvPr/>
        </p:nvSpPr>
        <p:spPr>
          <a:xfrm>
            <a:off x="365760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03</a:t>
            </a:r>
            <a:endParaRPr lang="en-US" sz="1000" dirty="0"/>
          </a:p>
        </p:txBody>
      </p:sp>
      <p:sp>
        <p:nvSpPr>
          <p:cNvPr id="12" name="Text 10"/>
          <p:cNvSpPr txBox="1"/>
          <p:nvPr/>
        </p:nvSpPr>
        <p:spPr>
          <a:xfrm>
            <a:off x="365760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A short history of the field</a:t>
            </a:r>
            <a:endParaRPr lang="en-US" sz="760" dirty="0"/>
          </a:p>
        </p:txBody>
      </p:sp>
      <p:sp>
        <p:nvSpPr>
          <p:cNvPr id="13" name="Text 11"/>
          <p:cNvSpPr txBox="1"/>
          <p:nvPr/>
        </p:nvSpPr>
        <p:spPr>
          <a:xfrm>
            <a:off x="507492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04</a:t>
            </a:r>
            <a:endParaRPr lang="en-US" sz="1000" dirty="0"/>
          </a:p>
        </p:txBody>
      </p:sp>
      <p:sp>
        <p:nvSpPr>
          <p:cNvPr id="14" name="Text 12"/>
          <p:cNvSpPr txBox="1"/>
          <p:nvPr/>
        </p:nvSpPr>
        <p:spPr>
          <a:xfrm>
            <a:off x="5074920" y="5074920"/>
            <a:ext cx="1234440" cy="33782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Structural &amp; strategic</a:t>
            </a:r>
            <a:endParaRPr lang="en-US" sz="760" dirty="0"/>
          </a:p>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foundations</a:t>
            </a:r>
            <a:endParaRPr lang="en-US" sz="760" dirty="0"/>
          </a:p>
        </p:txBody>
      </p:sp>
      <p:sp>
        <p:nvSpPr>
          <p:cNvPr id="15" name="Shape 13"/>
          <p:cNvSpPr/>
          <p:nvPr/>
        </p:nvSpPr>
        <p:spPr>
          <a:xfrm>
            <a:off x="822960" y="5742432"/>
            <a:ext cx="10515600" cy="91"/>
          </a:xfrm>
          <a:prstGeom prst="line">
            <a:avLst/>
          </a:prstGeom>
          <a:noFill/>
          <a:ln w="10160">
            <a:solidFill>
              <a:srgbClr val="3A332A"/>
            </a:solidFill>
            <a:prstDash val="solid"/>
            <a:headEnd type="none"/>
            <a:tailEnd type="none"/>
          </a:ln>
        </p:spPr>
      </p:sp>
      <p:sp>
        <p:nvSpPr>
          <p:cNvPr id="16" name="Shape 14"/>
          <p:cNvSpPr/>
          <p:nvPr/>
        </p:nvSpPr>
        <p:spPr>
          <a:xfrm>
            <a:off x="793699" y="5713171"/>
            <a:ext cx="58522" cy="58522"/>
          </a:xfrm>
          <a:prstGeom prst="ellipse">
            <a:avLst/>
          </a:prstGeom>
          <a:solidFill>
            <a:srgbClr val="96733C"/>
          </a:solidFill>
          <a:ln w="12700">
            <a:solidFill>
              <a:srgbClr val="FFFFFF">
                <a:alpha val="0"/>
              </a:srgbClr>
            </a:solidFill>
            <a:prstDash val="solid"/>
          </a:ln>
        </p:spPr>
      </p:sp>
      <p:sp>
        <p:nvSpPr>
          <p:cNvPr id="17" name="Shape 15"/>
          <p:cNvSpPr/>
          <p:nvPr/>
        </p:nvSpPr>
        <p:spPr>
          <a:xfrm>
            <a:off x="1494739" y="5713171"/>
            <a:ext cx="58522" cy="58522"/>
          </a:xfrm>
          <a:prstGeom prst="ellipse">
            <a:avLst/>
          </a:prstGeom>
          <a:solidFill>
            <a:srgbClr val="96733C"/>
          </a:solidFill>
          <a:ln w="12700">
            <a:solidFill>
              <a:srgbClr val="FFFFFF">
                <a:alpha val="0"/>
              </a:srgbClr>
            </a:solidFill>
            <a:prstDash val="solid"/>
          </a:ln>
        </p:spPr>
      </p:sp>
      <p:sp>
        <p:nvSpPr>
          <p:cNvPr id="18" name="Shape 16"/>
          <p:cNvSpPr/>
          <p:nvPr/>
        </p:nvSpPr>
        <p:spPr>
          <a:xfrm>
            <a:off x="2195779" y="5713171"/>
            <a:ext cx="58522" cy="58522"/>
          </a:xfrm>
          <a:prstGeom prst="ellipse">
            <a:avLst/>
          </a:prstGeom>
          <a:solidFill>
            <a:srgbClr val="96733C"/>
          </a:solidFill>
          <a:ln w="12700">
            <a:solidFill>
              <a:srgbClr val="FFFFFF">
                <a:alpha val="0"/>
              </a:srgbClr>
            </a:solidFill>
            <a:prstDash val="solid"/>
          </a:ln>
        </p:spPr>
      </p:sp>
      <p:sp>
        <p:nvSpPr>
          <p:cNvPr id="19" name="Shape 17"/>
          <p:cNvSpPr/>
          <p:nvPr/>
        </p:nvSpPr>
        <p:spPr>
          <a:xfrm>
            <a:off x="2862072" y="5678424"/>
            <a:ext cx="128016" cy="128016"/>
          </a:xfrm>
          <a:prstGeom prst="ellipse">
            <a:avLst/>
          </a:prstGeom>
          <a:solidFill>
            <a:srgbClr val="C2A05F"/>
          </a:solidFill>
          <a:ln w="8890">
            <a:solidFill>
              <a:srgbClr val="E7D3A9"/>
            </a:solidFill>
            <a:prstDash val="solid"/>
          </a:ln>
        </p:spPr>
      </p:sp>
      <p:sp>
        <p:nvSpPr>
          <p:cNvPr id="20" name="Shape 18"/>
          <p:cNvSpPr/>
          <p:nvPr/>
        </p:nvSpPr>
        <p:spPr>
          <a:xfrm>
            <a:off x="3597859" y="5713171"/>
            <a:ext cx="58522" cy="58522"/>
          </a:xfrm>
          <a:prstGeom prst="ellipse">
            <a:avLst/>
          </a:prstGeom>
          <a:solidFill>
            <a:srgbClr val="1E1913"/>
          </a:solidFill>
          <a:ln w="12700">
            <a:solidFill>
              <a:srgbClr val="FFFFFF">
                <a:alpha val="0"/>
              </a:srgbClr>
            </a:solidFill>
            <a:prstDash val="solid"/>
          </a:ln>
        </p:spPr>
      </p:sp>
      <p:sp>
        <p:nvSpPr>
          <p:cNvPr id="21" name="Shape 19"/>
          <p:cNvSpPr/>
          <p:nvPr/>
        </p:nvSpPr>
        <p:spPr>
          <a:xfrm>
            <a:off x="4298899" y="5713171"/>
            <a:ext cx="58522" cy="58522"/>
          </a:xfrm>
          <a:prstGeom prst="ellipse">
            <a:avLst/>
          </a:prstGeom>
          <a:solidFill>
            <a:srgbClr val="1E1913"/>
          </a:solidFill>
          <a:ln w="12700">
            <a:solidFill>
              <a:srgbClr val="FFFFFF">
                <a:alpha val="0"/>
              </a:srgbClr>
            </a:solidFill>
            <a:prstDash val="solid"/>
          </a:ln>
        </p:spPr>
      </p:sp>
      <p:sp>
        <p:nvSpPr>
          <p:cNvPr id="22" name="Shape 20"/>
          <p:cNvSpPr/>
          <p:nvPr/>
        </p:nvSpPr>
        <p:spPr>
          <a:xfrm>
            <a:off x="4999939" y="5713171"/>
            <a:ext cx="58522" cy="58522"/>
          </a:xfrm>
          <a:prstGeom prst="ellipse">
            <a:avLst/>
          </a:prstGeom>
          <a:solidFill>
            <a:srgbClr val="1E1913"/>
          </a:solidFill>
          <a:ln w="12700">
            <a:solidFill>
              <a:srgbClr val="FFFFFF">
                <a:alpha val="0"/>
              </a:srgbClr>
            </a:solidFill>
            <a:prstDash val="solid"/>
          </a:ln>
        </p:spPr>
      </p:sp>
      <p:sp>
        <p:nvSpPr>
          <p:cNvPr id="23" name="Shape 21"/>
          <p:cNvSpPr/>
          <p:nvPr/>
        </p:nvSpPr>
        <p:spPr>
          <a:xfrm>
            <a:off x="5700979" y="5713171"/>
            <a:ext cx="58522" cy="58522"/>
          </a:xfrm>
          <a:prstGeom prst="ellipse">
            <a:avLst/>
          </a:prstGeom>
          <a:solidFill>
            <a:srgbClr val="1E1913"/>
          </a:solidFill>
          <a:ln w="12700">
            <a:solidFill>
              <a:srgbClr val="FFFFFF">
                <a:alpha val="0"/>
              </a:srgbClr>
            </a:solidFill>
            <a:prstDash val="solid"/>
          </a:ln>
        </p:spPr>
      </p:sp>
      <p:sp>
        <p:nvSpPr>
          <p:cNvPr id="24" name="Shape 22"/>
          <p:cNvSpPr/>
          <p:nvPr/>
        </p:nvSpPr>
        <p:spPr>
          <a:xfrm>
            <a:off x="6402019" y="5713171"/>
            <a:ext cx="58522" cy="58522"/>
          </a:xfrm>
          <a:prstGeom prst="ellipse">
            <a:avLst/>
          </a:prstGeom>
          <a:solidFill>
            <a:srgbClr val="1E1913"/>
          </a:solidFill>
          <a:ln w="12700">
            <a:solidFill>
              <a:srgbClr val="FFFFFF">
                <a:alpha val="0"/>
              </a:srgbClr>
            </a:solidFill>
            <a:prstDash val="solid"/>
          </a:ln>
        </p:spPr>
      </p:sp>
      <p:sp>
        <p:nvSpPr>
          <p:cNvPr id="25" name="Shape 23"/>
          <p:cNvSpPr/>
          <p:nvPr/>
        </p:nvSpPr>
        <p:spPr>
          <a:xfrm>
            <a:off x="7103059" y="5713171"/>
            <a:ext cx="58522" cy="58522"/>
          </a:xfrm>
          <a:prstGeom prst="ellipse">
            <a:avLst/>
          </a:prstGeom>
          <a:solidFill>
            <a:srgbClr val="1E1913"/>
          </a:solidFill>
          <a:ln w="12700">
            <a:solidFill>
              <a:srgbClr val="FFFFFF">
                <a:alpha val="0"/>
              </a:srgbClr>
            </a:solidFill>
            <a:prstDash val="solid"/>
          </a:ln>
        </p:spPr>
      </p:sp>
      <p:sp>
        <p:nvSpPr>
          <p:cNvPr id="26" name="Shape 24"/>
          <p:cNvSpPr/>
          <p:nvPr/>
        </p:nvSpPr>
        <p:spPr>
          <a:xfrm>
            <a:off x="7804099" y="5713171"/>
            <a:ext cx="58522" cy="58522"/>
          </a:xfrm>
          <a:prstGeom prst="ellipse">
            <a:avLst/>
          </a:prstGeom>
          <a:solidFill>
            <a:srgbClr val="1E1913"/>
          </a:solidFill>
          <a:ln w="12700">
            <a:solidFill>
              <a:srgbClr val="FFFFFF">
                <a:alpha val="0"/>
              </a:srgbClr>
            </a:solidFill>
            <a:prstDash val="solid"/>
          </a:ln>
        </p:spPr>
      </p:sp>
      <p:sp>
        <p:nvSpPr>
          <p:cNvPr id="27" name="Shape 25"/>
          <p:cNvSpPr/>
          <p:nvPr/>
        </p:nvSpPr>
        <p:spPr>
          <a:xfrm>
            <a:off x="8505139" y="5713171"/>
            <a:ext cx="58522" cy="58522"/>
          </a:xfrm>
          <a:prstGeom prst="ellipse">
            <a:avLst/>
          </a:prstGeom>
          <a:solidFill>
            <a:srgbClr val="1E1913"/>
          </a:solidFill>
          <a:ln w="12700">
            <a:solidFill>
              <a:srgbClr val="FFFFFF">
                <a:alpha val="0"/>
              </a:srgbClr>
            </a:solidFill>
            <a:prstDash val="solid"/>
          </a:ln>
        </p:spPr>
      </p:sp>
      <p:sp>
        <p:nvSpPr>
          <p:cNvPr id="28" name="Shape 26"/>
          <p:cNvSpPr/>
          <p:nvPr/>
        </p:nvSpPr>
        <p:spPr>
          <a:xfrm>
            <a:off x="9206179" y="5713171"/>
            <a:ext cx="58522" cy="58522"/>
          </a:xfrm>
          <a:prstGeom prst="ellipse">
            <a:avLst/>
          </a:prstGeom>
          <a:solidFill>
            <a:srgbClr val="1E1913"/>
          </a:solidFill>
          <a:ln w="12700">
            <a:solidFill>
              <a:srgbClr val="FFFFFF">
                <a:alpha val="0"/>
              </a:srgbClr>
            </a:solidFill>
            <a:prstDash val="solid"/>
          </a:ln>
        </p:spPr>
      </p:sp>
      <p:sp>
        <p:nvSpPr>
          <p:cNvPr id="29" name="Shape 27"/>
          <p:cNvSpPr/>
          <p:nvPr/>
        </p:nvSpPr>
        <p:spPr>
          <a:xfrm>
            <a:off x="9907219" y="5713171"/>
            <a:ext cx="58522" cy="58522"/>
          </a:xfrm>
          <a:prstGeom prst="ellipse">
            <a:avLst/>
          </a:prstGeom>
          <a:solidFill>
            <a:srgbClr val="1E1913"/>
          </a:solidFill>
          <a:ln w="12700">
            <a:solidFill>
              <a:srgbClr val="FFFFFF">
                <a:alpha val="0"/>
              </a:srgbClr>
            </a:solidFill>
            <a:prstDash val="solid"/>
          </a:ln>
        </p:spPr>
      </p:sp>
      <p:sp>
        <p:nvSpPr>
          <p:cNvPr id="30" name="Shape 28"/>
          <p:cNvSpPr/>
          <p:nvPr/>
        </p:nvSpPr>
        <p:spPr>
          <a:xfrm>
            <a:off x="10608259" y="5713171"/>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11309299" y="5713171"/>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822960" y="722376"/>
            <a:ext cx="10546050" cy="91"/>
          </a:xfrm>
          <a:prstGeom prst="line">
            <a:avLst/>
          </a:prstGeom>
          <a:noFill/>
          <a:ln w="6350">
            <a:solidFill>
              <a:srgbClr val="3A332A"/>
            </a:solidFill>
            <a:prstDash val="solid"/>
            <a:headEnd type="none"/>
            <a:tailEnd type="none"/>
          </a:ln>
        </p:spPr>
      </p:sp>
      <p:sp>
        <p:nvSpPr>
          <p:cNvPr id="33" name="Text 31"/>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34" name="Text 32"/>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01 · PHASE I — FOUNDATIONS</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01</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What Is Marriage and Family</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Therapy?</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When the unit of treatment is a relationship, what exactly is it that changes?</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relational unit of treatment</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family is nested, not isolated</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referral that reframes the problem</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Distinguish systemic practice from individually</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oriented psychotherapy.</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Describe the relational unit of treatment and its</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implications.</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Begin a personal statement of professional identity.</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systemic epistemology · relational unit · presenting problem · professional identity</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Nichols &amp; Davis (2020), ch. 1 · Becvar &amp; Becvar (2018), ch. 1</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58952" y="5696712"/>
            <a:ext cx="128016" cy="128016"/>
          </a:xfrm>
          <a:prstGeom prst="ellipse">
            <a:avLst/>
          </a:prstGeom>
          <a:solidFill>
            <a:srgbClr val="C2A05F"/>
          </a:solidFill>
          <a:ln w="8890">
            <a:solidFill>
              <a:srgbClr val="E7D3A9"/>
            </a:solidFill>
            <a:prstDash val="solid"/>
          </a:ln>
        </p:spPr>
      </p:sp>
      <p:sp>
        <p:nvSpPr>
          <p:cNvPr id="28" name="Shape 26"/>
          <p:cNvSpPr/>
          <p:nvPr/>
        </p:nvSpPr>
        <p:spPr>
          <a:xfrm>
            <a:off x="1494739" y="5731459"/>
            <a:ext cx="58522" cy="58522"/>
          </a:xfrm>
          <a:prstGeom prst="ellipse">
            <a:avLst/>
          </a:prstGeom>
          <a:solidFill>
            <a:srgbClr val="1E1913"/>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1E1913"/>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1E1913"/>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01 · LECTURE 01</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09</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relational unit of treatment</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MFT begins from a deceptively simple claim: problems are not located only inside people. They are located in the patterns</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between people.</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A DIFFERENT UNIT OF ANALYSIS</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Individual therapy treats the person as the locus of difficulty. MFT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treats the relationship as the client — the recurring patterns that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organise how family members think, feel and act.</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symptom is also a message about the system</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Assessment includes the family’s own explanation</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Change is measured in relationships, not only symptoms</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WHAT MFT IS NOT</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field is often reduced to “seeing the whole family”. That is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setting, not a theory.</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Not the absence of diagnosis</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Not a denial of biology, trauma or individual experience</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Not the assumption that families are always the cause</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WHY IT MATTERS</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unit of treatment decides what counts as data, who is invited in,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and what improvement looks like.</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present shapes what can be said</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Relational change can precede symptom change</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Families are resources, not only risks</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WORKING DEFINITION</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A discipline of relationship</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Marriage and family therapy is the assessment and treatment of relational systems, using theories and methods</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that treat interaction as the primary site of change.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Nichols &amp; Davis (2020); Becvar &amp; Becvar</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(2018).</a:t>
            </a:r>
            <a:endParaRPr lang="en-US" sz="6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01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10</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The family is nested, not isolated</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family is never only itself. It is held by kin, community, institutions and policy — each of which can carry a problem or a resource.</a:t>
            </a:r>
            <a:endParaRPr lang="en-US" sz="1060" dirty="0"/>
          </a:p>
        </p:txBody>
      </p:sp>
      <p:sp>
        <p:nvSpPr>
          <p:cNvPr id="10" name="Shape 8"/>
          <p:cNvSpPr/>
          <p:nvPr/>
        </p:nvSpPr>
        <p:spPr>
          <a:xfrm>
            <a:off x="3227832" y="3300984"/>
            <a:ext cx="1682496" cy="950976"/>
          </a:xfrm>
          <a:prstGeom prst="ellipse">
            <a:avLst/>
          </a:prstGeom>
          <a:solidFill>
            <a:srgbClr val="C2A05F">
              <a:alpha val="14000"/>
            </a:srgbClr>
          </a:solidFill>
          <a:ln w="8890">
            <a:solidFill>
              <a:srgbClr val="D9CDB7"/>
            </a:solidFill>
            <a:prstDash val="solid"/>
          </a:ln>
        </p:spPr>
      </p:sp>
      <p:sp>
        <p:nvSpPr>
          <p:cNvPr id="11" name="Shape 9"/>
          <p:cNvSpPr/>
          <p:nvPr/>
        </p:nvSpPr>
        <p:spPr>
          <a:xfrm>
            <a:off x="2313432" y="2807208"/>
            <a:ext cx="3511296" cy="1938528"/>
          </a:xfrm>
          <a:prstGeom prst="ellipse">
            <a:avLst/>
          </a:prstGeom>
          <a:solidFill>
            <a:srgbClr val="EFE5D3">
              <a:alpha val="55000"/>
            </a:srgbClr>
          </a:solidFill>
          <a:ln w="8890">
            <a:solidFill>
              <a:srgbClr val="D9CDB7"/>
            </a:solidFill>
            <a:prstDash val="dash"/>
          </a:ln>
        </p:spPr>
      </p:sp>
      <p:sp>
        <p:nvSpPr>
          <p:cNvPr id="12" name="Shape 10"/>
          <p:cNvSpPr/>
          <p:nvPr/>
        </p:nvSpPr>
        <p:spPr>
          <a:xfrm>
            <a:off x="1399032" y="2313432"/>
            <a:ext cx="5340096" cy="2926080"/>
          </a:xfrm>
          <a:prstGeom prst="ellipse">
            <a:avLst/>
          </a:prstGeom>
          <a:solidFill>
            <a:srgbClr val="6E8274">
              <a:alpha val="7000"/>
            </a:srgbClr>
          </a:solidFill>
          <a:ln w="8890">
            <a:solidFill>
              <a:srgbClr val="D9CDB7"/>
            </a:solidFill>
            <a:prstDash val="dash"/>
          </a:ln>
        </p:spPr>
      </p:sp>
      <p:sp>
        <p:nvSpPr>
          <p:cNvPr id="13" name="Shape 11"/>
          <p:cNvSpPr/>
          <p:nvPr/>
        </p:nvSpPr>
        <p:spPr>
          <a:xfrm>
            <a:off x="457200" y="1819656"/>
            <a:ext cx="7223760" cy="3913632"/>
          </a:xfrm>
          <a:prstGeom prst="ellipse">
            <a:avLst/>
          </a:prstGeom>
          <a:solidFill>
            <a:srgbClr val="A96A45">
              <a:alpha val="6000"/>
            </a:srgbClr>
          </a:solidFill>
          <a:ln w="8890">
            <a:solidFill>
              <a:srgbClr val="D9CDB7"/>
            </a:solidFill>
            <a:prstDash val="dash"/>
          </a:ln>
        </p:spPr>
      </p:sp>
      <p:sp>
        <p:nvSpPr>
          <p:cNvPr id="14" name="Shape 12"/>
          <p:cNvSpPr/>
          <p:nvPr/>
        </p:nvSpPr>
        <p:spPr>
          <a:xfrm>
            <a:off x="4014216" y="3721608"/>
            <a:ext cx="109728" cy="109728"/>
          </a:xfrm>
          <a:prstGeom prst="ellipse">
            <a:avLst/>
          </a:prstGeom>
          <a:solidFill>
            <a:srgbClr val="96733C"/>
          </a:solidFill>
          <a:ln w="12700">
            <a:solidFill>
              <a:srgbClr val="FFFFFF">
                <a:alpha val="0"/>
              </a:srgbClr>
            </a:solidFill>
            <a:prstDash val="solid"/>
          </a:ln>
        </p:spPr>
      </p:sp>
      <p:sp>
        <p:nvSpPr>
          <p:cNvPr id="15" name="Text 13"/>
          <p:cNvSpPr txBox="1"/>
          <p:nvPr/>
        </p:nvSpPr>
        <p:spPr>
          <a:xfrm>
            <a:off x="3566160" y="3858768"/>
            <a:ext cx="1005840" cy="221996"/>
          </a:xfrm>
          <a:prstGeom prst="rect">
            <a:avLst/>
          </a:prstGeom>
          <a:noFill/>
          <a:ln/>
        </p:spPr>
        <p:txBody>
          <a:bodyPr wrap="square" lIns="0" tIns="0" rIns="0" bIns="0" rtlCol="0" anchor="t"/>
          <a:lstStyle/>
          <a:p>
            <a:pPr algn="ctr" indent="0" marL="0">
              <a:lnSpc>
                <a:spcPts val="988"/>
              </a:lnSpc>
              <a:buNone/>
            </a:pPr>
            <a:r>
              <a:rPr lang="en-US" sz="760" spc="120" kern="0" dirty="0">
                <a:solidFill>
                  <a:srgbClr val="96733C"/>
                </a:solidFill>
                <a:latin typeface="Calibri" pitchFamily="34" charset="0"/>
                <a:ea typeface="Calibri" pitchFamily="34" charset="-122"/>
                <a:cs typeface="Calibri" pitchFamily="34" charset="-120"/>
              </a:rPr>
              <a:t>PERSON</a:t>
            </a:r>
            <a:endParaRPr lang="en-US" sz="760" dirty="0"/>
          </a:p>
        </p:txBody>
      </p:sp>
      <p:sp>
        <p:nvSpPr>
          <p:cNvPr id="16" name="Shape 14"/>
          <p:cNvSpPr/>
          <p:nvPr/>
        </p:nvSpPr>
        <p:spPr>
          <a:xfrm flipV="1">
            <a:off x="7412768" y="2395728"/>
            <a:ext cx="268192" cy="582832"/>
          </a:xfrm>
          <a:prstGeom prst="line">
            <a:avLst/>
          </a:prstGeom>
          <a:noFill/>
          <a:ln w="7620">
            <a:solidFill>
              <a:srgbClr val="D9CDB7"/>
            </a:solidFill>
            <a:prstDash val="solid"/>
            <a:headEnd type="none"/>
            <a:tailEnd type="none"/>
          </a:ln>
        </p:spPr>
      </p:sp>
      <p:sp>
        <p:nvSpPr>
          <p:cNvPr id="17" name="Shape 15"/>
          <p:cNvSpPr/>
          <p:nvPr/>
        </p:nvSpPr>
        <p:spPr>
          <a:xfrm>
            <a:off x="7335044" y="2946556"/>
            <a:ext cx="64008" cy="64008"/>
          </a:xfrm>
          <a:prstGeom prst="ellipse">
            <a:avLst/>
          </a:prstGeom>
          <a:solidFill>
            <a:srgbClr val="C2A05F"/>
          </a:solidFill>
          <a:ln w="12700">
            <a:solidFill>
              <a:srgbClr val="FFFFFF">
                <a:alpha val="0"/>
              </a:srgbClr>
            </a:solidFill>
            <a:prstDash val="solid"/>
          </a:ln>
        </p:spPr>
      </p:sp>
      <p:sp>
        <p:nvSpPr>
          <p:cNvPr id="18" name="Text 16"/>
          <p:cNvSpPr txBox="1"/>
          <p:nvPr/>
        </p:nvSpPr>
        <p:spPr>
          <a:xfrm>
            <a:off x="7790688" y="2194560"/>
            <a:ext cx="3520440" cy="334264"/>
          </a:xfrm>
          <a:prstGeom prst="rect">
            <a:avLst/>
          </a:prstGeom>
          <a:noFill/>
          <a:ln/>
        </p:spPr>
        <p:txBody>
          <a:bodyPr wrap="square" lIns="0" tIns="0" rIns="0" bIns="0" rtlCol="0" anchor="t"/>
          <a:lstStyle/>
          <a:p>
            <a:pPr algn="l" indent="0" marL="0">
              <a:lnSpc>
                <a:spcPts val="1512"/>
              </a:lnSpc>
              <a:buNone/>
            </a:pPr>
            <a:r>
              <a:rPr lang="en-US" sz="1120" dirty="0">
                <a:solidFill>
                  <a:srgbClr val="1B1815"/>
                </a:solidFill>
                <a:latin typeface="Georgia" pitchFamily="34" charset="0"/>
                <a:ea typeface="Georgia" pitchFamily="34" charset="-122"/>
                <a:cs typeface="Georgia" pitchFamily="34" charset="-120"/>
              </a:rPr>
              <a:t>Culture, economy &amp; policy</a:t>
            </a:r>
            <a:endParaRPr lang="en-US" sz="1120" dirty="0"/>
          </a:p>
        </p:txBody>
      </p:sp>
      <p:sp>
        <p:nvSpPr>
          <p:cNvPr id="19" name="Text 17"/>
          <p:cNvSpPr txBox="1"/>
          <p:nvPr/>
        </p:nvSpPr>
        <p:spPr>
          <a:xfrm>
            <a:off x="7790688" y="2441448"/>
            <a:ext cx="3520440" cy="239522"/>
          </a:xfrm>
          <a:prstGeom prst="rect">
            <a:avLst/>
          </a:prstGeom>
          <a:noFill/>
          <a:ln/>
        </p:spPr>
        <p:txBody>
          <a:bodyPr wrap="square" lIns="0" tIns="0" rIns="0" bIns="0" rtlCol="0" anchor="t"/>
          <a:lstStyle/>
          <a:p>
            <a:pPr algn="l" indent="0" marL="0">
              <a:lnSpc>
                <a:spcPts val="1066"/>
              </a:lnSpc>
              <a:buNone/>
            </a:pPr>
            <a:r>
              <a:rPr lang="en-US" sz="820" dirty="0">
                <a:solidFill>
                  <a:srgbClr val="5B544A"/>
                </a:solidFill>
                <a:latin typeface="Calibri" pitchFamily="34" charset="0"/>
                <a:ea typeface="Calibri" pitchFamily="34" charset="-122"/>
                <a:cs typeface="Calibri" pitchFamily="34" charset="-120"/>
              </a:rPr>
              <a:t>values, migration, employment, housing, law</a:t>
            </a:r>
            <a:endParaRPr lang="en-US" sz="820" dirty="0"/>
          </a:p>
        </p:txBody>
      </p:sp>
      <p:sp>
        <p:nvSpPr>
          <p:cNvPr id="20" name="Shape 18"/>
          <p:cNvSpPr/>
          <p:nvPr/>
        </p:nvSpPr>
        <p:spPr>
          <a:xfrm>
            <a:off x="7412768" y="2978560"/>
            <a:ext cx="268192" cy="258416"/>
          </a:xfrm>
          <a:prstGeom prst="line">
            <a:avLst/>
          </a:prstGeom>
          <a:noFill/>
          <a:ln w="7620">
            <a:solidFill>
              <a:srgbClr val="D9CDB7"/>
            </a:solidFill>
            <a:prstDash val="solid"/>
            <a:headEnd type="none"/>
            <a:tailEnd type="none"/>
          </a:ln>
        </p:spPr>
      </p:sp>
      <p:sp>
        <p:nvSpPr>
          <p:cNvPr id="21" name="Shape 19"/>
          <p:cNvSpPr/>
          <p:nvPr/>
        </p:nvSpPr>
        <p:spPr>
          <a:xfrm>
            <a:off x="7335044" y="2946556"/>
            <a:ext cx="64008" cy="64008"/>
          </a:xfrm>
          <a:prstGeom prst="ellipse">
            <a:avLst/>
          </a:prstGeom>
          <a:solidFill>
            <a:srgbClr val="C2A05F"/>
          </a:solidFill>
          <a:ln w="12700">
            <a:solidFill>
              <a:srgbClr val="FFFFFF">
                <a:alpha val="0"/>
              </a:srgbClr>
            </a:solidFill>
            <a:prstDash val="solid"/>
          </a:ln>
        </p:spPr>
      </p:sp>
      <p:sp>
        <p:nvSpPr>
          <p:cNvPr id="22" name="Text 20"/>
          <p:cNvSpPr txBox="1"/>
          <p:nvPr/>
        </p:nvSpPr>
        <p:spPr>
          <a:xfrm>
            <a:off x="7790688" y="3035808"/>
            <a:ext cx="3520440" cy="334264"/>
          </a:xfrm>
          <a:prstGeom prst="rect">
            <a:avLst/>
          </a:prstGeom>
          <a:noFill/>
          <a:ln/>
        </p:spPr>
        <p:txBody>
          <a:bodyPr wrap="square" lIns="0" tIns="0" rIns="0" bIns="0" rtlCol="0" anchor="t"/>
          <a:lstStyle/>
          <a:p>
            <a:pPr algn="l" indent="0" marL="0">
              <a:lnSpc>
                <a:spcPts val="1512"/>
              </a:lnSpc>
              <a:buNone/>
            </a:pPr>
            <a:r>
              <a:rPr lang="en-US" sz="1120" dirty="0">
                <a:solidFill>
                  <a:srgbClr val="1B1815"/>
                </a:solidFill>
                <a:latin typeface="Georgia" pitchFamily="34" charset="0"/>
                <a:ea typeface="Georgia" pitchFamily="34" charset="-122"/>
                <a:cs typeface="Georgia" pitchFamily="34" charset="-120"/>
              </a:rPr>
              <a:t>Institutions</a:t>
            </a:r>
            <a:endParaRPr lang="en-US" sz="1120" dirty="0"/>
          </a:p>
        </p:txBody>
      </p:sp>
      <p:sp>
        <p:nvSpPr>
          <p:cNvPr id="23" name="Text 21"/>
          <p:cNvSpPr txBox="1"/>
          <p:nvPr/>
        </p:nvSpPr>
        <p:spPr>
          <a:xfrm>
            <a:off x="7790688" y="3282696"/>
            <a:ext cx="3520440" cy="239522"/>
          </a:xfrm>
          <a:prstGeom prst="rect">
            <a:avLst/>
          </a:prstGeom>
          <a:noFill/>
          <a:ln/>
        </p:spPr>
        <p:txBody>
          <a:bodyPr wrap="square" lIns="0" tIns="0" rIns="0" bIns="0" rtlCol="0" anchor="t"/>
          <a:lstStyle/>
          <a:p>
            <a:pPr algn="l" indent="0" marL="0">
              <a:lnSpc>
                <a:spcPts val="1066"/>
              </a:lnSpc>
              <a:buNone/>
            </a:pPr>
            <a:r>
              <a:rPr lang="en-US" sz="820" dirty="0">
                <a:solidFill>
                  <a:srgbClr val="5B544A"/>
                </a:solidFill>
                <a:latin typeface="Calibri" pitchFamily="34" charset="0"/>
                <a:ea typeface="Calibri" pitchFamily="34" charset="-122"/>
                <a:cs typeface="Calibri" pitchFamily="34" charset="-120"/>
              </a:rPr>
              <a:t>school, health care, workplace, courts</a:t>
            </a:r>
            <a:endParaRPr lang="en-US" sz="820" dirty="0"/>
          </a:p>
        </p:txBody>
      </p:sp>
      <p:sp>
        <p:nvSpPr>
          <p:cNvPr id="24" name="Shape 22"/>
          <p:cNvSpPr/>
          <p:nvPr/>
        </p:nvSpPr>
        <p:spPr>
          <a:xfrm>
            <a:off x="6552791" y="3179902"/>
            <a:ext cx="1128169" cy="898322"/>
          </a:xfrm>
          <a:prstGeom prst="line">
            <a:avLst/>
          </a:prstGeom>
          <a:noFill/>
          <a:ln w="7620">
            <a:solidFill>
              <a:srgbClr val="D9CDB7"/>
            </a:solidFill>
            <a:prstDash val="solid"/>
            <a:headEnd type="none"/>
            <a:tailEnd type="none"/>
          </a:ln>
        </p:spPr>
      </p:sp>
      <p:sp>
        <p:nvSpPr>
          <p:cNvPr id="25" name="Shape 23"/>
          <p:cNvSpPr/>
          <p:nvPr/>
        </p:nvSpPr>
        <p:spPr>
          <a:xfrm>
            <a:off x="6475067" y="3147898"/>
            <a:ext cx="64008" cy="64008"/>
          </a:xfrm>
          <a:prstGeom prst="ellipse">
            <a:avLst/>
          </a:prstGeom>
          <a:solidFill>
            <a:srgbClr val="C2A05F"/>
          </a:solidFill>
          <a:ln w="12700">
            <a:solidFill>
              <a:srgbClr val="FFFFFF">
                <a:alpha val="0"/>
              </a:srgbClr>
            </a:solidFill>
            <a:prstDash val="solid"/>
          </a:ln>
        </p:spPr>
      </p:sp>
      <p:sp>
        <p:nvSpPr>
          <p:cNvPr id="26" name="Text 24"/>
          <p:cNvSpPr txBox="1"/>
          <p:nvPr/>
        </p:nvSpPr>
        <p:spPr>
          <a:xfrm>
            <a:off x="7790688" y="3877056"/>
            <a:ext cx="3520440" cy="334264"/>
          </a:xfrm>
          <a:prstGeom prst="rect">
            <a:avLst/>
          </a:prstGeom>
          <a:noFill/>
          <a:ln/>
        </p:spPr>
        <p:txBody>
          <a:bodyPr wrap="square" lIns="0" tIns="0" rIns="0" bIns="0" rtlCol="0" anchor="t"/>
          <a:lstStyle/>
          <a:p>
            <a:pPr algn="l" indent="0" marL="0">
              <a:lnSpc>
                <a:spcPts val="1512"/>
              </a:lnSpc>
              <a:buNone/>
            </a:pPr>
            <a:r>
              <a:rPr lang="en-US" sz="1120" dirty="0">
                <a:solidFill>
                  <a:srgbClr val="1B1815"/>
                </a:solidFill>
                <a:latin typeface="Georgia" pitchFamily="34" charset="0"/>
                <a:ea typeface="Georgia" pitchFamily="34" charset="-122"/>
                <a:cs typeface="Georgia" pitchFamily="34" charset="-120"/>
              </a:rPr>
              <a:t>Extended kin &amp; community</a:t>
            </a:r>
            <a:endParaRPr lang="en-US" sz="1120" dirty="0"/>
          </a:p>
        </p:txBody>
      </p:sp>
      <p:sp>
        <p:nvSpPr>
          <p:cNvPr id="27" name="Text 25"/>
          <p:cNvSpPr txBox="1"/>
          <p:nvPr/>
        </p:nvSpPr>
        <p:spPr>
          <a:xfrm>
            <a:off x="7790688" y="4123944"/>
            <a:ext cx="3520440" cy="239522"/>
          </a:xfrm>
          <a:prstGeom prst="rect">
            <a:avLst/>
          </a:prstGeom>
          <a:noFill/>
          <a:ln/>
        </p:spPr>
        <p:txBody>
          <a:bodyPr wrap="square" lIns="0" tIns="0" rIns="0" bIns="0" rtlCol="0" anchor="t"/>
          <a:lstStyle/>
          <a:p>
            <a:pPr algn="l" indent="0" marL="0">
              <a:lnSpc>
                <a:spcPts val="1066"/>
              </a:lnSpc>
              <a:buNone/>
            </a:pPr>
            <a:r>
              <a:rPr lang="en-US" sz="820" dirty="0">
                <a:solidFill>
                  <a:srgbClr val="5B544A"/>
                </a:solidFill>
                <a:latin typeface="Calibri" pitchFamily="34" charset="0"/>
                <a:ea typeface="Calibri" pitchFamily="34" charset="-122"/>
                <a:cs typeface="Calibri" pitchFamily="34" charset="-120"/>
              </a:rPr>
              <a:t>grandparents, kin networks, faith communities</a:t>
            </a:r>
            <a:endParaRPr lang="en-US" sz="820" dirty="0"/>
          </a:p>
        </p:txBody>
      </p:sp>
      <p:sp>
        <p:nvSpPr>
          <p:cNvPr id="28" name="Shape 26"/>
          <p:cNvSpPr/>
          <p:nvPr/>
        </p:nvSpPr>
        <p:spPr>
          <a:xfrm>
            <a:off x="5717863" y="3381244"/>
            <a:ext cx="1963097" cy="1538228"/>
          </a:xfrm>
          <a:prstGeom prst="line">
            <a:avLst/>
          </a:prstGeom>
          <a:noFill/>
          <a:ln w="7620">
            <a:solidFill>
              <a:srgbClr val="D9CDB7"/>
            </a:solidFill>
            <a:prstDash val="solid"/>
            <a:headEnd type="none"/>
            <a:tailEnd type="none"/>
          </a:ln>
        </p:spPr>
      </p:sp>
      <p:sp>
        <p:nvSpPr>
          <p:cNvPr id="29" name="Shape 27"/>
          <p:cNvSpPr/>
          <p:nvPr/>
        </p:nvSpPr>
        <p:spPr>
          <a:xfrm>
            <a:off x="5640139" y="3349240"/>
            <a:ext cx="64008" cy="64008"/>
          </a:xfrm>
          <a:prstGeom prst="ellipse">
            <a:avLst/>
          </a:prstGeom>
          <a:solidFill>
            <a:srgbClr val="C2A05F"/>
          </a:solidFill>
          <a:ln w="12700">
            <a:solidFill>
              <a:srgbClr val="FFFFFF">
                <a:alpha val="0"/>
              </a:srgbClr>
            </a:solidFill>
            <a:prstDash val="solid"/>
          </a:ln>
        </p:spPr>
      </p:sp>
      <p:sp>
        <p:nvSpPr>
          <p:cNvPr id="30" name="Text 28"/>
          <p:cNvSpPr txBox="1"/>
          <p:nvPr/>
        </p:nvSpPr>
        <p:spPr>
          <a:xfrm>
            <a:off x="7790688" y="4718304"/>
            <a:ext cx="3520440" cy="334264"/>
          </a:xfrm>
          <a:prstGeom prst="rect">
            <a:avLst/>
          </a:prstGeom>
          <a:noFill/>
          <a:ln/>
        </p:spPr>
        <p:txBody>
          <a:bodyPr wrap="square" lIns="0" tIns="0" rIns="0" bIns="0" rtlCol="0" anchor="t"/>
          <a:lstStyle/>
          <a:p>
            <a:pPr algn="l" indent="0" marL="0">
              <a:lnSpc>
                <a:spcPts val="1512"/>
              </a:lnSpc>
              <a:buNone/>
            </a:pPr>
            <a:r>
              <a:rPr lang="en-US" sz="1120" dirty="0">
                <a:solidFill>
                  <a:srgbClr val="1B1815"/>
                </a:solidFill>
                <a:latin typeface="Georgia" pitchFamily="34" charset="0"/>
                <a:ea typeface="Georgia" pitchFamily="34" charset="-122"/>
                <a:cs typeface="Georgia" pitchFamily="34" charset="-120"/>
              </a:rPr>
              <a:t>Family &amp; household</a:t>
            </a:r>
            <a:endParaRPr lang="en-US" sz="1120" dirty="0"/>
          </a:p>
        </p:txBody>
      </p:sp>
      <p:sp>
        <p:nvSpPr>
          <p:cNvPr id="31" name="Text 29"/>
          <p:cNvSpPr txBox="1"/>
          <p:nvPr/>
        </p:nvSpPr>
        <p:spPr>
          <a:xfrm>
            <a:off x="7790688" y="4965192"/>
            <a:ext cx="3520440" cy="239522"/>
          </a:xfrm>
          <a:prstGeom prst="rect">
            <a:avLst/>
          </a:prstGeom>
          <a:noFill/>
          <a:ln/>
        </p:spPr>
        <p:txBody>
          <a:bodyPr wrap="square" lIns="0" tIns="0" rIns="0" bIns="0" rtlCol="0" anchor="t"/>
          <a:lstStyle/>
          <a:p>
            <a:pPr algn="l" indent="0" marL="0">
              <a:lnSpc>
                <a:spcPts val="1066"/>
              </a:lnSpc>
              <a:buNone/>
            </a:pPr>
            <a:r>
              <a:rPr lang="en-US" sz="820" dirty="0">
                <a:solidFill>
                  <a:srgbClr val="5B544A"/>
                </a:solidFill>
                <a:latin typeface="Calibri" pitchFamily="34" charset="0"/>
                <a:ea typeface="Calibri" pitchFamily="34" charset="-122"/>
                <a:cs typeface="Calibri" pitchFamily="34" charset="-120"/>
              </a:rPr>
              <a:t>roles, rules, coalitions, routines</a:t>
            </a:r>
            <a:endParaRPr lang="en-US" sz="820" dirty="0"/>
          </a:p>
        </p:txBody>
      </p:sp>
      <p:sp>
        <p:nvSpPr>
          <p:cNvPr id="32" name="Shape 30"/>
          <p:cNvSpPr/>
          <p:nvPr/>
        </p:nvSpPr>
        <p:spPr>
          <a:xfrm>
            <a:off x="7790688" y="5486400"/>
            <a:ext cx="576072" cy="91"/>
          </a:xfrm>
          <a:prstGeom prst="line">
            <a:avLst/>
          </a:prstGeom>
          <a:noFill/>
          <a:ln w="13970">
            <a:solidFill>
              <a:srgbClr val="C2A05F"/>
            </a:solidFill>
            <a:prstDash val="solid"/>
            <a:headEnd type="none"/>
            <a:tailEnd type="none"/>
          </a:ln>
        </p:spPr>
      </p:sp>
      <p:sp>
        <p:nvSpPr>
          <p:cNvPr id="33" name="Text 31"/>
          <p:cNvSpPr txBox="1"/>
          <p:nvPr/>
        </p:nvSpPr>
        <p:spPr>
          <a:xfrm>
            <a:off x="8458200" y="5404104"/>
            <a:ext cx="2834640" cy="239522"/>
          </a:xfrm>
          <a:prstGeom prst="rect">
            <a:avLst/>
          </a:prstGeom>
          <a:noFill/>
          <a:ln/>
        </p:spPr>
        <p:txBody>
          <a:bodyPr wrap="square" lIns="0" tIns="0" rIns="0" bIns="0" rtlCol="0" anchor="t"/>
          <a:lstStyle/>
          <a:p>
            <a:pPr algn="l" indent="0" marL="0">
              <a:lnSpc>
                <a:spcPts val="1066"/>
              </a:lnSpc>
              <a:buNone/>
            </a:pPr>
            <a:r>
              <a:rPr lang="en-US" sz="820" i="1" dirty="0">
                <a:solidFill>
                  <a:srgbClr val="96733C"/>
                </a:solidFill>
                <a:latin typeface="Calibri" pitchFamily="34" charset="0"/>
                <a:ea typeface="Calibri" pitchFamily="34" charset="-122"/>
                <a:cs typeface="Calibri" pitchFamily="34" charset="-120"/>
              </a:rPr>
              <a:t>the relational unit of treatment</a:t>
            </a:r>
            <a:endParaRPr lang="en-US" sz="820" dirty="0"/>
          </a:p>
        </p:txBody>
      </p:sp>
      <p:sp>
        <p:nvSpPr>
          <p:cNvPr id="34" name="Text 32"/>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Adapted from Bronfenbrenner’s ecological model; family systems add the dimension of meaning.</a:t>
            </a:r>
            <a:endParaRPr lang="en-US" sz="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01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11</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referral that reframes the problem</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187854"/>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14-year-old boy is referred by his school for “defiance and falling grades”. His mother brings</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him alone. She says, “He is the problem — he won’t listen.” In the first session you learn that his</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father has worked away for a year, and that the boy now sleeps in his mother’s room.</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systemic epistemology</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relational unit</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presenting problem</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professional identity</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the presenting problem — and what might it be a</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solution to?</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Who is absent from the room, and what does their absence</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do?</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would you need to ask before forming a hypothesis?</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02 · PHASE I — FOUNDATIONS</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02</a:t>
            </a:r>
            <a:endParaRPr lang="en-US" sz="25000" dirty="0"/>
          </a:p>
        </p:txBody>
      </p:sp>
      <p:sp>
        <p:nvSpPr>
          <p:cNvPr id="4" name="Text 2"/>
          <p:cNvSpPr txBox="1"/>
          <p:nvPr/>
        </p:nvSpPr>
        <p:spPr>
          <a:xfrm>
            <a:off x="822960" y="1572768"/>
            <a:ext cx="7589520" cy="104013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Cybernetics and the Systemic Lens</a:t>
            </a:r>
            <a:endParaRPr lang="en-US" sz="3900" dirty="0"/>
          </a:p>
        </p:txBody>
      </p:sp>
      <p:sp>
        <p:nvSpPr>
          <p:cNvPr id="5" name="Shape 3"/>
          <p:cNvSpPr/>
          <p:nvPr/>
        </p:nvSpPr>
        <p:spPr>
          <a:xfrm>
            <a:off x="822960" y="231876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255651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2775966"/>
            <a:ext cx="7223760" cy="755904"/>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What kind of explanation does a system require — and what kind of cause is a</a:t>
            </a:r>
            <a:endParaRPr lang="en-US" sz="1550" dirty="0"/>
          </a:p>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pattern?</a:t>
            </a:r>
            <a:endParaRPr lang="en-US" sz="1550" dirty="0"/>
          </a:p>
        </p:txBody>
      </p:sp>
      <p:sp>
        <p:nvSpPr>
          <p:cNvPr id="8" name="Shape 6"/>
          <p:cNvSpPr/>
          <p:nvPr/>
        </p:nvSpPr>
        <p:spPr>
          <a:xfrm>
            <a:off x="822960" y="3645916"/>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379222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398424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From cause to loop</a:t>
            </a:r>
            <a:endParaRPr lang="en-US" sz="850" dirty="0"/>
          </a:p>
        </p:txBody>
      </p:sp>
      <p:sp>
        <p:nvSpPr>
          <p:cNvPr id="11" name="Text 9"/>
          <p:cNvSpPr txBox="1"/>
          <p:nvPr/>
        </p:nvSpPr>
        <p:spPr>
          <a:xfrm>
            <a:off x="3282696" y="379222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398424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sequence is the unit of analysis</a:t>
            </a:r>
            <a:endParaRPr lang="en-US" sz="850" dirty="0"/>
          </a:p>
        </p:txBody>
      </p:sp>
      <p:sp>
        <p:nvSpPr>
          <p:cNvPr id="13" name="Text 11"/>
          <p:cNvSpPr txBox="1"/>
          <p:nvPr/>
        </p:nvSpPr>
        <p:spPr>
          <a:xfrm>
            <a:off x="5742432" y="379222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398424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Punctuating a familiar argument</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Explain negative and positive feedback in family</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interaction.</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Distinguish first-order from second-order</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cybernetics.</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Use punctuation to reframe a presenting complaint.</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feedback · homeostasis · circular causality · punctuation · second-order cybernetics</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Watzlawick, Beavin &amp; Jackson (1967), ch. 1–2 · Bateson (1972), “Cybernetics of self”</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59992" y="5696712"/>
            <a:ext cx="128016" cy="128016"/>
          </a:xfrm>
          <a:prstGeom prst="ellipse">
            <a:avLst/>
          </a:prstGeom>
          <a:solidFill>
            <a:srgbClr val="C2A05F"/>
          </a:solidFill>
          <a:ln w="8890">
            <a:solidFill>
              <a:srgbClr val="E7D3A9"/>
            </a:solidFill>
            <a:prstDash val="solid"/>
          </a:ln>
        </p:spPr>
      </p:sp>
      <p:sp>
        <p:nvSpPr>
          <p:cNvPr id="29" name="Shape 27"/>
          <p:cNvSpPr/>
          <p:nvPr/>
        </p:nvSpPr>
        <p:spPr>
          <a:xfrm>
            <a:off x="2195779" y="5731459"/>
            <a:ext cx="58522" cy="58522"/>
          </a:xfrm>
          <a:prstGeom prst="ellipse">
            <a:avLst/>
          </a:prstGeom>
          <a:solidFill>
            <a:srgbClr val="1E1913"/>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1E1913"/>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02 · LECTURE 02</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13</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From cause to loop</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Cybernetics gave family therapy its grammar: systems are defined by information fed back into them, not by a single cause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acting from outside.</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FEEDBACK</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Negative feedback maintains a set point; positive feedback amplifies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deviation. Both are orderly — and both can hold a symptom in place.</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 thermostat corrects deviation</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An escalating quarrel amplifies it</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 symptom can stabilise a system and escalate a conflict</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FIRST AND SECOND ORDER</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First-order cybernetics assumes an observer outside the system.</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Second-order cybernetics places the observer inside: the therapist is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part of what they describe.</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Objectivity in parentheses</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therapist’s presence is data</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Hypotheses are interventions</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PUNCTUATION</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Members punctuate the same sequence differently: “I shout because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you withdraw” / “I withdraw because you shout”. Both are true;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neither is the cause.</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Every punctuation implies a culprit</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Reframing changes the available next move</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therapist punctuates too</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MATURANA &amp; VARELA</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Objectivity in parentheses</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We cannot observe a system without influencing it. The therapist’s presence is part of the system under</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observation.</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Watzlawick, Beavin &amp; Jackson (1967);</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Bateson (1972).</a:t>
            </a:r>
            <a:endParaRPr lang="en-US" sz="6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02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14</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The sequence is the unit of analysis</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circular map replaces the question “who started it?” with a more useful question: “what keeps it going?”</a:t>
            </a:r>
            <a:endParaRPr lang="en-US" sz="1060" dirty="0"/>
          </a:p>
        </p:txBody>
      </p:sp>
      <p:sp>
        <p:nvSpPr>
          <p:cNvPr id="10" name="Shape 8"/>
          <p:cNvSpPr/>
          <p:nvPr/>
        </p:nvSpPr>
        <p:spPr>
          <a:xfrm>
            <a:off x="1755648" y="2441448"/>
            <a:ext cx="4937760" cy="2487168"/>
          </a:xfrm>
          <a:prstGeom prst="ellipse">
            <a:avLst/>
          </a:prstGeom>
          <a:solidFill>
            <a:srgbClr val="FFFFFF">
              <a:alpha val="0"/>
            </a:srgbClr>
          </a:solidFill>
          <a:ln w="11430">
            <a:solidFill>
              <a:srgbClr val="C2A05F"/>
            </a:solidFill>
            <a:prstDash val="solid"/>
          </a:ln>
        </p:spPr>
      </p:sp>
      <p:sp>
        <p:nvSpPr>
          <p:cNvPr id="11" name="Shape 9"/>
          <p:cNvSpPr/>
          <p:nvPr/>
        </p:nvSpPr>
        <p:spPr>
          <a:xfrm flipH="1">
            <a:off x="5790627" y="4440974"/>
            <a:ext cx="424658" cy="213902"/>
          </a:xfrm>
          <a:prstGeom prst="line">
            <a:avLst/>
          </a:prstGeom>
          <a:noFill/>
          <a:ln w="11430">
            <a:solidFill>
              <a:srgbClr val="96733C"/>
            </a:solidFill>
            <a:prstDash val="solid"/>
            <a:headEnd type="none"/>
            <a:tailEnd type="triangle"/>
          </a:ln>
        </p:spPr>
      </p:sp>
      <p:sp>
        <p:nvSpPr>
          <p:cNvPr id="12" name="Shape 10"/>
          <p:cNvSpPr/>
          <p:nvPr/>
        </p:nvSpPr>
        <p:spPr>
          <a:xfrm flipH="1" flipV="1">
            <a:off x="2299103" y="4473882"/>
            <a:ext cx="424658" cy="213902"/>
          </a:xfrm>
          <a:prstGeom prst="line">
            <a:avLst/>
          </a:prstGeom>
          <a:noFill/>
          <a:ln w="11430">
            <a:solidFill>
              <a:srgbClr val="96733C"/>
            </a:solidFill>
            <a:prstDash val="solid"/>
            <a:headEnd type="none"/>
            <a:tailEnd type="triangle"/>
          </a:ln>
        </p:spPr>
      </p:sp>
      <p:sp>
        <p:nvSpPr>
          <p:cNvPr id="13" name="Shape 11"/>
          <p:cNvSpPr/>
          <p:nvPr/>
        </p:nvSpPr>
        <p:spPr>
          <a:xfrm flipV="1">
            <a:off x="2233771" y="2715188"/>
            <a:ext cx="424658" cy="213902"/>
          </a:xfrm>
          <a:prstGeom prst="line">
            <a:avLst/>
          </a:prstGeom>
          <a:noFill/>
          <a:ln w="11430">
            <a:solidFill>
              <a:srgbClr val="96733C"/>
            </a:solidFill>
            <a:prstDash val="solid"/>
            <a:headEnd type="none"/>
            <a:tailEnd type="triangle"/>
          </a:ln>
        </p:spPr>
      </p:sp>
      <p:sp>
        <p:nvSpPr>
          <p:cNvPr id="14" name="Shape 12"/>
          <p:cNvSpPr/>
          <p:nvPr/>
        </p:nvSpPr>
        <p:spPr>
          <a:xfrm>
            <a:off x="5725295" y="2682280"/>
            <a:ext cx="424658" cy="213902"/>
          </a:xfrm>
          <a:prstGeom prst="line">
            <a:avLst/>
          </a:prstGeom>
          <a:noFill/>
          <a:ln w="11430">
            <a:solidFill>
              <a:srgbClr val="96733C"/>
            </a:solidFill>
            <a:prstDash val="solid"/>
            <a:headEnd type="none"/>
            <a:tailEnd type="triangle"/>
          </a:ln>
        </p:spPr>
      </p:sp>
      <p:sp>
        <p:nvSpPr>
          <p:cNvPr id="15" name="Shape 13"/>
          <p:cNvSpPr/>
          <p:nvPr/>
        </p:nvSpPr>
        <p:spPr>
          <a:xfrm>
            <a:off x="3191256" y="2029968"/>
            <a:ext cx="2066544" cy="822960"/>
          </a:xfrm>
          <a:prstGeom prst="roundRect">
            <a:avLst>
              <a:gd name="adj" fmla="val 5556"/>
            </a:avLst>
          </a:prstGeom>
          <a:solidFill>
            <a:srgbClr val="FBF7EF"/>
          </a:solidFill>
          <a:ln w="8890">
            <a:solidFill>
              <a:srgbClr val="D9CDB7"/>
            </a:solidFill>
            <a:prstDash val="solid"/>
          </a:ln>
        </p:spPr>
      </p:sp>
      <p:sp>
        <p:nvSpPr>
          <p:cNvPr id="16" name="Text 14"/>
          <p:cNvSpPr txBox="1"/>
          <p:nvPr/>
        </p:nvSpPr>
        <p:spPr>
          <a:xfrm>
            <a:off x="3282696" y="2157984"/>
            <a:ext cx="1883664" cy="334264"/>
          </a:xfrm>
          <a:prstGeom prst="rect">
            <a:avLst/>
          </a:prstGeom>
          <a:noFill/>
          <a:ln/>
        </p:spPr>
        <p:txBody>
          <a:bodyPr wrap="square" lIns="0" tIns="0" rIns="0" bIns="0" rtlCol="0" anchor="t"/>
          <a:lstStyle/>
          <a:p>
            <a:pPr algn="ctr" indent="0" marL="0">
              <a:lnSpc>
                <a:spcPts val="1512"/>
              </a:lnSpc>
              <a:buNone/>
            </a:pPr>
            <a:r>
              <a:rPr lang="en-US" sz="1120" dirty="0">
                <a:solidFill>
                  <a:srgbClr val="1B1815"/>
                </a:solidFill>
                <a:latin typeface="Georgia" pitchFamily="34" charset="0"/>
                <a:ea typeface="Georgia" pitchFamily="34" charset="-122"/>
                <a:cs typeface="Georgia" pitchFamily="34" charset="-120"/>
              </a:rPr>
              <a:t>Presenting concern</a:t>
            </a:r>
            <a:endParaRPr lang="en-US" sz="1120" dirty="0"/>
          </a:p>
        </p:txBody>
      </p:sp>
      <p:sp>
        <p:nvSpPr>
          <p:cNvPr id="17" name="Text 15"/>
          <p:cNvSpPr txBox="1"/>
          <p:nvPr/>
        </p:nvSpPr>
        <p:spPr>
          <a:xfrm>
            <a:off x="3282696" y="2468880"/>
            <a:ext cx="1883664" cy="224917"/>
          </a:xfrm>
          <a:prstGeom prst="rect">
            <a:avLst/>
          </a:prstGeom>
          <a:noFill/>
          <a:ln/>
        </p:spPr>
        <p:txBody>
          <a:bodyPr wrap="square" lIns="0" tIns="0" rIns="0" bIns="0" rtlCol="0" anchor="t"/>
          <a:lstStyle/>
          <a:p>
            <a:pPr algn="ctr" indent="0" marL="0">
              <a:lnSpc>
                <a:spcPts val="1001"/>
              </a:lnSpc>
              <a:buNone/>
            </a:pPr>
            <a:r>
              <a:rPr lang="en-US" sz="770" dirty="0">
                <a:solidFill>
                  <a:srgbClr val="5B544A"/>
                </a:solidFill>
                <a:latin typeface="Calibri" pitchFamily="34" charset="0"/>
                <a:ea typeface="Calibri" pitchFamily="34" charset="-122"/>
                <a:cs typeface="Calibri" pitchFamily="34" charset="-120"/>
              </a:rPr>
              <a:t>a son withdraws, a daughter rebels</a:t>
            </a:r>
            <a:endParaRPr lang="en-US" sz="770" dirty="0"/>
          </a:p>
        </p:txBody>
      </p:sp>
      <p:sp>
        <p:nvSpPr>
          <p:cNvPr id="18" name="Shape 16"/>
          <p:cNvSpPr/>
          <p:nvPr/>
        </p:nvSpPr>
        <p:spPr>
          <a:xfrm>
            <a:off x="5660136" y="3273552"/>
            <a:ext cx="2066544" cy="822960"/>
          </a:xfrm>
          <a:prstGeom prst="roundRect">
            <a:avLst>
              <a:gd name="adj" fmla="val 5556"/>
            </a:avLst>
          </a:prstGeom>
          <a:solidFill>
            <a:srgbClr val="FBF7EF"/>
          </a:solidFill>
          <a:ln w="8890">
            <a:solidFill>
              <a:srgbClr val="D9CDB7"/>
            </a:solidFill>
            <a:prstDash val="solid"/>
          </a:ln>
        </p:spPr>
      </p:sp>
      <p:sp>
        <p:nvSpPr>
          <p:cNvPr id="19" name="Text 17"/>
          <p:cNvSpPr txBox="1"/>
          <p:nvPr/>
        </p:nvSpPr>
        <p:spPr>
          <a:xfrm>
            <a:off x="5751576" y="3401568"/>
            <a:ext cx="1883664" cy="334264"/>
          </a:xfrm>
          <a:prstGeom prst="rect">
            <a:avLst/>
          </a:prstGeom>
          <a:noFill/>
          <a:ln/>
        </p:spPr>
        <p:txBody>
          <a:bodyPr wrap="square" lIns="0" tIns="0" rIns="0" bIns="0" rtlCol="0" anchor="t"/>
          <a:lstStyle/>
          <a:p>
            <a:pPr algn="ctr" indent="0" marL="0">
              <a:lnSpc>
                <a:spcPts val="1512"/>
              </a:lnSpc>
              <a:buNone/>
            </a:pPr>
            <a:r>
              <a:rPr lang="en-US" sz="1120" dirty="0">
                <a:solidFill>
                  <a:srgbClr val="1B1815"/>
                </a:solidFill>
                <a:latin typeface="Georgia" pitchFamily="34" charset="0"/>
                <a:ea typeface="Georgia" pitchFamily="34" charset="-122"/>
                <a:cs typeface="Georgia" pitchFamily="34" charset="-120"/>
              </a:rPr>
              <a:t>Family response</a:t>
            </a:r>
            <a:endParaRPr lang="en-US" sz="1120" dirty="0"/>
          </a:p>
        </p:txBody>
      </p:sp>
      <p:sp>
        <p:nvSpPr>
          <p:cNvPr id="20" name="Text 18"/>
          <p:cNvSpPr txBox="1"/>
          <p:nvPr/>
        </p:nvSpPr>
        <p:spPr>
          <a:xfrm>
            <a:off x="5751576" y="3712464"/>
            <a:ext cx="1883664" cy="224917"/>
          </a:xfrm>
          <a:prstGeom prst="rect">
            <a:avLst/>
          </a:prstGeom>
          <a:noFill/>
          <a:ln/>
        </p:spPr>
        <p:txBody>
          <a:bodyPr wrap="square" lIns="0" tIns="0" rIns="0" bIns="0" rtlCol="0" anchor="t"/>
          <a:lstStyle/>
          <a:p>
            <a:pPr algn="ctr" indent="0" marL="0">
              <a:lnSpc>
                <a:spcPts val="1001"/>
              </a:lnSpc>
              <a:buNone/>
            </a:pPr>
            <a:r>
              <a:rPr lang="en-US" sz="770" dirty="0">
                <a:solidFill>
                  <a:srgbClr val="5B544A"/>
                </a:solidFill>
                <a:latin typeface="Calibri" pitchFamily="34" charset="0"/>
                <a:ea typeface="Calibri" pitchFamily="34" charset="-122"/>
                <a:cs typeface="Calibri" pitchFamily="34" charset="-120"/>
              </a:rPr>
              <a:t>worry, monitoring, criticism</a:t>
            </a:r>
            <a:endParaRPr lang="en-US" sz="770" dirty="0"/>
          </a:p>
        </p:txBody>
      </p:sp>
      <p:sp>
        <p:nvSpPr>
          <p:cNvPr id="21" name="Shape 19"/>
          <p:cNvSpPr/>
          <p:nvPr/>
        </p:nvSpPr>
        <p:spPr>
          <a:xfrm>
            <a:off x="3191256" y="4517136"/>
            <a:ext cx="2066544" cy="822960"/>
          </a:xfrm>
          <a:prstGeom prst="roundRect">
            <a:avLst>
              <a:gd name="adj" fmla="val 5556"/>
            </a:avLst>
          </a:prstGeom>
          <a:solidFill>
            <a:srgbClr val="FBF7EF"/>
          </a:solidFill>
          <a:ln w="8890">
            <a:solidFill>
              <a:srgbClr val="D9CDB7"/>
            </a:solidFill>
            <a:prstDash val="solid"/>
          </a:ln>
        </p:spPr>
      </p:sp>
      <p:sp>
        <p:nvSpPr>
          <p:cNvPr id="22" name="Text 20"/>
          <p:cNvSpPr txBox="1"/>
          <p:nvPr/>
        </p:nvSpPr>
        <p:spPr>
          <a:xfrm>
            <a:off x="3282696" y="4645152"/>
            <a:ext cx="1883664" cy="334264"/>
          </a:xfrm>
          <a:prstGeom prst="rect">
            <a:avLst/>
          </a:prstGeom>
          <a:noFill/>
          <a:ln/>
        </p:spPr>
        <p:txBody>
          <a:bodyPr wrap="square" lIns="0" tIns="0" rIns="0" bIns="0" rtlCol="0" anchor="t"/>
          <a:lstStyle/>
          <a:p>
            <a:pPr algn="ctr" indent="0" marL="0">
              <a:lnSpc>
                <a:spcPts val="1512"/>
              </a:lnSpc>
              <a:buNone/>
            </a:pPr>
            <a:r>
              <a:rPr lang="en-US" sz="1120" dirty="0">
                <a:solidFill>
                  <a:srgbClr val="1B1815"/>
                </a:solidFill>
                <a:latin typeface="Georgia" pitchFamily="34" charset="0"/>
                <a:ea typeface="Georgia" pitchFamily="34" charset="-122"/>
                <a:cs typeface="Georgia" pitchFamily="34" charset="-120"/>
              </a:rPr>
              <a:t>Escalating meaning</a:t>
            </a:r>
            <a:endParaRPr lang="en-US" sz="1120" dirty="0"/>
          </a:p>
        </p:txBody>
      </p:sp>
      <p:sp>
        <p:nvSpPr>
          <p:cNvPr id="23" name="Text 21"/>
          <p:cNvSpPr txBox="1"/>
          <p:nvPr/>
        </p:nvSpPr>
        <p:spPr>
          <a:xfrm>
            <a:off x="3282696" y="4956048"/>
            <a:ext cx="1883664" cy="224917"/>
          </a:xfrm>
          <a:prstGeom prst="rect">
            <a:avLst/>
          </a:prstGeom>
          <a:noFill/>
          <a:ln/>
        </p:spPr>
        <p:txBody>
          <a:bodyPr wrap="square" lIns="0" tIns="0" rIns="0" bIns="0" rtlCol="0" anchor="t"/>
          <a:lstStyle/>
          <a:p>
            <a:pPr algn="ctr" indent="0" marL="0">
              <a:lnSpc>
                <a:spcPts val="1001"/>
              </a:lnSpc>
              <a:buNone/>
            </a:pPr>
            <a:r>
              <a:rPr lang="en-US" sz="770" dirty="0">
                <a:solidFill>
                  <a:srgbClr val="5B544A"/>
                </a:solidFill>
                <a:latin typeface="Calibri" pitchFamily="34" charset="0"/>
                <a:ea typeface="Calibri" pitchFamily="34" charset="-122"/>
                <a:cs typeface="Calibri" pitchFamily="34" charset="-120"/>
              </a:rPr>
              <a:t>“he is defiant” · “she is cold”</a:t>
            </a:r>
            <a:endParaRPr lang="en-US" sz="770" dirty="0"/>
          </a:p>
        </p:txBody>
      </p:sp>
      <p:sp>
        <p:nvSpPr>
          <p:cNvPr id="24" name="Shape 22"/>
          <p:cNvSpPr/>
          <p:nvPr/>
        </p:nvSpPr>
        <p:spPr>
          <a:xfrm>
            <a:off x="722376" y="3273552"/>
            <a:ext cx="2066544" cy="822960"/>
          </a:xfrm>
          <a:prstGeom prst="roundRect">
            <a:avLst>
              <a:gd name="adj" fmla="val 5556"/>
            </a:avLst>
          </a:prstGeom>
          <a:solidFill>
            <a:srgbClr val="FBF7EF"/>
          </a:solidFill>
          <a:ln w="8890">
            <a:solidFill>
              <a:srgbClr val="D9CDB7"/>
            </a:solidFill>
            <a:prstDash val="solid"/>
          </a:ln>
        </p:spPr>
      </p:sp>
      <p:sp>
        <p:nvSpPr>
          <p:cNvPr id="25" name="Text 23"/>
          <p:cNvSpPr txBox="1"/>
          <p:nvPr/>
        </p:nvSpPr>
        <p:spPr>
          <a:xfrm>
            <a:off x="813816" y="3401568"/>
            <a:ext cx="1883664" cy="334264"/>
          </a:xfrm>
          <a:prstGeom prst="rect">
            <a:avLst/>
          </a:prstGeom>
          <a:noFill/>
          <a:ln/>
        </p:spPr>
        <p:txBody>
          <a:bodyPr wrap="square" lIns="0" tIns="0" rIns="0" bIns="0" rtlCol="0" anchor="t"/>
          <a:lstStyle/>
          <a:p>
            <a:pPr algn="ctr" indent="0" marL="0">
              <a:lnSpc>
                <a:spcPts val="1512"/>
              </a:lnSpc>
              <a:buNone/>
            </a:pPr>
            <a:r>
              <a:rPr lang="en-US" sz="1120" dirty="0">
                <a:solidFill>
                  <a:srgbClr val="1B1815"/>
                </a:solidFill>
                <a:latin typeface="Georgia" pitchFamily="34" charset="0"/>
                <a:ea typeface="Georgia" pitchFamily="34" charset="-122"/>
                <a:cs typeface="Georgia" pitchFamily="34" charset="-120"/>
              </a:rPr>
              <a:t>Attempted solution</a:t>
            </a:r>
            <a:endParaRPr lang="en-US" sz="1120" dirty="0"/>
          </a:p>
        </p:txBody>
      </p:sp>
      <p:sp>
        <p:nvSpPr>
          <p:cNvPr id="26" name="Text 24"/>
          <p:cNvSpPr txBox="1"/>
          <p:nvPr/>
        </p:nvSpPr>
        <p:spPr>
          <a:xfrm>
            <a:off x="813816" y="3712464"/>
            <a:ext cx="1883664" cy="224917"/>
          </a:xfrm>
          <a:prstGeom prst="rect">
            <a:avLst/>
          </a:prstGeom>
          <a:noFill/>
          <a:ln/>
        </p:spPr>
        <p:txBody>
          <a:bodyPr wrap="square" lIns="0" tIns="0" rIns="0" bIns="0" rtlCol="0" anchor="t"/>
          <a:lstStyle/>
          <a:p>
            <a:pPr algn="ctr" indent="0" marL="0">
              <a:lnSpc>
                <a:spcPts val="1001"/>
              </a:lnSpc>
              <a:buNone/>
            </a:pPr>
            <a:r>
              <a:rPr lang="en-US" sz="770" dirty="0">
                <a:solidFill>
                  <a:srgbClr val="5B544A"/>
                </a:solidFill>
                <a:latin typeface="Calibri" pitchFamily="34" charset="0"/>
                <a:ea typeface="Calibri" pitchFamily="34" charset="-122"/>
                <a:cs typeface="Calibri" pitchFamily="34" charset="-120"/>
              </a:rPr>
              <a:t>more of the same — firmer, louder</a:t>
            </a:r>
            <a:endParaRPr lang="en-US" sz="770" dirty="0"/>
          </a:p>
        </p:txBody>
      </p:sp>
      <p:sp>
        <p:nvSpPr>
          <p:cNvPr id="27" name="Text 25"/>
          <p:cNvSpPr txBox="1"/>
          <p:nvPr/>
        </p:nvSpPr>
        <p:spPr>
          <a:xfrm>
            <a:off x="3264408" y="3465576"/>
            <a:ext cx="1920240" cy="214884"/>
          </a:xfrm>
          <a:prstGeom prst="rect">
            <a:avLst/>
          </a:prstGeom>
          <a:noFill/>
          <a:ln/>
        </p:spPr>
        <p:txBody>
          <a:bodyPr wrap="square" lIns="0" tIns="0" rIns="0" bIns="0" rtlCol="0" anchor="t"/>
          <a:lstStyle/>
          <a:p>
            <a:pPr algn="ctr" indent="0" marL="0">
              <a:lnSpc>
                <a:spcPts val="972"/>
              </a:lnSpc>
              <a:buNone/>
            </a:pPr>
            <a:r>
              <a:rPr lang="en-US" sz="720" b="1" spc="190" kern="0" dirty="0">
                <a:solidFill>
                  <a:srgbClr val="96733C"/>
                </a:solidFill>
                <a:latin typeface="Calibri" pitchFamily="34" charset="0"/>
                <a:ea typeface="Calibri" pitchFamily="34" charset="-122"/>
                <a:cs typeface="Calibri" pitchFamily="34" charset="-120"/>
              </a:rPr>
              <a:t>CIRCULAR CAUSALITY</a:t>
            </a:r>
            <a:endParaRPr lang="en-US" sz="720" dirty="0"/>
          </a:p>
        </p:txBody>
      </p:sp>
      <p:sp>
        <p:nvSpPr>
          <p:cNvPr id="28" name="Text 26"/>
          <p:cNvSpPr txBox="1"/>
          <p:nvPr/>
        </p:nvSpPr>
        <p:spPr>
          <a:xfrm>
            <a:off x="3310128" y="3703320"/>
            <a:ext cx="1828800" cy="374904"/>
          </a:xfrm>
          <a:prstGeom prst="rect">
            <a:avLst/>
          </a:prstGeom>
          <a:noFill/>
          <a:ln/>
        </p:spPr>
        <p:txBody>
          <a:bodyPr wrap="square" lIns="0" tIns="0" rIns="0" bIns="0" rtlCol="0" anchor="t"/>
          <a:lstStyle/>
          <a:p>
            <a:pPr algn="ctr" indent="0" marL="0">
              <a:lnSpc>
                <a:spcPts val="1066"/>
              </a:lnSpc>
              <a:buNone/>
            </a:pPr>
            <a:r>
              <a:rPr lang="en-US" sz="820" i="1" dirty="0">
                <a:solidFill>
                  <a:srgbClr val="5B544A"/>
                </a:solidFill>
                <a:latin typeface="Calibri" pitchFamily="34" charset="0"/>
                <a:ea typeface="Calibri" pitchFamily="34" charset="-122"/>
                <a:cs typeface="Calibri" pitchFamily="34" charset="-120"/>
              </a:rPr>
              <a:t>The sequence — not the person — is the</a:t>
            </a:r>
            <a:endParaRPr lang="en-US" sz="820" dirty="0"/>
          </a:p>
          <a:p>
            <a:pPr algn="ctr" indent="0" marL="0">
              <a:lnSpc>
                <a:spcPts val="1066"/>
              </a:lnSpc>
              <a:buNone/>
            </a:pPr>
            <a:r>
              <a:rPr lang="en-US" sz="820" i="1" dirty="0">
                <a:solidFill>
                  <a:srgbClr val="5B544A"/>
                </a:solidFill>
                <a:latin typeface="Calibri" pitchFamily="34" charset="0"/>
                <a:ea typeface="Calibri" pitchFamily="34" charset="-122"/>
                <a:cs typeface="Calibri" pitchFamily="34" charset="-120"/>
              </a:rPr>
              <a:t>unit of analysis.</a:t>
            </a:r>
            <a:endParaRPr lang="en-US" sz="820" dirty="0"/>
          </a:p>
        </p:txBody>
      </p:sp>
      <p:sp>
        <p:nvSpPr>
          <p:cNvPr id="29" name="Text 27"/>
          <p:cNvSpPr txBox="1"/>
          <p:nvPr/>
        </p:nvSpPr>
        <p:spPr>
          <a:xfrm>
            <a:off x="8458200" y="2267712"/>
            <a:ext cx="2926080" cy="387985"/>
          </a:xfrm>
          <a:prstGeom prst="rect">
            <a:avLst/>
          </a:prstGeom>
          <a:noFill/>
          <a:ln/>
        </p:spPr>
        <p:txBody>
          <a:bodyPr wrap="square" lIns="0" tIns="0" rIns="0" bIns="0" rtlCol="0" anchor="t"/>
          <a:lstStyle/>
          <a:p>
            <a:pPr algn="l" indent="0" marL="0">
              <a:lnSpc>
                <a:spcPts val="1755"/>
              </a:lnSpc>
              <a:buNone/>
            </a:pPr>
            <a:r>
              <a:rPr lang="en-US" sz="1300" dirty="0">
                <a:solidFill>
                  <a:srgbClr val="1B1815"/>
                </a:solidFill>
                <a:latin typeface="Georgia" pitchFamily="34" charset="0"/>
                <a:ea typeface="Georgia" pitchFamily="34" charset="-122"/>
                <a:cs typeface="Georgia" pitchFamily="34" charset="-120"/>
              </a:rPr>
              <a:t>Punctuation</a:t>
            </a:r>
            <a:endParaRPr lang="en-US" sz="1300" dirty="0"/>
          </a:p>
        </p:txBody>
      </p:sp>
      <p:sp>
        <p:nvSpPr>
          <p:cNvPr id="30" name="Text 28"/>
          <p:cNvSpPr txBox="1"/>
          <p:nvPr/>
        </p:nvSpPr>
        <p:spPr>
          <a:xfrm>
            <a:off x="8458200" y="2596896"/>
            <a:ext cx="2926080" cy="563944"/>
          </a:xfrm>
          <a:prstGeom prst="rect">
            <a:avLst/>
          </a:prstGeom>
          <a:noFill/>
          <a:ln/>
        </p:spPr>
        <p:txBody>
          <a:bodyPr wrap="square" lIns="0" tIns="0" rIns="0" bIns="0" rtlCol="0" anchor="t"/>
          <a:lstStyle/>
          <a:p>
            <a:pPr algn="l" indent="0" marL="0">
              <a:lnSpc>
                <a:spcPts val="1204"/>
              </a:lnSpc>
              <a:buNone/>
            </a:pPr>
            <a:r>
              <a:rPr lang="en-US" sz="830" dirty="0">
                <a:solidFill>
                  <a:srgbClr val="5B544A"/>
                </a:solidFill>
                <a:latin typeface="Calibri" pitchFamily="34" charset="0"/>
                <a:ea typeface="Calibri" pitchFamily="34" charset="-122"/>
                <a:cs typeface="Calibri" pitchFamily="34" charset="-120"/>
              </a:rPr>
              <a:t>Each member sees their own response as reasonable and the</a:t>
            </a:r>
            <a:endParaRPr lang="en-US" sz="830" dirty="0"/>
          </a:p>
          <a:p>
            <a:pPr algn="l" indent="0" marL="0">
              <a:lnSpc>
                <a:spcPts val="1204"/>
              </a:lnSpc>
              <a:buNone/>
            </a:pPr>
            <a:r>
              <a:rPr lang="en-US" sz="830" dirty="0">
                <a:solidFill>
                  <a:srgbClr val="5B544A"/>
                </a:solidFill>
                <a:latin typeface="Calibri" pitchFamily="34" charset="0"/>
                <a:ea typeface="Calibri" pitchFamily="34" charset="-122"/>
                <a:cs typeface="Calibri" pitchFamily="34" charset="-120"/>
              </a:rPr>
              <a:t>other’s as the cause. The therapist’s first move is to punctuate the</a:t>
            </a:r>
            <a:endParaRPr lang="en-US" sz="830" dirty="0"/>
          </a:p>
          <a:p>
            <a:pPr algn="l" indent="0" marL="0">
              <a:lnSpc>
                <a:spcPts val="1204"/>
              </a:lnSpc>
              <a:buNone/>
            </a:pPr>
            <a:r>
              <a:rPr lang="en-US" sz="830" dirty="0">
                <a:solidFill>
                  <a:srgbClr val="5B544A"/>
                </a:solidFill>
                <a:latin typeface="Calibri" pitchFamily="34" charset="0"/>
                <a:ea typeface="Calibri" pitchFamily="34" charset="-122"/>
                <a:cs typeface="Calibri" pitchFamily="34" charset="-120"/>
              </a:rPr>
              <a:t>sequence, not to assign blame.</a:t>
            </a:r>
            <a:endParaRPr lang="en-US" sz="830" dirty="0"/>
          </a:p>
        </p:txBody>
      </p:sp>
      <p:sp>
        <p:nvSpPr>
          <p:cNvPr id="31" name="Shape 29"/>
          <p:cNvSpPr/>
          <p:nvPr/>
        </p:nvSpPr>
        <p:spPr>
          <a:xfrm>
            <a:off x="8458200" y="3968496"/>
            <a:ext cx="2194560" cy="91"/>
          </a:xfrm>
          <a:prstGeom prst="line">
            <a:avLst/>
          </a:prstGeom>
          <a:noFill/>
          <a:ln w="8890">
            <a:solidFill>
              <a:srgbClr val="D9CDB7"/>
            </a:solidFill>
            <a:prstDash val="solid"/>
            <a:headEnd type="none"/>
            <a:tailEnd type="none"/>
          </a:ln>
        </p:spPr>
      </p:sp>
      <p:sp>
        <p:nvSpPr>
          <p:cNvPr id="32" name="Text 30"/>
          <p:cNvSpPr txBox="1"/>
          <p:nvPr/>
        </p:nvSpPr>
        <p:spPr>
          <a:xfrm>
            <a:off x="8458200" y="4114800"/>
            <a:ext cx="2926080" cy="387985"/>
          </a:xfrm>
          <a:prstGeom prst="rect">
            <a:avLst/>
          </a:prstGeom>
          <a:noFill/>
          <a:ln/>
        </p:spPr>
        <p:txBody>
          <a:bodyPr wrap="square" lIns="0" tIns="0" rIns="0" bIns="0" rtlCol="0" anchor="t"/>
          <a:lstStyle/>
          <a:p>
            <a:pPr algn="l" indent="0" marL="0">
              <a:lnSpc>
                <a:spcPts val="1755"/>
              </a:lnSpc>
              <a:buNone/>
            </a:pPr>
            <a:r>
              <a:rPr lang="en-US" sz="1300" dirty="0">
                <a:solidFill>
                  <a:srgbClr val="1B1815"/>
                </a:solidFill>
                <a:latin typeface="Georgia" pitchFamily="34" charset="0"/>
                <a:ea typeface="Georgia" pitchFamily="34" charset="-122"/>
                <a:cs typeface="Georgia" pitchFamily="34" charset="-120"/>
              </a:rPr>
              <a:t>Clinical implication</a:t>
            </a:r>
            <a:endParaRPr lang="en-US" sz="1300" dirty="0"/>
          </a:p>
        </p:txBody>
      </p:sp>
      <p:sp>
        <p:nvSpPr>
          <p:cNvPr id="33" name="Text 31"/>
          <p:cNvSpPr txBox="1"/>
          <p:nvPr/>
        </p:nvSpPr>
        <p:spPr>
          <a:xfrm>
            <a:off x="8458200" y="4443984"/>
            <a:ext cx="2926080" cy="411099"/>
          </a:xfrm>
          <a:prstGeom prst="rect">
            <a:avLst/>
          </a:prstGeom>
          <a:noFill/>
          <a:ln/>
        </p:spPr>
        <p:txBody>
          <a:bodyPr wrap="square" lIns="0" tIns="0" rIns="0" bIns="0" rtlCol="0" anchor="t"/>
          <a:lstStyle/>
          <a:p>
            <a:pPr algn="l" indent="0" marL="0">
              <a:lnSpc>
                <a:spcPts val="1204"/>
              </a:lnSpc>
              <a:buNone/>
            </a:pPr>
            <a:r>
              <a:rPr lang="en-US" sz="830" dirty="0">
                <a:solidFill>
                  <a:srgbClr val="5B544A"/>
                </a:solidFill>
                <a:latin typeface="Calibri" pitchFamily="34" charset="0"/>
                <a:ea typeface="Calibri" pitchFamily="34" charset="-122"/>
                <a:cs typeface="Calibri" pitchFamily="34" charset="-120"/>
              </a:rPr>
              <a:t>Ask “what happens next?” rather than “why did you do that?” Map</a:t>
            </a:r>
            <a:endParaRPr lang="en-US" sz="830" dirty="0"/>
          </a:p>
          <a:p>
            <a:pPr algn="l" indent="0" marL="0">
              <a:lnSpc>
                <a:spcPts val="1204"/>
              </a:lnSpc>
              <a:buNone/>
            </a:pPr>
            <a:r>
              <a:rPr lang="en-US" sz="830" dirty="0">
                <a:solidFill>
                  <a:srgbClr val="5B544A"/>
                </a:solidFill>
                <a:latin typeface="Calibri" pitchFamily="34" charset="0"/>
                <a:ea typeface="Calibri" pitchFamily="34" charset="-122"/>
                <a:cs typeface="Calibri" pitchFamily="34" charset="-120"/>
              </a:rPr>
              <a:t>the loop before attempting to change it.</a:t>
            </a:r>
            <a:endParaRPr lang="en-US" sz="830" dirty="0"/>
          </a:p>
        </p:txBody>
      </p:sp>
      <p:sp>
        <p:nvSpPr>
          <p:cNvPr id="34" name="Text 32"/>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Map the loop before attempting to change it.</a:t>
            </a:r>
            <a:endParaRPr lang="en-US" sz="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02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Punctuating a familiar argument</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643890"/>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Work in pairs. Choose an argument you both know well — from your family, your workplace,</a:t>
            </a:r>
            <a:endParaRPr lang="en-US" sz="1300" dirty="0"/>
          </a:p>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or the clinic.</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Write the argument as a loop with no beginning and no villain.</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does each person’s punctuation protect them from feeling?</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Where does “more of the same” appear in the sequence?</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would it mean to intervene at the level of the loop?</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03 · PHASE I — FOUNDATIONS</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03</a:t>
            </a:r>
            <a:endParaRPr lang="en-US" sz="25000" dirty="0"/>
          </a:p>
        </p:txBody>
      </p:sp>
      <p:sp>
        <p:nvSpPr>
          <p:cNvPr id="4" name="Text 2"/>
          <p:cNvSpPr txBox="1"/>
          <p:nvPr/>
        </p:nvSpPr>
        <p:spPr>
          <a:xfrm>
            <a:off x="822960" y="1572768"/>
            <a:ext cx="7589520" cy="104013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A Short History of the Field</a:t>
            </a:r>
            <a:endParaRPr lang="en-US" sz="3900" dirty="0"/>
          </a:p>
        </p:txBody>
      </p:sp>
      <p:sp>
        <p:nvSpPr>
          <p:cNvPr id="5" name="Shape 3"/>
          <p:cNvSpPr/>
          <p:nvPr/>
        </p:nvSpPr>
        <p:spPr>
          <a:xfrm>
            <a:off x="822960" y="231876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255651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277596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did a profession learn to see relationships — and what did it cost to learn?</a:t>
            </a:r>
            <a:endParaRPr lang="en-US" sz="1550" dirty="0"/>
          </a:p>
        </p:txBody>
      </p:sp>
      <p:sp>
        <p:nvSpPr>
          <p:cNvPr id="8" name="Shape 6"/>
          <p:cNvSpPr/>
          <p:nvPr/>
        </p:nvSpPr>
        <p:spPr>
          <a:xfrm>
            <a:off x="822960" y="336638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351269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370471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Born at the edges of three traditions</a:t>
            </a:r>
            <a:endParaRPr lang="en-US" sz="850" dirty="0"/>
          </a:p>
        </p:txBody>
      </p:sp>
      <p:sp>
        <p:nvSpPr>
          <p:cNvPr id="11" name="Text 9"/>
          <p:cNvSpPr txBox="1"/>
          <p:nvPr/>
        </p:nvSpPr>
        <p:spPr>
          <a:xfrm>
            <a:off x="3282696" y="351269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370471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Seven moments that made the field</a:t>
            </a:r>
            <a:endParaRPr lang="en-US" sz="850" dirty="0"/>
          </a:p>
        </p:txBody>
      </p:sp>
      <p:sp>
        <p:nvSpPr>
          <p:cNvPr id="13" name="Text 11"/>
          <p:cNvSpPr txBox="1"/>
          <p:nvPr/>
        </p:nvSpPr>
        <p:spPr>
          <a:xfrm>
            <a:off x="5742432" y="351269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370471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Reading the present through the past</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Trace the lineages that produced contemporary</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MFT.</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Explain how the double-bind hypothesis shaped the</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field.</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Situate evidence-based practice within the field’s</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history.</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child guidance · Palo Alto · double bind · professionalisation · evidence-based practice</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Nichols &amp; Davis (2020), ch. 2–3 · Broderick &amp; Schrader (1991), history of the profession</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61032" y="5696712"/>
            <a:ext cx="128016" cy="128016"/>
          </a:xfrm>
          <a:prstGeom prst="ellipse">
            <a:avLst/>
          </a:prstGeom>
          <a:solidFill>
            <a:srgbClr val="C2A05F"/>
          </a:solidFill>
          <a:ln w="8890">
            <a:solidFill>
              <a:srgbClr val="E7D3A9"/>
            </a:solidFill>
            <a:prstDash val="solid"/>
          </a:ln>
        </p:spPr>
      </p:sp>
      <p:sp>
        <p:nvSpPr>
          <p:cNvPr id="30" name="Shape 28"/>
          <p:cNvSpPr/>
          <p:nvPr/>
        </p:nvSpPr>
        <p:spPr>
          <a:xfrm>
            <a:off x="2896819" y="5731459"/>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1E1913"/>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03 · LECTURE 03</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17</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Born at the edges of three traditions</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MFT did not begin as a single school. It assembled itself from child guidance, marriage counselling, and a research group</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studying communication in schizophrenia.</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198196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234772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1940S–1950S · SEPARATE STREAMS</a:t>
            </a:r>
            <a:endParaRPr lang="en-US" sz="750" dirty="0"/>
          </a:p>
        </p:txBody>
      </p:sp>
      <p:sp>
        <p:nvSpPr>
          <p:cNvPr id="13" name="Text 11"/>
          <p:cNvSpPr txBox="1"/>
          <p:nvPr/>
        </p:nvSpPr>
        <p:spPr>
          <a:xfrm>
            <a:off x="822960" y="2834640"/>
            <a:ext cx="2347722" cy="772668"/>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Child guidance clinics treated the child in context;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marriage counselling addressed the couple. Both</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sat at the margin of a psychiatry organised around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individual.</a:t>
            </a:r>
            <a:endParaRPr lang="en-US" sz="900" dirty="0"/>
          </a:p>
        </p:txBody>
      </p:sp>
      <p:sp>
        <p:nvSpPr>
          <p:cNvPr id="14" name="Text 12"/>
          <p:cNvSpPr txBox="1"/>
          <p:nvPr/>
        </p:nvSpPr>
        <p:spPr>
          <a:xfrm>
            <a:off x="355473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15" name="Shape 13"/>
          <p:cNvSpPr/>
          <p:nvPr/>
        </p:nvSpPr>
        <p:spPr>
          <a:xfrm>
            <a:off x="3920490" y="2450592"/>
            <a:ext cx="1981962" cy="91"/>
          </a:xfrm>
          <a:prstGeom prst="line">
            <a:avLst/>
          </a:prstGeom>
          <a:noFill/>
          <a:ln w="5715">
            <a:solidFill>
              <a:srgbClr val="D9CDB7"/>
            </a:solidFill>
            <a:prstDash val="solid"/>
            <a:headEnd type="none"/>
            <a:tailEnd type="none"/>
          </a:ln>
        </p:spPr>
      </p:sp>
      <p:sp>
        <p:nvSpPr>
          <p:cNvPr id="16" name="Text 14"/>
          <p:cNvSpPr txBox="1"/>
          <p:nvPr/>
        </p:nvSpPr>
        <p:spPr>
          <a:xfrm>
            <a:off x="3554730" y="2587752"/>
            <a:ext cx="234772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1959 · THE DOUBLE BIND</a:t>
            </a:r>
            <a:endParaRPr lang="en-US" sz="750" dirty="0"/>
          </a:p>
        </p:txBody>
      </p:sp>
      <p:sp>
        <p:nvSpPr>
          <p:cNvPr id="17" name="Text 15"/>
          <p:cNvSpPr txBox="1"/>
          <p:nvPr/>
        </p:nvSpPr>
        <p:spPr>
          <a:xfrm>
            <a:off x="3554730" y="2834640"/>
            <a:ext cx="2347722" cy="937260"/>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Bateson’s Palo Alto group described contradictory</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injunctions in families of people diagnosed with</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schizophrenia. The theory is now read as an early</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model of relational communication — and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caution about blaming families.</a:t>
            </a:r>
            <a:endParaRPr lang="en-US" sz="900" dirty="0"/>
          </a:p>
        </p:txBody>
      </p:sp>
      <p:sp>
        <p:nvSpPr>
          <p:cNvPr id="18" name="Text 16"/>
          <p:cNvSpPr txBox="1"/>
          <p:nvPr/>
        </p:nvSpPr>
        <p:spPr>
          <a:xfrm>
            <a:off x="628650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19" name="Shape 17"/>
          <p:cNvSpPr/>
          <p:nvPr/>
        </p:nvSpPr>
        <p:spPr>
          <a:xfrm>
            <a:off x="6652260" y="2450592"/>
            <a:ext cx="1981962" cy="91"/>
          </a:xfrm>
          <a:prstGeom prst="line">
            <a:avLst/>
          </a:prstGeom>
          <a:noFill/>
          <a:ln w="5715">
            <a:solidFill>
              <a:srgbClr val="D9CDB7"/>
            </a:solidFill>
            <a:prstDash val="solid"/>
            <a:headEnd type="none"/>
            <a:tailEnd type="none"/>
          </a:ln>
        </p:spPr>
      </p:sp>
      <p:sp>
        <p:nvSpPr>
          <p:cNvPr id="20" name="Text 18"/>
          <p:cNvSpPr txBox="1"/>
          <p:nvPr/>
        </p:nvSpPr>
        <p:spPr>
          <a:xfrm>
            <a:off x="6286500" y="2587752"/>
            <a:ext cx="234772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1960S–1970S · MODELS PROLIFERATE</a:t>
            </a:r>
            <a:endParaRPr lang="en-US" sz="750" dirty="0"/>
          </a:p>
        </p:txBody>
      </p:sp>
      <p:sp>
        <p:nvSpPr>
          <p:cNvPr id="21" name="Text 19"/>
          <p:cNvSpPr txBox="1"/>
          <p:nvPr/>
        </p:nvSpPr>
        <p:spPr>
          <a:xfrm>
            <a:off x="6286500" y="2834640"/>
            <a:ext cx="2347722" cy="772668"/>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Structural, strategic, intergenerational,</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experiential and systemic models emerged, each</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with its own account of what maintains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problem.</a:t>
            </a:r>
            <a:endParaRPr lang="en-US" sz="900" dirty="0"/>
          </a:p>
        </p:txBody>
      </p:sp>
      <p:sp>
        <p:nvSpPr>
          <p:cNvPr id="22" name="Text 20"/>
          <p:cNvSpPr txBox="1"/>
          <p:nvPr/>
        </p:nvSpPr>
        <p:spPr>
          <a:xfrm>
            <a:off x="901827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04</a:t>
            </a:r>
            <a:endParaRPr lang="en-US" sz="1100" dirty="0"/>
          </a:p>
        </p:txBody>
      </p:sp>
      <p:sp>
        <p:nvSpPr>
          <p:cNvPr id="23" name="Shape 21"/>
          <p:cNvSpPr/>
          <p:nvPr/>
        </p:nvSpPr>
        <p:spPr>
          <a:xfrm>
            <a:off x="9384030" y="2450592"/>
            <a:ext cx="1981962" cy="91"/>
          </a:xfrm>
          <a:prstGeom prst="line">
            <a:avLst/>
          </a:prstGeom>
          <a:noFill/>
          <a:ln w="5715">
            <a:solidFill>
              <a:srgbClr val="D9CDB7"/>
            </a:solidFill>
            <a:prstDash val="solid"/>
            <a:headEnd type="none"/>
            <a:tailEnd type="none"/>
          </a:ln>
        </p:spPr>
      </p:sp>
      <p:sp>
        <p:nvSpPr>
          <p:cNvPr id="24" name="Text 22"/>
          <p:cNvSpPr txBox="1"/>
          <p:nvPr/>
        </p:nvSpPr>
        <p:spPr>
          <a:xfrm>
            <a:off x="9018270" y="2587752"/>
            <a:ext cx="2347722" cy="352425"/>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1980S–PRESENT · PROFESSION AND</a:t>
            </a:r>
            <a:endParaRPr lang="en-US" sz="750" dirty="0"/>
          </a:p>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EVIDENCE</a:t>
            </a:r>
            <a:endParaRPr lang="en-US" sz="750" dirty="0"/>
          </a:p>
        </p:txBody>
      </p:sp>
      <p:sp>
        <p:nvSpPr>
          <p:cNvPr id="25" name="Text 23"/>
          <p:cNvSpPr txBox="1"/>
          <p:nvPr/>
        </p:nvSpPr>
        <p:spPr>
          <a:xfrm>
            <a:off x="9018270" y="2834640"/>
            <a:ext cx="234772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Licensure, accreditation and outcome research —</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alongside sustained critique from feminist,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multicultural and postmodern clinicians.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03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18</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Seven moments that made the field</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selective genealogy, not a complete history: each moment changed what therapists thought they were looking at.</a:t>
            </a:r>
            <a:endParaRPr lang="en-US" sz="1060" dirty="0"/>
          </a:p>
        </p:txBody>
      </p:sp>
      <p:sp>
        <p:nvSpPr>
          <p:cNvPr id="10" name="Shape 8"/>
          <p:cNvSpPr/>
          <p:nvPr/>
        </p:nvSpPr>
        <p:spPr>
          <a:xfrm>
            <a:off x="1051560" y="3685032"/>
            <a:ext cx="10085832" cy="91"/>
          </a:xfrm>
          <a:prstGeom prst="line">
            <a:avLst/>
          </a:prstGeom>
          <a:noFill/>
          <a:ln w="12700">
            <a:solidFill>
              <a:srgbClr val="D9CDB7"/>
            </a:solidFill>
            <a:prstDash val="solid"/>
            <a:headEnd type="none"/>
            <a:tailEnd type="none"/>
          </a:ln>
        </p:spPr>
      </p:sp>
      <p:sp>
        <p:nvSpPr>
          <p:cNvPr id="11" name="Shape 9"/>
          <p:cNvSpPr/>
          <p:nvPr/>
        </p:nvSpPr>
        <p:spPr>
          <a:xfrm>
            <a:off x="1051560" y="3685032"/>
            <a:ext cx="10085832" cy="91"/>
          </a:xfrm>
          <a:prstGeom prst="line">
            <a:avLst/>
          </a:prstGeom>
          <a:noFill/>
          <a:ln w="6350">
            <a:solidFill>
              <a:srgbClr val="C2A05F">
                <a:alpha val="55000"/>
              </a:srgbClr>
            </a:solidFill>
            <a:prstDash val="solid"/>
            <a:headEnd type="none"/>
            <a:tailEnd type="none"/>
          </a:ln>
        </p:spPr>
      </p:sp>
      <p:sp>
        <p:nvSpPr>
          <p:cNvPr id="12" name="Shape 10"/>
          <p:cNvSpPr/>
          <p:nvPr/>
        </p:nvSpPr>
        <p:spPr>
          <a:xfrm>
            <a:off x="1001268" y="3634740"/>
            <a:ext cx="100584" cy="100584"/>
          </a:xfrm>
          <a:prstGeom prst="ellipse">
            <a:avLst/>
          </a:prstGeom>
          <a:solidFill>
            <a:srgbClr val="F8F3E9"/>
          </a:solidFill>
          <a:ln w="12700">
            <a:solidFill>
              <a:srgbClr val="C2A05F"/>
            </a:solidFill>
            <a:prstDash val="solid"/>
          </a:ln>
        </p:spPr>
      </p:sp>
      <p:sp>
        <p:nvSpPr>
          <p:cNvPr id="13" name="Shape 11"/>
          <p:cNvSpPr/>
          <p:nvPr/>
        </p:nvSpPr>
        <p:spPr>
          <a:xfrm>
            <a:off x="1035101" y="3668573"/>
            <a:ext cx="32918" cy="32918"/>
          </a:xfrm>
          <a:prstGeom prst="ellipse">
            <a:avLst/>
          </a:prstGeom>
          <a:solidFill>
            <a:srgbClr val="96733C"/>
          </a:solidFill>
          <a:ln w="12700">
            <a:solidFill>
              <a:srgbClr val="FFFFFF">
                <a:alpha val="0"/>
              </a:srgbClr>
            </a:solidFill>
            <a:prstDash val="solid"/>
          </a:ln>
        </p:spPr>
      </p:sp>
      <p:sp>
        <p:nvSpPr>
          <p:cNvPr id="14" name="Shape 12"/>
          <p:cNvSpPr/>
          <p:nvPr/>
        </p:nvSpPr>
        <p:spPr>
          <a:xfrm flipV="1">
            <a:off x="1051560" y="3227832"/>
            <a:ext cx="91" cy="384048"/>
          </a:xfrm>
          <a:prstGeom prst="line">
            <a:avLst/>
          </a:prstGeom>
          <a:noFill/>
          <a:ln w="7620">
            <a:solidFill>
              <a:srgbClr val="D9CDB7"/>
            </a:solidFill>
            <a:prstDash val="solid"/>
            <a:headEnd type="none"/>
            <a:tailEnd type="none"/>
          </a:ln>
        </p:spPr>
      </p:sp>
      <p:sp>
        <p:nvSpPr>
          <p:cNvPr id="15" name="Text 13"/>
          <p:cNvSpPr txBox="1"/>
          <p:nvPr/>
        </p:nvSpPr>
        <p:spPr>
          <a:xfrm>
            <a:off x="182880" y="2386584"/>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1940s</a:t>
            </a:r>
            <a:endParaRPr lang="en-US" sz="1500" dirty="0"/>
          </a:p>
        </p:txBody>
      </p:sp>
      <p:sp>
        <p:nvSpPr>
          <p:cNvPr id="16" name="Text 14"/>
          <p:cNvSpPr txBox="1"/>
          <p:nvPr/>
        </p:nvSpPr>
        <p:spPr>
          <a:xfrm>
            <a:off x="182880" y="2715768"/>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Child guidance &amp; marriage counselling</a:t>
            </a:r>
            <a:endParaRPr lang="en-US" sz="840" dirty="0"/>
          </a:p>
        </p:txBody>
      </p:sp>
      <p:sp>
        <p:nvSpPr>
          <p:cNvPr id="17" name="Text 15"/>
          <p:cNvSpPr txBox="1"/>
          <p:nvPr/>
        </p:nvSpPr>
        <p:spPr>
          <a:xfrm>
            <a:off x="182880" y="3026664"/>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two separate traditions</a:t>
            </a:r>
            <a:endParaRPr lang="en-US" sz="740" dirty="0"/>
          </a:p>
        </p:txBody>
      </p:sp>
      <p:sp>
        <p:nvSpPr>
          <p:cNvPr id="18" name="Shape 16"/>
          <p:cNvSpPr/>
          <p:nvPr/>
        </p:nvSpPr>
        <p:spPr>
          <a:xfrm>
            <a:off x="2682240" y="3634740"/>
            <a:ext cx="100584" cy="100584"/>
          </a:xfrm>
          <a:prstGeom prst="ellipse">
            <a:avLst/>
          </a:prstGeom>
          <a:solidFill>
            <a:srgbClr val="F8F3E9"/>
          </a:solidFill>
          <a:ln w="12700">
            <a:solidFill>
              <a:srgbClr val="C2A05F"/>
            </a:solidFill>
            <a:prstDash val="solid"/>
          </a:ln>
        </p:spPr>
      </p:sp>
      <p:sp>
        <p:nvSpPr>
          <p:cNvPr id="19" name="Shape 17"/>
          <p:cNvSpPr/>
          <p:nvPr/>
        </p:nvSpPr>
        <p:spPr>
          <a:xfrm>
            <a:off x="2716073" y="3668573"/>
            <a:ext cx="32918" cy="32918"/>
          </a:xfrm>
          <a:prstGeom prst="ellipse">
            <a:avLst/>
          </a:prstGeom>
          <a:solidFill>
            <a:srgbClr val="96733C"/>
          </a:solidFill>
          <a:ln w="12700">
            <a:solidFill>
              <a:srgbClr val="FFFFFF">
                <a:alpha val="0"/>
              </a:srgbClr>
            </a:solidFill>
            <a:prstDash val="solid"/>
          </a:ln>
        </p:spPr>
      </p:sp>
      <p:sp>
        <p:nvSpPr>
          <p:cNvPr id="20" name="Shape 18"/>
          <p:cNvSpPr/>
          <p:nvPr/>
        </p:nvSpPr>
        <p:spPr>
          <a:xfrm>
            <a:off x="2732532" y="3758184"/>
            <a:ext cx="91" cy="274320"/>
          </a:xfrm>
          <a:prstGeom prst="line">
            <a:avLst/>
          </a:prstGeom>
          <a:noFill/>
          <a:ln w="7620">
            <a:solidFill>
              <a:srgbClr val="D9CDB7"/>
            </a:solidFill>
            <a:prstDash val="solid"/>
            <a:headEnd type="none"/>
            <a:tailEnd type="none"/>
          </a:ln>
        </p:spPr>
      </p:sp>
      <p:sp>
        <p:nvSpPr>
          <p:cNvPr id="21" name="Text 19"/>
          <p:cNvSpPr txBox="1"/>
          <p:nvPr/>
        </p:nvSpPr>
        <p:spPr>
          <a:xfrm>
            <a:off x="1863852" y="4069080"/>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1959</a:t>
            </a:r>
            <a:endParaRPr lang="en-US" sz="1500" dirty="0"/>
          </a:p>
        </p:txBody>
      </p:sp>
      <p:sp>
        <p:nvSpPr>
          <p:cNvPr id="22" name="Text 20"/>
          <p:cNvSpPr txBox="1"/>
          <p:nvPr/>
        </p:nvSpPr>
        <p:spPr>
          <a:xfrm>
            <a:off x="1863852" y="4398264"/>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Palo Alto &amp; the double bind</a:t>
            </a:r>
            <a:endParaRPr lang="en-US" sz="840" dirty="0"/>
          </a:p>
        </p:txBody>
      </p:sp>
      <p:sp>
        <p:nvSpPr>
          <p:cNvPr id="23" name="Text 21"/>
          <p:cNvSpPr txBox="1"/>
          <p:nvPr/>
        </p:nvSpPr>
        <p:spPr>
          <a:xfrm>
            <a:off x="1863852" y="4709160"/>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Bateson, Jackson, Haley, Weakland</a:t>
            </a:r>
            <a:endParaRPr lang="en-US" sz="740" dirty="0"/>
          </a:p>
        </p:txBody>
      </p:sp>
      <p:sp>
        <p:nvSpPr>
          <p:cNvPr id="24" name="Shape 22"/>
          <p:cNvSpPr/>
          <p:nvPr/>
        </p:nvSpPr>
        <p:spPr>
          <a:xfrm>
            <a:off x="4363212" y="3634740"/>
            <a:ext cx="100584" cy="100584"/>
          </a:xfrm>
          <a:prstGeom prst="ellipse">
            <a:avLst/>
          </a:prstGeom>
          <a:solidFill>
            <a:srgbClr val="F8F3E9"/>
          </a:solidFill>
          <a:ln w="12700">
            <a:solidFill>
              <a:srgbClr val="C2A05F"/>
            </a:solidFill>
            <a:prstDash val="solid"/>
          </a:ln>
        </p:spPr>
      </p:sp>
      <p:sp>
        <p:nvSpPr>
          <p:cNvPr id="25" name="Shape 23"/>
          <p:cNvSpPr/>
          <p:nvPr/>
        </p:nvSpPr>
        <p:spPr>
          <a:xfrm>
            <a:off x="4397045" y="3668573"/>
            <a:ext cx="32918" cy="32918"/>
          </a:xfrm>
          <a:prstGeom prst="ellipse">
            <a:avLst/>
          </a:prstGeom>
          <a:solidFill>
            <a:srgbClr val="96733C"/>
          </a:solidFill>
          <a:ln w="12700">
            <a:solidFill>
              <a:srgbClr val="FFFFFF">
                <a:alpha val="0"/>
              </a:srgbClr>
            </a:solidFill>
            <a:prstDash val="solid"/>
          </a:ln>
        </p:spPr>
      </p:sp>
      <p:sp>
        <p:nvSpPr>
          <p:cNvPr id="26" name="Shape 24"/>
          <p:cNvSpPr/>
          <p:nvPr/>
        </p:nvSpPr>
        <p:spPr>
          <a:xfrm flipV="1">
            <a:off x="4413504" y="3227832"/>
            <a:ext cx="91" cy="384048"/>
          </a:xfrm>
          <a:prstGeom prst="line">
            <a:avLst/>
          </a:prstGeom>
          <a:noFill/>
          <a:ln w="7620">
            <a:solidFill>
              <a:srgbClr val="D9CDB7"/>
            </a:solidFill>
            <a:prstDash val="solid"/>
            <a:headEnd type="none"/>
            <a:tailEnd type="none"/>
          </a:ln>
        </p:spPr>
      </p:sp>
      <p:sp>
        <p:nvSpPr>
          <p:cNvPr id="27" name="Text 25"/>
          <p:cNvSpPr txBox="1"/>
          <p:nvPr/>
        </p:nvSpPr>
        <p:spPr>
          <a:xfrm>
            <a:off x="3544824" y="2386584"/>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1965</a:t>
            </a:r>
            <a:endParaRPr lang="en-US" sz="1500" dirty="0"/>
          </a:p>
        </p:txBody>
      </p:sp>
      <p:sp>
        <p:nvSpPr>
          <p:cNvPr id="28" name="Text 26"/>
          <p:cNvSpPr txBox="1"/>
          <p:nvPr/>
        </p:nvSpPr>
        <p:spPr>
          <a:xfrm>
            <a:off x="3544824" y="2715768"/>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Structural &amp; strategic therapy</a:t>
            </a:r>
            <a:endParaRPr lang="en-US" sz="840" dirty="0"/>
          </a:p>
        </p:txBody>
      </p:sp>
      <p:sp>
        <p:nvSpPr>
          <p:cNvPr id="29" name="Text 27"/>
          <p:cNvSpPr txBox="1"/>
          <p:nvPr/>
        </p:nvSpPr>
        <p:spPr>
          <a:xfrm>
            <a:off x="3544824" y="3026664"/>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Minuchin · Haley · Madanes</a:t>
            </a:r>
            <a:endParaRPr lang="en-US" sz="740" dirty="0"/>
          </a:p>
        </p:txBody>
      </p:sp>
      <p:sp>
        <p:nvSpPr>
          <p:cNvPr id="30" name="Shape 28"/>
          <p:cNvSpPr/>
          <p:nvPr/>
        </p:nvSpPr>
        <p:spPr>
          <a:xfrm>
            <a:off x="6044184" y="3634740"/>
            <a:ext cx="100584" cy="100584"/>
          </a:xfrm>
          <a:prstGeom prst="ellipse">
            <a:avLst/>
          </a:prstGeom>
          <a:solidFill>
            <a:srgbClr val="F8F3E9"/>
          </a:solidFill>
          <a:ln w="12700">
            <a:solidFill>
              <a:srgbClr val="C2A05F"/>
            </a:solidFill>
            <a:prstDash val="solid"/>
          </a:ln>
        </p:spPr>
      </p:sp>
      <p:sp>
        <p:nvSpPr>
          <p:cNvPr id="31" name="Shape 29"/>
          <p:cNvSpPr/>
          <p:nvPr/>
        </p:nvSpPr>
        <p:spPr>
          <a:xfrm>
            <a:off x="6078017" y="3668573"/>
            <a:ext cx="32918" cy="32918"/>
          </a:xfrm>
          <a:prstGeom prst="ellipse">
            <a:avLst/>
          </a:prstGeom>
          <a:solidFill>
            <a:srgbClr val="96733C"/>
          </a:solidFill>
          <a:ln w="12700">
            <a:solidFill>
              <a:srgbClr val="FFFFFF">
                <a:alpha val="0"/>
              </a:srgbClr>
            </a:solidFill>
            <a:prstDash val="solid"/>
          </a:ln>
        </p:spPr>
      </p:sp>
      <p:sp>
        <p:nvSpPr>
          <p:cNvPr id="32" name="Shape 30"/>
          <p:cNvSpPr/>
          <p:nvPr/>
        </p:nvSpPr>
        <p:spPr>
          <a:xfrm>
            <a:off x="6094476" y="3758184"/>
            <a:ext cx="91" cy="274320"/>
          </a:xfrm>
          <a:prstGeom prst="line">
            <a:avLst/>
          </a:prstGeom>
          <a:noFill/>
          <a:ln w="7620">
            <a:solidFill>
              <a:srgbClr val="D9CDB7"/>
            </a:solidFill>
            <a:prstDash val="solid"/>
            <a:headEnd type="none"/>
            <a:tailEnd type="none"/>
          </a:ln>
        </p:spPr>
      </p:sp>
      <p:sp>
        <p:nvSpPr>
          <p:cNvPr id="33" name="Text 31"/>
          <p:cNvSpPr txBox="1"/>
          <p:nvPr/>
        </p:nvSpPr>
        <p:spPr>
          <a:xfrm>
            <a:off x="5225796" y="4069080"/>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1971</a:t>
            </a:r>
            <a:endParaRPr lang="en-US" sz="1500" dirty="0"/>
          </a:p>
        </p:txBody>
      </p:sp>
      <p:sp>
        <p:nvSpPr>
          <p:cNvPr id="34" name="Text 32"/>
          <p:cNvSpPr txBox="1"/>
          <p:nvPr/>
        </p:nvSpPr>
        <p:spPr>
          <a:xfrm>
            <a:off x="5225796" y="4398264"/>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Milan systemic therapy</a:t>
            </a:r>
            <a:endParaRPr lang="en-US" sz="840" dirty="0"/>
          </a:p>
        </p:txBody>
      </p:sp>
      <p:sp>
        <p:nvSpPr>
          <p:cNvPr id="35" name="Text 33"/>
          <p:cNvSpPr txBox="1"/>
          <p:nvPr/>
        </p:nvSpPr>
        <p:spPr>
          <a:xfrm>
            <a:off x="5225796" y="4572000"/>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hypothesising, circularity, neutrality</a:t>
            </a:r>
            <a:endParaRPr lang="en-US" sz="740" dirty="0"/>
          </a:p>
        </p:txBody>
      </p:sp>
      <p:sp>
        <p:nvSpPr>
          <p:cNvPr id="36" name="Shape 34"/>
          <p:cNvSpPr/>
          <p:nvPr/>
        </p:nvSpPr>
        <p:spPr>
          <a:xfrm>
            <a:off x="7725156" y="3634740"/>
            <a:ext cx="100584" cy="100584"/>
          </a:xfrm>
          <a:prstGeom prst="ellipse">
            <a:avLst/>
          </a:prstGeom>
          <a:solidFill>
            <a:srgbClr val="F8F3E9"/>
          </a:solidFill>
          <a:ln w="12700">
            <a:solidFill>
              <a:srgbClr val="C2A05F"/>
            </a:solidFill>
            <a:prstDash val="solid"/>
          </a:ln>
        </p:spPr>
      </p:sp>
      <p:sp>
        <p:nvSpPr>
          <p:cNvPr id="37" name="Shape 35"/>
          <p:cNvSpPr/>
          <p:nvPr/>
        </p:nvSpPr>
        <p:spPr>
          <a:xfrm>
            <a:off x="7758989" y="3668573"/>
            <a:ext cx="32918" cy="32918"/>
          </a:xfrm>
          <a:prstGeom prst="ellipse">
            <a:avLst/>
          </a:prstGeom>
          <a:solidFill>
            <a:srgbClr val="96733C"/>
          </a:solidFill>
          <a:ln w="12700">
            <a:solidFill>
              <a:srgbClr val="FFFFFF">
                <a:alpha val="0"/>
              </a:srgbClr>
            </a:solidFill>
            <a:prstDash val="solid"/>
          </a:ln>
        </p:spPr>
      </p:sp>
      <p:sp>
        <p:nvSpPr>
          <p:cNvPr id="38" name="Shape 36"/>
          <p:cNvSpPr/>
          <p:nvPr/>
        </p:nvSpPr>
        <p:spPr>
          <a:xfrm flipV="1">
            <a:off x="7775448" y="3227832"/>
            <a:ext cx="91" cy="384048"/>
          </a:xfrm>
          <a:prstGeom prst="line">
            <a:avLst/>
          </a:prstGeom>
          <a:noFill/>
          <a:ln w="7620">
            <a:solidFill>
              <a:srgbClr val="D9CDB7"/>
            </a:solidFill>
            <a:prstDash val="solid"/>
            <a:headEnd type="none"/>
            <a:tailEnd type="none"/>
          </a:ln>
        </p:spPr>
      </p:sp>
      <p:sp>
        <p:nvSpPr>
          <p:cNvPr id="39" name="Text 37"/>
          <p:cNvSpPr txBox="1"/>
          <p:nvPr/>
        </p:nvSpPr>
        <p:spPr>
          <a:xfrm>
            <a:off x="6906768" y="2386584"/>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1980s</a:t>
            </a:r>
            <a:endParaRPr lang="en-US" sz="1500" dirty="0"/>
          </a:p>
        </p:txBody>
      </p:sp>
      <p:sp>
        <p:nvSpPr>
          <p:cNvPr id="40" name="Text 38"/>
          <p:cNvSpPr txBox="1"/>
          <p:nvPr/>
        </p:nvSpPr>
        <p:spPr>
          <a:xfrm>
            <a:off x="6906768" y="2715768"/>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Postmodern &amp; EFT turns</a:t>
            </a:r>
            <a:endParaRPr lang="en-US" sz="840" dirty="0"/>
          </a:p>
        </p:txBody>
      </p:sp>
      <p:sp>
        <p:nvSpPr>
          <p:cNvPr id="41" name="Text 39"/>
          <p:cNvSpPr txBox="1"/>
          <p:nvPr/>
        </p:nvSpPr>
        <p:spPr>
          <a:xfrm>
            <a:off x="6906768" y="2889504"/>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narrative, solution-focused, attachment</a:t>
            </a:r>
            <a:endParaRPr lang="en-US" sz="740" dirty="0"/>
          </a:p>
        </p:txBody>
      </p:sp>
      <p:sp>
        <p:nvSpPr>
          <p:cNvPr id="42" name="Shape 40"/>
          <p:cNvSpPr/>
          <p:nvPr/>
        </p:nvSpPr>
        <p:spPr>
          <a:xfrm>
            <a:off x="9406128" y="3634740"/>
            <a:ext cx="100584" cy="100584"/>
          </a:xfrm>
          <a:prstGeom prst="ellipse">
            <a:avLst/>
          </a:prstGeom>
          <a:solidFill>
            <a:srgbClr val="F8F3E9"/>
          </a:solidFill>
          <a:ln w="12700">
            <a:solidFill>
              <a:srgbClr val="C2A05F"/>
            </a:solidFill>
            <a:prstDash val="solid"/>
          </a:ln>
        </p:spPr>
      </p:sp>
      <p:sp>
        <p:nvSpPr>
          <p:cNvPr id="43" name="Shape 41"/>
          <p:cNvSpPr/>
          <p:nvPr/>
        </p:nvSpPr>
        <p:spPr>
          <a:xfrm>
            <a:off x="9439961" y="3668573"/>
            <a:ext cx="32918" cy="32918"/>
          </a:xfrm>
          <a:prstGeom prst="ellipse">
            <a:avLst/>
          </a:prstGeom>
          <a:solidFill>
            <a:srgbClr val="96733C"/>
          </a:solidFill>
          <a:ln w="12700">
            <a:solidFill>
              <a:srgbClr val="FFFFFF">
                <a:alpha val="0"/>
              </a:srgbClr>
            </a:solidFill>
            <a:prstDash val="solid"/>
          </a:ln>
        </p:spPr>
      </p:sp>
      <p:sp>
        <p:nvSpPr>
          <p:cNvPr id="44" name="Shape 42"/>
          <p:cNvSpPr/>
          <p:nvPr/>
        </p:nvSpPr>
        <p:spPr>
          <a:xfrm>
            <a:off x="9456420" y="3758184"/>
            <a:ext cx="91" cy="274320"/>
          </a:xfrm>
          <a:prstGeom prst="line">
            <a:avLst/>
          </a:prstGeom>
          <a:noFill/>
          <a:ln w="7620">
            <a:solidFill>
              <a:srgbClr val="D9CDB7"/>
            </a:solidFill>
            <a:prstDash val="solid"/>
            <a:headEnd type="none"/>
            <a:tailEnd type="none"/>
          </a:ln>
        </p:spPr>
      </p:sp>
      <p:sp>
        <p:nvSpPr>
          <p:cNvPr id="45" name="Text 43"/>
          <p:cNvSpPr txBox="1"/>
          <p:nvPr/>
        </p:nvSpPr>
        <p:spPr>
          <a:xfrm>
            <a:off x="8587740" y="4069080"/>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1990s</a:t>
            </a:r>
            <a:endParaRPr lang="en-US" sz="1500" dirty="0"/>
          </a:p>
        </p:txBody>
      </p:sp>
      <p:sp>
        <p:nvSpPr>
          <p:cNvPr id="46" name="Text 44"/>
          <p:cNvSpPr txBox="1"/>
          <p:nvPr/>
        </p:nvSpPr>
        <p:spPr>
          <a:xfrm>
            <a:off x="8587740" y="4398264"/>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Evidence-based practice</a:t>
            </a:r>
            <a:endParaRPr lang="en-US" sz="840" dirty="0"/>
          </a:p>
        </p:txBody>
      </p:sp>
      <p:sp>
        <p:nvSpPr>
          <p:cNvPr id="47" name="Text 45"/>
          <p:cNvSpPr txBox="1"/>
          <p:nvPr/>
        </p:nvSpPr>
        <p:spPr>
          <a:xfrm>
            <a:off x="8587740" y="4572000"/>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manualised models, outcome research</a:t>
            </a:r>
            <a:endParaRPr lang="en-US" sz="740" dirty="0"/>
          </a:p>
        </p:txBody>
      </p:sp>
      <p:sp>
        <p:nvSpPr>
          <p:cNvPr id="48" name="Shape 46"/>
          <p:cNvSpPr/>
          <p:nvPr/>
        </p:nvSpPr>
        <p:spPr>
          <a:xfrm>
            <a:off x="11087100" y="3634740"/>
            <a:ext cx="100584" cy="100584"/>
          </a:xfrm>
          <a:prstGeom prst="ellipse">
            <a:avLst/>
          </a:prstGeom>
          <a:solidFill>
            <a:srgbClr val="F8F3E9"/>
          </a:solidFill>
          <a:ln w="12700">
            <a:solidFill>
              <a:srgbClr val="C2A05F"/>
            </a:solidFill>
            <a:prstDash val="solid"/>
          </a:ln>
        </p:spPr>
      </p:sp>
      <p:sp>
        <p:nvSpPr>
          <p:cNvPr id="49" name="Shape 47"/>
          <p:cNvSpPr/>
          <p:nvPr/>
        </p:nvSpPr>
        <p:spPr>
          <a:xfrm>
            <a:off x="11120933" y="3668573"/>
            <a:ext cx="32918" cy="32918"/>
          </a:xfrm>
          <a:prstGeom prst="ellipse">
            <a:avLst/>
          </a:prstGeom>
          <a:solidFill>
            <a:srgbClr val="96733C"/>
          </a:solidFill>
          <a:ln w="12700">
            <a:solidFill>
              <a:srgbClr val="FFFFFF">
                <a:alpha val="0"/>
              </a:srgbClr>
            </a:solidFill>
            <a:prstDash val="solid"/>
          </a:ln>
        </p:spPr>
      </p:sp>
      <p:sp>
        <p:nvSpPr>
          <p:cNvPr id="50" name="Shape 48"/>
          <p:cNvSpPr/>
          <p:nvPr/>
        </p:nvSpPr>
        <p:spPr>
          <a:xfrm flipV="1">
            <a:off x="11137392" y="3227832"/>
            <a:ext cx="91" cy="384048"/>
          </a:xfrm>
          <a:prstGeom prst="line">
            <a:avLst/>
          </a:prstGeom>
          <a:noFill/>
          <a:ln w="7620">
            <a:solidFill>
              <a:srgbClr val="D9CDB7"/>
            </a:solidFill>
            <a:prstDash val="solid"/>
            <a:headEnd type="none"/>
            <a:tailEnd type="none"/>
          </a:ln>
        </p:spPr>
      </p:sp>
      <p:sp>
        <p:nvSpPr>
          <p:cNvPr id="51" name="Text 49"/>
          <p:cNvSpPr txBox="1"/>
          <p:nvPr/>
        </p:nvSpPr>
        <p:spPr>
          <a:xfrm>
            <a:off x="10268712" y="2386584"/>
            <a:ext cx="1737360" cy="447675"/>
          </a:xfrm>
          <a:prstGeom prst="rect">
            <a:avLst/>
          </a:prstGeom>
          <a:noFill/>
          <a:ln/>
        </p:spPr>
        <p:txBody>
          <a:bodyPr wrap="square" lIns="0" tIns="0" rIns="0" bIns="0" rtlCol="0" anchor="t"/>
          <a:lstStyle/>
          <a:p>
            <a:pPr algn="ctr" indent="0" marL="0">
              <a:lnSpc>
                <a:spcPts val="2025"/>
              </a:lnSpc>
              <a:buNone/>
            </a:pPr>
            <a:r>
              <a:rPr lang="en-US" sz="1500" dirty="0">
                <a:solidFill>
                  <a:srgbClr val="96733C"/>
                </a:solidFill>
                <a:latin typeface="Georgia" pitchFamily="34" charset="0"/>
                <a:ea typeface="Georgia" pitchFamily="34" charset="-122"/>
                <a:cs typeface="Georgia" pitchFamily="34" charset="-120"/>
              </a:rPr>
              <a:t>2010s</a:t>
            </a:r>
            <a:endParaRPr lang="en-US" sz="1500" dirty="0"/>
          </a:p>
        </p:txBody>
      </p:sp>
      <p:sp>
        <p:nvSpPr>
          <p:cNvPr id="52" name="Text 50"/>
          <p:cNvSpPr txBox="1"/>
          <p:nvPr/>
        </p:nvSpPr>
        <p:spPr>
          <a:xfrm>
            <a:off x="10268712" y="2715768"/>
            <a:ext cx="1737360" cy="234696"/>
          </a:xfrm>
          <a:prstGeom prst="rect">
            <a:avLst/>
          </a:prstGeom>
          <a:noFill/>
          <a:ln/>
        </p:spPr>
        <p:txBody>
          <a:bodyPr wrap="square" lIns="0" tIns="0" rIns="0" bIns="0" rtlCol="0" anchor="t"/>
          <a:lstStyle/>
          <a:p>
            <a:pPr algn="ctr" indent="0" marL="0">
              <a:lnSpc>
                <a:spcPts val="1008"/>
              </a:lnSpc>
              <a:buNone/>
            </a:pPr>
            <a:r>
              <a:rPr lang="en-US" sz="840" b="1" dirty="0">
                <a:solidFill>
                  <a:srgbClr val="1B1815"/>
                </a:solidFill>
                <a:latin typeface="Calibri" pitchFamily="34" charset="0"/>
                <a:ea typeface="Calibri" pitchFamily="34" charset="-122"/>
                <a:cs typeface="Calibri" pitchFamily="34" charset="-120"/>
              </a:rPr>
              <a:t>Integration &amp; teletherapy</a:t>
            </a:r>
            <a:endParaRPr lang="en-US" sz="840" dirty="0"/>
          </a:p>
        </p:txBody>
      </p:sp>
      <p:sp>
        <p:nvSpPr>
          <p:cNvPr id="53" name="Text 51"/>
          <p:cNvSpPr txBox="1"/>
          <p:nvPr/>
        </p:nvSpPr>
        <p:spPr>
          <a:xfrm>
            <a:off x="10268712" y="3026664"/>
            <a:ext cx="1737360" cy="211455"/>
          </a:xfrm>
          <a:prstGeom prst="rect">
            <a:avLst/>
          </a:prstGeom>
          <a:noFill/>
          <a:ln/>
        </p:spPr>
        <p:txBody>
          <a:bodyPr wrap="square" lIns="0" tIns="0" rIns="0" bIns="0" rtlCol="0" anchor="t"/>
          <a:lstStyle/>
          <a:p>
            <a:pPr algn="ctr" indent="0" marL="0">
              <a:lnSpc>
                <a:spcPts val="925"/>
              </a:lnSpc>
              <a:buNone/>
            </a:pPr>
            <a:r>
              <a:rPr lang="en-US" sz="740" dirty="0">
                <a:solidFill>
                  <a:srgbClr val="5B544A"/>
                </a:solidFill>
                <a:latin typeface="Calibri" pitchFamily="34" charset="0"/>
                <a:ea typeface="Calibri" pitchFamily="34" charset="-122"/>
                <a:cs typeface="Calibri" pitchFamily="34" charset="-120"/>
              </a:rPr>
              <a:t>common factors, digital practice</a:t>
            </a:r>
            <a:endParaRPr lang="en-US" sz="740" dirty="0"/>
          </a:p>
        </p:txBody>
      </p:sp>
      <p:sp>
        <p:nvSpPr>
          <p:cNvPr id="54" name="Text 52"/>
          <p:cNvSpPr txBox="1"/>
          <p:nvPr/>
        </p:nvSpPr>
        <p:spPr>
          <a:xfrm>
            <a:off x="822960" y="5486400"/>
            <a:ext cx="10543032" cy="244729"/>
          </a:xfrm>
          <a:prstGeom prst="rect">
            <a:avLst/>
          </a:prstGeom>
          <a:noFill/>
          <a:ln/>
        </p:spPr>
        <p:txBody>
          <a:bodyPr wrap="square" lIns="0" tIns="0" rIns="0" bIns="0" rtlCol="0" anchor="t"/>
          <a:lstStyle/>
          <a:p>
            <a:pPr algn="ctr" indent="0" marL="0">
              <a:lnSpc>
                <a:spcPts val="1107"/>
              </a:lnSpc>
              <a:buNone/>
            </a:pPr>
            <a:r>
              <a:rPr lang="en-US" sz="820" i="1" dirty="0">
                <a:solidFill>
                  <a:srgbClr val="5B544A"/>
                </a:solidFill>
                <a:latin typeface="Calibri" pitchFamily="34" charset="0"/>
                <a:ea typeface="Calibri" pitchFamily="34" charset="-122"/>
                <a:cs typeface="Calibri" pitchFamily="34" charset="-120"/>
              </a:rPr>
              <a:t>A field born at the intersection of cybernetics, child guidance, and the clinic.</a:t>
            </a:r>
            <a:endParaRPr lang="en-US" sz="820" dirty="0"/>
          </a:p>
        </p:txBody>
      </p:sp>
      <p:sp>
        <p:nvSpPr>
          <p:cNvPr id="55" name="Text 53"/>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Dates are approximate and contested; the point is lineage, not chronology.</a:t>
            </a:r>
            <a:endParaRPr lang="en-US" sz="7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03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19</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Reading the present through the past</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187854"/>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clinic introduces a manualised parenting programme for every family referred with</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“behaviour problems”. Clinicians report that families disengage after two sessions. The service</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manager asks you, as the new MFT, why.</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child guidance</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Palo Alto</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double bind</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professionalisation</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Which historical tension does this reproduce?</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lost when a model is applied without systemic</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assessment?</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How would you argue for relational assessment without</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abandoning evidence?</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04 · PHASE I — FOUNDATIONS</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04</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Structural and Strategic</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Foundations</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If the problem lives in the organisation of the family, what exactly do we change?</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architecture of family life</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A family, drawn as a system</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A family that cannot agree on the problem</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Map boundaries, hierarchy and coalitions in a family.</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Distinguish structural from strategic clinical logic.</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Design and debrief one enactment.</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boundary · hierarchy · subsystem · enactment · directive</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Minuchin (1974), ch. 1–4 · Haley (1976) · Minuchin &amp; Fishman (1981)</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62072" y="5696712"/>
            <a:ext cx="128016" cy="128016"/>
          </a:xfrm>
          <a:prstGeom prst="ellipse">
            <a:avLst/>
          </a:prstGeom>
          <a:solidFill>
            <a:srgbClr val="C2A05F"/>
          </a:solidFill>
          <a:ln w="8890">
            <a:solidFill>
              <a:srgbClr val="E7D3A9"/>
            </a:solidFill>
            <a:prstDash val="solid"/>
          </a:ln>
        </p:spPr>
      </p:sp>
      <p:sp>
        <p:nvSpPr>
          <p:cNvPr id="31" name="Shape 29"/>
          <p:cNvSpPr/>
          <p:nvPr/>
        </p:nvSpPr>
        <p:spPr>
          <a:xfrm>
            <a:off x="3597859" y="5731459"/>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1E1913"/>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04 · LECTURE 04</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21</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architecture of family life</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Structural therapy reads the family as an organised body: who is close to whom, who holds authority, and where the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boundaries fall.</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BOUNDARIES</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Clear boundaries permit both closeness and separateness. Enmeshed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boundaries dissolve autonomy; disengaged boundaries isolate.</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knows what about whom?</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Where does a conversation stop being private?</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Which boundary is too thin, and which too thick?</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HIERARCHY AND SUBSYSTEMS</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Parents need to exercise authority as a subsystem. Children need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access to the sibling subsystem — not to the parental one.</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Spousal subsystem</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Parental subsystem</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Sibling subsystem</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COALITIONS</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 cross-generational coalition — one parent allied with a child against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other — is a structural signature of many presenting problems.</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recruited into which conflict?</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does the coalition protect?</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would a stronger dyad make possible?</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MINUCHIN</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The map is not the family</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A structural map is a working hypothesis, drawn to be revised. It is a clinical instrument, not a verdict on the</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family.</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185039"/>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Minuchin (1974); Haley (1976).</a:t>
            </a:r>
            <a:endParaRPr lang="en-US" sz="6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04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22</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A family, drawn as a system</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Boundaries, hierarchy, coalition and symptom appear in a single view. The genogram is a hypothesis you can test in the room.</a:t>
            </a:r>
            <a:endParaRPr lang="en-US" sz="1060" dirty="0"/>
          </a:p>
        </p:txBody>
      </p:sp>
      <p:sp>
        <p:nvSpPr>
          <p:cNvPr id="10" name="Shape 8"/>
          <p:cNvSpPr/>
          <p:nvPr/>
        </p:nvSpPr>
        <p:spPr>
          <a:xfrm>
            <a:off x="2743200" y="2057400"/>
            <a:ext cx="457200" cy="457200"/>
          </a:xfrm>
          <a:prstGeom prst="ellipse">
            <a:avLst/>
          </a:prstGeom>
          <a:solidFill>
            <a:srgbClr val="FBF7EF"/>
          </a:solidFill>
          <a:ln w="12700">
            <a:solidFill>
              <a:srgbClr val="1B1815"/>
            </a:solidFill>
            <a:prstDash val="solid"/>
          </a:ln>
        </p:spPr>
      </p:sp>
      <p:sp>
        <p:nvSpPr>
          <p:cNvPr id="11" name="Shape 9"/>
          <p:cNvSpPr/>
          <p:nvPr/>
        </p:nvSpPr>
        <p:spPr>
          <a:xfrm>
            <a:off x="3566160" y="2057400"/>
            <a:ext cx="457200" cy="457200"/>
          </a:xfrm>
          <a:prstGeom prst="rect">
            <a:avLst/>
          </a:prstGeom>
          <a:solidFill>
            <a:srgbClr val="FBF7EF"/>
          </a:solidFill>
          <a:ln w="12700">
            <a:solidFill>
              <a:srgbClr val="1B1815"/>
            </a:solidFill>
            <a:prstDash val="solid"/>
          </a:ln>
        </p:spPr>
      </p:sp>
      <p:sp>
        <p:nvSpPr>
          <p:cNvPr id="12" name="Shape 10"/>
          <p:cNvSpPr/>
          <p:nvPr/>
        </p:nvSpPr>
        <p:spPr>
          <a:xfrm>
            <a:off x="3200400" y="2286000"/>
            <a:ext cx="365760" cy="91"/>
          </a:xfrm>
          <a:prstGeom prst="line">
            <a:avLst/>
          </a:prstGeom>
          <a:noFill/>
          <a:ln w="13970">
            <a:solidFill>
              <a:srgbClr val="1B1815"/>
            </a:solidFill>
            <a:prstDash val="solid"/>
            <a:headEnd type="none"/>
            <a:tailEnd type="none"/>
          </a:ln>
        </p:spPr>
      </p:sp>
      <p:sp>
        <p:nvSpPr>
          <p:cNvPr id="13" name="Text 11"/>
          <p:cNvSpPr txBox="1"/>
          <p:nvPr/>
        </p:nvSpPr>
        <p:spPr>
          <a:xfrm>
            <a:off x="2404872" y="1865376"/>
            <a:ext cx="1133856" cy="216154"/>
          </a:xfrm>
          <a:prstGeom prst="rect">
            <a:avLst/>
          </a:prstGeom>
          <a:noFill/>
          <a:ln/>
        </p:spPr>
        <p:txBody>
          <a:bodyPr wrap="square" lIns="0" tIns="0" rIns="0" bIns="0" rtlCol="0" anchor="t"/>
          <a:lstStyle/>
          <a:p>
            <a:pPr algn="ctr" indent="0" marL="0">
              <a:lnSpc>
                <a:spcPts val="962"/>
              </a:lnSpc>
              <a:buNone/>
            </a:pPr>
            <a:r>
              <a:rPr lang="en-US" sz="740" dirty="0">
                <a:solidFill>
                  <a:srgbClr val="5B544A"/>
                </a:solidFill>
                <a:latin typeface="Calibri" pitchFamily="34" charset="0"/>
                <a:ea typeface="Calibri" pitchFamily="34" charset="-122"/>
                <a:cs typeface="Calibri" pitchFamily="34" charset="-120"/>
              </a:rPr>
              <a:t>Grandmother</a:t>
            </a:r>
            <a:endParaRPr lang="en-US" sz="740" dirty="0"/>
          </a:p>
        </p:txBody>
      </p:sp>
      <p:sp>
        <p:nvSpPr>
          <p:cNvPr id="14" name="Text 12"/>
          <p:cNvSpPr txBox="1"/>
          <p:nvPr/>
        </p:nvSpPr>
        <p:spPr>
          <a:xfrm>
            <a:off x="3291840" y="1865376"/>
            <a:ext cx="1133856" cy="216154"/>
          </a:xfrm>
          <a:prstGeom prst="rect">
            <a:avLst/>
          </a:prstGeom>
          <a:noFill/>
          <a:ln/>
        </p:spPr>
        <p:txBody>
          <a:bodyPr wrap="square" lIns="0" tIns="0" rIns="0" bIns="0" rtlCol="0" anchor="t"/>
          <a:lstStyle/>
          <a:p>
            <a:pPr algn="ctr" indent="0" marL="0">
              <a:lnSpc>
                <a:spcPts val="962"/>
              </a:lnSpc>
              <a:buNone/>
            </a:pPr>
            <a:r>
              <a:rPr lang="en-US" sz="740" dirty="0">
                <a:solidFill>
                  <a:srgbClr val="5B544A"/>
                </a:solidFill>
                <a:latin typeface="Calibri" pitchFamily="34" charset="0"/>
                <a:ea typeface="Calibri" pitchFamily="34" charset="-122"/>
                <a:cs typeface="Calibri" pitchFamily="34" charset="-120"/>
              </a:rPr>
              <a:t>Grandfather</a:t>
            </a:r>
            <a:endParaRPr lang="en-US" sz="740" dirty="0"/>
          </a:p>
        </p:txBody>
      </p:sp>
      <p:sp>
        <p:nvSpPr>
          <p:cNvPr id="15" name="Shape 13"/>
          <p:cNvSpPr/>
          <p:nvPr/>
        </p:nvSpPr>
        <p:spPr>
          <a:xfrm>
            <a:off x="3383280" y="2514600"/>
            <a:ext cx="91" cy="374904"/>
          </a:xfrm>
          <a:prstGeom prst="line">
            <a:avLst/>
          </a:prstGeom>
          <a:noFill/>
          <a:ln w="11430">
            <a:solidFill>
              <a:srgbClr val="1B1815"/>
            </a:solidFill>
            <a:prstDash val="solid"/>
            <a:headEnd type="none"/>
            <a:tailEnd type="none"/>
          </a:ln>
        </p:spPr>
      </p:sp>
      <p:sp>
        <p:nvSpPr>
          <p:cNvPr id="16" name="Shape 14"/>
          <p:cNvSpPr/>
          <p:nvPr/>
        </p:nvSpPr>
        <p:spPr>
          <a:xfrm flipH="1">
            <a:off x="2971800" y="2889504"/>
            <a:ext cx="411480" cy="91"/>
          </a:xfrm>
          <a:prstGeom prst="line">
            <a:avLst/>
          </a:prstGeom>
          <a:noFill/>
          <a:ln w="11430">
            <a:solidFill>
              <a:srgbClr val="1B1815"/>
            </a:solidFill>
            <a:prstDash val="solid"/>
            <a:headEnd type="none"/>
            <a:tailEnd type="none"/>
          </a:ln>
        </p:spPr>
      </p:sp>
      <p:sp>
        <p:nvSpPr>
          <p:cNvPr id="17" name="Shape 15"/>
          <p:cNvSpPr/>
          <p:nvPr/>
        </p:nvSpPr>
        <p:spPr>
          <a:xfrm>
            <a:off x="2971800" y="2889504"/>
            <a:ext cx="91" cy="475488"/>
          </a:xfrm>
          <a:prstGeom prst="line">
            <a:avLst/>
          </a:prstGeom>
          <a:noFill/>
          <a:ln w="11430">
            <a:solidFill>
              <a:srgbClr val="1B1815"/>
            </a:solidFill>
            <a:prstDash val="solid"/>
            <a:headEnd type="none"/>
            <a:tailEnd type="none"/>
          </a:ln>
        </p:spPr>
      </p:sp>
      <p:sp>
        <p:nvSpPr>
          <p:cNvPr id="18" name="Shape 16"/>
          <p:cNvSpPr/>
          <p:nvPr/>
        </p:nvSpPr>
        <p:spPr>
          <a:xfrm>
            <a:off x="2743200" y="3364992"/>
            <a:ext cx="457200" cy="457200"/>
          </a:xfrm>
          <a:prstGeom prst="ellipse">
            <a:avLst/>
          </a:prstGeom>
          <a:solidFill>
            <a:srgbClr val="FBF7EF"/>
          </a:solidFill>
          <a:ln w="12700">
            <a:solidFill>
              <a:srgbClr val="1B1815"/>
            </a:solidFill>
            <a:prstDash val="solid"/>
          </a:ln>
        </p:spPr>
      </p:sp>
      <p:sp>
        <p:nvSpPr>
          <p:cNvPr id="19" name="Shape 17"/>
          <p:cNvSpPr/>
          <p:nvPr/>
        </p:nvSpPr>
        <p:spPr>
          <a:xfrm>
            <a:off x="3566160" y="3364992"/>
            <a:ext cx="457200" cy="457200"/>
          </a:xfrm>
          <a:prstGeom prst="rect">
            <a:avLst/>
          </a:prstGeom>
          <a:solidFill>
            <a:srgbClr val="FBF7EF"/>
          </a:solidFill>
          <a:ln w="12700">
            <a:solidFill>
              <a:srgbClr val="1B1815"/>
            </a:solidFill>
            <a:prstDash val="solid"/>
          </a:ln>
        </p:spPr>
      </p:sp>
      <p:sp>
        <p:nvSpPr>
          <p:cNvPr id="20" name="Shape 18"/>
          <p:cNvSpPr/>
          <p:nvPr/>
        </p:nvSpPr>
        <p:spPr>
          <a:xfrm>
            <a:off x="3200400" y="3593592"/>
            <a:ext cx="365760" cy="91"/>
          </a:xfrm>
          <a:prstGeom prst="line">
            <a:avLst/>
          </a:prstGeom>
          <a:noFill/>
          <a:ln w="13970">
            <a:solidFill>
              <a:srgbClr val="1B1815"/>
            </a:solidFill>
            <a:prstDash val="solid"/>
            <a:headEnd type="none"/>
            <a:tailEnd type="none"/>
          </a:ln>
        </p:spPr>
      </p:sp>
      <p:sp>
        <p:nvSpPr>
          <p:cNvPr id="21" name="Text 19"/>
          <p:cNvSpPr txBox="1"/>
          <p:nvPr/>
        </p:nvSpPr>
        <p:spPr>
          <a:xfrm>
            <a:off x="2011680" y="3511296"/>
            <a:ext cx="713232" cy="216154"/>
          </a:xfrm>
          <a:prstGeom prst="rect">
            <a:avLst/>
          </a:prstGeom>
          <a:noFill/>
          <a:ln/>
        </p:spPr>
        <p:txBody>
          <a:bodyPr wrap="square" lIns="0" tIns="0" rIns="0" bIns="0" rtlCol="0" anchor="t"/>
          <a:lstStyle/>
          <a:p>
            <a:pPr algn="r" indent="0" marL="0">
              <a:lnSpc>
                <a:spcPts val="962"/>
              </a:lnSpc>
              <a:buNone/>
            </a:pPr>
            <a:r>
              <a:rPr lang="en-US" sz="740" dirty="0">
                <a:solidFill>
                  <a:srgbClr val="5B544A"/>
                </a:solidFill>
                <a:latin typeface="Calibri" pitchFamily="34" charset="0"/>
                <a:ea typeface="Calibri" pitchFamily="34" charset="-122"/>
                <a:cs typeface="Calibri" pitchFamily="34" charset="-120"/>
              </a:rPr>
              <a:t>Mother</a:t>
            </a:r>
            <a:endParaRPr lang="en-US" sz="740" dirty="0"/>
          </a:p>
        </p:txBody>
      </p:sp>
      <p:sp>
        <p:nvSpPr>
          <p:cNvPr id="22" name="Text 20"/>
          <p:cNvSpPr txBox="1"/>
          <p:nvPr/>
        </p:nvSpPr>
        <p:spPr>
          <a:xfrm>
            <a:off x="4114800" y="3511296"/>
            <a:ext cx="822960" cy="216154"/>
          </a:xfrm>
          <a:prstGeom prst="rect">
            <a:avLst/>
          </a:prstGeom>
          <a:noFill/>
          <a:ln/>
        </p:spPr>
        <p:txBody>
          <a:bodyPr wrap="square" lIns="0" tIns="0" rIns="0" bIns="0" rtlCol="0" anchor="t"/>
          <a:lstStyle/>
          <a:p>
            <a:pPr algn="l" indent="0" marL="0">
              <a:lnSpc>
                <a:spcPts val="962"/>
              </a:lnSpc>
              <a:buNone/>
            </a:pPr>
            <a:r>
              <a:rPr lang="en-US" sz="740" dirty="0">
                <a:solidFill>
                  <a:srgbClr val="5B544A"/>
                </a:solidFill>
                <a:latin typeface="Calibri" pitchFamily="34" charset="0"/>
                <a:ea typeface="Calibri" pitchFamily="34" charset="-122"/>
                <a:cs typeface="Calibri" pitchFamily="34" charset="-120"/>
              </a:rPr>
              <a:t>Father</a:t>
            </a:r>
            <a:endParaRPr lang="en-US" sz="740" dirty="0"/>
          </a:p>
        </p:txBody>
      </p:sp>
      <p:sp>
        <p:nvSpPr>
          <p:cNvPr id="23" name="Shape 21"/>
          <p:cNvSpPr/>
          <p:nvPr/>
        </p:nvSpPr>
        <p:spPr>
          <a:xfrm>
            <a:off x="3355848" y="3648456"/>
            <a:ext cx="100584" cy="82296"/>
          </a:xfrm>
          <a:prstGeom prst="line">
            <a:avLst/>
          </a:prstGeom>
          <a:noFill/>
          <a:ln w="13970">
            <a:solidFill>
              <a:srgbClr val="A96A45"/>
            </a:solidFill>
            <a:prstDash val="solid"/>
            <a:headEnd type="none"/>
            <a:tailEnd type="none"/>
          </a:ln>
        </p:spPr>
      </p:sp>
      <p:sp>
        <p:nvSpPr>
          <p:cNvPr id="24" name="Shape 22"/>
          <p:cNvSpPr/>
          <p:nvPr/>
        </p:nvSpPr>
        <p:spPr>
          <a:xfrm flipH="1">
            <a:off x="3319272" y="3639312"/>
            <a:ext cx="137160" cy="137160"/>
          </a:xfrm>
          <a:prstGeom prst="line">
            <a:avLst/>
          </a:prstGeom>
          <a:noFill/>
          <a:ln w="13970">
            <a:solidFill>
              <a:srgbClr val="A96A45"/>
            </a:solidFill>
            <a:prstDash val="solid"/>
            <a:headEnd type="none"/>
            <a:tailEnd type="none"/>
          </a:ln>
        </p:spPr>
      </p:sp>
      <p:sp>
        <p:nvSpPr>
          <p:cNvPr id="25" name="Text 23"/>
          <p:cNvSpPr txBox="1"/>
          <p:nvPr/>
        </p:nvSpPr>
        <p:spPr>
          <a:xfrm>
            <a:off x="2331720" y="2843784"/>
            <a:ext cx="2148840" cy="188024"/>
          </a:xfrm>
          <a:prstGeom prst="rect">
            <a:avLst/>
          </a:prstGeom>
          <a:noFill/>
          <a:ln/>
        </p:spPr>
        <p:txBody>
          <a:bodyPr wrap="square" lIns="0" tIns="0" rIns="0" bIns="0" rtlCol="0" anchor="t"/>
          <a:lstStyle/>
          <a:p>
            <a:pPr algn="r" indent="0" marL="0">
              <a:lnSpc>
                <a:spcPts val="851"/>
              </a:lnSpc>
              <a:buNone/>
            </a:pPr>
            <a:r>
              <a:rPr lang="en-US" sz="630" spc="150" kern="0" dirty="0">
                <a:solidFill>
                  <a:srgbClr val="6E8274"/>
                </a:solidFill>
                <a:latin typeface="Calibri" pitchFamily="34" charset="0"/>
                <a:ea typeface="Calibri" pitchFamily="34" charset="-122"/>
                <a:cs typeface="Calibri" pitchFamily="34" charset="-120"/>
              </a:rPr>
              <a:t>PARENTAL SUBSYSTEM</a:t>
            </a:r>
            <a:endParaRPr lang="en-US" sz="630" dirty="0"/>
          </a:p>
        </p:txBody>
      </p:sp>
      <p:sp>
        <p:nvSpPr>
          <p:cNvPr id="26" name="Shape 24"/>
          <p:cNvSpPr/>
          <p:nvPr/>
        </p:nvSpPr>
        <p:spPr>
          <a:xfrm>
            <a:off x="3383280" y="3822192"/>
            <a:ext cx="91" cy="384048"/>
          </a:xfrm>
          <a:prstGeom prst="line">
            <a:avLst/>
          </a:prstGeom>
          <a:noFill/>
          <a:ln w="11430">
            <a:solidFill>
              <a:srgbClr val="1B1815"/>
            </a:solidFill>
            <a:prstDash val="solid"/>
            <a:headEnd type="none"/>
            <a:tailEnd type="none"/>
          </a:ln>
        </p:spPr>
      </p:sp>
      <p:sp>
        <p:nvSpPr>
          <p:cNvPr id="27" name="Shape 25"/>
          <p:cNvSpPr/>
          <p:nvPr/>
        </p:nvSpPr>
        <p:spPr>
          <a:xfrm>
            <a:off x="2532888" y="4206240"/>
            <a:ext cx="822960" cy="91"/>
          </a:xfrm>
          <a:prstGeom prst="line">
            <a:avLst/>
          </a:prstGeom>
          <a:noFill/>
          <a:ln w="11430">
            <a:solidFill>
              <a:srgbClr val="1B1815"/>
            </a:solidFill>
            <a:prstDash val="solid"/>
            <a:headEnd type="none"/>
            <a:tailEnd type="none"/>
          </a:ln>
        </p:spPr>
      </p:sp>
      <p:sp>
        <p:nvSpPr>
          <p:cNvPr id="28" name="Shape 26"/>
          <p:cNvSpPr/>
          <p:nvPr/>
        </p:nvSpPr>
        <p:spPr>
          <a:xfrm>
            <a:off x="2532888" y="4206240"/>
            <a:ext cx="91" cy="448056"/>
          </a:xfrm>
          <a:prstGeom prst="line">
            <a:avLst/>
          </a:prstGeom>
          <a:noFill/>
          <a:ln w="11430">
            <a:solidFill>
              <a:srgbClr val="1B1815"/>
            </a:solidFill>
            <a:prstDash val="solid"/>
            <a:headEnd type="none"/>
            <a:tailEnd type="none"/>
          </a:ln>
        </p:spPr>
      </p:sp>
      <p:sp>
        <p:nvSpPr>
          <p:cNvPr id="29" name="Shape 27"/>
          <p:cNvSpPr/>
          <p:nvPr/>
        </p:nvSpPr>
        <p:spPr>
          <a:xfrm>
            <a:off x="3355848" y="4206240"/>
            <a:ext cx="91" cy="448056"/>
          </a:xfrm>
          <a:prstGeom prst="line">
            <a:avLst/>
          </a:prstGeom>
          <a:noFill/>
          <a:ln w="11430">
            <a:solidFill>
              <a:srgbClr val="1B1815"/>
            </a:solidFill>
            <a:prstDash val="solid"/>
            <a:headEnd type="none"/>
            <a:tailEnd type="none"/>
          </a:ln>
        </p:spPr>
      </p:sp>
      <p:sp>
        <p:nvSpPr>
          <p:cNvPr id="30" name="Shape 28"/>
          <p:cNvSpPr/>
          <p:nvPr/>
        </p:nvSpPr>
        <p:spPr>
          <a:xfrm>
            <a:off x="2304288" y="4654296"/>
            <a:ext cx="457200" cy="457200"/>
          </a:xfrm>
          <a:prstGeom prst="ellipse">
            <a:avLst/>
          </a:prstGeom>
          <a:solidFill>
            <a:srgbClr val="FBF7EF"/>
          </a:solidFill>
          <a:ln w="12700">
            <a:solidFill>
              <a:srgbClr val="1B1815"/>
            </a:solidFill>
            <a:prstDash val="solid"/>
          </a:ln>
        </p:spPr>
      </p:sp>
      <p:sp>
        <p:nvSpPr>
          <p:cNvPr id="31" name="Shape 29"/>
          <p:cNvSpPr/>
          <p:nvPr/>
        </p:nvSpPr>
        <p:spPr>
          <a:xfrm>
            <a:off x="3127248" y="4654296"/>
            <a:ext cx="457200" cy="457200"/>
          </a:xfrm>
          <a:prstGeom prst="rect">
            <a:avLst/>
          </a:prstGeom>
          <a:solidFill>
            <a:srgbClr val="FBF7EF"/>
          </a:solidFill>
          <a:ln w="12700">
            <a:solidFill>
              <a:srgbClr val="1B1815"/>
            </a:solidFill>
            <a:prstDash val="solid"/>
          </a:ln>
        </p:spPr>
      </p:sp>
      <p:sp>
        <p:nvSpPr>
          <p:cNvPr id="32" name="Shape 30"/>
          <p:cNvSpPr/>
          <p:nvPr/>
        </p:nvSpPr>
        <p:spPr>
          <a:xfrm>
            <a:off x="3081528" y="4608576"/>
            <a:ext cx="548640" cy="548640"/>
          </a:xfrm>
          <a:prstGeom prst="rect">
            <a:avLst/>
          </a:prstGeom>
          <a:solidFill>
            <a:srgbClr val="FFFFFF">
              <a:alpha val="0"/>
            </a:srgbClr>
          </a:solidFill>
          <a:ln w="7620">
            <a:solidFill>
              <a:srgbClr val="1B1815"/>
            </a:solidFill>
            <a:prstDash val="solid"/>
          </a:ln>
        </p:spPr>
      </p:sp>
      <p:sp>
        <p:nvSpPr>
          <p:cNvPr id="33" name="Shape 31"/>
          <p:cNvSpPr/>
          <p:nvPr/>
        </p:nvSpPr>
        <p:spPr>
          <a:xfrm flipH="1">
            <a:off x="2634257" y="3819426"/>
            <a:ext cx="291573" cy="856496"/>
          </a:xfrm>
          <a:prstGeom prst="line">
            <a:avLst/>
          </a:prstGeom>
          <a:noFill/>
          <a:ln w="6985">
            <a:solidFill>
              <a:srgbClr val="A96A45"/>
            </a:solidFill>
            <a:prstDash val="solid"/>
            <a:headEnd type="none"/>
            <a:tailEnd type="none"/>
          </a:ln>
        </p:spPr>
      </p:sp>
      <p:sp>
        <p:nvSpPr>
          <p:cNvPr id="34" name="Shape 32"/>
          <p:cNvSpPr/>
          <p:nvPr/>
        </p:nvSpPr>
        <p:spPr>
          <a:xfrm flipH="1">
            <a:off x="2606558" y="3809996"/>
            <a:ext cx="291573" cy="856496"/>
          </a:xfrm>
          <a:prstGeom prst="line">
            <a:avLst/>
          </a:prstGeom>
          <a:noFill/>
          <a:ln w="6985">
            <a:solidFill>
              <a:srgbClr val="A96A45"/>
            </a:solidFill>
            <a:prstDash val="solid"/>
            <a:headEnd type="none"/>
            <a:tailEnd type="none"/>
          </a:ln>
        </p:spPr>
      </p:sp>
      <p:sp>
        <p:nvSpPr>
          <p:cNvPr id="35" name="Shape 33"/>
          <p:cNvSpPr/>
          <p:nvPr/>
        </p:nvSpPr>
        <p:spPr>
          <a:xfrm flipH="1">
            <a:off x="2578858" y="3800566"/>
            <a:ext cx="291573" cy="856496"/>
          </a:xfrm>
          <a:prstGeom prst="line">
            <a:avLst/>
          </a:prstGeom>
          <a:noFill/>
          <a:ln w="6985">
            <a:solidFill>
              <a:srgbClr val="A96A45"/>
            </a:solidFill>
            <a:prstDash val="solid"/>
            <a:headEnd type="none"/>
            <a:tailEnd type="none"/>
          </a:ln>
        </p:spPr>
      </p:sp>
      <p:sp>
        <p:nvSpPr>
          <p:cNvPr id="36" name="Shape 34"/>
          <p:cNvSpPr/>
          <p:nvPr/>
        </p:nvSpPr>
        <p:spPr>
          <a:xfrm>
            <a:off x="2368296" y="3044952"/>
            <a:ext cx="2029968" cy="1133856"/>
          </a:xfrm>
          <a:prstGeom prst="roundRect">
            <a:avLst>
              <a:gd name="adj" fmla="val 10406"/>
            </a:avLst>
          </a:prstGeom>
          <a:solidFill>
            <a:srgbClr val="FFFFFF">
              <a:alpha val="0"/>
            </a:srgbClr>
          </a:solidFill>
          <a:ln w="10160">
            <a:solidFill>
              <a:srgbClr val="6E8274"/>
            </a:solidFill>
            <a:prstDash val="dash"/>
          </a:ln>
        </p:spPr>
      </p:sp>
      <p:sp>
        <p:nvSpPr>
          <p:cNvPr id="37" name="Shape 35"/>
          <p:cNvSpPr/>
          <p:nvPr/>
        </p:nvSpPr>
        <p:spPr>
          <a:xfrm>
            <a:off x="2075688" y="4407408"/>
            <a:ext cx="1737360" cy="969264"/>
          </a:xfrm>
          <a:prstGeom prst="roundRect">
            <a:avLst>
              <a:gd name="adj" fmla="val 14240"/>
            </a:avLst>
          </a:prstGeom>
          <a:solidFill>
            <a:srgbClr val="FFFFFF">
              <a:alpha val="0"/>
            </a:srgbClr>
          </a:solidFill>
          <a:ln w="10160">
            <a:solidFill>
              <a:srgbClr val="6E8274"/>
            </a:solidFill>
            <a:prstDash val="dash"/>
          </a:ln>
        </p:spPr>
      </p:sp>
      <p:sp>
        <p:nvSpPr>
          <p:cNvPr id="38" name="Text 36"/>
          <p:cNvSpPr txBox="1"/>
          <p:nvPr/>
        </p:nvSpPr>
        <p:spPr>
          <a:xfrm>
            <a:off x="2075688" y="5541264"/>
            <a:ext cx="1737360" cy="188024"/>
          </a:xfrm>
          <a:prstGeom prst="rect">
            <a:avLst/>
          </a:prstGeom>
          <a:noFill/>
          <a:ln/>
        </p:spPr>
        <p:txBody>
          <a:bodyPr wrap="square" lIns="0" tIns="0" rIns="0" bIns="0" rtlCol="0" anchor="t"/>
          <a:lstStyle/>
          <a:p>
            <a:pPr algn="ctr" indent="0" marL="0">
              <a:lnSpc>
                <a:spcPts val="851"/>
              </a:lnSpc>
              <a:buNone/>
            </a:pPr>
            <a:r>
              <a:rPr lang="en-US" sz="630" spc="150" kern="0" dirty="0">
                <a:solidFill>
                  <a:srgbClr val="6E8274"/>
                </a:solidFill>
                <a:latin typeface="Calibri" pitchFamily="34" charset="0"/>
                <a:ea typeface="Calibri" pitchFamily="34" charset="-122"/>
                <a:cs typeface="Calibri" pitchFamily="34" charset="-120"/>
              </a:rPr>
              <a:t>SIBLING SUBSYSTEM</a:t>
            </a:r>
            <a:endParaRPr lang="en-US" sz="630" dirty="0"/>
          </a:p>
        </p:txBody>
      </p:sp>
      <p:sp>
        <p:nvSpPr>
          <p:cNvPr id="39" name="Text 37"/>
          <p:cNvSpPr txBox="1"/>
          <p:nvPr/>
        </p:nvSpPr>
        <p:spPr>
          <a:xfrm>
            <a:off x="1984248" y="5193792"/>
            <a:ext cx="786384" cy="210312"/>
          </a:xfrm>
          <a:prstGeom prst="rect">
            <a:avLst/>
          </a:prstGeom>
          <a:noFill/>
          <a:ln/>
        </p:spPr>
        <p:txBody>
          <a:bodyPr wrap="square" lIns="0" tIns="0" rIns="0" bIns="0" rtlCol="0" anchor="t"/>
          <a:lstStyle/>
          <a:p>
            <a:pPr algn="ctr" indent="0" marL="0">
              <a:lnSpc>
                <a:spcPts val="936"/>
              </a:lnSpc>
              <a:buNone/>
            </a:pPr>
            <a:r>
              <a:rPr lang="en-US" sz="720" dirty="0">
                <a:solidFill>
                  <a:srgbClr val="5B544A"/>
                </a:solidFill>
                <a:latin typeface="Calibri" pitchFamily="34" charset="0"/>
                <a:ea typeface="Calibri" pitchFamily="34" charset="-122"/>
                <a:cs typeface="Calibri" pitchFamily="34" charset="-120"/>
              </a:rPr>
              <a:t>Daughter, 16</a:t>
            </a:r>
            <a:endParaRPr lang="en-US" sz="720" dirty="0"/>
          </a:p>
        </p:txBody>
      </p:sp>
      <p:sp>
        <p:nvSpPr>
          <p:cNvPr id="40" name="Text 38"/>
          <p:cNvSpPr txBox="1"/>
          <p:nvPr/>
        </p:nvSpPr>
        <p:spPr>
          <a:xfrm>
            <a:off x="2953512" y="5193792"/>
            <a:ext cx="896112" cy="210312"/>
          </a:xfrm>
          <a:prstGeom prst="rect">
            <a:avLst/>
          </a:prstGeom>
          <a:noFill/>
          <a:ln/>
        </p:spPr>
        <p:txBody>
          <a:bodyPr wrap="square" lIns="0" tIns="0" rIns="0" bIns="0" rtlCol="0" anchor="t"/>
          <a:lstStyle/>
          <a:p>
            <a:pPr algn="ctr" indent="0" marL="0">
              <a:lnSpc>
                <a:spcPts val="936"/>
              </a:lnSpc>
              <a:buNone/>
            </a:pPr>
            <a:r>
              <a:rPr lang="en-US" sz="720" dirty="0">
                <a:solidFill>
                  <a:srgbClr val="5B544A"/>
                </a:solidFill>
                <a:latin typeface="Calibri" pitchFamily="34" charset="0"/>
                <a:ea typeface="Calibri" pitchFamily="34" charset="-122"/>
                <a:cs typeface="Calibri" pitchFamily="34" charset="-120"/>
              </a:rPr>
              <a:t>Son, 11 · IP</a:t>
            </a:r>
            <a:endParaRPr lang="en-US" sz="720" dirty="0"/>
          </a:p>
        </p:txBody>
      </p:sp>
      <p:sp>
        <p:nvSpPr>
          <p:cNvPr id="41" name="Shape 39"/>
          <p:cNvSpPr/>
          <p:nvPr/>
        </p:nvSpPr>
        <p:spPr>
          <a:xfrm>
            <a:off x="6812280" y="1993392"/>
            <a:ext cx="4315968" cy="3246120"/>
          </a:xfrm>
          <a:prstGeom prst="roundRect">
            <a:avLst>
              <a:gd name="adj" fmla="val 357"/>
            </a:avLst>
          </a:prstGeom>
          <a:solidFill>
            <a:srgbClr val="FDFAF3"/>
          </a:solidFill>
          <a:ln w="8890">
            <a:solidFill>
              <a:srgbClr val="D9CDB7"/>
            </a:solidFill>
            <a:prstDash val="solid"/>
          </a:ln>
        </p:spPr>
      </p:sp>
      <p:sp>
        <p:nvSpPr>
          <p:cNvPr id="42" name="Text 40"/>
          <p:cNvSpPr txBox="1"/>
          <p:nvPr/>
        </p:nvSpPr>
        <p:spPr>
          <a:xfrm>
            <a:off x="7013448" y="2157984"/>
            <a:ext cx="3840480" cy="365125"/>
          </a:xfrm>
          <a:prstGeom prst="rect">
            <a:avLst/>
          </a:prstGeom>
          <a:noFill/>
          <a:ln/>
        </p:spPr>
        <p:txBody>
          <a:bodyPr wrap="square" lIns="0" tIns="0" rIns="0" bIns="0" rtlCol="0" anchor="t"/>
          <a:lstStyle/>
          <a:p>
            <a:pPr algn="l" indent="0" marL="0">
              <a:lnSpc>
                <a:spcPts val="1625"/>
              </a:lnSpc>
              <a:buNone/>
            </a:pPr>
            <a:r>
              <a:rPr lang="en-US" sz="1250" dirty="0">
                <a:solidFill>
                  <a:srgbClr val="1B1815"/>
                </a:solidFill>
                <a:latin typeface="Georgia" pitchFamily="34" charset="0"/>
                <a:ea typeface="Georgia" pitchFamily="34" charset="-122"/>
                <a:cs typeface="Georgia" pitchFamily="34" charset="-120"/>
              </a:rPr>
              <a:t>Reading the map</a:t>
            </a:r>
            <a:endParaRPr lang="en-US" sz="1250" dirty="0"/>
          </a:p>
        </p:txBody>
      </p:sp>
      <p:sp>
        <p:nvSpPr>
          <p:cNvPr id="43" name="Shape 41"/>
          <p:cNvSpPr/>
          <p:nvPr/>
        </p:nvSpPr>
        <p:spPr>
          <a:xfrm>
            <a:off x="7018020" y="2510028"/>
            <a:ext cx="137160" cy="137160"/>
          </a:xfrm>
          <a:prstGeom prst="rect">
            <a:avLst/>
          </a:prstGeom>
          <a:solidFill>
            <a:srgbClr val="FBF7EF"/>
          </a:solidFill>
          <a:ln w="8890">
            <a:solidFill>
              <a:srgbClr val="1B1815"/>
            </a:solidFill>
            <a:prstDash val="solid"/>
          </a:ln>
        </p:spPr>
      </p:sp>
      <p:sp>
        <p:nvSpPr>
          <p:cNvPr id="44" name="Text 42"/>
          <p:cNvSpPr txBox="1"/>
          <p:nvPr/>
        </p:nvSpPr>
        <p:spPr>
          <a:xfrm>
            <a:off x="7379208" y="2510028"/>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male</a:t>
            </a:r>
            <a:endParaRPr lang="en-US" sz="840" dirty="0"/>
          </a:p>
        </p:txBody>
      </p:sp>
      <p:sp>
        <p:nvSpPr>
          <p:cNvPr id="45" name="Shape 43"/>
          <p:cNvSpPr/>
          <p:nvPr/>
        </p:nvSpPr>
        <p:spPr>
          <a:xfrm>
            <a:off x="7015277" y="2836469"/>
            <a:ext cx="142646" cy="142646"/>
          </a:xfrm>
          <a:prstGeom prst="ellipse">
            <a:avLst/>
          </a:prstGeom>
          <a:solidFill>
            <a:srgbClr val="FBF7EF"/>
          </a:solidFill>
          <a:ln w="8890">
            <a:solidFill>
              <a:srgbClr val="1B1815"/>
            </a:solidFill>
            <a:prstDash val="solid"/>
          </a:ln>
        </p:spPr>
      </p:sp>
      <p:sp>
        <p:nvSpPr>
          <p:cNvPr id="46" name="Text 44"/>
          <p:cNvSpPr txBox="1"/>
          <p:nvPr/>
        </p:nvSpPr>
        <p:spPr>
          <a:xfrm>
            <a:off x="7379208" y="2839212"/>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female</a:t>
            </a:r>
            <a:endParaRPr lang="en-US" sz="840" dirty="0"/>
          </a:p>
        </p:txBody>
      </p:sp>
      <p:sp>
        <p:nvSpPr>
          <p:cNvPr id="47" name="Shape 45"/>
          <p:cNvSpPr/>
          <p:nvPr/>
        </p:nvSpPr>
        <p:spPr>
          <a:xfrm>
            <a:off x="7018020" y="3168396"/>
            <a:ext cx="137160" cy="137160"/>
          </a:xfrm>
          <a:prstGeom prst="rect">
            <a:avLst/>
          </a:prstGeom>
          <a:solidFill>
            <a:srgbClr val="FBF7EF"/>
          </a:solidFill>
          <a:ln w="8890">
            <a:solidFill>
              <a:srgbClr val="1B1815"/>
            </a:solidFill>
            <a:prstDash val="solid"/>
          </a:ln>
        </p:spPr>
      </p:sp>
      <p:sp>
        <p:nvSpPr>
          <p:cNvPr id="48" name="Shape 46"/>
          <p:cNvSpPr/>
          <p:nvPr/>
        </p:nvSpPr>
        <p:spPr>
          <a:xfrm>
            <a:off x="7018020" y="3168396"/>
            <a:ext cx="137160" cy="137160"/>
          </a:xfrm>
          <a:prstGeom prst="line">
            <a:avLst/>
          </a:prstGeom>
          <a:noFill/>
          <a:ln w="7620">
            <a:solidFill>
              <a:srgbClr val="1B1815"/>
            </a:solidFill>
            <a:prstDash val="solid"/>
            <a:headEnd type="none"/>
            <a:tailEnd type="none"/>
          </a:ln>
        </p:spPr>
      </p:sp>
      <p:sp>
        <p:nvSpPr>
          <p:cNvPr id="49" name="Shape 47"/>
          <p:cNvSpPr/>
          <p:nvPr/>
        </p:nvSpPr>
        <p:spPr>
          <a:xfrm flipV="1">
            <a:off x="7018020" y="3168396"/>
            <a:ext cx="137160" cy="137160"/>
          </a:xfrm>
          <a:prstGeom prst="line">
            <a:avLst/>
          </a:prstGeom>
          <a:noFill/>
          <a:ln w="7620">
            <a:solidFill>
              <a:srgbClr val="1B1815"/>
            </a:solidFill>
            <a:prstDash val="solid"/>
            <a:headEnd type="none"/>
            <a:tailEnd type="none"/>
          </a:ln>
        </p:spPr>
      </p:sp>
      <p:sp>
        <p:nvSpPr>
          <p:cNvPr id="50" name="Text 48"/>
          <p:cNvSpPr txBox="1"/>
          <p:nvPr/>
        </p:nvSpPr>
        <p:spPr>
          <a:xfrm>
            <a:off x="7379208" y="3168396"/>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deceased</a:t>
            </a:r>
            <a:endParaRPr lang="en-US" sz="840" dirty="0"/>
          </a:p>
        </p:txBody>
      </p:sp>
      <p:sp>
        <p:nvSpPr>
          <p:cNvPr id="51" name="Shape 49"/>
          <p:cNvSpPr/>
          <p:nvPr/>
        </p:nvSpPr>
        <p:spPr>
          <a:xfrm>
            <a:off x="6958584" y="3547872"/>
            <a:ext cx="256032" cy="91"/>
          </a:xfrm>
          <a:prstGeom prst="line">
            <a:avLst/>
          </a:prstGeom>
          <a:noFill/>
          <a:ln w="7620">
            <a:solidFill>
              <a:srgbClr val="1B1815"/>
            </a:solidFill>
            <a:prstDash val="solid"/>
            <a:headEnd type="none"/>
            <a:tailEnd type="none"/>
          </a:ln>
        </p:spPr>
      </p:sp>
      <p:sp>
        <p:nvSpPr>
          <p:cNvPr id="52" name="Shape 50"/>
          <p:cNvSpPr/>
          <p:nvPr/>
        </p:nvSpPr>
        <p:spPr>
          <a:xfrm>
            <a:off x="6958584" y="3593592"/>
            <a:ext cx="256032" cy="91"/>
          </a:xfrm>
          <a:prstGeom prst="line">
            <a:avLst/>
          </a:prstGeom>
          <a:noFill/>
          <a:ln w="7620">
            <a:solidFill>
              <a:srgbClr val="1B1815"/>
            </a:solidFill>
            <a:prstDash val="solid"/>
            <a:headEnd type="none"/>
            <a:tailEnd type="none"/>
          </a:ln>
        </p:spPr>
      </p:sp>
      <p:sp>
        <p:nvSpPr>
          <p:cNvPr id="53" name="Text 51"/>
          <p:cNvSpPr txBox="1"/>
          <p:nvPr/>
        </p:nvSpPr>
        <p:spPr>
          <a:xfrm>
            <a:off x="7379208" y="3497580"/>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marriage</a:t>
            </a:r>
            <a:endParaRPr lang="en-US" sz="840" dirty="0"/>
          </a:p>
        </p:txBody>
      </p:sp>
      <p:sp>
        <p:nvSpPr>
          <p:cNvPr id="54" name="Shape 52"/>
          <p:cNvSpPr/>
          <p:nvPr/>
        </p:nvSpPr>
        <p:spPr>
          <a:xfrm>
            <a:off x="7059168" y="3849624"/>
            <a:ext cx="82296" cy="73152"/>
          </a:xfrm>
          <a:prstGeom prst="line">
            <a:avLst/>
          </a:prstGeom>
          <a:noFill/>
          <a:ln w="11430">
            <a:solidFill>
              <a:srgbClr val="A96A45"/>
            </a:solidFill>
            <a:prstDash val="solid"/>
            <a:headEnd type="none"/>
            <a:tailEnd type="none"/>
          </a:ln>
        </p:spPr>
      </p:sp>
      <p:sp>
        <p:nvSpPr>
          <p:cNvPr id="55" name="Shape 53"/>
          <p:cNvSpPr/>
          <p:nvPr/>
        </p:nvSpPr>
        <p:spPr>
          <a:xfrm flipH="1">
            <a:off x="7040880" y="3849624"/>
            <a:ext cx="100584" cy="100584"/>
          </a:xfrm>
          <a:prstGeom prst="line">
            <a:avLst/>
          </a:prstGeom>
          <a:noFill/>
          <a:ln w="11430">
            <a:solidFill>
              <a:srgbClr val="A96A45"/>
            </a:solidFill>
            <a:prstDash val="solid"/>
            <a:headEnd type="none"/>
            <a:tailEnd type="none"/>
          </a:ln>
        </p:spPr>
      </p:sp>
      <p:sp>
        <p:nvSpPr>
          <p:cNvPr id="56" name="Text 54"/>
          <p:cNvSpPr txBox="1"/>
          <p:nvPr/>
        </p:nvSpPr>
        <p:spPr>
          <a:xfrm>
            <a:off x="7379208" y="3826764"/>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conflict</a:t>
            </a:r>
            <a:endParaRPr lang="en-US" sz="840" dirty="0"/>
          </a:p>
        </p:txBody>
      </p:sp>
      <p:sp>
        <p:nvSpPr>
          <p:cNvPr id="57" name="Shape 55"/>
          <p:cNvSpPr/>
          <p:nvPr/>
        </p:nvSpPr>
        <p:spPr>
          <a:xfrm>
            <a:off x="6958584" y="4195267"/>
            <a:ext cx="256032" cy="91"/>
          </a:xfrm>
          <a:prstGeom prst="line">
            <a:avLst/>
          </a:prstGeom>
          <a:noFill/>
          <a:ln w="6350">
            <a:solidFill>
              <a:srgbClr val="A96A45"/>
            </a:solidFill>
            <a:prstDash val="solid"/>
            <a:headEnd type="none"/>
            <a:tailEnd type="none"/>
          </a:ln>
        </p:spPr>
      </p:sp>
      <p:sp>
        <p:nvSpPr>
          <p:cNvPr id="58" name="Shape 56"/>
          <p:cNvSpPr/>
          <p:nvPr/>
        </p:nvSpPr>
        <p:spPr>
          <a:xfrm>
            <a:off x="6958584" y="4224528"/>
            <a:ext cx="256032" cy="91"/>
          </a:xfrm>
          <a:prstGeom prst="line">
            <a:avLst/>
          </a:prstGeom>
          <a:noFill/>
          <a:ln w="6350">
            <a:solidFill>
              <a:srgbClr val="A96A45"/>
            </a:solidFill>
            <a:prstDash val="solid"/>
            <a:headEnd type="none"/>
            <a:tailEnd type="none"/>
          </a:ln>
        </p:spPr>
      </p:sp>
      <p:sp>
        <p:nvSpPr>
          <p:cNvPr id="59" name="Shape 57"/>
          <p:cNvSpPr/>
          <p:nvPr/>
        </p:nvSpPr>
        <p:spPr>
          <a:xfrm>
            <a:off x="6958584" y="4253789"/>
            <a:ext cx="256032" cy="91"/>
          </a:xfrm>
          <a:prstGeom prst="line">
            <a:avLst/>
          </a:prstGeom>
          <a:noFill/>
          <a:ln w="6350">
            <a:solidFill>
              <a:srgbClr val="A96A45"/>
            </a:solidFill>
            <a:prstDash val="solid"/>
            <a:headEnd type="none"/>
            <a:tailEnd type="none"/>
          </a:ln>
        </p:spPr>
      </p:sp>
      <p:sp>
        <p:nvSpPr>
          <p:cNvPr id="60" name="Text 58"/>
          <p:cNvSpPr txBox="1"/>
          <p:nvPr/>
        </p:nvSpPr>
        <p:spPr>
          <a:xfrm>
            <a:off x="7379208" y="4155948"/>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enmeshment</a:t>
            </a:r>
            <a:endParaRPr lang="en-US" sz="840" dirty="0"/>
          </a:p>
        </p:txBody>
      </p:sp>
      <p:sp>
        <p:nvSpPr>
          <p:cNvPr id="61" name="Shape 59"/>
          <p:cNvSpPr/>
          <p:nvPr/>
        </p:nvSpPr>
        <p:spPr>
          <a:xfrm>
            <a:off x="6940296" y="4553712"/>
            <a:ext cx="292608" cy="91"/>
          </a:xfrm>
          <a:prstGeom prst="line">
            <a:avLst/>
          </a:prstGeom>
          <a:noFill/>
          <a:ln w="10160">
            <a:solidFill>
              <a:srgbClr val="6E8274"/>
            </a:solidFill>
            <a:prstDash val="dash"/>
            <a:headEnd type="none"/>
            <a:tailEnd type="none"/>
          </a:ln>
        </p:spPr>
      </p:sp>
      <p:sp>
        <p:nvSpPr>
          <p:cNvPr id="62" name="Text 60"/>
          <p:cNvSpPr txBox="1"/>
          <p:nvPr/>
        </p:nvSpPr>
        <p:spPr>
          <a:xfrm>
            <a:off x="7379208" y="4485132"/>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subsystem boundary</a:t>
            </a:r>
            <a:endParaRPr lang="en-US" sz="840" dirty="0"/>
          </a:p>
        </p:txBody>
      </p:sp>
      <p:sp>
        <p:nvSpPr>
          <p:cNvPr id="63" name="Shape 61"/>
          <p:cNvSpPr/>
          <p:nvPr/>
        </p:nvSpPr>
        <p:spPr>
          <a:xfrm>
            <a:off x="7008876" y="4805172"/>
            <a:ext cx="155448" cy="155448"/>
          </a:xfrm>
          <a:prstGeom prst="rect">
            <a:avLst/>
          </a:prstGeom>
          <a:solidFill>
            <a:srgbClr val="FFFFFF">
              <a:alpha val="0"/>
            </a:srgbClr>
          </a:solidFill>
          <a:ln w="6985">
            <a:solidFill>
              <a:srgbClr val="1B1815"/>
            </a:solidFill>
            <a:prstDash val="solid"/>
          </a:ln>
        </p:spPr>
      </p:sp>
      <p:sp>
        <p:nvSpPr>
          <p:cNvPr id="64" name="Shape 62"/>
          <p:cNvSpPr/>
          <p:nvPr/>
        </p:nvSpPr>
        <p:spPr>
          <a:xfrm>
            <a:off x="7031736" y="4828032"/>
            <a:ext cx="109728" cy="109728"/>
          </a:xfrm>
          <a:prstGeom prst="rect">
            <a:avLst/>
          </a:prstGeom>
          <a:solidFill>
            <a:srgbClr val="FFFFFF">
              <a:alpha val="0"/>
            </a:srgbClr>
          </a:solidFill>
          <a:ln w="6985">
            <a:solidFill>
              <a:srgbClr val="1B1815"/>
            </a:solidFill>
            <a:prstDash val="solid"/>
          </a:ln>
        </p:spPr>
      </p:sp>
      <p:sp>
        <p:nvSpPr>
          <p:cNvPr id="65" name="Text 63"/>
          <p:cNvSpPr txBox="1"/>
          <p:nvPr/>
        </p:nvSpPr>
        <p:spPr>
          <a:xfrm>
            <a:off x="7379208" y="4814316"/>
            <a:ext cx="3291840" cy="245364"/>
          </a:xfrm>
          <a:prstGeom prst="rect">
            <a:avLst/>
          </a:prstGeom>
          <a:noFill/>
          <a:ln/>
        </p:spPr>
        <p:txBody>
          <a:bodyPr wrap="square" lIns="0" tIns="0" rIns="0" bIns="0" rtlCol="0" anchor="t"/>
          <a:lstStyle/>
          <a:p>
            <a:pPr algn="l" indent="0" marL="0">
              <a:lnSpc>
                <a:spcPts val="1092"/>
              </a:lnSpc>
              <a:buNone/>
            </a:pPr>
            <a:r>
              <a:rPr lang="en-US" sz="840" dirty="0">
                <a:solidFill>
                  <a:srgbClr val="3F3A33"/>
                </a:solidFill>
                <a:latin typeface="Calibri" pitchFamily="34" charset="0"/>
                <a:ea typeface="Calibri" pitchFamily="34" charset="-122"/>
                <a:cs typeface="Calibri" pitchFamily="34" charset="-120"/>
              </a:rPr>
              <a:t>index patient</a:t>
            </a:r>
            <a:endParaRPr lang="en-US" sz="840" dirty="0"/>
          </a:p>
        </p:txBody>
      </p:sp>
      <p:sp>
        <p:nvSpPr>
          <p:cNvPr id="66" name="Text 64"/>
          <p:cNvSpPr txBox="1"/>
          <p:nvPr/>
        </p:nvSpPr>
        <p:spPr>
          <a:xfrm>
            <a:off x="7013448" y="5047488"/>
            <a:ext cx="3931920" cy="198628"/>
          </a:xfrm>
          <a:prstGeom prst="rect">
            <a:avLst/>
          </a:prstGeom>
          <a:noFill/>
          <a:ln/>
        </p:spPr>
        <p:txBody>
          <a:bodyPr wrap="square" lIns="0" tIns="0" rIns="0" bIns="0" rtlCol="0" anchor="t"/>
          <a:lstStyle/>
          <a:p>
            <a:pPr algn="l" indent="0" marL="0">
              <a:lnSpc>
                <a:spcPts val="884"/>
              </a:lnSpc>
              <a:buNone/>
            </a:pPr>
            <a:r>
              <a:rPr lang="en-US" sz="680" i="1" dirty="0">
                <a:solidFill>
                  <a:srgbClr val="5B544A"/>
                </a:solidFill>
                <a:latin typeface="Calibri" pitchFamily="34" charset="0"/>
                <a:ea typeface="Calibri" pitchFamily="34" charset="-122"/>
                <a:cs typeface="Calibri" pitchFamily="34" charset="-120"/>
              </a:rPr>
              <a:t>Conventions after McGoldrick, Gerson &amp; Petry (2008).</a:t>
            </a:r>
            <a:endParaRPr lang="en-US" sz="680" dirty="0"/>
          </a:p>
        </p:txBody>
      </p:sp>
      <p:sp>
        <p:nvSpPr>
          <p:cNvPr id="67" name="Text 65"/>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Symbols follow McGoldrick, Gerson &amp; Petry (2008).</a:t>
            </a:r>
            <a:endParaRPr lang="en-US" sz="7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04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23</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A family that cannot agree on the problem</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187854"/>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mother complains that her husband “undermines” her with their 15-year-old daughter. The</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father says the mother is “too strict”. The daughter says nothing. When the parents begin to</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argue, the daughter interrupts with a headache and the argument stops.</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boundary</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hierarchy</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subsystem</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enactment</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Draw the subsystem boundaries and the triangle.</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the daughter’s headache doing in the system?</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Which dyad would you strengthen first — and why?</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6400800" cy="238760"/>
          </a:xfrm>
          <a:prstGeom prst="rect">
            <a:avLst/>
          </a:prstGeom>
          <a:noFill/>
          <a:ln/>
        </p:spPr>
        <p:txBody>
          <a:bodyPr wrap="square" lIns="0" tIns="0" rIns="0" bIns="0" rtlCol="0" anchor="t"/>
          <a:lstStyle/>
          <a:p>
            <a:pPr algn="l" indent="0" marL="0">
              <a:lnSpc>
                <a:spcPts val="1080"/>
              </a:lnSpc>
              <a:buNone/>
            </a:pPr>
            <a:r>
              <a:rPr lang="en-US" sz="800" spc="300" kern="0" dirty="0">
                <a:solidFill>
                  <a:srgbClr val="C2A05F"/>
                </a:solidFill>
                <a:latin typeface="Calibri" pitchFamily="34" charset="0"/>
                <a:ea typeface="Calibri" pitchFamily="34" charset="-122"/>
                <a:cs typeface="Calibri" pitchFamily="34" charset="-120"/>
              </a:rPr>
              <a:t>PHASE II · WEEKS 5–8</a:t>
            </a:r>
            <a:endParaRPr lang="en-US" sz="800" dirty="0"/>
          </a:p>
        </p:txBody>
      </p:sp>
      <p:sp>
        <p:nvSpPr>
          <p:cNvPr id="3" name="Text 1"/>
          <p:cNvSpPr txBox="1"/>
          <p:nvPr/>
        </p:nvSpPr>
        <p:spPr>
          <a:xfrm>
            <a:off x="6035040" y="-457200"/>
            <a:ext cx="5486400" cy="7620000"/>
          </a:xfrm>
          <a:prstGeom prst="rect">
            <a:avLst/>
          </a:prstGeom>
          <a:noFill/>
          <a:ln/>
        </p:spPr>
        <p:txBody>
          <a:bodyPr wrap="square" lIns="0" tIns="0" rIns="0" bIns="0" rtlCol="0" anchor="t"/>
          <a:lstStyle/>
          <a:p>
            <a:pPr algn="r" indent="0" marL="0">
              <a:lnSpc>
                <a:spcPts val="30000"/>
              </a:lnSpc>
              <a:buNone/>
            </a:pPr>
            <a:r>
              <a:rPr lang="en-US" sz="30000" dirty="0">
                <a:solidFill>
                  <a:srgbClr val="181611"/>
                </a:solidFill>
                <a:latin typeface="Georgia" pitchFamily="34" charset="0"/>
                <a:ea typeface="Georgia" pitchFamily="34" charset="-122"/>
                <a:cs typeface="Georgia" pitchFamily="34" charset="-120"/>
              </a:rPr>
              <a:t>05</a:t>
            </a:r>
            <a:endParaRPr lang="en-US" sz="30000" dirty="0"/>
          </a:p>
        </p:txBody>
      </p:sp>
      <p:sp>
        <p:nvSpPr>
          <p:cNvPr id="4" name="Text 2"/>
          <p:cNvSpPr txBox="1"/>
          <p:nvPr/>
        </p:nvSpPr>
        <p:spPr>
          <a:xfrm>
            <a:off x="822960" y="1874520"/>
            <a:ext cx="6766560" cy="1215136"/>
          </a:xfrm>
          <a:prstGeom prst="rect">
            <a:avLst/>
          </a:prstGeom>
          <a:noFill/>
          <a:ln/>
        </p:spPr>
        <p:txBody>
          <a:bodyPr wrap="square" lIns="0" tIns="0" rIns="0" bIns="0" rtlCol="0" anchor="t"/>
          <a:lstStyle/>
          <a:p>
            <a:pPr algn="l" indent="0" marL="0">
              <a:lnSpc>
                <a:spcPts val="4968"/>
              </a:lnSpc>
              <a:buNone/>
            </a:pPr>
            <a:r>
              <a:rPr lang="en-US" sz="4600" dirty="0">
                <a:solidFill>
                  <a:srgbClr val="F8F3E9"/>
                </a:solidFill>
                <a:latin typeface="Georgia" pitchFamily="34" charset="0"/>
                <a:ea typeface="Georgia" pitchFamily="34" charset="-122"/>
                <a:cs typeface="Georgia" pitchFamily="34" charset="-120"/>
              </a:rPr>
              <a:t>Theoretical Cartography</a:t>
            </a:r>
            <a:endParaRPr lang="en-US" sz="4600" dirty="0"/>
          </a:p>
        </p:txBody>
      </p:sp>
      <p:sp>
        <p:nvSpPr>
          <p:cNvPr id="5" name="Text 3"/>
          <p:cNvSpPr txBox="1"/>
          <p:nvPr/>
        </p:nvSpPr>
        <p:spPr>
          <a:xfrm>
            <a:off x="822960" y="3429000"/>
            <a:ext cx="6035040" cy="736600"/>
          </a:xfrm>
          <a:prstGeom prst="rect">
            <a:avLst/>
          </a:prstGeom>
          <a:noFill/>
          <a:ln/>
        </p:spPr>
        <p:txBody>
          <a:bodyPr wrap="square" lIns="0" tIns="0" rIns="0" bIns="0" rtlCol="0" anchor="t"/>
          <a:lstStyle/>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The major traditions, held side by side — intergenerational, experiential,</a:t>
            </a:r>
            <a:endParaRPr lang="en-US" sz="1450" dirty="0"/>
          </a:p>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postmodern, and the discipline of integration.</a:t>
            </a:r>
            <a:endParaRPr lang="en-US" sz="1450" dirty="0"/>
          </a:p>
        </p:txBody>
      </p:sp>
      <p:sp>
        <p:nvSpPr>
          <p:cNvPr id="6" name="Shape 4"/>
          <p:cNvSpPr/>
          <p:nvPr/>
        </p:nvSpPr>
        <p:spPr>
          <a:xfrm>
            <a:off x="822960" y="4572000"/>
            <a:ext cx="1554480" cy="91"/>
          </a:xfrm>
          <a:prstGeom prst="line">
            <a:avLst/>
          </a:prstGeom>
          <a:noFill/>
          <a:ln w="10160">
            <a:solidFill>
              <a:srgbClr val="C2A05F"/>
            </a:solidFill>
            <a:prstDash val="solid"/>
            <a:headEnd type="none"/>
            <a:tailEnd type="none"/>
          </a:ln>
        </p:spPr>
      </p:sp>
      <p:sp>
        <p:nvSpPr>
          <p:cNvPr id="7" name="Text 5"/>
          <p:cNvSpPr txBox="1"/>
          <p:nvPr/>
        </p:nvSpPr>
        <p:spPr>
          <a:xfrm>
            <a:off x="82296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05</a:t>
            </a:r>
            <a:endParaRPr lang="en-US" sz="1000" dirty="0"/>
          </a:p>
        </p:txBody>
      </p:sp>
      <p:sp>
        <p:nvSpPr>
          <p:cNvPr id="8" name="Text 6"/>
          <p:cNvSpPr txBox="1"/>
          <p:nvPr/>
        </p:nvSpPr>
        <p:spPr>
          <a:xfrm>
            <a:off x="82296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Intergenerational &amp; contextual</a:t>
            </a:r>
            <a:endParaRPr lang="en-US" sz="760" dirty="0"/>
          </a:p>
        </p:txBody>
      </p:sp>
      <p:sp>
        <p:nvSpPr>
          <p:cNvPr id="9" name="Text 7"/>
          <p:cNvSpPr txBox="1"/>
          <p:nvPr/>
        </p:nvSpPr>
        <p:spPr>
          <a:xfrm>
            <a:off x="224028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06</a:t>
            </a:r>
            <a:endParaRPr lang="en-US" sz="1000" dirty="0"/>
          </a:p>
        </p:txBody>
      </p:sp>
      <p:sp>
        <p:nvSpPr>
          <p:cNvPr id="10" name="Text 8"/>
          <p:cNvSpPr txBox="1"/>
          <p:nvPr/>
        </p:nvSpPr>
        <p:spPr>
          <a:xfrm>
            <a:off x="224028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Experiential &amp; humanistic</a:t>
            </a:r>
            <a:endParaRPr lang="en-US" sz="760" dirty="0"/>
          </a:p>
        </p:txBody>
      </p:sp>
      <p:sp>
        <p:nvSpPr>
          <p:cNvPr id="11" name="Text 9"/>
          <p:cNvSpPr txBox="1"/>
          <p:nvPr/>
        </p:nvSpPr>
        <p:spPr>
          <a:xfrm>
            <a:off x="365760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07</a:t>
            </a:r>
            <a:endParaRPr lang="en-US" sz="1000" dirty="0"/>
          </a:p>
        </p:txBody>
      </p:sp>
      <p:sp>
        <p:nvSpPr>
          <p:cNvPr id="12" name="Text 10"/>
          <p:cNvSpPr txBox="1"/>
          <p:nvPr/>
        </p:nvSpPr>
        <p:spPr>
          <a:xfrm>
            <a:off x="365760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Postmodern &amp; constructivist</a:t>
            </a:r>
            <a:endParaRPr lang="en-US" sz="760" dirty="0"/>
          </a:p>
        </p:txBody>
      </p:sp>
      <p:sp>
        <p:nvSpPr>
          <p:cNvPr id="13" name="Text 11"/>
          <p:cNvSpPr txBox="1"/>
          <p:nvPr/>
        </p:nvSpPr>
        <p:spPr>
          <a:xfrm>
            <a:off x="507492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08</a:t>
            </a:r>
            <a:endParaRPr lang="en-US" sz="1000" dirty="0"/>
          </a:p>
        </p:txBody>
      </p:sp>
      <p:sp>
        <p:nvSpPr>
          <p:cNvPr id="14" name="Text 12"/>
          <p:cNvSpPr txBox="1"/>
          <p:nvPr/>
        </p:nvSpPr>
        <p:spPr>
          <a:xfrm>
            <a:off x="507492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Integrative formulation</a:t>
            </a:r>
            <a:endParaRPr lang="en-US" sz="760" dirty="0"/>
          </a:p>
        </p:txBody>
      </p:sp>
      <p:sp>
        <p:nvSpPr>
          <p:cNvPr id="15" name="Shape 13"/>
          <p:cNvSpPr/>
          <p:nvPr/>
        </p:nvSpPr>
        <p:spPr>
          <a:xfrm>
            <a:off x="822960" y="5742432"/>
            <a:ext cx="10515600" cy="91"/>
          </a:xfrm>
          <a:prstGeom prst="line">
            <a:avLst/>
          </a:prstGeom>
          <a:noFill/>
          <a:ln w="10160">
            <a:solidFill>
              <a:srgbClr val="3A332A"/>
            </a:solidFill>
            <a:prstDash val="solid"/>
            <a:headEnd type="none"/>
            <a:tailEnd type="none"/>
          </a:ln>
        </p:spPr>
      </p:sp>
      <p:sp>
        <p:nvSpPr>
          <p:cNvPr id="16" name="Shape 14"/>
          <p:cNvSpPr/>
          <p:nvPr/>
        </p:nvSpPr>
        <p:spPr>
          <a:xfrm>
            <a:off x="793699" y="5713171"/>
            <a:ext cx="58522" cy="58522"/>
          </a:xfrm>
          <a:prstGeom prst="ellipse">
            <a:avLst/>
          </a:prstGeom>
          <a:solidFill>
            <a:srgbClr val="96733C"/>
          </a:solidFill>
          <a:ln w="12700">
            <a:solidFill>
              <a:srgbClr val="FFFFFF">
                <a:alpha val="0"/>
              </a:srgbClr>
            </a:solidFill>
            <a:prstDash val="solid"/>
          </a:ln>
        </p:spPr>
      </p:sp>
      <p:sp>
        <p:nvSpPr>
          <p:cNvPr id="17" name="Shape 15"/>
          <p:cNvSpPr/>
          <p:nvPr/>
        </p:nvSpPr>
        <p:spPr>
          <a:xfrm>
            <a:off x="1494739" y="5713171"/>
            <a:ext cx="58522" cy="58522"/>
          </a:xfrm>
          <a:prstGeom prst="ellipse">
            <a:avLst/>
          </a:prstGeom>
          <a:solidFill>
            <a:srgbClr val="96733C"/>
          </a:solidFill>
          <a:ln w="12700">
            <a:solidFill>
              <a:srgbClr val="FFFFFF">
                <a:alpha val="0"/>
              </a:srgbClr>
            </a:solidFill>
            <a:prstDash val="solid"/>
          </a:ln>
        </p:spPr>
      </p:sp>
      <p:sp>
        <p:nvSpPr>
          <p:cNvPr id="18" name="Shape 16"/>
          <p:cNvSpPr/>
          <p:nvPr/>
        </p:nvSpPr>
        <p:spPr>
          <a:xfrm>
            <a:off x="2195779" y="5713171"/>
            <a:ext cx="58522" cy="58522"/>
          </a:xfrm>
          <a:prstGeom prst="ellipse">
            <a:avLst/>
          </a:prstGeom>
          <a:solidFill>
            <a:srgbClr val="96733C"/>
          </a:solidFill>
          <a:ln w="12700">
            <a:solidFill>
              <a:srgbClr val="FFFFFF">
                <a:alpha val="0"/>
              </a:srgbClr>
            </a:solidFill>
            <a:prstDash val="solid"/>
          </a:ln>
        </p:spPr>
      </p:sp>
      <p:sp>
        <p:nvSpPr>
          <p:cNvPr id="19" name="Shape 17"/>
          <p:cNvSpPr/>
          <p:nvPr/>
        </p:nvSpPr>
        <p:spPr>
          <a:xfrm>
            <a:off x="2896819" y="5713171"/>
            <a:ext cx="58522" cy="58522"/>
          </a:xfrm>
          <a:prstGeom prst="ellipse">
            <a:avLst/>
          </a:prstGeom>
          <a:solidFill>
            <a:srgbClr val="96733C"/>
          </a:solidFill>
          <a:ln w="12700">
            <a:solidFill>
              <a:srgbClr val="FFFFFF">
                <a:alpha val="0"/>
              </a:srgbClr>
            </a:solidFill>
            <a:prstDash val="solid"/>
          </a:ln>
        </p:spPr>
      </p:sp>
      <p:sp>
        <p:nvSpPr>
          <p:cNvPr id="20" name="Shape 18"/>
          <p:cNvSpPr/>
          <p:nvPr/>
        </p:nvSpPr>
        <p:spPr>
          <a:xfrm>
            <a:off x="3597859" y="5713171"/>
            <a:ext cx="58522" cy="58522"/>
          </a:xfrm>
          <a:prstGeom prst="ellipse">
            <a:avLst/>
          </a:prstGeom>
          <a:solidFill>
            <a:srgbClr val="96733C"/>
          </a:solidFill>
          <a:ln w="12700">
            <a:solidFill>
              <a:srgbClr val="FFFFFF">
                <a:alpha val="0"/>
              </a:srgbClr>
            </a:solidFill>
            <a:prstDash val="solid"/>
          </a:ln>
        </p:spPr>
      </p:sp>
      <p:sp>
        <p:nvSpPr>
          <p:cNvPr id="21" name="Shape 19"/>
          <p:cNvSpPr/>
          <p:nvPr/>
        </p:nvSpPr>
        <p:spPr>
          <a:xfrm>
            <a:off x="4298899" y="5713171"/>
            <a:ext cx="58522" cy="58522"/>
          </a:xfrm>
          <a:prstGeom prst="ellipse">
            <a:avLst/>
          </a:prstGeom>
          <a:solidFill>
            <a:srgbClr val="96733C"/>
          </a:solidFill>
          <a:ln w="12700">
            <a:solidFill>
              <a:srgbClr val="FFFFFF">
                <a:alpha val="0"/>
              </a:srgbClr>
            </a:solidFill>
            <a:prstDash val="solid"/>
          </a:ln>
        </p:spPr>
      </p:sp>
      <p:sp>
        <p:nvSpPr>
          <p:cNvPr id="22" name="Shape 20"/>
          <p:cNvSpPr/>
          <p:nvPr/>
        </p:nvSpPr>
        <p:spPr>
          <a:xfrm>
            <a:off x="4999939" y="5713171"/>
            <a:ext cx="58522" cy="58522"/>
          </a:xfrm>
          <a:prstGeom prst="ellipse">
            <a:avLst/>
          </a:prstGeom>
          <a:solidFill>
            <a:srgbClr val="96733C"/>
          </a:solidFill>
          <a:ln w="12700">
            <a:solidFill>
              <a:srgbClr val="FFFFFF">
                <a:alpha val="0"/>
              </a:srgbClr>
            </a:solidFill>
            <a:prstDash val="solid"/>
          </a:ln>
        </p:spPr>
      </p:sp>
      <p:sp>
        <p:nvSpPr>
          <p:cNvPr id="23" name="Shape 21"/>
          <p:cNvSpPr/>
          <p:nvPr/>
        </p:nvSpPr>
        <p:spPr>
          <a:xfrm>
            <a:off x="5666232" y="5678424"/>
            <a:ext cx="128016" cy="128016"/>
          </a:xfrm>
          <a:prstGeom prst="ellipse">
            <a:avLst/>
          </a:prstGeom>
          <a:solidFill>
            <a:srgbClr val="C2A05F"/>
          </a:solidFill>
          <a:ln w="8890">
            <a:solidFill>
              <a:srgbClr val="E7D3A9"/>
            </a:solidFill>
            <a:prstDash val="solid"/>
          </a:ln>
        </p:spPr>
      </p:sp>
      <p:sp>
        <p:nvSpPr>
          <p:cNvPr id="24" name="Shape 22"/>
          <p:cNvSpPr/>
          <p:nvPr/>
        </p:nvSpPr>
        <p:spPr>
          <a:xfrm>
            <a:off x="6402019" y="5713171"/>
            <a:ext cx="58522" cy="58522"/>
          </a:xfrm>
          <a:prstGeom prst="ellipse">
            <a:avLst/>
          </a:prstGeom>
          <a:solidFill>
            <a:srgbClr val="1E1913"/>
          </a:solidFill>
          <a:ln w="12700">
            <a:solidFill>
              <a:srgbClr val="FFFFFF">
                <a:alpha val="0"/>
              </a:srgbClr>
            </a:solidFill>
            <a:prstDash val="solid"/>
          </a:ln>
        </p:spPr>
      </p:sp>
      <p:sp>
        <p:nvSpPr>
          <p:cNvPr id="25" name="Shape 23"/>
          <p:cNvSpPr/>
          <p:nvPr/>
        </p:nvSpPr>
        <p:spPr>
          <a:xfrm>
            <a:off x="7103059" y="5713171"/>
            <a:ext cx="58522" cy="58522"/>
          </a:xfrm>
          <a:prstGeom prst="ellipse">
            <a:avLst/>
          </a:prstGeom>
          <a:solidFill>
            <a:srgbClr val="1E1913"/>
          </a:solidFill>
          <a:ln w="12700">
            <a:solidFill>
              <a:srgbClr val="FFFFFF">
                <a:alpha val="0"/>
              </a:srgbClr>
            </a:solidFill>
            <a:prstDash val="solid"/>
          </a:ln>
        </p:spPr>
      </p:sp>
      <p:sp>
        <p:nvSpPr>
          <p:cNvPr id="26" name="Shape 24"/>
          <p:cNvSpPr/>
          <p:nvPr/>
        </p:nvSpPr>
        <p:spPr>
          <a:xfrm>
            <a:off x="7804099" y="5713171"/>
            <a:ext cx="58522" cy="58522"/>
          </a:xfrm>
          <a:prstGeom prst="ellipse">
            <a:avLst/>
          </a:prstGeom>
          <a:solidFill>
            <a:srgbClr val="1E1913"/>
          </a:solidFill>
          <a:ln w="12700">
            <a:solidFill>
              <a:srgbClr val="FFFFFF">
                <a:alpha val="0"/>
              </a:srgbClr>
            </a:solidFill>
            <a:prstDash val="solid"/>
          </a:ln>
        </p:spPr>
      </p:sp>
      <p:sp>
        <p:nvSpPr>
          <p:cNvPr id="27" name="Shape 25"/>
          <p:cNvSpPr/>
          <p:nvPr/>
        </p:nvSpPr>
        <p:spPr>
          <a:xfrm>
            <a:off x="8505139" y="5713171"/>
            <a:ext cx="58522" cy="58522"/>
          </a:xfrm>
          <a:prstGeom prst="ellipse">
            <a:avLst/>
          </a:prstGeom>
          <a:solidFill>
            <a:srgbClr val="1E1913"/>
          </a:solidFill>
          <a:ln w="12700">
            <a:solidFill>
              <a:srgbClr val="FFFFFF">
                <a:alpha val="0"/>
              </a:srgbClr>
            </a:solidFill>
            <a:prstDash val="solid"/>
          </a:ln>
        </p:spPr>
      </p:sp>
      <p:sp>
        <p:nvSpPr>
          <p:cNvPr id="28" name="Shape 26"/>
          <p:cNvSpPr/>
          <p:nvPr/>
        </p:nvSpPr>
        <p:spPr>
          <a:xfrm>
            <a:off x="9206179" y="5713171"/>
            <a:ext cx="58522" cy="58522"/>
          </a:xfrm>
          <a:prstGeom prst="ellipse">
            <a:avLst/>
          </a:prstGeom>
          <a:solidFill>
            <a:srgbClr val="1E1913"/>
          </a:solidFill>
          <a:ln w="12700">
            <a:solidFill>
              <a:srgbClr val="FFFFFF">
                <a:alpha val="0"/>
              </a:srgbClr>
            </a:solidFill>
            <a:prstDash val="solid"/>
          </a:ln>
        </p:spPr>
      </p:sp>
      <p:sp>
        <p:nvSpPr>
          <p:cNvPr id="29" name="Shape 27"/>
          <p:cNvSpPr/>
          <p:nvPr/>
        </p:nvSpPr>
        <p:spPr>
          <a:xfrm>
            <a:off x="9907219" y="5713171"/>
            <a:ext cx="58522" cy="58522"/>
          </a:xfrm>
          <a:prstGeom prst="ellipse">
            <a:avLst/>
          </a:prstGeom>
          <a:solidFill>
            <a:srgbClr val="1E1913"/>
          </a:solidFill>
          <a:ln w="12700">
            <a:solidFill>
              <a:srgbClr val="FFFFFF">
                <a:alpha val="0"/>
              </a:srgbClr>
            </a:solidFill>
            <a:prstDash val="solid"/>
          </a:ln>
        </p:spPr>
      </p:sp>
      <p:sp>
        <p:nvSpPr>
          <p:cNvPr id="30" name="Shape 28"/>
          <p:cNvSpPr/>
          <p:nvPr/>
        </p:nvSpPr>
        <p:spPr>
          <a:xfrm>
            <a:off x="10608259" y="5713171"/>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11309299" y="5713171"/>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822960" y="722376"/>
            <a:ext cx="10546050" cy="91"/>
          </a:xfrm>
          <a:prstGeom prst="line">
            <a:avLst/>
          </a:prstGeom>
          <a:noFill/>
          <a:ln w="6350">
            <a:solidFill>
              <a:srgbClr val="3A332A"/>
            </a:solidFill>
            <a:prstDash val="solid"/>
            <a:headEnd type="none"/>
            <a:tailEnd type="none"/>
          </a:ln>
        </p:spPr>
      </p:sp>
      <p:sp>
        <p:nvSpPr>
          <p:cNvPr id="33" name="Text 31"/>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34" name="Text 32"/>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05 · PHASE II — THEORETICAL CARTOGRAPHY</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05</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Intergenerational and Contextual</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Approaches</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does the past continue to speak in the present — and who is loyal to whom?</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emotional process that travels</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triangle as the unit of emotional process</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ledger of loyalty</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Explain differentiation of self and triangulation.</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Construct and interpret a three-generation</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genogram.</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Apply the concepts of legacy, entitlement and</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loyalty.</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differentiation · triangle · multigenerational transmission · legacy · loyalty</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Bowen (1978), ch. 1–3 · Kerr &amp; Bowen (1988) · Boszormenyi-Nagy &amp; Spark (1973)</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63112" y="5696712"/>
            <a:ext cx="128016" cy="128016"/>
          </a:xfrm>
          <a:prstGeom prst="ellipse">
            <a:avLst/>
          </a:prstGeom>
          <a:solidFill>
            <a:srgbClr val="C2A05F"/>
          </a:solidFill>
          <a:ln w="8890">
            <a:solidFill>
              <a:srgbClr val="E7D3A9"/>
            </a:solidFill>
            <a:prstDash val="solid"/>
          </a:ln>
        </p:spPr>
      </p:sp>
      <p:sp>
        <p:nvSpPr>
          <p:cNvPr id="32" name="Shape 30"/>
          <p:cNvSpPr/>
          <p:nvPr/>
        </p:nvSpPr>
        <p:spPr>
          <a:xfrm>
            <a:off x="4298899" y="5731459"/>
            <a:ext cx="58522" cy="58522"/>
          </a:xfrm>
          <a:prstGeom prst="ellipse">
            <a:avLst/>
          </a:prstGeom>
          <a:solidFill>
            <a:srgbClr val="1E1913"/>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05 · LECTURE 05</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26</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emotional process that travels</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Bowen shifted attention from the presenting symptom to the emotional process that moves through generations — and to</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the therapist’s own family as an instrument of understanding.</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DIFFERENTIATION OF SELF</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capacity to stay connected while maintaining one’s own thinking.</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Low differentiation produces fusion, reactivity and the feeling that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one cannot survive the other’s disapproval.</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Thinking versus feeling</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Solid self versus pseudo-self</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goal is connection, not distance</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TRIANGLES</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Under tension, dyads recruit a third. Triangles distribute anxiety —</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and freeze conflict in place.</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recruited when tension rises?</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Which side carries the symptom?</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Can each dyad be strengthened without the third?</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LEGACY AND LOYALTY</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Boszormenyi-Nagy added an ethical dimension: families keep a ledger</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of give-and-take. Entitlement, loyalty and invisible debts shape what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members feel they owe.</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was handed down that was not chosen?</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loyalty would change require?</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Where is fairness being negotiated?</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A CAUTION</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Explaining is not excusing</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Intergenerational work describes transmission. It does not absolve responsibility, and it must never be used to</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blame a previous generation for a present choice.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Bowen (1978); Kerr &amp; Bowen (1988);</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Boszormenyi-Nagy &amp; Spark (1973).</a:t>
            </a:r>
            <a:endParaRPr lang="en-US" sz="6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05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27</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The triangle as the unit of emotional process</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Bowen’s smallest stable relational system is not the dyad but the triangle. Anxiety moves; the third person absorbs it.</a:t>
            </a:r>
            <a:endParaRPr lang="en-US" sz="1060" dirty="0"/>
          </a:p>
        </p:txBody>
      </p:sp>
      <p:sp>
        <p:nvSpPr>
          <p:cNvPr id="10" name="Shape 8"/>
          <p:cNvSpPr/>
          <p:nvPr/>
        </p:nvSpPr>
        <p:spPr>
          <a:xfrm>
            <a:off x="3749040" y="2313432"/>
            <a:ext cx="2057400" cy="2560320"/>
          </a:xfrm>
          <a:prstGeom prst="line">
            <a:avLst/>
          </a:prstGeom>
          <a:noFill/>
          <a:ln w="15240">
            <a:solidFill>
              <a:srgbClr val="D9CDB7"/>
            </a:solidFill>
            <a:prstDash val="solid"/>
            <a:headEnd type="none"/>
            <a:tailEnd type="none"/>
          </a:ln>
        </p:spPr>
      </p:sp>
      <p:sp>
        <p:nvSpPr>
          <p:cNvPr id="11" name="Shape 9"/>
          <p:cNvSpPr/>
          <p:nvPr/>
        </p:nvSpPr>
        <p:spPr>
          <a:xfrm flipH="1">
            <a:off x="1691640" y="4873752"/>
            <a:ext cx="4114800" cy="91"/>
          </a:xfrm>
          <a:prstGeom prst="line">
            <a:avLst/>
          </a:prstGeom>
          <a:noFill/>
          <a:ln w="15240">
            <a:solidFill>
              <a:srgbClr val="D9CDB7"/>
            </a:solidFill>
            <a:prstDash val="solid"/>
            <a:headEnd type="none"/>
            <a:tailEnd type="none"/>
          </a:ln>
        </p:spPr>
      </p:sp>
      <p:sp>
        <p:nvSpPr>
          <p:cNvPr id="12" name="Shape 10"/>
          <p:cNvSpPr/>
          <p:nvPr/>
        </p:nvSpPr>
        <p:spPr>
          <a:xfrm>
            <a:off x="4104159" y="2755357"/>
            <a:ext cx="1347163" cy="1676469"/>
          </a:xfrm>
          <a:prstGeom prst="line">
            <a:avLst/>
          </a:prstGeom>
          <a:noFill/>
          <a:ln w="11430">
            <a:solidFill>
              <a:srgbClr val="96733C"/>
            </a:solidFill>
            <a:prstDash val="solid"/>
            <a:headEnd type="triangle"/>
            <a:tailEnd type="triangle"/>
          </a:ln>
        </p:spPr>
      </p:sp>
      <p:sp>
        <p:nvSpPr>
          <p:cNvPr id="13" name="Shape 11"/>
          <p:cNvSpPr/>
          <p:nvPr/>
        </p:nvSpPr>
        <p:spPr>
          <a:xfrm flipH="1">
            <a:off x="2258568" y="4873752"/>
            <a:ext cx="2980944" cy="91"/>
          </a:xfrm>
          <a:prstGeom prst="line">
            <a:avLst/>
          </a:prstGeom>
          <a:noFill/>
          <a:ln w="11430">
            <a:solidFill>
              <a:srgbClr val="96733C"/>
            </a:solidFill>
            <a:prstDash val="solid"/>
            <a:headEnd type="triangle"/>
            <a:tailEnd type="triangle"/>
          </a:ln>
        </p:spPr>
      </p:sp>
      <p:sp>
        <p:nvSpPr>
          <p:cNvPr id="14" name="Shape 12"/>
          <p:cNvSpPr/>
          <p:nvPr/>
        </p:nvSpPr>
        <p:spPr>
          <a:xfrm flipV="1">
            <a:off x="2046759" y="2755357"/>
            <a:ext cx="1347163" cy="1676469"/>
          </a:xfrm>
          <a:prstGeom prst="line">
            <a:avLst/>
          </a:prstGeom>
          <a:noFill/>
          <a:ln w="11430">
            <a:solidFill>
              <a:srgbClr val="96733C"/>
            </a:solidFill>
            <a:prstDash val="solid"/>
            <a:headEnd type="triangle"/>
            <a:tailEnd type="triangle"/>
          </a:ln>
        </p:spPr>
      </p:sp>
      <p:sp>
        <p:nvSpPr>
          <p:cNvPr id="15" name="Shape 13"/>
          <p:cNvSpPr/>
          <p:nvPr/>
        </p:nvSpPr>
        <p:spPr>
          <a:xfrm>
            <a:off x="3182112" y="1746504"/>
            <a:ext cx="1133856" cy="1133856"/>
          </a:xfrm>
          <a:prstGeom prst="ellipse">
            <a:avLst/>
          </a:prstGeom>
          <a:solidFill>
            <a:srgbClr val="FBF7EF"/>
          </a:solidFill>
          <a:ln w="11430">
            <a:solidFill>
              <a:srgbClr val="C2A05F"/>
            </a:solidFill>
            <a:prstDash val="solid"/>
          </a:ln>
        </p:spPr>
      </p:sp>
      <p:sp>
        <p:nvSpPr>
          <p:cNvPr id="16" name="Text 14"/>
          <p:cNvSpPr txBox="1"/>
          <p:nvPr/>
        </p:nvSpPr>
        <p:spPr>
          <a:xfrm>
            <a:off x="3182112" y="2112264"/>
            <a:ext cx="1133856" cy="328295"/>
          </a:xfrm>
          <a:prstGeom prst="rect">
            <a:avLst/>
          </a:prstGeom>
          <a:noFill/>
          <a:ln/>
        </p:spPr>
        <p:txBody>
          <a:bodyPr wrap="square" lIns="0" tIns="0" rIns="0" bIns="0" rtlCol="0" anchor="t"/>
          <a:lstStyle/>
          <a:p>
            <a:pPr algn="ctr" indent="0" marL="0">
              <a:lnSpc>
                <a:spcPts val="1485"/>
              </a:lnSpc>
              <a:buNone/>
            </a:pPr>
            <a:r>
              <a:rPr lang="en-US" sz="1100" dirty="0">
                <a:solidFill>
                  <a:srgbClr val="1B1815"/>
                </a:solidFill>
                <a:latin typeface="Georgia" pitchFamily="34" charset="0"/>
                <a:ea typeface="Georgia" pitchFamily="34" charset="-122"/>
                <a:cs typeface="Georgia" pitchFamily="34" charset="-120"/>
              </a:rPr>
              <a:t>Spouse A</a:t>
            </a:r>
            <a:endParaRPr lang="en-US" sz="1100" dirty="0"/>
          </a:p>
        </p:txBody>
      </p:sp>
      <p:sp>
        <p:nvSpPr>
          <p:cNvPr id="17" name="Text 15"/>
          <p:cNvSpPr txBox="1"/>
          <p:nvPr/>
        </p:nvSpPr>
        <p:spPr>
          <a:xfrm>
            <a:off x="3182112" y="2340864"/>
            <a:ext cx="1133856" cy="210312"/>
          </a:xfrm>
          <a:prstGeom prst="rect">
            <a:avLst/>
          </a:prstGeom>
          <a:noFill/>
          <a:ln/>
        </p:spPr>
        <p:txBody>
          <a:bodyPr wrap="square" lIns="0" tIns="0" rIns="0" bIns="0" rtlCol="0" anchor="t"/>
          <a:lstStyle/>
          <a:p>
            <a:pPr algn="ctr" indent="0" marL="0">
              <a:lnSpc>
                <a:spcPts val="936"/>
              </a:lnSpc>
              <a:buNone/>
            </a:pPr>
            <a:r>
              <a:rPr lang="en-US" sz="720" spc="80" kern="0" dirty="0">
                <a:solidFill>
                  <a:srgbClr val="5B544A"/>
                </a:solidFill>
                <a:latin typeface="Calibri" pitchFamily="34" charset="0"/>
                <a:ea typeface="Calibri" pitchFamily="34" charset="-122"/>
                <a:cs typeface="Calibri" pitchFamily="34" charset="-120"/>
              </a:rPr>
              <a:t>PURSUER</a:t>
            </a:r>
            <a:endParaRPr lang="en-US" sz="720" dirty="0"/>
          </a:p>
        </p:txBody>
      </p:sp>
      <p:sp>
        <p:nvSpPr>
          <p:cNvPr id="18" name="Shape 16"/>
          <p:cNvSpPr/>
          <p:nvPr/>
        </p:nvSpPr>
        <p:spPr>
          <a:xfrm>
            <a:off x="5239512" y="4306824"/>
            <a:ext cx="1133856" cy="1133856"/>
          </a:xfrm>
          <a:prstGeom prst="ellipse">
            <a:avLst/>
          </a:prstGeom>
          <a:solidFill>
            <a:srgbClr val="FBF7EF"/>
          </a:solidFill>
          <a:ln w="11430">
            <a:solidFill>
              <a:srgbClr val="C2A05F"/>
            </a:solidFill>
            <a:prstDash val="solid"/>
          </a:ln>
        </p:spPr>
      </p:sp>
      <p:sp>
        <p:nvSpPr>
          <p:cNvPr id="19" name="Text 17"/>
          <p:cNvSpPr txBox="1"/>
          <p:nvPr/>
        </p:nvSpPr>
        <p:spPr>
          <a:xfrm>
            <a:off x="5239512" y="4672584"/>
            <a:ext cx="1133856" cy="328295"/>
          </a:xfrm>
          <a:prstGeom prst="rect">
            <a:avLst/>
          </a:prstGeom>
          <a:noFill/>
          <a:ln/>
        </p:spPr>
        <p:txBody>
          <a:bodyPr wrap="square" lIns="0" tIns="0" rIns="0" bIns="0" rtlCol="0" anchor="t"/>
          <a:lstStyle/>
          <a:p>
            <a:pPr algn="ctr" indent="0" marL="0">
              <a:lnSpc>
                <a:spcPts val="1485"/>
              </a:lnSpc>
              <a:buNone/>
            </a:pPr>
            <a:r>
              <a:rPr lang="en-US" sz="1100" dirty="0">
                <a:solidFill>
                  <a:srgbClr val="1B1815"/>
                </a:solidFill>
                <a:latin typeface="Georgia" pitchFamily="34" charset="0"/>
                <a:ea typeface="Georgia" pitchFamily="34" charset="-122"/>
                <a:cs typeface="Georgia" pitchFamily="34" charset="-120"/>
              </a:rPr>
              <a:t>Child</a:t>
            </a:r>
            <a:endParaRPr lang="en-US" sz="1100" dirty="0"/>
          </a:p>
        </p:txBody>
      </p:sp>
      <p:sp>
        <p:nvSpPr>
          <p:cNvPr id="20" name="Text 18"/>
          <p:cNvSpPr txBox="1"/>
          <p:nvPr/>
        </p:nvSpPr>
        <p:spPr>
          <a:xfrm>
            <a:off x="5239512" y="4901184"/>
            <a:ext cx="1133856" cy="210312"/>
          </a:xfrm>
          <a:prstGeom prst="rect">
            <a:avLst/>
          </a:prstGeom>
          <a:noFill/>
          <a:ln/>
        </p:spPr>
        <p:txBody>
          <a:bodyPr wrap="square" lIns="0" tIns="0" rIns="0" bIns="0" rtlCol="0" anchor="t"/>
          <a:lstStyle/>
          <a:p>
            <a:pPr algn="ctr" indent="0" marL="0">
              <a:lnSpc>
                <a:spcPts val="936"/>
              </a:lnSpc>
              <a:buNone/>
            </a:pPr>
            <a:r>
              <a:rPr lang="en-US" sz="720" spc="80" kern="0" dirty="0">
                <a:solidFill>
                  <a:srgbClr val="5B544A"/>
                </a:solidFill>
                <a:latin typeface="Calibri" pitchFamily="34" charset="0"/>
                <a:ea typeface="Calibri" pitchFamily="34" charset="-122"/>
                <a:cs typeface="Calibri" pitchFamily="34" charset="-120"/>
              </a:rPr>
              <a:t>THE THIRD POINT</a:t>
            </a:r>
            <a:endParaRPr lang="en-US" sz="720" dirty="0"/>
          </a:p>
        </p:txBody>
      </p:sp>
      <p:sp>
        <p:nvSpPr>
          <p:cNvPr id="21" name="Shape 19"/>
          <p:cNvSpPr/>
          <p:nvPr/>
        </p:nvSpPr>
        <p:spPr>
          <a:xfrm>
            <a:off x="1124712" y="4306824"/>
            <a:ext cx="1133856" cy="1133856"/>
          </a:xfrm>
          <a:prstGeom prst="ellipse">
            <a:avLst/>
          </a:prstGeom>
          <a:solidFill>
            <a:srgbClr val="FBF7EF"/>
          </a:solidFill>
          <a:ln w="11430">
            <a:solidFill>
              <a:srgbClr val="C2A05F"/>
            </a:solidFill>
            <a:prstDash val="solid"/>
          </a:ln>
        </p:spPr>
      </p:sp>
      <p:sp>
        <p:nvSpPr>
          <p:cNvPr id="22" name="Text 20"/>
          <p:cNvSpPr txBox="1"/>
          <p:nvPr/>
        </p:nvSpPr>
        <p:spPr>
          <a:xfrm>
            <a:off x="1124712" y="4672584"/>
            <a:ext cx="1133856" cy="328295"/>
          </a:xfrm>
          <a:prstGeom prst="rect">
            <a:avLst/>
          </a:prstGeom>
          <a:noFill/>
          <a:ln/>
        </p:spPr>
        <p:txBody>
          <a:bodyPr wrap="square" lIns="0" tIns="0" rIns="0" bIns="0" rtlCol="0" anchor="t"/>
          <a:lstStyle/>
          <a:p>
            <a:pPr algn="ctr" indent="0" marL="0">
              <a:lnSpc>
                <a:spcPts val="1485"/>
              </a:lnSpc>
              <a:buNone/>
            </a:pPr>
            <a:r>
              <a:rPr lang="en-US" sz="1100" dirty="0">
                <a:solidFill>
                  <a:srgbClr val="1B1815"/>
                </a:solidFill>
                <a:latin typeface="Georgia" pitchFamily="34" charset="0"/>
                <a:ea typeface="Georgia" pitchFamily="34" charset="-122"/>
                <a:cs typeface="Georgia" pitchFamily="34" charset="-120"/>
              </a:rPr>
              <a:t>Spouse B</a:t>
            </a:r>
            <a:endParaRPr lang="en-US" sz="1100" dirty="0"/>
          </a:p>
        </p:txBody>
      </p:sp>
      <p:sp>
        <p:nvSpPr>
          <p:cNvPr id="23" name="Text 21"/>
          <p:cNvSpPr txBox="1"/>
          <p:nvPr/>
        </p:nvSpPr>
        <p:spPr>
          <a:xfrm>
            <a:off x="1124712" y="4901184"/>
            <a:ext cx="1133856" cy="210312"/>
          </a:xfrm>
          <a:prstGeom prst="rect">
            <a:avLst/>
          </a:prstGeom>
          <a:noFill/>
          <a:ln/>
        </p:spPr>
        <p:txBody>
          <a:bodyPr wrap="square" lIns="0" tIns="0" rIns="0" bIns="0" rtlCol="0" anchor="t"/>
          <a:lstStyle/>
          <a:p>
            <a:pPr algn="ctr" indent="0" marL="0">
              <a:lnSpc>
                <a:spcPts val="936"/>
              </a:lnSpc>
              <a:buNone/>
            </a:pPr>
            <a:r>
              <a:rPr lang="en-US" sz="720" spc="80" kern="0" dirty="0">
                <a:solidFill>
                  <a:srgbClr val="5B544A"/>
                </a:solidFill>
                <a:latin typeface="Calibri" pitchFamily="34" charset="0"/>
                <a:ea typeface="Calibri" pitchFamily="34" charset="-122"/>
                <a:cs typeface="Calibri" pitchFamily="34" charset="-120"/>
              </a:rPr>
              <a:t>DISTANCER</a:t>
            </a:r>
            <a:endParaRPr lang="en-US" sz="720" dirty="0"/>
          </a:p>
        </p:txBody>
      </p:sp>
      <p:sp>
        <p:nvSpPr>
          <p:cNvPr id="24" name="Text 22"/>
          <p:cNvSpPr txBox="1"/>
          <p:nvPr/>
        </p:nvSpPr>
        <p:spPr>
          <a:xfrm>
            <a:off x="2651760" y="3502152"/>
            <a:ext cx="2194560" cy="220853"/>
          </a:xfrm>
          <a:prstGeom prst="rect">
            <a:avLst/>
          </a:prstGeom>
          <a:noFill/>
          <a:ln/>
        </p:spPr>
        <p:txBody>
          <a:bodyPr wrap="square" lIns="0" tIns="0" rIns="0" bIns="0" rtlCol="0" anchor="t"/>
          <a:lstStyle/>
          <a:p>
            <a:pPr algn="ctr" indent="0" marL="0">
              <a:lnSpc>
                <a:spcPts val="999"/>
              </a:lnSpc>
              <a:buNone/>
            </a:pPr>
            <a:r>
              <a:rPr lang="en-US" sz="740" b="1" spc="200" kern="0" dirty="0">
                <a:solidFill>
                  <a:srgbClr val="96733C"/>
                </a:solidFill>
                <a:latin typeface="Calibri" pitchFamily="34" charset="0"/>
                <a:ea typeface="Calibri" pitchFamily="34" charset="-122"/>
                <a:cs typeface="Calibri" pitchFamily="34" charset="-120"/>
              </a:rPr>
              <a:t>TRIANGULATION</a:t>
            </a:r>
            <a:endParaRPr lang="en-US" sz="740" dirty="0"/>
          </a:p>
        </p:txBody>
      </p:sp>
      <p:sp>
        <p:nvSpPr>
          <p:cNvPr id="25" name="Text 23"/>
          <p:cNvSpPr txBox="1"/>
          <p:nvPr/>
        </p:nvSpPr>
        <p:spPr>
          <a:xfrm>
            <a:off x="2514600" y="3712464"/>
            <a:ext cx="2468880" cy="375920"/>
          </a:xfrm>
          <a:prstGeom prst="rect">
            <a:avLst/>
          </a:prstGeom>
          <a:noFill/>
          <a:ln/>
        </p:spPr>
        <p:txBody>
          <a:bodyPr wrap="square" lIns="0" tIns="0" rIns="0" bIns="0" rtlCol="0" anchor="t"/>
          <a:lstStyle/>
          <a:p>
            <a:pPr algn="ctr" indent="0" marL="0">
              <a:lnSpc>
                <a:spcPts val="1080"/>
              </a:lnSpc>
              <a:buNone/>
            </a:pPr>
            <a:r>
              <a:rPr lang="en-US" sz="800" i="1" dirty="0">
                <a:solidFill>
                  <a:srgbClr val="5B544A"/>
                </a:solidFill>
                <a:latin typeface="Calibri" pitchFamily="34" charset="0"/>
                <a:ea typeface="Calibri" pitchFamily="34" charset="-122"/>
                <a:cs typeface="Calibri" pitchFamily="34" charset="-120"/>
              </a:rPr>
              <a:t>Anxiety between two people recruits a third. The triangle</a:t>
            </a:r>
            <a:endParaRPr lang="en-US" sz="800" dirty="0"/>
          </a:p>
          <a:p>
            <a:pPr algn="ctr" indent="0" marL="0">
              <a:lnSpc>
                <a:spcPts val="1080"/>
              </a:lnSpc>
              <a:buNone/>
            </a:pPr>
            <a:r>
              <a:rPr lang="en-US" sz="800" i="1" dirty="0">
                <a:solidFill>
                  <a:srgbClr val="5B544A"/>
                </a:solidFill>
                <a:latin typeface="Calibri" pitchFamily="34" charset="0"/>
                <a:ea typeface="Calibri" pitchFamily="34" charset="-122"/>
                <a:cs typeface="Calibri" pitchFamily="34" charset="-120"/>
              </a:rPr>
              <a:t>stabilises the system — and freezes the symptom.</a:t>
            </a:r>
            <a:endParaRPr lang="en-US" sz="800" dirty="0"/>
          </a:p>
        </p:txBody>
      </p:sp>
      <p:sp>
        <p:nvSpPr>
          <p:cNvPr id="26" name="Text 24"/>
          <p:cNvSpPr txBox="1"/>
          <p:nvPr/>
        </p:nvSpPr>
        <p:spPr>
          <a:xfrm>
            <a:off x="7726680" y="2221992"/>
            <a:ext cx="3520440" cy="394335"/>
          </a:xfrm>
          <a:prstGeom prst="rect">
            <a:avLst/>
          </a:prstGeom>
          <a:noFill/>
          <a:ln/>
        </p:spPr>
        <p:txBody>
          <a:bodyPr wrap="square" lIns="0" tIns="0" rIns="0" bIns="0" rtlCol="0" anchor="t"/>
          <a:lstStyle/>
          <a:p>
            <a:pPr algn="l" indent="0" marL="0">
              <a:lnSpc>
                <a:spcPts val="1755"/>
              </a:lnSpc>
              <a:buNone/>
            </a:pPr>
            <a:r>
              <a:rPr lang="en-US" sz="1350" dirty="0">
                <a:solidFill>
                  <a:srgbClr val="1B1815"/>
                </a:solidFill>
                <a:latin typeface="Georgia" pitchFamily="34" charset="0"/>
                <a:ea typeface="Georgia" pitchFamily="34" charset="-122"/>
                <a:cs typeface="Georgia" pitchFamily="34" charset="-120"/>
              </a:rPr>
              <a:t>What the therapist watches</a:t>
            </a:r>
            <a:endParaRPr lang="en-US" sz="1350" dirty="0"/>
          </a:p>
        </p:txBody>
      </p:sp>
      <p:sp>
        <p:nvSpPr>
          <p:cNvPr id="27" name="Shape 25"/>
          <p:cNvSpPr/>
          <p:nvPr/>
        </p:nvSpPr>
        <p:spPr>
          <a:xfrm>
            <a:off x="7708392" y="2724912"/>
            <a:ext cx="237744" cy="237744"/>
          </a:xfrm>
          <a:prstGeom prst="ellipse">
            <a:avLst/>
          </a:prstGeom>
          <a:solidFill>
            <a:srgbClr val="FFFFFF">
              <a:alpha val="0"/>
            </a:srgbClr>
          </a:solidFill>
          <a:ln w="7620">
            <a:solidFill>
              <a:srgbClr val="C2A05F"/>
            </a:solidFill>
            <a:prstDash val="solid"/>
          </a:ln>
        </p:spPr>
      </p:sp>
      <p:sp>
        <p:nvSpPr>
          <p:cNvPr id="28" name="Text 26"/>
          <p:cNvSpPr txBox="1"/>
          <p:nvPr/>
        </p:nvSpPr>
        <p:spPr>
          <a:xfrm>
            <a:off x="7708392" y="2795524"/>
            <a:ext cx="237744" cy="237744"/>
          </a:xfrm>
          <a:prstGeom prst="rect">
            <a:avLst/>
          </a:prstGeom>
          <a:noFill/>
          <a:ln/>
        </p:spPr>
        <p:txBody>
          <a:bodyPr wrap="square" lIns="0" tIns="0" rIns="0" bIns="0" rtlCol="0" anchor="t"/>
          <a:lstStyle/>
          <a:p>
            <a:pPr algn="ctr" indent="0" marL="0">
              <a:lnSpc>
                <a:spcPts val="760"/>
              </a:lnSpc>
              <a:buNone/>
            </a:pPr>
            <a:r>
              <a:rPr lang="en-US" sz="760" b="1" dirty="0">
                <a:solidFill>
                  <a:srgbClr val="96733C"/>
                </a:solidFill>
                <a:latin typeface="Calibri" pitchFamily="34" charset="0"/>
                <a:ea typeface="Calibri" pitchFamily="34" charset="-122"/>
                <a:cs typeface="Calibri" pitchFamily="34" charset="-120"/>
              </a:rPr>
              <a:t>1</a:t>
            </a:r>
            <a:endParaRPr lang="en-US" sz="760" dirty="0"/>
          </a:p>
        </p:txBody>
      </p:sp>
      <p:sp>
        <p:nvSpPr>
          <p:cNvPr id="29" name="Text 27"/>
          <p:cNvSpPr txBox="1"/>
          <p:nvPr/>
        </p:nvSpPr>
        <p:spPr>
          <a:xfrm>
            <a:off x="8074152" y="2724912"/>
            <a:ext cx="2971800" cy="274574"/>
          </a:xfrm>
          <a:prstGeom prst="rect">
            <a:avLst/>
          </a:prstGeom>
          <a:noFill/>
          <a:ln/>
        </p:spPr>
        <p:txBody>
          <a:bodyPr wrap="square" lIns="0" tIns="0" rIns="0" bIns="0" rtlCol="0" anchor="t"/>
          <a:lstStyle/>
          <a:p>
            <a:pPr algn="l" indent="0" marL="0">
              <a:lnSpc>
                <a:spcPts val="1242"/>
              </a:lnSpc>
              <a:buNone/>
            </a:pPr>
            <a:r>
              <a:rPr lang="en-US" sz="920" dirty="0">
                <a:solidFill>
                  <a:srgbClr val="3F3A33"/>
                </a:solidFill>
                <a:latin typeface="Calibri" pitchFamily="34" charset="0"/>
                <a:ea typeface="Calibri" pitchFamily="34" charset="-122"/>
                <a:cs typeface="Calibri" pitchFamily="34" charset="-120"/>
              </a:rPr>
              <a:t>Who is drawn in when tension rises?</a:t>
            </a:r>
            <a:endParaRPr lang="en-US" sz="920" dirty="0"/>
          </a:p>
        </p:txBody>
      </p:sp>
      <p:sp>
        <p:nvSpPr>
          <p:cNvPr id="30" name="Shape 28"/>
          <p:cNvSpPr/>
          <p:nvPr/>
        </p:nvSpPr>
        <p:spPr>
          <a:xfrm>
            <a:off x="7708392" y="3694176"/>
            <a:ext cx="237744" cy="237744"/>
          </a:xfrm>
          <a:prstGeom prst="ellipse">
            <a:avLst/>
          </a:prstGeom>
          <a:solidFill>
            <a:srgbClr val="FFFFFF">
              <a:alpha val="0"/>
            </a:srgbClr>
          </a:solidFill>
          <a:ln w="7620">
            <a:solidFill>
              <a:srgbClr val="C2A05F"/>
            </a:solidFill>
            <a:prstDash val="solid"/>
          </a:ln>
        </p:spPr>
      </p:sp>
      <p:sp>
        <p:nvSpPr>
          <p:cNvPr id="31" name="Text 29"/>
          <p:cNvSpPr txBox="1"/>
          <p:nvPr/>
        </p:nvSpPr>
        <p:spPr>
          <a:xfrm>
            <a:off x="7708392" y="3764788"/>
            <a:ext cx="237744" cy="237744"/>
          </a:xfrm>
          <a:prstGeom prst="rect">
            <a:avLst/>
          </a:prstGeom>
          <a:noFill/>
          <a:ln/>
        </p:spPr>
        <p:txBody>
          <a:bodyPr wrap="square" lIns="0" tIns="0" rIns="0" bIns="0" rtlCol="0" anchor="t"/>
          <a:lstStyle/>
          <a:p>
            <a:pPr algn="ctr" indent="0" marL="0">
              <a:lnSpc>
                <a:spcPts val="760"/>
              </a:lnSpc>
              <a:buNone/>
            </a:pPr>
            <a:r>
              <a:rPr lang="en-US" sz="760" b="1" dirty="0">
                <a:solidFill>
                  <a:srgbClr val="96733C"/>
                </a:solidFill>
                <a:latin typeface="Calibri" pitchFamily="34" charset="0"/>
                <a:ea typeface="Calibri" pitchFamily="34" charset="-122"/>
                <a:cs typeface="Calibri" pitchFamily="34" charset="-120"/>
              </a:rPr>
              <a:t>2</a:t>
            </a:r>
            <a:endParaRPr lang="en-US" sz="760" dirty="0"/>
          </a:p>
        </p:txBody>
      </p:sp>
      <p:sp>
        <p:nvSpPr>
          <p:cNvPr id="32" name="Text 30"/>
          <p:cNvSpPr txBox="1"/>
          <p:nvPr/>
        </p:nvSpPr>
        <p:spPr>
          <a:xfrm>
            <a:off x="8074152" y="3694176"/>
            <a:ext cx="2971800" cy="274574"/>
          </a:xfrm>
          <a:prstGeom prst="rect">
            <a:avLst/>
          </a:prstGeom>
          <a:noFill/>
          <a:ln/>
        </p:spPr>
        <p:txBody>
          <a:bodyPr wrap="square" lIns="0" tIns="0" rIns="0" bIns="0" rtlCol="0" anchor="t"/>
          <a:lstStyle/>
          <a:p>
            <a:pPr algn="l" indent="0" marL="0">
              <a:lnSpc>
                <a:spcPts val="1242"/>
              </a:lnSpc>
              <a:buNone/>
            </a:pPr>
            <a:r>
              <a:rPr lang="en-US" sz="920" dirty="0">
                <a:solidFill>
                  <a:srgbClr val="3F3A33"/>
                </a:solidFill>
                <a:latin typeface="Calibri" pitchFamily="34" charset="0"/>
                <a:ea typeface="Calibri" pitchFamily="34" charset="-122"/>
                <a:cs typeface="Calibri" pitchFamily="34" charset="-120"/>
              </a:rPr>
              <a:t>Which side of the triangle carries the symptom?</a:t>
            </a:r>
            <a:endParaRPr lang="en-US" sz="920" dirty="0"/>
          </a:p>
        </p:txBody>
      </p:sp>
      <p:sp>
        <p:nvSpPr>
          <p:cNvPr id="33" name="Shape 31"/>
          <p:cNvSpPr/>
          <p:nvPr/>
        </p:nvSpPr>
        <p:spPr>
          <a:xfrm>
            <a:off x="7708392" y="4663440"/>
            <a:ext cx="237744" cy="237744"/>
          </a:xfrm>
          <a:prstGeom prst="ellipse">
            <a:avLst/>
          </a:prstGeom>
          <a:solidFill>
            <a:srgbClr val="FFFFFF">
              <a:alpha val="0"/>
            </a:srgbClr>
          </a:solidFill>
          <a:ln w="7620">
            <a:solidFill>
              <a:srgbClr val="C2A05F"/>
            </a:solidFill>
            <a:prstDash val="solid"/>
          </a:ln>
        </p:spPr>
      </p:sp>
      <p:sp>
        <p:nvSpPr>
          <p:cNvPr id="34" name="Text 32"/>
          <p:cNvSpPr txBox="1"/>
          <p:nvPr/>
        </p:nvSpPr>
        <p:spPr>
          <a:xfrm>
            <a:off x="7708392" y="4734052"/>
            <a:ext cx="237744" cy="237744"/>
          </a:xfrm>
          <a:prstGeom prst="rect">
            <a:avLst/>
          </a:prstGeom>
          <a:noFill/>
          <a:ln/>
        </p:spPr>
        <p:txBody>
          <a:bodyPr wrap="square" lIns="0" tIns="0" rIns="0" bIns="0" rtlCol="0" anchor="t"/>
          <a:lstStyle/>
          <a:p>
            <a:pPr algn="ctr" indent="0" marL="0">
              <a:lnSpc>
                <a:spcPts val="760"/>
              </a:lnSpc>
              <a:buNone/>
            </a:pPr>
            <a:r>
              <a:rPr lang="en-US" sz="760" b="1" dirty="0">
                <a:solidFill>
                  <a:srgbClr val="96733C"/>
                </a:solidFill>
                <a:latin typeface="Calibri" pitchFamily="34" charset="0"/>
                <a:ea typeface="Calibri" pitchFamily="34" charset="-122"/>
                <a:cs typeface="Calibri" pitchFamily="34" charset="-120"/>
              </a:rPr>
              <a:t>3</a:t>
            </a:r>
            <a:endParaRPr lang="en-US" sz="760" dirty="0"/>
          </a:p>
        </p:txBody>
      </p:sp>
      <p:sp>
        <p:nvSpPr>
          <p:cNvPr id="35" name="Text 33"/>
          <p:cNvSpPr txBox="1"/>
          <p:nvPr/>
        </p:nvSpPr>
        <p:spPr>
          <a:xfrm>
            <a:off x="8074152" y="4663440"/>
            <a:ext cx="2971800" cy="274574"/>
          </a:xfrm>
          <a:prstGeom prst="rect">
            <a:avLst/>
          </a:prstGeom>
          <a:noFill/>
          <a:ln/>
        </p:spPr>
        <p:txBody>
          <a:bodyPr wrap="square" lIns="0" tIns="0" rIns="0" bIns="0" rtlCol="0" anchor="t"/>
          <a:lstStyle/>
          <a:p>
            <a:pPr algn="l" indent="0" marL="0">
              <a:lnSpc>
                <a:spcPts val="1242"/>
              </a:lnSpc>
              <a:buNone/>
            </a:pPr>
            <a:r>
              <a:rPr lang="en-US" sz="920" dirty="0">
                <a:solidFill>
                  <a:srgbClr val="3F3A33"/>
                </a:solidFill>
                <a:latin typeface="Calibri" pitchFamily="34" charset="0"/>
                <a:ea typeface="Calibri" pitchFamily="34" charset="-122"/>
                <a:cs typeface="Calibri" pitchFamily="34" charset="-120"/>
              </a:rPr>
              <a:t>Can each dyad be strengthened without the third?</a:t>
            </a:r>
            <a:endParaRPr lang="en-US" sz="920" dirty="0"/>
          </a:p>
        </p:txBody>
      </p:sp>
      <p:sp>
        <p:nvSpPr>
          <p:cNvPr id="36" name="Shape 34"/>
          <p:cNvSpPr/>
          <p:nvPr/>
        </p:nvSpPr>
        <p:spPr>
          <a:xfrm>
            <a:off x="7726680" y="5193792"/>
            <a:ext cx="3108960" cy="91"/>
          </a:xfrm>
          <a:prstGeom prst="line">
            <a:avLst/>
          </a:prstGeom>
          <a:noFill/>
          <a:ln w="7620">
            <a:solidFill>
              <a:srgbClr val="D9CDB7"/>
            </a:solidFill>
            <a:prstDash val="solid"/>
            <a:headEnd type="none"/>
            <a:tailEnd type="none"/>
          </a:ln>
        </p:spPr>
      </p:sp>
      <p:sp>
        <p:nvSpPr>
          <p:cNvPr id="37" name="Text 35"/>
          <p:cNvSpPr txBox="1"/>
          <p:nvPr/>
        </p:nvSpPr>
        <p:spPr>
          <a:xfrm>
            <a:off x="7726680" y="5303520"/>
            <a:ext cx="3200400" cy="232791"/>
          </a:xfrm>
          <a:prstGeom prst="rect">
            <a:avLst/>
          </a:prstGeom>
          <a:noFill/>
          <a:ln/>
        </p:spPr>
        <p:txBody>
          <a:bodyPr wrap="square" lIns="0" tIns="0" rIns="0" bIns="0" rtlCol="0" anchor="t"/>
          <a:lstStyle/>
          <a:p>
            <a:pPr algn="l" indent="0" marL="0">
              <a:lnSpc>
                <a:spcPts val="1053"/>
              </a:lnSpc>
              <a:buNone/>
            </a:pPr>
            <a:r>
              <a:rPr lang="en-US" sz="780" i="1" dirty="0">
                <a:solidFill>
                  <a:srgbClr val="5B544A"/>
                </a:solidFill>
                <a:latin typeface="Calibri" pitchFamily="34" charset="0"/>
                <a:ea typeface="Calibri" pitchFamily="34" charset="-122"/>
                <a:cs typeface="Calibri" pitchFamily="34" charset="-120"/>
              </a:rPr>
              <a:t>Detriangling begins with the therapist staying out of the triangle.</a:t>
            </a:r>
            <a:endParaRPr lang="en-US" sz="780" dirty="0"/>
          </a:p>
        </p:txBody>
      </p:sp>
      <p:sp>
        <p:nvSpPr>
          <p:cNvPr id="38" name="Text 36"/>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Bowen (1978); see also Kerr &amp; Bowen (1988).</a:t>
            </a:r>
            <a:endParaRPr lang="en-US" sz="7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05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The ledger of loyalty</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643890"/>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This is a reflective seminar. Speak only to what you are willing to share; the exercise is about</a:t>
            </a:r>
            <a:endParaRPr lang="en-US" sz="1300" dirty="0"/>
          </a:p>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seeing, not disclosing.</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was handed down to you that you did not choose?</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loyalty would be tested if you changed one pattern?</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Where does “undifferentiated” appear in your own family?</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How would you ask about legacy without pathologising it?</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06 · PHASE II — THEORETICAL CARTOGRAPHY</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06</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Experiential and Humanistic</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Traditions</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What happens when the therapist stops explaining and starts experiencing?</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person of the therapist</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Four stances, one cost each</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family that explains everything</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Describe Satir’s communication stances and the goal</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of congruence.</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Explain the symbolic-experiential use of the</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therapist’s self.</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Practise immediacy without shaming.</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congruence · sculpting · immediacy · symbolic-experiential · self-of-the-therapist</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Satir (1967) · Whitaker (1989) · Greenberg &amp; Johnson (1988)</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64152" y="5696712"/>
            <a:ext cx="128016" cy="128016"/>
          </a:xfrm>
          <a:prstGeom prst="ellipse">
            <a:avLst/>
          </a:prstGeom>
          <a:solidFill>
            <a:srgbClr val="C2A05F"/>
          </a:solidFill>
          <a:ln w="8890">
            <a:solidFill>
              <a:srgbClr val="E7D3A9"/>
            </a:solidFill>
            <a:prstDash val="solid"/>
          </a:ln>
        </p:spPr>
      </p:sp>
      <p:sp>
        <p:nvSpPr>
          <p:cNvPr id="33" name="Shape 31"/>
          <p:cNvSpPr/>
          <p:nvPr/>
        </p:nvSpPr>
        <p:spPr>
          <a:xfrm>
            <a:off x="4999939" y="5731459"/>
            <a:ext cx="58522" cy="58522"/>
          </a:xfrm>
          <a:prstGeom prst="ellipse">
            <a:avLst/>
          </a:prstGeom>
          <a:solidFill>
            <a:srgbClr val="1E1913"/>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06 · LECTURE 06</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30</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person of the therapist</a:t>
            </a:r>
            <a:endParaRPr lang="en-US" sz="2800" dirty="0"/>
          </a:p>
        </p:txBody>
      </p:sp>
      <p:sp>
        <p:nvSpPr>
          <p:cNvPr id="9" name="Text 7"/>
          <p:cNvSpPr txBox="1"/>
          <p:nvPr/>
        </p:nvSpPr>
        <p:spPr>
          <a:xfrm>
            <a:off x="822960" y="1486408"/>
            <a:ext cx="8138160" cy="387248"/>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Experiential models insist that change happens in the encounter — not in the explanation of the encounter.</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SATIR · COMMUNICATION AND CONGRUENCE</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Stances are survival strategies learned early: placating, blaming, being</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super-reasonable, being irrelevant. Congruence is the goal — the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body, the words and the feeling agreeing.</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Sculpting makes structure visible in space</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therapist models congruence rather than teaching it</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Family maps trace three generations of coping</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WHITAKER · SYMBOLIC-EXPERIENTIAL</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Therapy trusts the family’s own process. The therapist joins,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provokes, plays and uses their own experience as part of the field.</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therapist’s growth is part of the treatment</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Symptoms can be understood symbolically</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Play is a serious clinical method</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THE EMOTION-FOCUSED LINEAGE</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Greenberg and Johnson moved experiential work toward affect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regulation and attachment, making it researchable without losing its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human centre.</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Emotion as information</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Therapeutic presence</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 bridge to process research</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WHITAKER</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The self as instrument</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Personal therapy and supervision are not extras added to training. They are the means by which the therapist</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becomes usable.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Satir (1967); Whitaker (1989); Greenberg &amp;</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Johnson (1988).</a:t>
            </a:r>
            <a:endParaRPr lang="en-US" sz="6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06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31</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Four stances, one cost each</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Each stance solves an immediate problem and purchases a longer one. The clinical task is to make the cost visible without contempt.</a:t>
            </a:r>
            <a:endParaRPr lang="en-US" sz="1060" dirty="0"/>
          </a:p>
        </p:txBody>
      </p:sp>
      <p:sp>
        <p:nvSpPr>
          <p:cNvPr id="10" name="Shape 8"/>
          <p:cNvSpPr/>
          <p:nvPr/>
        </p:nvSpPr>
        <p:spPr>
          <a:xfrm>
            <a:off x="914400" y="1920240"/>
            <a:ext cx="2425446" cy="2880360"/>
          </a:xfrm>
          <a:prstGeom prst="roundRect">
            <a:avLst>
              <a:gd name="adj" fmla="val 640"/>
            </a:avLst>
          </a:prstGeom>
          <a:solidFill>
            <a:srgbClr val="FDFAF3"/>
          </a:solidFill>
          <a:ln w="8890">
            <a:solidFill>
              <a:srgbClr val="D9CDB7"/>
            </a:solidFill>
            <a:prstDash val="solid"/>
          </a:ln>
        </p:spPr>
      </p:sp>
      <p:sp>
        <p:nvSpPr>
          <p:cNvPr id="11" name="Shape 9"/>
          <p:cNvSpPr/>
          <p:nvPr/>
        </p:nvSpPr>
        <p:spPr>
          <a:xfrm>
            <a:off x="2021967" y="2409444"/>
            <a:ext cx="210312" cy="210312"/>
          </a:xfrm>
          <a:prstGeom prst="ellipse">
            <a:avLst/>
          </a:prstGeom>
          <a:solidFill>
            <a:srgbClr val="FFFFFF">
              <a:alpha val="0"/>
            </a:srgbClr>
          </a:solidFill>
          <a:ln w="11430">
            <a:solidFill>
              <a:srgbClr val="96733C"/>
            </a:solidFill>
            <a:prstDash val="solid"/>
          </a:ln>
        </p:spPr>
      </p:sp>
      <p:sp>
        <p:nvSpPr>
          <p:cNvPr id="12" name="Shape 10"/>
          <p:cNvSpPr/>
          <p:nvPr/>
        </p:nvSpPr>
        <p:spPr>
          <a:xfrm>
            <a:off x="2127123" y="2624328"/>
            <a:ext cx="309628" cy="542610"/>
          </a:xfrm>
          <a:prstGeom prst="line">
            <a:avLst/>
          </a:prstGeom>
          <a:noFill/>
          <a:ln w="12700">
            <a:solidFill>
              <a:srgbClr val="96733C"/>
            </a:solidFill>
            <a:prstDash val="solid"/>
            <a:headEnd type="none"/>
            <a:tailEnd type="none"/>
          </a:ln>
        </p:spPr>
      </p:sp>
      <p:sp>
        <p:nvSpPr>
          <p:cNvPr id="13" name="Shape 11"/>
          <p:cNvSpPr/>
          <p:nvPr/>
        </p:nvSpPr>
        <p:spPr>
          <a:xfrm>
            <a:off x="1797939" y="2185416"/>
            <a:ext cx="658368" cy="658368"/>
          </a:xfrm>
          <a:prstGeom prst="ellipse">
            <a:avLst/>
          </a:prstGeom>
          <a:solidFill>
            <a:srgbClr val="FFFFFF">
              <a:alpha val="0"/>
            </a:srgbClr>
          </a:solidFill>
          <a:ln w="6350">
            <a:solidFill>
              <a:srgbClr val="D9CDB7"/>
            </a:solidFill>
            <a:prstDash val="solid"/>
          </a:ln>
        </p:spPr>
      </p:sp>
      <p:sp>
        <p:nvSpPr>
          <p:cNvPr id="14" name="Text 12"/>
          <p:cNvSpPr txBox="1"/>
          <p:nvPr/>
        </p:nvSpPr>
        <p:spPr>
          <a:xfrm>
            <a:off x="1042416" y="2066544"/>
            <a:ext cx="2169414" cy="204470"/>
          </a:xfrm>
          <a:prstGeom prst="rect">
            <a:avLst/>
          </a:prstGeom>
          <a:noFill/>
          <a:ln/>
        </p:spPr>
        <p:txBody>
          <a:bodyPr wrap="square" lIns="0" tIns="0" rIns="0" bIns="0" rtlCol="0" anchor="t"/>
          <a:lstStyle/>
          <a:p>
            <a:pPr algn="l" indent="0" marL="0">
              <a:lnSpc>
                <a:spcPts val="910"/>
              </a:lnSpc>
              <a:buNone/>
            </a:pPr>
            <a:r>
              <a:rPr lang="en-US" sz="700" spc="160" kern="0" dirty="0">
                <a:solidFill>
                  <a:srgbClr val="96733C"/>
                </a:solidFill>
                <a:latin typeface="Calibri" pitchFamily="34" charset="0"/>
                <a:ea typeface="Calibri" pitchFamily="34" charset="-122"/>
                <a:cs typeface="Calibri" pitchFamily="34" charset="-120"/>
              </a:rPr>
              <a:t>01</a:t>
            </a:r>
            <a:endParaRPr lang="en-US" sz="700" dirty="0"/>
          </a:p>
        </p:txBody>
      </p:sp>
      <p:sp>
        <p:nvSpPr>
          <p:cNvPr id="15" name="Text 13"/>
          <p:cNvSpPr txBox="1"/>
          <p:nvPr/>
        </p:nvSpPr>
        <p:spPr>
          <a:xfrm>
            <a:off x="1042416" y="3291840"/>
            <a:ext cx="2169414" cy="432753"/>
          </a:xfrm>
          <a:prstGeom prst="rect">
            <a:avLst/>
          </a:prstGeom>
          <a:noFill/>
          <a:ln/>
        </p:spPr>
        <p:txBody>
          <a:bodyPr wrap="square" lIns="0" tIns="0" rIns="0" bIns="0" rtlCol="0" anchor="t"/>
          <a:lstStyle/>
          <a:p>
            <a:pPr algn="l" indent="0" marL="0">
              <a:lnSpc>
                <a:spcPts val="1958"/>
              </a:lnSpc>
              <a:buNone/>
            </a:pPr>
            <a:r>
              <a:rPr lang="en-US" sz="1450" dirty="0">
                <a:solidFill>
                  <a:srgbClr val="1B1815"/>
                </a:solidFill>
                <a:latin typeface="Georgia" pitchFamily="34" charset="0"/>
                <a:ea typeface="Georgia" pitchFamily="34" charset="-122"/>
                <a:cs typeface="Georgia" pitchFamily="34" charset="-120"/>
              </a:rPr>
              <a:t>Placator</a:t>
            </a:r>
            <a:endParaRPr lang="en-US" sz="1450" dirty="0"/>
          </a:p>
        </p:txBody>
      </p:sp>
      <p:sp>
        <p:nvSpPr>
          <p:cNvPr id="16" name="Text 14"/>
          <p:cNvSpPr txBox="1"/>
          <p:nvPr/>
        </p:nvSpPr>
        <p:spPr>
          <a:xfrm>
            <a:off x="1042416" y="3621024"/>
            <a:ext cx="2169414" cy="251206"/>
          </a:xfrm>
          <a:prstGeom prst="rect">
            <a:avLst/>
          </a:prstGeom>
          <a:noFill/>
          <a:ln/>
        </p:spPr>
        <p:txBody>
          <a:bodyPr wrap="square" lIns="0" tIns="0" rIns="0" bIns="0" rtlCol="0" anchor="t"/>
          <a:lstStyle/>
          <a:p>
            <a:pPr algn="l" indent="0" marL="0">
              <a:lnSpc>
                <a:spcPts val="1118"/>
              </a:lnSpc>
              <a:buNone/>
            </a:pPr>
            <a:r>
              <a:rPr lang="en-US" sz="860" i="1" dirty="0">
                <a:solidFill>
                  <a:srgbClr val="96733C"/>
                </a:solidFill>
                <a:latin typeface="Calibri" pitchFamily="34" charset="0"/>
                <a:ea typeface="Calibri" pitchFamily="34" charset="-122"/>
                <a:cs typeface="Calibri" pitchFamily="34" charset="-120"/>
              </a:rPr>
              <a:t>“Whatever you want.”</a:t>
            </a:r>
            <a:endParaRPr lang="en-US" sz="860" dirty="0"/>
          </a:p>
        </p:txBody>
      </p:sp>
      <p:sp>
        <p:nvSpPr>
          <p:cNvPr id="17" name="Shape 15"/>
          <p:cNvSpPr/>
          <p:nvPr/>
        </p:nvSpPr>
        <p:spPr>
          <a:xfrm>
            <a:off x="1042416" y="4023360"/>
            <a:ext cx="438912" cy="91"/>
          </a:xfrm>
          <a:prstGeom prst="line">
            <a:avLst/>
          </a:prstGeom>
          <a:noFill/>
          <a:ln w="7620">
            <a:solidFill>
              <a:srgbClr val="D9CDB7"/>
            </a:solidFill>
            <a:prstDash val="solid"/>
            <a:headEnd type="none"/>
            <a:tailEnd type="none"/>
          </a:ln>
        </p:spPr>
      </p:sp>
      <p:sp>
        <p:nvSpPr>
          <p:cNvPr id="18" name="Text 16"/>
          <p:cNvSpPr txBox="1"/>
          <p:nvPr/>
        </p:nvSpPr>
        <p:spPr>
          <a:xfrm>
            <a:off x="1042416" y="4142232"/>
            <a:ext cx="2169414" cy="233680"/>
          </a:xfrm>
          <a:prstGeom prst="rect">
            <a:avLst/>
          </a:prstGeom>
          <a:noFill/>
          <a:ln/>
        </p:spPr>
        <p:txBody>
          <a:bodyPr wrap="square" lIns="0" tIns="0" rIns="0" bIns="0" rtlCol="0" anchor="t"/>
          <a:lstStyle/>
          <a:p>
            <a:pPr algn="l" indent="0" marL="0">
              <a:lnSpc>
                <a:spcPts val="1040"/>
              </a:lnSpc>
              <a:buNone/>
            </a:pPr>
            <a:r>
              <a:rPr lang="en-US" sz="800" dirty="0">
                <a:solidFill>
                  <a:srgbClr val="5B544A"/>
                </a:solidFill>
                <a:latin typeface="Calibri" pitchFamily="34" charset="0"/>
                <a:ea typeface="Calibri" pitchFamily="34" charset="-122"/>
                <a:cs typeface="Calibri" pitchFamily="34" charset="-120"/>
              </a:rPr>
              <a:t>Self erased to keep the peace.</a:t>
            </a:r>
            <a:endParaRPr lang="en-US" sz="800" dirty="0"/>
          </a:p>
        </p:txBody>
      </p:sp>
      <p:sp>
        <p:nvSpPr>
          <p:cNvPr id="19" name="Shape 17"/>
          <p:cNvSpPr/>
          <p:nvPr/>
        </p:nvSpPr>
        <p:spPr>
          <a:xfrm>
            <a:off x="3559302" y="1920240"/>
            <a:ext cx="2425446" cy="2880360"/>
          </a:xfrm>
          <a:prstGeom prst="roundRect">
            <a:avLst>
              <a:gd name="adj" fmla="val 640"/>
            </a:avLst>
          </a:prstGeom>
          <a:solidFill>
            <a:srgbClr val="FDFAF3"/>
          </a:solidFill>
          <a:ln w="8890">
            <a:solidFill>
              <a:srgbClr val="D9CDB7"/>
            </a:solidFill>
            <a:prstDash val="solid"/>
          </a:ln>
        </p:spPr>
      </p:sp>
      <p:sp>
        <p:nvSpPr>
          <p:cNvPr id="20" name="Shape 18"/>
          <p:cNvSpPr/>
          <p:nvPr/>
        </p:nvSpPr>
        <p:spPr>
          <a:xfrm>
            <a:off x="4666869" y="2409444"/>
            <a:ext cx="210312" cy="210312"/>
          </a:xfrm>
          <a:prstGeom prst="ellipse">
            <a:avLst/>
          </a:prstGeom>
          <a:solidFill>
            <a:srgbClr val="FFFFFF">
              <a:alpha val="0"/>
            </a:srgbClr>
          </a:solidFill>
          <a:ln w="11430">
            <a:solidFill>
              <a:srgbClr val="96733C"/>
            </a:solidFill>
            <a:prstDash val="solid"/>
          </a:ln>
        </p:spPr>
      </p:sp>
      <p:sp>
        <p:nvSpPr>
          <p:cNvPr id="21" name="Shape 19"/>
          <p:cNvSpPr/>
          <p:nvPr/>
        </p:nvSpPr>
        <p:spPr>
          <a:xfrm flipH="1">
            <a:off x="4462397" y="2624328"/>
            <a:ext cx="309628" cy="542610"/>
          </a:xfrm>
          <a:prstGeom prst="line">
            <a:avLst/>
          </a:prstGeom>
          <a:noFill/>
          <a:ln w="12700">
            <a:solidFill>
              <a:srgbClr val="96733C"/>
            </a:solidFill>
            <a:prstDash val="solid"/>
            <a:headEnd type="none"/>
            <a:tailEnd type="none"/>
          </a:ln>
        </p:spPr>
      </p:sp>
      <p:sp>
        <p:nvSpPr>
          <p:cNvPr id="22" name="Shape 20"/>
          <p:cNvSpPr/>
          <p:nvPr/>
        </p:nvSpPr>
        <p:spPr>
          <a:xfrm>
            <a:off x="4442841" y="2185416"/>
            <a:ext cx="658368" cy="658368"/>
          </a:xfrm>
          <a:prstGeom prst="ellipse">
            <a:avLst/>
          </a:prstGeom>
          <a:solidFill>
            <a:srgbClr val="FFFFFF">
              <a:alpha val="0"/>
            </a:srgbClr>
          </a:solidFill>
          <a:ln w="6350">
            <a:solidFill>
              <a:srgbClr val="D9CDB7"/>
            </a:solidFill>
            <a:prstDash val="solid"/>
          </a:ln>
        </p:spPr>
      </p:sp>
      <p:sp>
        <p:nvSpPr>
          <p:cNvPr id="23" name="Text 21"/>
          <p:cNvSpPr txBox="1"/>
          <p:nvPr/>
        </p:nvSpPr>
        <p:spPr>
          <a:xfrm>
            <a:off x="3687318" y="2066544"/>
            <a:ext cx="2169414" cy="204470"/>
          </a:xfrm>
          <a:prstGeom prst="rect">
            <a:avLst/>
          </a:prstGeom>
          <a:noFill/>
          <a:ln/>
        </p:spPr>
        <p:txBody>
          <a:bodyPr wrap="square" lIns="0" tIns="0" rIns="0" bIns="0" rtlCol="0" anchor="t"/>
          <a:lstStyle/>
          <a:p>
            <a:pPr algn="l" indent="0" marL="0">
              <a:lnSpc>
                <a:spcPts val="910"/>
              </a:lnSpc>
              <a:buNone/>
            </a:pPr>
            <a:r>
              <a:rPr lang="en-US" sz="700" spc="160" kern="0" dirty="0">
                <a:solidFill>
                  <a:srgbClr val="96733C"/>
                </a:solidFill>
                <a:latin typeface="Calibri" pitchFamily="34" charset="0"/>
                <a:ea typeface="Calibri" pitchFamily="34" charset="-122"/>
                <a:cs typeface="Calibri" pitchFamily="34" charset="-120"/>
              </a:rPr>
              <a:t>02</a:t>
            </a:r>
            <a:endParaRPr lang="en-US" sz="700" dirty="0"/>
          </a:p>
        </p:txBody>
      </p:sp>
      <p:sp>
        <p:nvSpPr>
          <p:cNvPr id="24" name="Text 22"/>
          <p:cNvSpPr txBox="1"/>
          <p:nvPr/>
        </p:nvSpPr>
        <p:spPr>
          <a:xfrm>
            <a:off x="3687318" y="3291840"/>
            <a:ext cx="2169414" cy="432753"/>
          </a:xfrm>
          <a:prstGeom prst="rect">
            <a:avLst/>
          </a:prstGeom>
          <a:noFill/>
          <a:ln/>
        </p:spPr>
        <p:txBody>
          <a:bodyPr wrap="square" lIns="0" tIns="0" rIns="0" bIns="0" rtlCol="0" anchor="t"/>
          <a:lstStyle/>
          <a:p>
            <a:pPr algn="l" indent="0" marL="0">
              <a:lnSpc>
                <a:spcPts val="1958"/>
              </a:lnSpc>
              <a:buNone/>
            </a:pPr>
            <a:r>
              <a:rPr lang="en-US" sz="1450" dirty="0">
                <a:solidFill>
                  <a:srgbClr val="1B1815"/>
                </a:solidFill>
                <a:latin typeface="Georgia" pitchFamily="34" charset="0"/>
                <a:ea typeface="Georgia" pitchFamily="34" charset="-122"/>
                <a:cs typeface="Georgia" pitchFamily="34" charset="-120"/>
              </a:rPr>
              <a:t>Blamer</a:t>
            </a:r>
            <a:endParaRPr lang="en-US" sz="1450" dirty="0"/>
          </a:p>
        </p:txBody>
      </p:sp>
      <p:sp>
        <p:nvSpPr>
          <p:cNvPr id="25" name="Text 23"/>
          <p:cNvSpPr txBox="1"/>
          <p:nvPr/>
        </p:nvSpPr>
        <p:spPr>
          <a:xfrm>
            <a:off x="3687318" y="3621024"/>
            <a:ext cx="2169414" cy="251206"/>
          </a:xfrm>
          <a:prstGeom prst="rect">
            <a:avLst/>
          </a:prstGeom>
          <a:noFill/>
          <a:ln/>
        </p:spPr>
        <p:txBody>
          <a:bodyPr wrap="square" lIns="0" tIns="0" rIns="0" bIns="0" rtlCol="0" anchor="t"/>
          <a:lstStyle/>
          <a:p>
            <a:pPr algn="l" indent="0" marL="0">
              <a:lnSpc>
                <a:spcPts val="1118"/>
              </a:lnSpc>
              <a:buNone/>
            </a:pPr>
            <a:r>
              <a:rPr lang="en-US" sz="860" i="1" dirty="0">
                <a:solidFill>
                  <a:srgbClr val="96733C"/>
                </a:solidFill>
                <a:latin typeface="Calibri" pitchFamily="34" charset="0"/>
                <a:ea typeface="Calibri" pitchFamily="34" charset="-122"/>
                <a:cs typeface="Calibri" pitchFamily="34" charset="-120"/>
              </a:rPr>
              <a:t>“It is all your fault.”</a:t>
            </a:r>
            <a:endParaRPr lang="en-US" sz="860" dirty="0"/>
          </a:p>
        </p:txBody>
      </p:sp>
      <p:sp>
        <p:nvSpPr>
          <p:cNvPr id="26" name="Shape 24"/>
          <p:cNvSpPr/>
          <p:nvPr/>
        </p:nvSpPr>
        <p:spPr>
          <a:xfrm>
            <a:off x="3687318" y="4023360"/>
            <a:ext cx="438912" cy="91"/>
          </a:xfrm>
          <a:prstGeom prst="line">
            <a:avLst/>
          </a:prstGeom>
          <a:noFill/>
          <a:ln w="7620">
            <a:solidFill>
              <a:srgbClr val="D9CDB7"/>
            </a:solidFill>
            <a:prstDash val="solid"/>
            <a:headEnd type="none"/>
            <a:tailEnd type="none"/>
          </a:ln>
        </p:spPr>
      </p:sp>
      <p:sp>
        <p:nvSpPr>
          <p:cNvPr id="27" name="Text 25"/>
          <p:cNvSpPr txBox="1"/>
          <p:nvPr/>
        </p:nvSpPr>
        <p:spPr>
          <a:xfrm>
            <a:off x="3687318" y="4142232"/>
            <a:ext cx="2169414" cy="233680"/>
          </a:xfrm>
          <a:prstGeom prst="rect">
            <a:avLst/>
          </a:prstGeom>
          <a:noFill/>
          <a:ln/>
        </p:spPr>
        <p:txBody>
          <a:bodyPr wrap="square" lIns="0" tIns="0" rIns="0" bIns="0" rtlCol="0" anchor="t"/>
          <a:lstStyle/>
          <a:p>
            <a:pPr algn="l" indent="0" marL="0">
              <a:lnSpc>
                <a:spcPts val="1040"/>
              </a:lnSpc>
              <a:buNone/>
            </a:pPr>
            <a:r>
              <a:rPr lang="en-US" sz="800" dirty="0">
                <a:solidFill>
                  <a:srgbClr val="5B544A"/>
                </a:solidFill>
                <a:latin typeface="Calibri" pitchFamily="34" charset="0"/>
                <a:ea typeface="Calibri" pitchFamily="34" charset="-122"/>
                <a:cs typeface="Calibri" pitchFamily="34" charset="-120"/>
              </a:rPr>
              <a:t>Connection traded for control.</a:t>
            </a:r>
            <a:endParaRPr lang="en-US" sz="800" dirty="0"/>
          </a:p>
        </p:txBody>
      </p:sp>
      <p:sp>
        <p:nvSpPr>
          <p:cNvPr id="28" name="Shape 26"/>
          <p:cNvSpPr/>
          <p:nvPr/>
        </p:nvSpPr>
        <p:spPr>
          <a:xfrm>
            <a:off x="6204204" y="1920240"/>
            <a:ext cx="2425446" cy="2880360"/>
          </a:xfrm>
          <a:prstGeom prst="roundRect">
            <a:avLst>
              <a:gd name="adj" fmla="val 640"/>
            </a:avLst>
          </a:prstGeom>
          <a:solidFill>
            <a:srgbClr val="FDFAF3"/>
          </a:solidFill>
          <a:ln w="8890">
            <a:solidFill>
              <a:srgbClr val="D9CDB7"/>
            </a:solidFill>
            <a:prstDash val="solid"/>
          </a:ln>
        </p:spPr>
      </p:sp>
      <p:sp>
        <p:nvSpPr>
          <p:cNvPr id="29" name="Shape 27"/>
          <p:cNvSpPr/>
          <p:nvPr/>
        </p:nvSpPr>
        <p:spPr>
          <a:xfrm>
            <a:off x="7311771" y="2409444"/>
            <a:ext cx="210312" cy="210312"/>
          </a:xfrm>
          <a:prstGeom prst="ellipse">
            <a:avLst/>
          </a:prstGeom>
          <a:solidFill>
            <a:srgbClr val="FFFFFF">
              <a:alpha val="0"/>
            </a:srgbClr>
          </a:solidFill>
          <a:ln w="11430">
            <a:solidFill>
              <a:srgbClr val="96733C"/>
            </a:solidFill>
            <a:prstDash val="solid"/>
          </a:ln>
        </p:spPr>
      </p:sp>
      <p:sp>
        <p:nvSpPr>
          <p:cNvPr id="30" name="Shape 28"/>
          <p:cNvSpPr/>
          <p:nvPr/>
        </p:nvSpPr>
        <p:spPr>
          <a:xfrm>
            <a:off x="7416927" y="2624328"/>
            <a:ext cx="91" cy="649224"/>
          </a:xfrm>
          <a:prstGeom prst="line">
            <a:avLst/>
          </a:prstGeom>
          <a:noFill/>
          <a:ln w="12700">
            <a:solidFill>
              <a:srgbClr val="96733C"/>
            </a:solidFill>
            <a:prstDash val="solid"/>
            <a:headEnd type="none"/>
            <a:tailEnd type="none"/>
          </a:ln>
        </p:spPr>
      </p:sp>
      <p:sp>
        <p:nvSpPr>
          <p:cNvPr id="31" name="Shape 29"/>
          <p:cNvSpPr/>
          <p:nvPr/>
        </p:nvSpPr>
        <p:spPr>
          <a:xfrm>
            <a:off x="7087743" y="2185416"/>
            <a:ext cx="658368" cy="658368"/>
          </a:xfrm>
          <a:prstGeom prst="ellipse">
            <a:avLst/>
          </a:prstGeom>
          <a:solidFill>
            <a:srgbClr val="FFFFFF">
              <a:alpha val="0"/>
            </a:srgbClr>
          </a:solidFill>
          <a:ln w="6350">
            <a:solidFill>
              <a:srgbClr val="D9CDB7"/>
            </a:solidFill>
            <a:prstDash val="solid"/>
          </a:ln>
        </p:spPr>
      </p:sp>
      <p:sp>
        <p:nvSpPr>
          <p:cNvPr id="32" name="Text 30"/>
          <p:cNvSpPr txBox="1"/>
          <p:nvPr/>
        </p:nvSpPr>
        <p:spPr>
          <a:xfrm>
            <a:off x="6332220" y="2066544"/>
            <a:ext cx="2169414" cy="204470"/>
          </a:xfrm>
          <a:prstGeom prst="rect">
            <a:avLst/>
          </a:prstGeom>
          <a:noFill/>
          <a:ln/>
        </p:spPr>
        <p:txBody>
          <a:bodyPr wrap="square" lIns="0" tIns="0" rIns="0" bIns="0" rtlCol="0" anchor="t"/>
          <a:lstStyle/>
          <a:p>
            <a:pPr algn="l" indent="0" marL="0">
              <a:lnSpc>
                <a:spcPts val="910"/>
              </a:lnSpc>
              <a:buNone/>
            </a:pPr>
            <a:r>
              <a:rPr lang="en-US" sz="700" spc="160" kern="0" dirty="0">
                <a:solidFill>
                  <a:srgbClr val="96733C"/>
                </a:solidFill>
                <a:latin typeface="Calibri" pitchFamily="34" charset="0"/>
                <a:ea typeface="Calibri" pitchFamily="34" charset="-122"/>
                <a:cs typeface="Calibri" pitchFamily="34" charset="-120"/>
              </a:rPr>
              <a:t>03</a:t>
            </a:r>
            <a:endParaRPr lang="en-US" sz="700" dirty="0"/>
          </a:p>
        </p:txBody>
      </p:sp>
      <p:sp>
        <p:nvSpPr>
          <p:cNvPr id="33" name="Text 31"/>
          <p:cNvSpPr txBox="1"/>
          <p:nvPr/>
        </p:nvSpPr>
        <p:spPr>
          <a:xfrm>
            <a:off x="6332220" y="3291840"/>
            <a:ext cx="2169414" cy="432753"/>
          </a:xfrm>
          <a:prstGeom prst="rect">
            <a:avLst/>
          </a:prstGeom>
          <a:noFill/>
          <a:ln/>
        </p:spPr>
        <p:txBody>
          <a:bodyPr wrap="square" lIns="0" tIns="0" rIns="0" bIns="0" rtlCol="0" anchor="t"/>
          <a:lstStyle/>
          <a:p>
            <a:pPr algn="l" indent="0" marL="0">
              <a:lnSpc>
                <a:spcPts val="1958"/>
              </a:lnSpc>
              <a:buNone/>
            </a:pPr>
            <a:r>
              <a:rPr lang="en-US" sz="1450" dirty="0">
                <a:solidFill>
                  <a:srgbClr val="1B1815"/>
                </a:solidFill>
                <a:latin typeface="Georgia" pitchFamily="34" charset="0"/>
                <a:ea typeface="Georgia" pitchFamily="34" charset="-122"/>
                <a:cs typeface="Georgia" pitchFamily="34" charset="-120"/>
              </a:rPr>
              <a:t>Super-reasonable</a:t>
            </a:r>
            <a:endParaRPr lang="en-US" sz="1450" dirty="0"/>
          </a:p>
        </p:txBody>
      </p:sp>
      <p:sp>
        <p:nvSpPr>
          <p:cNvPr id="34" name="Text 32"/>
          <p:cNvSpPr txBox="1"/>
          <p:nvPr/>
        </p:nvSpPr>
        <p:spPr>
          <a:xfrm>
            <a:off x="6332220" y="3621024"/>
            <a:ext cx="2169414" cy="251206"/>
          </a:xfrm>
          <a:prstGeom prst="rect">
            <a:avLst/>
          </a:prstGeom>
          <a:noFill/>
          <a:ln/>
        </p:spPr>
        <p:txBody>
          <a:bodyPr wrap="square" lIns="0" tIns="0" rIns="0" bIns="0" rtlCol="0" anchor="t"/>
          <a:lstStyle/>
          <a:p>
            <a:pPr algn="l" indent="0" marL="0">
              <a:lnSpc>
                <a:spcPts val="1118"/>
              </a:lnSpc>
              <a:buNone/>
            </a:pPr>
            <a:r>
              <a:rPr lang="en-US" sz="860" i="1" dirty="0">
                <a:solidFill>
                  <a:srgbClr val="96733C"/>
                </a:solidFill>
                <a:latin typeface="Calibri" pitchFamily="34" charset="0"/>
                <a:ea typeface="Calibri" pitchFamily="34" charset="-122"/>
                <a:cs typeface="Calibri" pitchFamily="34" charset="-120"/>
              </a:rPr>
              <a:t>“Let us be logical.”</a:t>
            </a:r>
            <a:endParaRPr lang="en-US" sz="860" dirty="0"/>
          </a:p>
        </p:txBody>
      </p:sp>
      <p:sp>
        <p:nvSpPr>
          <p:cNvPr id="35" name="Shape 33"/>
          <p:cNvSpPr/>
          <p:nvPr/>
        </p:nvSpPr>
        <p:spPr>
          <a:xfrm>
            <a:off x="6332220" y="4023360"/>
            <a:ext cx="438912" cy="91"/>
          </a:xfrm>
          <a:prstGeom prst="line">
            <a:avLst/>
          </a:prstGeom>
          <a:noFill/>
          <a:ln w="7620">
            <a:solidFill>
              <a:srgbClr val="D9CDB7"/>
            </a:solidFill>
            <a:prstDash val="solid"/>
            <a:headEnd type="none"/>
            <a:tailEnd type="none"/>
          </a:ln>
        </p:spPr>
      </p:sp>
      <p:sp>
        <p:nvSpPr>
          <p:cNvPr id="36" name="Text 34"/>
          <p:cNvSpPr txBox="1"/>
          <p:nvPr/>
        </p:nvSpPr>
        <p:spPr>
          <a:xfrm>
            <a:off x="6332220" y="4142232"/>
            <a:ext cx="2169414" cy="233680"/>
          </a:xfrm>
          <a:prstGeom prst="rect">
            <a:avLst/>
          </a:prstGeom>
          <a:noFill/>
          <a:ln/>
        </p:spPr>
        <p:txBody>
          <a:bodyPr wrap="square" lIns="0" tIns="0" rIns="0" bIns="0" rtlCol="0" anchor="t"/>
          <a:lstStyle/>
          <a:p>
            <a:pPr algn="l" indent="0" marL="0">
              <a:lnSpc>
                <a:spcPts val="1040"/>
              </a:lnSpc>
              <a:buNone/>
            </a:pPr>
            <a:r>
              <a:rPr lang="en-US" sz="800" dirty="0">
                <a:solidFill>
                  <a:srgbClr val="5B544A"/>
                </a:solidFill>
                <a:latin typeface="Calibri" pitchFamily="34" charset="0"/>
                <a:ea typeface="Calibri" pitchFamily="34" charset="-122"/>
                <a:cs typeface="Calibri" pitchFamily="34" charset="-120"/>
              </a:rPr>
              <a:t>Feeling exiled from the room.</a:t>
            </a:r>
            <a:endParaRPr lang="en-US" sz="800" dirty="0"/>
          </a:p>
        </p:txBody>
      </p:sp>
      <p:sp>
        <p:nvSpPr>
          <p:cNvPr id="37" name="Shape 35"/>
          <p:cNvSpPr/>
          <p:nvPr/>
        </p:nvSpPr>
        <p:spPr>
          <a:xfrm>
            <a:off x="8849106" y="1920240"/>
            <a:ext cx="2425446" cy="2880360"/>
          </a:xfrm>
          <a:prstGeom prst="roundRect">
            <a:avLst>
              <a:gd name="adj" fmla="val 640"/>
            </a:avLst>
          </a:prstGeom>
          <a:solidFill>
            <a:srgbClr val="FDFAF3"/>
          </a:solidFill>
          <a:ln w="8890">
            <a:solidFill>
              <a:srgbClr val="D9CDB7"/>
            </a:solidFill>
            <a:prstDash val="solid"/>
          </a:ln>
        </p:spPr>
      </p:sp>
      <p:sp>
        <p:nvSpPr>
          <p:cNvPr id="38" name="Shape 36"/>
          <p:cNvSpPr/>
          <p:nvPr/>
        </p:nvSpPr>
        <p:spPr>
          <a:xfrm>
            <a:off x="9956673" y="2409444"/>
            <a:ext cx="210312" cy="210312"/>
          </a:xfrm>
          <a:prstGeom prst="ellipse">
            <a:avLst/>
          </a:prstGeom>
          <a:solidFill>
            <a:srgbClr val="FFFFFF">
              <a:alpha val="0"/>
            </a:srgbClr>
          </a:solidFill>
          <a:ln w="11430">
            <a:solidFill>
              <a:srgbClr val="96733C"/>
            </a:solidFill>
            <a:prstDash val="solid"/>
          </a:ln>
        </p:spPr>
      </p:sp>
      <p:sp>
        <p:nvSpPr>
          <p:cNvPr id="39" name="Shape 37"/>
          <p:cNvSpPr/>
          <p:nvPr/>
        </p:nvSpPr>
        <p:spPr>
          <a:xfrm>
            <a:off x="10061829" y="2624328"/>
            <a:ext cx="444052" cy="382411"/>
          </a:xfrm>
          <a:prstGeom prst="line">
            <a:avLst/>
          </a:prstGeom>
          <a:noFill/>
          <a:ln w="12700">
            <a:solidFill>
              <a:srgbClr val="96733C"/>
            </a:solidFill>
            <a:prstDash val="solid"/>
            <a:headEnd type="none"/>
            <a:tailEnd type="none"/>
          </a:ln>
        </p:spPr>
      </p:sp>
      <p:sp>
        <p:nvSpPr>
          <p:cNvPr id="40" name="Shape 38"/>
          <p:cNvSpPr/>
          <p:nvPr/>
        </p:nvSpPr>
        <p:spPr>
          <a:xfrm>
            <a:off x="9732645" y="2185416"/>
            <a:ext cx="658368" cy="658368"/>
          </a:xfrm>
          <a:prstGeom prst="ellipse">
            <a:avLst/>
          </a:prstGeom>
          <a:solidFill>
            <a:srgbClr val="FFFFFF">
              <a:alpha val="0"/>
            </a:srgbClr>
          </a:solidFill>
          <a:ln w="6350">
            <a:solidFill>
              <a:srgbClr val="D9CDB7"/>
            </a:solidFill>
            <a:prstDash val="solid"/>
          </a:ln>
        </p:spPr>
      </p:sp>
      <p:sp>
        <p:nvSpPr>
          <p:cNvPr id="41" name="Text 39"/>
          <p:cNvSpPr txBox="1"/>
          <p:nvPr/>
        </p:nvSpPr>
        <p:spPr>
          <a:xfrm>
            <a:off x="8977122" y="2066544"/>
            <a:ext cx="2169414" cy="204470"/>
          </a:xfrm>
          <a:prstGeom prst="rect">
            <a:avLst/>
          </a:prstGeom>
          <a:noFill/>
          <a:ln/>
        </p:spPr>
        <p:txBody>
          <a:bodyPr wrap="square" lIns="0" tIns="0" rIns="0" bIns="0" rtlCol="0" anchor="t"/>
          <a:lstStyle/>
          <a:p>
            <a:pPr algn="l" indent="0" marL="0">
              <a:lnSpc>
                <a:spcPts val="910"/>
              </a:lnSpc>
              <a:buNone/>
            </a:pPr>
            <a:r>
              <a:rPr lang="en-US" sz="700" spc="160" kern="0" dirty="0">
                <a:solidFill>
                  <a:srgbClr val="96733C"/>
                </a:solidFill>
                <a:latin typeface="Calibri" pitchFamily="34" charset="0"/>
                <a:ea typeface="Calibri" pitchFamily="34" charset="-122"/>
                <a:cs typeface="Calibri" pitchFamily="34" charset="-120"/>
              </a:rPr>
              <a:t>04</a:t>
            </a:r>
            <a:endParaRPr lang="en-US" sz="700" dirty="0"/>
          </a:p>
        </p:txBody>
      </p:sp>
      <p:sp>
        <p:nvSpPr>
          <p:cNvPr id="42" name="Text 40"/>
          <p:cNvSpPr txBox="1"/>
          <p:nvPr/>
        </p:nvSpPr>
        <p:spPr>
          <a:xfrm>
            <a:off x="8977122" y="3291840"/>
            <a:ext cx="2169414" cy="432753"/>
          </a:xfrm>
          <a:prstGeom prst="rect">
            <a:avLst/>
          </a:prstGeom>
          <a:noFill/>
          <a:ln/>
        </p:spPr>
        <p:txBody>
          <a:bodyPr wrap="square" lIns="0" tIns="0" rIns="0" bIns="0" rtlCol="0" anchor="t"/>
          <a:lstStyle/>
          <a:p>
            <a:pPr algn="l" indent="0" marL="0">
              <a:lnSpc>
                <a:spcPts val="1958"/>
              </a:lnSpc>
              <a:buNone/>
            </a:pPr>
            <a:r>
              <a:rPr lang="en-US" sz="1450" dirty="0">
                <a:solidFill>
                  <a:srgbClr val="1B1815"/>
                </a:solidFill>
                <a:latin typeface="Georgia" pitchFamily="34" charset="0"/>
                <a:ea typeface="Georgia" pitchFamily="34" charset="-122"/>
                <a:cs typeface="Georgia" pitchFamily="34" charset="-120"/>
              </a:rPr>
              <a:t>Irrelevant</a:t>
            </a:r>
            <a:endParaRPr lang="en-US" sz="1450" dirty="0"/>
          </a:p>
        </p:txBody>
      </p:sp>
      <p:sp>
        <p:nvSpPr>
          <p:cNvPr id="43" name="Text 41"/>
          <p:cNvSpPr txBox="1"/>
          <p:nvPr/>
        </p:nvSpPr>
        <p:spPr>
          <a:xfrm>
            <a:off x="8977122" y="3621024"/>
            <a:ext cx="2169414" cy="251206"/>
          </a:xfrm>
          <a:prstGeom prst="rect">
            <a:avLst/>
          </a:prstGeom>
          <a:noFill/>
          <a:ln/>
        </p:spPr>
        <p:txBody>
          <a:bodyPr wrap="square" lIns="0" tIns="0" rIns="0" bIns="0" rtlCol="0" anchor="t"/>
          <a:lstStyle/>
          <a:p>
            <a:pPr algn="l" indent="0" marL="0">
              <a:lnSpc>
                <a:spcPts val="1118"/>
              </a:lnSpc>
              <a:buNone/>
            </a:pPr>
            <a:r>
              <a:rPr lang="en-US" sz="860" i="1" dirty="0">
                <a:solidFill>
                  <a:srgbClr val="96733C"/>
                </a:solidFill>
                <a:latin typeface="Calibri" pitchFamily="34" charset="0"/>
                <a:ea typeface="Calibri" pitchFamily="34" charset="-122"/>
                <a:cs typeface="Calibri" pitchFamily="34" charset="-120"/>
              </a:rPr>
              <a:t>“Anyway — did you see…?”</a:t>
            </a:r>
            <a:endParaRPr lang="en-US" sz="860" dirty="0"/>
          </a:p>
        </p:txBody>
      </p:sp>
      <p:sp>
        <p:nvSpPr>
          <p:cNvPr id="44" name="Shape 42"/>
          <p:cNvSpPr/>
          <p:nvPr/>
        </p:nvSpPr>
        <p:spPr>
          <a:xfrm>
            <a:off x="8977122" y="4023360"/>
            <a:ext cx="438912" cy="91"/>
          </a:xfrm>
          <a:prstGeom prst="line">
            <a:avLst/>
          </a:prstGeom>
          <a:noFill/>
          <a:ln w="7620">
            <a:solidFill>
              <a:srgbClr val="D9CDB7"/>
            </a:solidFill>
            <a:prstDash val="solid"/>
            <a:headEnd type="none"/>
            <a:tailEnd type="none"/>
          </a:ln>
        </p:spPr>
      </p:sp>
      <p:sp>
        <p:nvSpPr>
          <p:cNvPr id="45" name="Text 43"/>
          <p:cNvSpPr txBox="1"/>
          <p:nvPr/>
        </p:nvSpPr>
        <p:spPr>
          <a:xfrm>
            <a:off x="8977122" y="4142232"/>
            <a:ext cx="2169414" cy="233680"/>
          </a:xfrm>
          <a:prstGeom prst="rect">
            <a:avLst/>
          </a:prstGeom>
          <a:noFill/>
          <a:ln/>
        </p:spPr>
        <p:txBody>
          <a:bodyPr wrap="square" lIns="0" tIns="0" rIns="0" bIns="0" rtlCol="0" anchor="t"/>
          <a:lstStyle/>
          <a:p>
            <a:pPr algn="l" indent="0" marL="0">
              <a:lnSpc>
                <a:spcPts val="1040"/>
              </a:lnSpc>
              <a:buNone/>
            </a:pPr>
            <a:r>
              <a:rPr lang="en-US" sz="800" dirty="0">
                <a:solidFill>
                  <a:srgbClr val="5B544A"/>
                </a:solidFill>
                <a:latin typeface="Calibri" pitchFamily="34" charset="0"/>
                <a:ea typeface="Calibri" pitchFamily="34" charset="-122"/>
                <a:cs typeface="Calibri" pitchFamily="34" charset="-120"/>
              </a:rPr>
              <a:t>The real subject never lands.</a:t>
            </a:r>
            <a:endParaRPr lang="en-US" sz="800" dirty="0"/>
          </a:p>
        </p:txBody>
      </p:sp>
      <p:sp>
        <p:nvSpPr>
          <p:cNvPr id="46" name="Text 44"/>
          <p:cNvSpPr txBox="1"/>
          <p:nvPr/>
        </p:nvSpPr>
        <p:spPr>
          <a:xfrm>
            <a:off x="914400" y="5120640"/>
            <a:ext cx="10360152" cy="256667"/>
          </a:xfrm>
          <a:prstGeom prst="rect">
            <a:avLst/>
          </a:prstGeom>
          <a:noFill/>
          <a:ln/>
        </p:spPr>
        <p:txBody>
          <a:bodyPr wrap="square" lIns="0" tIns="0" rIns="0" bIns="0" rtlCol="0" anchor="t"/>
          <a:lstStyle/>
          <a:p>
            <a:pPr algn="ctr" indent="0" marL="0">
              <a:lnSpc>
                <a:spcPts val="1161"/>
              </a:lnSpc>
              <a:buNone/>
            </a:pPr>
            <a:r>
              <a:rPr lang="en-US" sz="860" i="1" dirty="0">
                <a:solidFill>
                  <a:srgbClr val="96733C"/>
                </a:solidFill>
                <a:latin typeface="Calibri" pitchFamily="34" charset="0"/>
                <a:ea typeface="Calibri" pitchFamily="34" charset="-122"/>
                <a:cs typeface="Calibri" pitchFamily="34" charset="-120"/>
              </a:rPr>
              <a:t>The goal is not a fifth stance but congruence — the body, the words and the feeling saying the same thing.</a:t>
            </a:r>
            <a:endParaRPr lang="en-US" sz="860" dirty="0"/>
          </a:p>
        </p:txBody>
      </p:sp>
      <p:sp>
        <p:nvSpPr>
          <p:cNvPr id="47" name="Text 45"/>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Virginia Satir’s communication stances.</a:t>
            </a:r>
            <a:endParaRPr lang="en-US" sz="7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06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32</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family that explains everything</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187854"/>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couple arrives with a spreadsheet of grievances. Each has rehearsed their account. When you</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ask what each felt during the argument, both answer with the other’s motives. The session is</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calm, articulate, and completely stuck.</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congruence</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sculpting</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immediacy</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symbolic-experiential</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the function of the explanation?</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How would you move from story to affect without shaming?</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would immediacy look like here?</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07 · PHASE II — THEORETICAL CARTOGRAPHY</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07</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Postmodern and Constructivist</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Turns</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If meaning is made in language, what is therapy making?</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Meaning as the material of therapy</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Two epistemologies, held side by side</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Externalising a diagnosis</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Compare first-order systemic and postmodern</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practice.</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Describe solution-focused and narrative methods.</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Use an externalising question in a role-play.</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social constructionism · externalising · exception · not-knowing · reflecting team</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White &amp; Epston (1990), ch. 2–4 · de Shazer (1985) · Andersen (1991)</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65192" y="5696712"/>
            <a:ext cx="128016" cy="128016"/>
          </a:xfrm>
          <a:prstGeom prst="ellipse">
            <a:avLst/>
          </a:prstGeom>
          <a:solidFill>
            <a:srgbClr val="C2A05F"/>
          </a:solidFill>
          <a:ln w="8890">
            <a:solidFill>
              <a:srgbClr val="E7D3A9"/>
            </a:solidFill>
            <a:prstDash val="solid"/>
          </a:ln>
        </p:spPr>
      </p:sp>
      <p:sp>
        <p:nvSpPr>
          <p:cNvPr id="34" name="Shape 32"/>
          <p:cNvSpPr/>
          <p:nvPr/>
        </p:nvSpPr>
        <p:spPr>
          <a:xfrm>
            <a:off x="5700979" y="5731459"/>
            <a:ext cx="58522" cy="58522"/>
          </a:xfrm>
          <a:prstGeom prst="ellipse">
            <a:avLst/>
          </a:prstGeom>
          <a:solidFill>
            <a:srgbClr val="1E1913"/>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07 · LECTURE 07</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34</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Meaning as the material of therapy</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Postmodern practice shifted the therapist’s authority from diagnosis to curiosity — and made the family’s language the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central clinical material.</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MILAN SYSTEMIC</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Hypothesising, circularity and neutrality: the team’s ideas are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provisional, and difference is the engine of change.</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Hypotheses are held, not owned</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Circular questions reveal difference</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Neutrality is curiosity in action</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SOLUTION-FOCUSED</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Problems have exceptions; change is already occurring. The miracle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question, scaling and exception-finding orient the family toward what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already works.</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Assume competence</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Amplify exceptions</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Small change is enough to begin</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NARRATIVE</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Problems are stories, not essences. Externalising separates the person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from the problem; unique outcomes open a preferred story.</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anxiety visits you” rather than “you are anxious”</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Deconstruct the dominant story</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Re-author in the family’s own language</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CRITIQUE</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Not-knowing is not ignorance</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The therapist remains accountable for power, ethics and outcome. Curiosity does not suspend responsibility for</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safety.</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397637"/>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Selvini Palazzoli et al. (1978); de Shazer</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(1985); White &amp; Epston (1990); Andersen</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(1991).</a:t>
            </a:r>
            <a:endParaRPr lang="en-US" sz="6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07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35</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Two epistemologies, held side by side</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The distinction is not a war. Most contemporary practitioners move between these positions within a single session.</a:t>
            </a:r>
            <a:endParaRPr lang="en-US" sz="1060" dirty="0"/>
          </a:p>
        </p:txBody>
      </p:sp>
      <p:sp>
        <p:nvSpPr>
          <p:cNvPr id="10" name="Text 8"/>
          <p:cNvSpPr txBox="1"/>
          <p:nvPr/>
        </p:nvSpPr>
        <p:spPr>
          <a:xfrm>
            <a:off x="3200400" y="1901952"/>
            <a:ext cx="4059936" cy="447675"/>
          </a:xfrm>
          <a:prstGeom prst="rect">
            <a:avLst/>
          </a:prstGeom>
          <a:noFill/>
          <a:ln/>
        </p:spPr>
        <p:txBody>
          <a:bodyPr wrap="square" lIns="0" tIns="0" rIns="0" bIns="0" rtlCol="0" anchor="t"/>
          <a:lstStyle/>
          <a:p>
            <a:pPr algn="l" indent="0" marL="0">
              <a:lnSpc>
                <a:spcPts val="2025"/>
              </a:lnSpc>
              <a:buNone/>
            </a:pPr>
            <a:r>
              <a:rPr lang="en-US" sz="1500" dirty="0">
                <a:solidFill>
                  <a:srgbClr val="1B1815"/>
                </a:solidFill>
                <a:latin typeface="Georgia" pitchFamily="34" charset="0"/>
                <a:ea typeface="Georgia" pitchFamily="34" charset="-122"/>
                <a:cs typeface="Georgia" pitchFamily="34" charset="-120"/>
              </a:rPr>
              <a:t>First-order systemic</a:t>
            </a:r>
            <a:endParaRPr lang="en-US" sz="1500" dirty="0"/>
          </a:p>
        </p:txBody>
      </p:sp>
      <p:sp>
        <p:nvSpPr>
          <p:cNvPr id="11" name="Text 9"/>
          <p:cNvSpPr txBox="1"/>
          <p:nvPr/>
        </p:nvSpPr>
        <p:spPr>
          <a:xfrm>
            <a:off x="7260336" y="1901952"/>
            <a:ext cx="4059936" cy="447675"/>
          </a:xfrm>
          <a:prstGeom prst="rect">
            <a:avLst/>
          </a:prstGeom>
          <a:noFill/>
          <a:ln/>
        </p:spPr>
        <p:txBody>
          <a:bodyPr wrap="square" lIns="0" tIns="0" rIns="0" bIns="0" rtlCol="0" anchor="t"/>
          <a:lstStyle/>
          <a:p>
            <a:pPr algn="l" indent="0" marL="0">
              <a:lnSpc>
                <a:spcPts val="2025"/>
              </a:lnSpc>
              <a:buNone/>
            </a:pPr>
            <a:r>
              <a:rPr lang="en-US" sz="1500" dirty="0">
                <a:solidFill>
                  <a:srgbClr val="1B1815"/>
                </a:solidFill>
                <a:latin typeface="Georgia" pitchFamily="34" charset="0"/>
                <a:ea typeface="Georgia" pitchFamily="34" charset="-122"/>
                <a:cs typeface="Georgia" pitchFamily="34" charset="-120"/>
              </a:rPr>
              <a:t>Postmodern / constructivist</a:t>
            </a:r>
            <a:endParaRPr lang="en-US" sz="1500" dirty="0"/>
          </a:p>
        </p:txBody>
      </p:sp>
      <p:sp>
        <p:nvSpPr>
          <p:cNvPr id="12" name="Shape 10"/>
          <p:cNvSpPr/>
          <p:nvPr/>
        </p:nvSpPr>
        <p:spPr>
          <a:xfrm>
            <a:off x="3200400" y="2286000"/>
            <a:ext cx="8165592" cy="91"/>
          </a:xfrm>
          <a:prstGeom prst="line">
            <a:avLst/>
          </a:prstGeom>
          <a:noFill/>
          <a:ln w="11430">
            <a:solidFill>
              <a:srgbClr val="C2A05F"/>
            </a:solidFill>
            <a:prstDash val="solid"/>
            <a:headEnd type="none"/>
            <a:tailEnd type="none"/>
          </a:ln>
        </p:spPr>
      </p:sp>
      <p:sp>
        <p:nvSpPr>
          <p:cNvPr id="13" name="Shape 11"/>
          <p:cNvSpPr/>
          <p:nvPr/>
        </p:nvSpPr>
        <p:spPr>
          <a:xfrm>
            <a:off x="914400" y="2395728"/>
            <a:ext cx="10451592" cy="640080"/>
          </a:xfrm>
          <a:prstGeom prst="rect">
            <a:avLst/>
          </a:prstGeom>
          <a:solidFill>
            <a:srgbClr val="EFE5D3">
              <a:alpha val="28000"/>
            </a:srgbClr>
          </a:solidFill>
          <a:ln w="12700">
            <a:solidFill>
              <a:srgbClr val="FFFFFF">
                <a:alpha val="0"/>
              </a:srgbClr>
            </a:solidFill>
            <a:prstDash val="solid"/>
          </a:ln>
        </p:spPr>
      </p:sp>
      <p:sp>
        <p:nvSpPr>
          <p:cNvPr id="14" name="Text 12"/>
          <p:cNvSpPr txBox="1"/>
          <p:nvPr/>
        </p:nvSpPr>
        <p:spPr>
          <a:xfrm>
            <a:off x="914400" y="2514600"/>
            <a:ext cx="2057400" cy="250698"/>
          </a:xfrm>
          <a:prstGeom prst="rect">
            <a:avLst/>
          </a:prstGeom>
          <a:noFill/>
          <a:ln/>
        </p:spPr>
        <p:txBody>
          <a:bodyPr wrap="square" lIns="0" tIns="0" rIns="0" bIns="0" rtlCol="0" anchor="t"/>
          <a:lstStyle/>
          <a:p>
            <a:pPr algn="l" indent="0" marL="0">
              <a:lnSpc>
                <a:spcPts val="1134"/>
              </a:lnSpc>
              <a:buNone/>
            </a:pPr>
            <a:r>
              <a:rPr lang="en-US" sz="840" b="1" spc="90" kern="0" dirty="0">
                <a:solidFill>
                  <a:srgbClr val="96733C"/>
                </a:solidFill>
                <a:latin typeface="Calibri" pitchFamily="34" charset="0"/>
                <a:ea typeface="Calibri" pitchFamily="34" charset="-122"/>
                <a:cs typeface="Calibri" pitchFamily="34" charset="-120"/>
              </a:rPr>
              <a:t>LOCUS OF MEANING</a:t>
            </a:r>
            <a:endParaRPr lang="en-US" sz="840" dirty="0"/>
          </a:p>
        </p:txBody>
      </p:sp>
      <p:sp>
        <p:nvSpPr>
          <p:cNvPr id="15" name="Text 13"/>
          <p:cNvSpPr txBox="1"/>
          <p:nvPr/>
        </p:nvSpPr>
        <p:spPr>
          <a:xfrm>
            <a:off x="3200400" y="2468880"/>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In structure and interaction patterns observable by the therapist</a:t>
            </a:r>
            <a:endParaRPr lang="en-US" sz="860" dirty="0"/>
          </a:p>
        </p:txBody>
      </p:sp>
      <p:sp>
        <p:nvSpPr>
          <p:cNvPr id="16" name="Text 14"/>
          <p:cNvSpPr txBox="1"/>
          <p:nvPr/>
        </p:nvSpPr>
        <p:spPr>
          <a:xfrm>
            <a:off x="7260336" y="2468880"/>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In language, story and relationship; meanings are co-created</a:t>
            </a:r>
            <a:endParaRPr lang="en-US" sz="860" dirty="0"/>
          </a:p>
        </p:txBody>
      </p:sp>
      <p:sp>
        <p:nvSpPr>
          <p:cNvPr id="17" name="Shape 15"/>
          <p:cNvSpPr/>
          <p:nvPr/>
        </p:nvSpPr>
        <p:spPr>
          <a:xfrm>
            <a:off x="914400" y="3035808"/>
            <a:ext cx="10451592" cy="91"/>
          </a:xfrm>
          <a:prstGeom prst="line">
            <a:avLst/>
          </a:prstGeom>
          <a:noFill/>
          <a:ln w="6350">
            <a:solidFill>
              <a:srgbClr val="D9CDB7">
                <a:alpha val="70000"/>
              </a:srgbClr>
            </a:solidFill>
            <a:prstDash val="solid"/>
            <a:headEnd type="none"/>
            <a:tailEnd type="none"/>
          </a:ln>
        </p:spPr>
      </p:sp>
      <p:sp>
        <p:nvSpPr>
          <p:cNvPr id="18" name="Text 16"/>
          <p:cNvSpPr txBox="1"/>
          <p:nvPr/>
        </p:nvSpPr>
        <p:spPr>
          <a:xfrm>
            <a:off x="914400" y="3191256"/>
            <a:ext cx="2057400" cy="250698"/>
          </a:xfrm>
          <a:prstGeom prst="rect">
            <a:avLst/>
          </a:prstGeom>
          <a:noFill/>
          <a:ln/>
        </p:spPr>
        <p:txBody>
          <a:bodyPr wrap="square" lIns="0" tIns="0" rIns="0" bIns="0" rtlCol="0" anchor="t"/>
          <a:lstStyle/>
          <a:p>
            <a:pPr algn="l" indent="0" marL="0">
              <a:lnSpc>
                <a:spcPts val="1134"/>
              </a:lnSpc>
              <a:buNone/>
            </a:pPr>
            <a:r>
              <a:rPr lang="en-US" sz="840" b="1" spc="90" kern="0" dirty="0">
                <a:solidFill>
                  <a:srgbClr val="96733C"/>
                </a:solidFill>
                <a:latin typeface="Calibri" pitchFamily="34" charset="0"/>
                <a:ea typeface="Calibri" pitchFamily="34" charset="-122"/>
                <a:cs typeface="Calibri" pitchFamily="34" charset="-120"/>
              </a:rPr>
              <a:t>THERAPIST STANCE</a:t>
            </a:r>
            <a:endParaRPr lang="en-US" sz="840" dirty="0"/>
          </a:p>
        </p:txBody>
      </p:sp>
      <p:sp>
        <p:nvSpPr>
          <p:cNvPr id="19" name="Text 17"/>
          <p:cNvSpPr txBox="1"/>
          <p:nvPr/>
        </p:nvSpPr>
        <p:spPr>
          <a:xfrm>
            <a:off x="3200400" y="3145536"/>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Expert observer and agent of change</a:t>
            </a:r>
            <a:endParaRPr lang="en-US" sz="860" dirty="0"/>
          </a:p>
        </p:txBody>
      </p:sp>
      <p:sp>
        <p:nvSpPr>
          <p:cNvPr id="20" name="Text 18"/>
          <p:cNvSpPr txBox="1"/>
          <p:nvPr/>
        </p:nvSpPr>
        <p:spPr>
          <a:xfrm>
            <a:off x="7260336" y="3145536"/>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Curious co-author; not-knowing</a:t>
            </a:r>
            <a:endParaRPr lang="en-US" sz="860" dirty="0"/>
          </a:p>
        </p:txBody>
      </p:sp>
      <p:sp>
        <p:nvSpPr>
          <p:cNvPr id="21" name="Shape 19"/>
          <p:cNvSpPr/>
          <p:nvPr/>
        </p:nvSpPr>
        <p:spPr>
          <a:xfrm>
            <a:off x="914400" y="3712464"/>
            <a:ext cx="10451592" cy="91"/>
          </a:xfrm>
          <a:prstGeom prst="line">
            <a:avLst/>
          </a:prstGeom>
          <a:noFill/>
          <a:ln w="6350">
            <a:solidFill>
              <a:srgbClr val="D9CDB7">
                <a:alpha val="70000"/>
              </a:srgbClr>
            </a:solidFill>
            <a:prstDash val="solid"/>
            <a:headEnd type="none"/>
            <a:tailEnd type="none"/>
          </a:ln>
        </p:spPr>
      </p:sp>
      <p:sp>
        <p:nvSpPr>
          <p:cNvPr id="22" name="Shape 20"/>
          <p:cNvSpPr/>
          <p:nvPr/>
        </p:nvSpPr>
        <p:spPr>
          <a:xfrm>
            <a:off x="914400" y="3749040"/>
            <a:ext cx="10451592" cy="640080"/>
          </a:xfrm>
          <a:prstGeom prst="rect">
            <a:avLst/>
          </a:prstGeom>
          <a:solidFill>
            <a:srgbClr val="EFE5D3">
              <a:alpha val="28000"/>
            </a:srgbClr>
          </a:solidFill>
          <a:ln w="12700">
            <a:solidFill>
              <a:srgbClr val="FFFFFF">
                <a:alpha val="0"/>
              </a:srgbClr>
            </a:solidFill>
            <a:prstDash val="solid"/>
          </a:ln>
        </p:spPr>
      </p:sp>
      <p:sp>
        <p:nvSpPr>
          <p:cNvPr id="23" name="Text 21"/>
          <p:cNvSpPr txBox="1"/>
          <p:nvPr/>
        </p:nvSpPr>
        <p:spPr>
          <a:xfrm>
            <a:off x="914400" y="3867912"/>
            <a:ext cx="2057400" cy="250698"/>
          </a:xfrm>
          <a:prstGeom prst="rect">
            <a:avLst/>
          </a:prstGeom>
          <a:noFill/>
          <a:ln/>
        </p:spPr>
        <p:txBody>
          <a:bodyPr wrap="square" lIns="0" tIns="0" rIns="0" bIns="0" rtlCol="0" anchor="t"/>
          <a:lstStyle/>
          <a:p>
            <a:pPr algn="l" indent="0" marL="0">
              <a:lnSpc>
                <a:spcPts val="1134"/>
              </a:lnSpc>
              <a:buNone/>
            </a:pPr>
            <a:r>
              <a:rPr lang="en-US" sz="840" b="1" spc="90" kern="0" dirty="0">
                <a:solidFill>
                  <a:srgbClr val="96733C"/>
                </a:solidFill>
                <a:latin typeface="Calibri" pitchFamily="34" charset="0"/>
                <a:ea typeface="Calibri" pitchFamily="34" charset="-122"/>
                <a:cs typeface="Calibri" pitchFamily="34" charset="-120"/>
              </a:rPr>
              <a:t>USE OF DIAGNOSIS</a:t>
            </a:r>
            <a:endParaRPr lang="en-US" sz="840" dirty="0"/>
          </a:p>
        </p:txBody>
      </p:sp>
      <p:sp>
        <p:nvSpPr>
          <p:cNvPr id="24" name="Text 22"/>
          <p:cNvSpPr txBox="1"/>
          <p:nvPr/>
        </p:nvSpPr>
        <p:spPr>
          <a:xfrm>
            <a:off x="3200400" y="3822192"/>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Descriptive; guides systemic intervention</a:t>
            </a:r>
            <a:endParaRPr lang="en-US" sz="860" dirty="0"/>
          </a:p>
        </p:txBody>
      </p:sp>
      <p:sp>
        <p:nvSpPr>
          <p:cNvPr id="25" name="Text 23"/>
          <p:cNvSpPr txBox="1"/>
          <p:nvPr/>
        </p:nvSpPr>
        <p:spPr>
          <a:xfrm>
            <a:off x="7260336" y="3822192"/>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Provisional; risks totalising the family</a:t>
            </a:r>
            <a:endParaRPr lang="en-US" sz="860" dirty="0"/>
          </a:p>
        </p:txBody>
      </p:sp>
      <p:sp>
        <p:nvSpPr>
          <p:cNvPr id="26" name="Shape 24"/>
          <p:cNvSpPr/>
          <p:nvPr/>
        </p:nvSpPr>
        <p:spPr>
          <a:xfrm>
            <a:off x="914400" y="4389120"/>
            <a:ext cx="10451592" cy="91"/>
          </a:xfrm>
          <a:prstGeom prst="line">
            <a:avLst/>
          </a:prstGeom>
          <a:noFill/>
          <a:ln w="6350">
            <a:solidFill>
              <a:srgbClr val="D9CDB7">
                <a:alpha val="70000"/>
              </a:srgbClr>
            </a:solidFill>
            <a:prstDash val="solid"/>
            <a:headEnd type="none"/>
            <a:tailEnd type="none"/>
          </a:ln>
        </p:spPr>
      </p:sp>
      <p:sp>
        <p:nvSpPr>
          <p:cNvPr id="27" name="Text 25"/>
          <p:cNvSpPr txBox="1"/>
          <p:nvPr/>
        </p:nvSpPr>
        <p:spPr>
          <a:xfrm>
            <a:off x="914400" y="4544568"/>
            <a:ext cx="2057400" cy="250698"/>
          </a:xfrm>
          <a:prstGeom prst="rect">
            <a:avLst/>
          </a:prstGeom>
          <a:noFill/>
          <a:ln/>
        </p:spPr>
        <p:txBody>
          <a:bodyPr wrap="square" lIns="0" tIns="0" rIns="0" bIns="0" rtlCol="0" anchor="t"/>
          <a:lstStyle/>
          <a:p>
            <a:pPr algn="l" indent="0" marL="0">
              <a:lnSpc>
                <a:spcPts val="1134"/>
              </a:lnSpc>
              <a:buNone/>
            </a:pPr>
            <a:r>
              <a:rPr lang="en-US" sz="840" b="1" spc="90" kern="0" dirty="0">
                <a:solidFill>
                  <a:srgbClr val="96733C"/>
                </a:solidFill>
                <a:latin typeface="Calibri" pitchFamily="34" charset="0"/>
                <a:ea typeface="Calibri" pitchFamily="34" charset="-122"/>
                <a:cs typeface="Calibri" pitchFamily="34" charset="-120"/>
              </a:rPr>
              <a:t>MECHANISM OF CHANGE</a:t>
            </a:r>
            <a:endParaRPr lang="en-US" sz="840" dirty="0"/>
          </a:p>
        </p:txBody>
      </p:sp>
      <p:sp>
        <p:nvSpPr>
          <p:cNvPr id="28" name="Text 26"/>
          <p:cNvSpPr txBox="1"/>
          <p:nvPr/>
        </p:nvSpPr>
        <p:spPr>
          <a:xfrm>
            <a:off x="3200400" y="4498848"/>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Restructure, reframe, interrupt sequences</a:t>
            </a:r>
            <a:endParaRPr lang="en-US" sz="860" dirty="0"/>
          </a:p>
        </p:txBody>
      </p:sp>
      <p:sp>
        <p:nvSpPr>
          <p:cNvPr id="29" name="Text 27"/>
          <p:cNvSpPr txBox="1"/>
          <p:nvPr/>
        </p:nvSpPr>
        <p:spPr>
          <a:xfrm>
            <a:off x="7260336" y="4498848"/>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Deconstruct, re-author, open new meanings</a:t>
            </a:r>
            <a:endParaRPr lang="en-US" sz="860" dirty="0"/>
          </a:p>
        </p:txBody>
      </p:sp>
      <p:sp>
        <p:nvSpPr>
          <p:cNvPr id="30" name="Shape 28"/>
          <p:cNvSpPr/>
          <p:nvPr/>
        </p:nvSpPr>
        <p:spPr>
          <a:xfrm>
            <a:off x="914400" y="5065776"/>
            <a:ext cx="10451592" cy="91"/>
          </a:xfrm>
          <a:prstGeom prst="line">
            <a:avLst/>
          </a:prstGeom>
          <a:noFill/>
          <a:ln w="6350">
            <a:solidFill>
              <a:srgbClr val="D9CDB7">
                <a:alpha val="70000"/>
              </a:srgbClr>
            </a:solidFill>
            <a:prstDash val="solid"/>
            <a:headEnd type="none"/>
            <a:tailEnd type="none"/>
          </a:ln>
        </p:spPr>
      </p:sp>
      <p:sp>
        <p:nvSpPr>
          <p:cNvPr id="31" name="Shape 29"/>
          <p:cNvSpPr/>
          <p:nvPr/>
        </p:nvSpPr>
        <p:spPr>
          <a:xfrm>
            <a:off x="914400" y="5102352"/>
            <a:ext cx="10451592" cy="640080"/>
          </a:xfrm>
          <a:prstGeom prst="rect">
            <a:avLst/>
          </a:prstGeom>
          <a:solidFill>
            <a:srgbClr val="EFE5D3">
              <a:alpha val="28000"/>
            </a:srgbClr>
          </a:solidFill>
          <a:ln w="12700">
            <a:solidFill>
              <a:srgbClr val="FFFFFF">
                <a:alpha val="0"/>
              </a:srgbClr>
            </a:solidFill>
            <a:prstDash val="solid"/>
          </a:ln>
        </p:spPr>
      </p:sp>
      <p:sp>
        <p:nvSpPr>
          <p:cNvPr id="32" name="Text 30"/>
          <p:cNvSpPr txBox="1"/>
          <p:nvPr/>
        </p:nvSpPr>
        <p:spPr>
          <a:xfrm>
            <a:off x="914400" y="5221224"/>
            <a:ext cx="2057400" cy="250698"/>
          </a:xfrm>
          <a:prstGeom prst="rect">
            <a:avLst/>
          </a:prstGeom>
          <a:noFill/>
          <a:ln/>
        </p:spPr>
        <p:txBody>
          <a:bodyPr wrap="square" lIns="0" tIns="0" rIns="0" bIns="0" rtlCol="0" anchor="t"/>
          <a:lstStyle/>
          <a:p>
            <a:pPr algn="l" indent="0" marL="0">
              <a:lnSpc>
                <a:spcPts val="1134"/>
              </a:lnSpc>
              <a:buNone/>
            </a:pPr>
            <a:r>
              <a:rPr lang="en-US" sz="840" b="1" spc="90" kern="0" dirty="0">
                <a:solidFill>
                  <a:srgbClr val="96733C"/>
                </a:solidFill>
                <a:latin typeface="Calibri" pitchFamily="34" charset="0"/>
                <a:ea typeface="Calibri" pitchFamily="34" charset="-122"/>
                <a:cs typeface="Calibri" pitchFamily="34" charset="-120"/>
              </a:rPr>
              <a:t>SIGNATURE METHODS</a:t>
            </a:r>
            <a:endParaRPr lang="en-US" sz="840" dirty="0"/>
          </a:p>
        </p:txBody>
      </p:sp>
      <p:sp>
        <p:nvSpPr>
          <p:cNvPr id="33" name="Text 31"/>
          <p:cNvSpPr txBox="1"/>
          <p:nvPr/>
        </p:nvSpPr>
        <p:spPr>
          <a:xfrm>
            <a:off x="3200400" y="5175504"/>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Enactment, directives, genograms, boundaries</a:t>
            </a:r>
            <a:endParaRPr lang="en-US" sz="860" dirty="0"/>
          </a:p>
        </p:txBody>
      </p:sp>
      <p:sp>
        <p:nvSpPr>
          <p:cNvPr id="34" name="Text 32"/>
          <p:cNvSpPr txBox="1"/>
          <p:nvPr/>
        </p:nvSpPr>
        <p:spPr>
          <a:xfrm>
            <a:off x="7260336" y="5175504"/>
            <a:ext cx="3877056" cy="251206"/>
          </a:xfrm>
          <a:prstGeom prst="rect">
            <a:avLst/>
          </a:prstGeom>
          <a:noFill/>
          <a:ln/>
        </p:spPr>
        <p:txBody>
          <a:bodyPr wrap="square" lIns="0" tIns="0" rIns="0" bIns="0" rtlCol="0" anchor="t"/>
          <a:lstStyle/>
          <a:p>
            <a:pPr algn="l" indent="0" marL="0">
              <a:lnSpc>
                <a:spcPts val="1118"/>
              </a:lnSpc>
              <a:buNone/>
            </a:pPr>
            <a:r>
              <a:rPr lang="en-US" sz="860" dirty="0">
                <a:solidFill>
                  <a:srgbClr val="3F3A33"/>
                </a:solidFill>
                <a:latin typeface="Calibri" pitchFamily="34" charset="0"/>
                <a:ea typeface="Calibri" pitchFamily="34" charset="-122"/>
                <a:cs typeface="Calibri" pitchFamily="34" charset="-120"/>
              </a:rPr>
              <a:t>Reflecting teams, externalising, miracle question</a:t>
            </a:r>
            <a:endParaRPr lang="en-US" sz="860" dirty="0"/>
          </a:p>
        </p:txBody>
      </p:sp>
      <p:sp>
        <p:nvSpPr>
          <p:cNvPr id="35" name="Shape 33"/>
          <p:cNvSpPr/>
          <p:nvPr/>
        </p:nvSpPr>
        <p:spPr>
          <a:xfrm>
            <a:off x="914400" y="5742432"/>
            <a:ext cx="10451592" cy="91"/>
          </a:xfrm>
          <a:prstGeom prst="line">
            <a:avLst/>
          </a:prstGeom>
          <a:noFill/>
          <a:ln w="6350">
            <a:solidFill>
              <a:srgbClr val="D9CDB7">
                <a:alpha val="70000"/>
              </a:srgbClr>
            </a:solidFill>
            <a:prstDash val="solid"/>
            <a:headEnd type="none"/>
            <a:tailEnd type="none"/>
          </a:ln>
        </p:spPr>
      </p:sp>
      <p:sp>
        <p:nvSpPr>
          <p:cNvPr id="36" name="Shape 34"/>
          <p:cNvSpPr/>
          <p:nvPr/>
        </p:nvSpPr>
        <p:spPr>
          <a:xfrm>
            <a:off x="3063240" y="2468880"/>
            <a:ext cx="91" cy="3291840"/>
          </a:xfrm>
          <a:prstGeom prst="line">
            <a:avLst/>
          </a:prstGeom>
          <a:noFill/>
          <a:ln w="7620">
            <a:solidFill>
              <a:srgbClr val="D9CDB7"/>
            </a:solidFill>
            <a:prstDash val="solid"/>
            <a:headEnd type="none"/>
            <a:tailEnd type="none"/>
          </a:ln>
        </p:spPr>
      </p:sp>
      <p:sp>
        <p:nvSpPr>
          <p:cNvPr id="37" name="Shape 35"/>
          <p:cNvSpPr/>
          <p:nvPr/>
        </p:nvSpPr>
        <p:spPr>
          <a:xfrm>
            <a:off x="7260336" y="2468880"/>
            <a:ext cx="91" cy="3291840"/>
          </a:xfrm>
          <a:prstGeom prst="line">
            <a:avLst/>
          </a:prstGeom>
          <a:noFill/>
          <a:ln w="7620">
            <a:solidFill>
              <a:srgbClr val="D9CDB7"/>
            </a:solidFill>
            <a:prstDash val="solid"/>
            <a:headEnd type="none"/>
            <a:tailEnd type="none"/>
          </a:ln>
        </p:spPr>
      </p:sp>
      <p:sp>
        <p:nvSpPr>
          <p:cNvPr id="38" name="Text 36"/>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Cecchin (1987) and White &amp; Epston (1990).</a:t>
            </a:r>
            <a:endParaRPr lang="en-US" sz="7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07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36</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Externalising a diagnosis</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299818"/>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Parents describe their 10-year-old as “the ADHD child”. School reports dominate dinner-table</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conversation. The boy says, “I’m the naughty one.”</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social constructionism</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externalising</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exception</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not-knowing</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might it mean to externalise ADHD without dismissing</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it?</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unique outcomes exist in the family’s own account?</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Where does the family’s preferred story begin?</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08 · PHASE II — THEORETICAL CARTOGRAPHY</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08</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Integrative Case</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Conceptualisation</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does a therapist choose a theory — and then hold it lightly?</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Formulation as a disciplined hypothesis</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One family, four formulations</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Same family, four lenses</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Compare formulations of one family across four</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models.</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Write a systemic formulation that includes risk and</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context.</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Defend a reasoned choice of intervention.</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formulation · hypothesis · maintaining pattern · integration</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Carr (2019), ch. 4 · Eells (2015), case formulation</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666232" y="5696712"/>
            <a:ext cx="128016" cy="128016"/>
          </a:xfrm>
          <a:prstGeom prst="ellipse">
            <a:avLst/>
          </a:prstGeom>
          <a:solidFill>
            <a:srgbClr val="C2A05F"/>
          </a:solidFill>
          <a:ln w="8890">
            <a:solidFill>
              <a:srgbClr val="E7D3A9"/>
            </a:solidFill>
            <a:prstDash val="solid"/>
          </a:ln>
        </p:spPr>
      </p:sp>
      <p:sp>
        <p:nvSpPr>
          <p:cNvPr id="35" name="Shape 33"/>
          <p:cNvSpPr/>
          <p:nvPr/>
        </p:nvSpPr>
        <p:spPr>
          <a:xfrm>
            <a:off x="6402019" y="5731459"/>
            <a:ext cx="58522" cy="58522"/>
          </a:xfrm>
          <a:prstGeom prst="ellipse">
            <a:avLst/>
          </a:prstGeom>
          <a:solidFill>
            <a:srgbClr val="1E1913"/>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08 · LECTURE 08</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38</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Formulation as a disciplined hypothesis</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 formulation is not a diagnosis with a story attached. It is a testable account of how a problem is maintained, in this system,</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at this moment.</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WHAT A FORMULATION MUST DO</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Explain the presenting problem, identify maintaining patterns, locate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strengths, specify a point of leverage, and anticipate risk.</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Description before explanation</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Maintaining patterns, not only origins</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 plan that can be revised</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FOUR PS, SYSTEMICALLY</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Predisposing, precipitating, perpetuating and protective factors —</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each located in the family’s relational and social context.</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Predisposing · history and temperament</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Precipitating · events and transitions</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Perpetuating · cycles, coalitions, meanings</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HOLDING THEORY LIGHTLY</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Different models illuminate different surfaces. The question is not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which model is true, but which formulation opens the most useful</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next step.</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Use more than one lens</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Let the family’s feedback correct you</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Integration is a discipline, not a blend</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ASSESSMENT</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Formative case formulation</a:t>
            </a:r>
            <a:endParaRPr lang="en-US" sz="1300" dirty="0"/>
          </a:p>
        </p:txBody>
      </p:sp>
      <p:sp>
        <p:nvSpPr>
          <p:cNvPr id="44" name="Text 42"/>
          <p:cNvSpPr txBox="1"/>
          <p:nvPr/>
        </p:nvSpPr>
        <p:spPr>
          <a:xfrm>
            <a:off x="4434840" y="5431536"/>
            <a:ext cx="4983480" cy="267589"/>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Due in Week 9. One family, three formulations and a defended intervention plan, 2,500 words.</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185039"/>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Carr (2019); Eells (2015).</a:t>
            </a:r>
            <a:endParaRPr lang="en-US" sz="6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08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39</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One family, four formulations</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The same presenting problem yields four different accounts of what maintains it — and four different first moves.</a:t>
            </a:r>
            <a:endParaRPr lang="en-US" sz="1060" dirty="0"/>
          </a:p>
        </p:txBody>
      </p:sp>
      <p:sp>
        <p:nvSpPr>
          <p:cNvPr id="10" name="Shape 8"/>
          <p:cNvSpPr/>
          <p:nvPr/>
        </p:nvSpPr>
        <p:spPr>
          <a:xfrm>
            <a:off x="868680" y="1856232"/>
            <a:ext cx="10451592" cy="420624"/>
          </a:xfrm>
          <a:prstGeom prst="rect">
            <a:avLst/>
          </a:prstGeom>
          <a:solidFill>
            <a:srgbClr val="1B1815"/>
          </a:solidFill>
          <a:ln w="12700">
            <a:solidFill>
              <a:srgbClr val="FFFFFF">
                <a:alpha val="0"/>
              </a:srgbClr>
            </a:solidFill>
            <a:prstDash val="solid"/>
          </a:ln>
        </p:spPr>
      </p:sp>
      <p:sp>
        <p:nvSpPr>
          <p:cNvPr id="11" name="Text 9"/>
          <p:cNvSpPr txBox="1"/>
          <p:nvPr/>
        </p:nvSpPr>
        <p:spPr>
          <a:xfrm>
            <a:off x="978408" y="2010156"/>
            <a:ext cx="1600200" cy="420624"/>
          </a:xfrm>
          <a:prstGeom prst="rect">
            <a:avLst/>
          </a:prstGeom>
          <a:noFill/>
          <a:ln/>
        </p:spPr>
        <p:txBody>
          <a:bodyPr wrap="square" lIns="0" tIns="0" rIns="0" bIns="0" rtlCol="0" anchor="t"/>
          <a:lstStyle/>
          <a:p>
            <a:pPr algn="l" indent="0" marL="0">
              <a:lnSpc>
                <a:spcPts val="888"/>
              </a:lnSpc>
              <a:buNone/>
            </a:pPr>
            <a:r>
              <a:rPr lang="en-US" sz="740" b="1" spc="130" kern="0" dirty="0">
                <a:solidFill>
                  <a:srgbClr val="E7D3A9"/>
                </a:solidFill>
                <a:latin typeface="Calibri" pitchFamily="34" charset="0"/>
                <a:ea typeface="Calibri" pitchFamily="34" charset="-122"/>
                <a:cs typeface="Calibri" pitchFamily="34" charset="-120"/>
              </a:rPr>
              <a:t>MODEL</a:t>
            </a:r>
            <a:endParaRPr lang="en-US" sz="740" dirty="0"/>
          </a:p>
        </p:txBody>
      </p:sp>
      <p:sp>
        <p:nvSpPr>
          <p:cNvPr id="12" name="Text 10"/>
          <p:cNvSpPr txBox="1"/>
          <p:nvPr/>
        </p:nvSpPr>
        <p:spPr>
          <a:xfrm>
            <a:off x="2761488" y="2010156"/>
            <a:ext cx="2606040" cy="420624"/>
          </a:xfrm>
          <a:prstGeom prst="rect">
            <a:avLst/>
          </a:prstGeom>
          <a:noFill/>
          <a:ln/>
        </p:spPr>
        <p:txBody>
          <a:bodyPr wrap="square" lIns="0" tIns="0" rIns="0" bIns="0" rtlCol="0" anchor="t"/>
          <a:lstStyle/>
          <a:p>
            <a:pPr algn="l" indent="0" marL="0">
              <a:lnSpc>
                <a:spcPts val="888"/>
              </a:lnSpc>
              <a:buNone/>
            </a:pPr>
            <a:r>
              <a:rPr lang="en-US" sz="740" b="1" spc="130" kern="0" dirty="0">
                <a:solidFill>
                  <a:srgbClr val="E7D3A9"/>
                </a:solidFill>
                <a:latin typeface="Calibri" pitchFamily="34" charset="0"/>
                <a:ea typeface="Calibri" pitchFamily="34" charset="-122"/>
                <a:cs typeface="Calibri" pitchFamily="34" charset="-120"/>
              </a:rPr>
              <a:t>FOCUS OF FORMULATION</a:t>
            </a:r>
            <a:endParaRPr lang="en-US" sz="740" dirty="0"/>
          </a:p>
        </p:txBody>
      </p:sp>
      <p:sp>
        <p:nvSpPr>
          <p:cNvPr id="13" name="Text 11"/>
          <p:cNvSpPr txBox="1"/>
          <p:nvPr/>
        </p:nvSpPr>
        <p:spPr>
          <a:xfrm>
            <a:off x="5550408" y="2010156"/>
            <a:ext cx="2697480" cy="420624"/>
          </a:xfrm>
          <a:prstGeom prst="rect">
            <a:avLst/>
          </a:prstGeom>
          <a:noFill/>
          <a:ln/>
        </p:spPr>
        <p:txBody>
          <a:bodyPr wrap="square" lIns="0" tIns="0" rIns="0" bIns="0" rtlCol="0" anchor="t"/>
          <a:lstStyle/>
          <a:p>
            <a:pPr algn="l" indent="0" marL="0">
              <a:lnSpc>
                <a:spcPts val="888"/>
              </a:lnSpc>
              <a:buNone/>
            </a:pPr>
            <a:r>
              <a:rPr lang="en-US" sz="740" b="1" spc="130" kern="0" dirty="0">
                <a:solidFill>
                  <a:srgbClr val="E7D3A9"/>
                </a:solidFill>
                <a:latin typeface="Calibri" pitchFamily="34" charset="0"/>
                <a:ea typeface="Calibri" pitchFamily="34" charset="-122"/>
                <a:cs typeface="Calibri" pitchFamily="34" charset="-120"/>
              </a:rPr>
              <a:t>MECHANISM OF THE PROBLEM</a:t>
            </a:r>
            <a:endParaRPr lang="en-US" sz="740" dirty="0"/>
          </a:p>
        </p:txBody>
      </p:sp>
      <p:sp>
        <p:nvSpPr>
          <p:cNvPr id="14" name="Text 12"/>
          <p:cNvSpPr txBox="1"/>
          <p:nvPr/>
        </p:nvSpPr>
        <p:spPr>
          <a:xfrm>
            <a:off x="8430768" y="2010156"/>
            <a:ext cx="2697480" cy="420624"/>
          </a:xfrm>
          <a:prstGeom prst="rect">
            <a:avLst/>
          </a:prstGeom>
          <a:noFill/>
          <a:ln/>
        </p:spPr>
        <p:txBody>
          <a:bodyPr wrap="square" lIns="0" tIns="0" rIns="0" bIns="0" rtlCol="0" anchor="t"/>
          <a:lstStyle/>
          <a:p>
            <a:pPr algn="l" indent="0" marL="0">
              <a:lnSpc>
                <a:spcPts val="888"/>
              </a:lnSpc>
              <a:buNone/>
            </a:pPr>
            <a:r>
              <a:rPr lang="en-US" sz="740" b="1" spc="130" kern="0" dirty="0">
                <a:solidFill>
                  <a:srgbClr val="E7D3A9"/>
                </a:solidFill>
                <a:latin typeface="Calibri" pitchFamily="34" charset="0"/>
                <a:ea typeface="Calibri" pitchFamily="34" charset="-122"/>
                <a:cs typeface="Calibri" pitchFamily="34" charset="-120"/>
              </a:rPr>
              <a:t>SIGNATURE INTERVENTION</a:t>
            </a:r>
            <a:endParaRPr lang="en-US" sz="740" dirty="0"/>
          </a:p>
        </p:txBody>
      </p:sp>
      <p:sp>
        <p:nvSpPr>
          <p:cNvPr id="15" name="Shape 13"/>
          <p:cNvSpPr/>
          <p:nvPr/>
        </p:nvSpPr>
        <p:spPr>
          <a:xfrm>
            <a:off x="868680" y="2276856"/>
            <a:ext cx="10451592" cy="804672"/>
          </a:xfrm>
          <a:prstGeom prst="rect">
            <a:avLst/>
          </a:prstGeom>
          <a:solidFill>
            <a:srgbClr val="EFE5D3">
              <a:alpha val="30000"/>
            </a:srgbClr>
          </a:solidFill>
          <a:ln w="12700">
            <a:solidFill>
              <a:srgbClr val="FFFFFF">
                <a:alpha val="0"/>
              </a:srgbClr>
            </a:solidFill>
            <a:prstDash val="solid"/>
          </a:ln>
        </p:spPr>
      </p:sp>
      <p:sp>
        <p:nvSpPr>
          <p:cNvPr id="16" name="Text 14"/>
          <p:cNvSpPr txBox="1"/>
          <p:nvPr/>
        </p:nvSpPr>
        <p:spPr>
          <a:xfrm>
            <a:off x="978408" y="2583942"/>
            <a:ext cx="1618488" cy="804672"/>
          </a:xfrm>
          <a:prstGeom prst="rect">
            <a:avLst/>
          </a:prstGeom>
          <a:noFill/>
          <a:ln/>
        </p:spPr>
        <p:txBody>
          <a:bodyPr wrap="square" lIns="0" tIns="0" rIns="0" bIns="0" rtlCol="0" anchor="t"/>
          <a:lstStyle/>
          <a:p>
            <a:pPr algn="l" indent="0" marL="0">
              <a:lnSpc>
                <a:spcPts val="1500"/>
              </a:lnSpc>
              <a:buNone/>
            </a:pPr>
            <a:r>
              <a:rPr lang="en-US" sz="1250" dirty="0">
                <a:solidFill>
                  <a:srgbClr val="1B1815"/>
                </a:solidFill>
                <a:latin typeface="Georgia" pitchFamily="34" charset="0"/>
                <a:ea typeface="Georgia" pitchFamily="34" charset="-122"/>
                <a:cs typeface="Georgia" pitchFamily="34" charset="-120"/>
              </a:rPr>
              <a:t>Structural</a:t>
            </a:r>
            <a:endParaRPr lang="en-US" sz="1250" dirty="0"/>
          </a:p>
        </p:txBody>
      </p:sp>
      <p:sp>
        <p:nvSpPr>
          <p:cNvPr id="17" name="Text 15"/>
          <p:cNvSpPr txBox="1"/>
          <p:nvPr/>
        </p:nvSpPr>
        <p:spPr>
          <a:xfrm>
            <a:off x="2761488" y="2621471"/>
            <a:ext cx="256946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Boundaries, hierarchy, subsystems</a:t>
            </a:r>
            <a:endParaRPr lang="en-US" sz="810" dirty="0"/>
          </a:p>
        </p:txBody>
      </p:sp>
      <p:sp>
        <p:nvSpPr>
          <p:cNvPr id="18" name="Text 16"/>
          <p:cNvSpPr txBox="1"/>
          <p:nvPr/>
        </p:nvSpPr>
        <p:spPr>
          <a:xfrm>
            <a:off x="5550408" y="2554605"/>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Enmeshed or disengaged boundaries; cross-generational</a:t>
            </a:r>
            <a:endParaRPr lang="en-US" sz="810" dirty="0"/>
          </a:p>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coalitions</a:t>
            </a:r>
            <a:endParaRPr lang="en-US" sz="810" dirty="0"/>
          </a:p>
        </p:txBody>
      </p:sp>
      <p:sp>
        <p:nvSpPr>
          <p:cNvPr id="19" name="Text 17"/>
          <p:cNvSpPr txBox="1"/>
          <p:nvPr/>
        </p:nvSpPr>
        <p:spPr>
          <a:xfrm>
            <a:off x="8430768" y="2621471"/>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Enactment, boundary-making, unbalancing</a:t>
            </a:r>
            <a:endParaRPr lang="en-US" sz="810" dirty="0"/>
          </a:p>
        </p:txBody>
      </p:sp>
      <p:sp>
        <p:nvSpPr>
          <p:cNvPr id="20" name="Shape 18"/>
          <p:cNvSpPr/>
          <p:nvPr/>
        </p:nvSpPr>
        <p:spPr>
          <a:xfrm>
            <a:off x="868680" y="3063240"/>
            <a:ext cx="10451592" cy="91"/>
          </a:xfrm>
          <a:prstGeom prst="line">
            <a:avLst/>
          </a:prstGeom>
          <a:noFill/>
          <a:ln w="6985">
            <a:solidFill>
              <a:srgbClr val="D9CDB7"/>
            </a:solidFill>
            <a:prstDash val="solid"/>
            <a:headEnd type="none"/>
            <a:tailEnd type="none"/>
          </a:ln>
        </p:spPr>
      </p:sp>
      <p:sp>
        <p:nvSpPr>
          <p:cNvPr id="21" name="Text 19"/>
          <p:cNvSpPr txBox="1"/>
          <p:nvPr/>
        </p:nvSpPr>
        <p:spPr>
          <a:xfrm>
            <a:off x="978408" y="3388614"/>
            <a:ext cx="1618488" cy="804672"/>
          </a:xfrm>
          <a:prstGeom prst="rect">
            <a:avLst/>
          </a:prstGeom>
          <a:noFill/>
          <a:ln/>
        </p:spPr>
        <p:txBody>
          <a:bodyPr wrap="square" lIns="0" tIns="0" rIns="0" bIns="0" rtlCol="0" anchor="t"/>
          <a:lstStyle/>
          <a:p>
            <a:pPr algn="l" indent="0" marL="0">
              <a:lnSpc>
                <a:spcPts val="1500"/>
              </a:lnSpc>
              <a:buNone/>
            </a:pPr>
            <a:r>
              <a:rPr lang="en-US" sz="1250" dirty="0">
                <a:solidFill>
                  <a:srgbClr val="1B1815"/>
                </a:solidFill>
                <a:latin typeface="Georgia" pitchFamily="34" charset="0"/>
                <a:ea typeface="Georgia" pitchFamily="34" charset="-122"/>
                <a:cs typeface="Georgia" pitchFamily="34" charset="-120"/>
              </a:rPr>
              <a:t>Strategic</a:t>
            </a:r>
            <a:endParaRPr lang="en-US" sz="1250" dirty="0"/>
          </a:p>
        </p:txBody>
      </p:sp>
      <p:sp>
        <p:nvSpPr>
          <p:cNvPr id="22" name="Text 20"/>
          <p:cNvSpPr txBox="1"/>
          <p:nvPr/>
        </p:nvSpPr>
        <p:spPr>
          <a:xfrm>
            <a:off x="2761488" y="3426142"/>
            <a:ext cx="256946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Attempted solutions maintaining the problem</a:t>
            </a:r>
            <a:endParaRPr lang="en-US" sz="810" dirty="0"/>
          </a:p>
        </p:txBody>
      </p:sp>
      <p:sp>
        <p:nvSpPr>
          <p:cNvPr id="23" name="Text 21"/>
          <p:cNvSpPr txBox="1"/>
          <p:nvPr/>
        </p:nvSpPr>
        <p:spPr>
          <a:xfrm>
            <a:off x="5550408" y="3426142"/>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Circular feedback; power in the symptom</a:t>
            </a:r>
            <a:endParaRPr lang="en-US" sz="810" dirty="0"/>
          </a:p>
        </p:txBody>
      </p:sp>
      <p:sp>
        <p:nvSpPr>
          <p:cNvPr id="24" name="Text 22"/>
          <p:cNvSpPr txBox="1"/>
          <p:nvPr/>
        </p:nvSpPr>
        <p:spPr>
          <a:xfrm>
            <a:off x="8430768" y="3426142"/>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Directives, paradoxical tasks, reframing</a:t>
            </a:r>
            <a:endParaRPr lang="en-US" sz="810" dirty="0"/>
          </a:p>
        </p:txBody>
      </p:sp>
      <p:sp>
        <p:nvSpPr>
          <p:cNvPr id="25" name="Shape 23"/>
          <p:cNvSpPr/>
          <p:nvPr/>
        </p:nvSpPr>
        <p:spPr>
          <a:xfrm>
            <a:off x="868680" y="3867912"/>
            <a:ext cx="10451592" cy="91"/>
          </a:xfrm>
          <a:prstGeom prst="line">
            <a:avLst/>
          </a:prstGeom>
          <a:noFill/>
          <a:ln w="6985">
            <a:solidFill>
              <a:srgbClr val="D9CDB7"/>
            </a:solidFill>
            <a:prstDash val="solid"/>
            <a:headEnd type="none"/>
            <a:tailEnd type="none"/>
          </a:ln>
        </p:spPr>
      </p:sp>
      <p:sp>
        <p:nvSpPr>
          <p:cNvPr id="26" name="Shape 24"/>
          <p:cNvSpPr/>
          <p:nvPr/>
        </p:nvSpPr>
        <p:spPr>
          <a:xfrm>
            <a:off x="868680" y="3886200"/>
            <a:ext cx="10451592" cy="804672"/>
          </a:xfrm>
          <a:prstGeom prst="rect">
            <a:avLst/>
          </a:prstGeom>
          <a:solidFill>
            <a:srgbClr val="EFE5D3">
              <a:alpha val="30000"/>
            </a:srgbClr>
          </a:solidFill>
          <a:ln w="12700">
            <a:solidFill>
              <a:srgbClr val="FFFFFF">
                <a:alpha val="0"/>
              </a:srgbClr>
            </a:solidFill>
            <a:prstDash val="solid"/>
          </a:ln>
        </p:spPr>
      </p:sp>
      <p:sp>
        <p:nvSpPr>
          <p:cNvPr id="27" name="Text 25"/>
          <p:cNvSpPr txBox="1"/>
          <p:nvPr/>
        </p:nvSpPr>
        <p:spPr>
          <a:xfrm>
            <a:off x="978408" y="4193286"/>
            <a:ext cx="1618488" cy="804672"/>
          </a:xfrm>
          <a:prstGeom prst="rect">
            <a:avLst/>
          </a:prstGeom>
          <a:noFill/>
          <a:ln/>
        </p:spPr>
        <p:txBody>
          <a:bodyPr wrap="square" lIns="0" tIns="0" rIns="0" bIns="0" rtlCol="0" anchor="t"/>
          <a:lstStyle/>
          <a:p>
            <a:pPr algn="l" indent="0" marL="0">
              <a:lnSpc>
                <a:spcPts val="1500"/>
              </a:lnSpc>
              <a:buNone/>
            </a:pPr>
            <a:r>
              <a:rPr lang="en-US" sz="1250" dirty="0">
                <a:solidFill>
                  <a:srgbClr val="1B1815"/>
                </a:solidFill>
                <a:latin typeface="Georgia" pitchFamily="34" charset="0"/>
                <a:ea typeface="Georgia" pitchFamily="34" charset="-122"/>
                <a:cs typeface="Georgia" pitchFamily="34" charset="-120"/>
              </a:rPr>
              <a:t>Intergenerational</a:t>
            </a:r>
            <a:endParaRPr lang="en-US" sz="1250" dirty="0"/>
          </a:p>
        </p:txBody>
      </p:sp>
      <p:sp>
        <p:nvSpPr>
          <p:cNvPr id="28" name="Text 26"/>
          <p:cNvSpPr txBox="1"/>
          <p:nvPr/>
        </p:nvSpPr>
        <p:spPr>
          <a:xfrm>
            <a:off x="2761488" y="4230815"/>
            <a:ext cx="256946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Differentiation and multigenerational transmission</a:t>
            </a:r>
            <a:endParaRPr lang="en-US" sz="810" dirty="0"/>
          </a:p>
        </p:txBody>
      </p:sp>
      <p:sp>
        <p:nvSpPr>
          <p:cNvPr id="29" name="Text 27"/>
          <p:cNvSpPr txBox="1"/>
          <p:nvPr/>
        </p:nvSpPr>
        <p:spPr>
          <a:xfrm>
            <a:off x="5550408" y="4230815"/>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Triangulation; unresolved legacy and loyalty</a:t>
            </a:r>
            <a:endParaRPr lang="en-US" sz="810" dirty="0"/>
          </a:p>
        </p:txBody>
      </p:sp>
      <p:sp>
        <p:nvSpPr>
          <p:cNvPr id="30" name="Text 28"/>
          <p:cNvSpPr txBox="1"/>
          <p:nvPr/>
        </p:nvSpPr>
        <p:spPr>
          <a:xfrm>
            <a:off x="8430768" y="4230815"/>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Genogram, detriangling, coaching the dyad</a:t>
            </a:r>
            <a:endParaRPr lang="en-US" sz="810" dirty="0"/>
          </a:p>
        </p:txBody>
      </p:sp>
      <p:sp>
        <p:nvSpPr>
          <p:cNvPr id="31" name="Shape 29"/>
          <p:cNvSpPr/>
          <p:nvPr/>
        </p:nvSpPr>
        <p:spPr>
          <a:xfrm>
            <a:off x="868680" y="4672584"/>
            <a:ext cx="10451592" cy="91"/>
          </a:xfrm>
          <a:prstGeom prst="line">
            <a:avLst/>
          </a:prstGeom>
          <a:noFill/>
          <a:ln w="6985">
            <a:solidFill>
              <a:srgbClr val="D9CDB7"/>
            </a:solidFill>
            <a:prstDash val="solid"/>
            <a:headEnd type="none"/>
            <a:tailEnd type="none"/>
          </a:ln>
        </p:spPr>
      </p:sp>
      <p:sp>
        <p:nvSpPr>
          <p:cNvPr id="32" name="Text 30"/>
          <p:cNvSpPr txBox="1"/>
          <p:nvPr/>
        </p:nvSpPr>
        <p:spPr>
          <a:xfrm>
            <a:off x="978408" y="4997958"/>
            <a:ext cx="1618488" cy="804672"/>
          </a:xfrm>
          <a:prstGeom prst="rect">
            <a:avLst/>
          </a:prstGeom>
          <a:noFill/>
          <a:ln/>
        </p:spPr>
        <p:txBody>
          <a:bodyPr wrap="square" lIns="0" tIns="0" rIns="0" bIns="0" rtlCol="0" anchor="t"/>
          <a:lstStyle/>
          <a:p>
            <a:pPr algn="l" indent="0" marL="0">
              <a:lnSpc>
                <a:spcPts val="1500"/>
              </a:lnSpc>
              <a:buNone/>
            </a:pPr>
            <a:r>
              <a:rPr lang="en-US" sz="1250" dirty="0">
                <a:solidFill>
                  <a:srgbClr val="1B1815"/>
                </a:solidFill>
                <a:latin typeface="Georgia" pitchFamily="34" charset="0"/>
                <a:ea typeface="Georgia" pitchFamily="34" charset="-122"/>
                <a:cs typeface="Georgia" pitchFamily="34" charset="-120"/>
              </a:rPr>
              <a:t>Narrative</a:t>
            </a:r>
            <a:endParaRPr lang="en-US" sz="1250" dirty="0"/>
          </a:p>
        </p:txBody>
      </p:sp>
      <p:sp>
        <p:nvSpPr>
          <p:cNvPr id="33" name="Text 31"/>
          <p:cNvSpPr txBox="1"/>
          <p:nvPr/>
        </p:nvSpPr>
        <p:spPr>
          <a:xfrm>
            <a:off x="2761488" y="5035486"/>
            <a:ext cx="256946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Dominant stories and their effects</a:t>
            </a:r>
            <a:endParaRPr lang="en-US" sz="810" dirty="0"/>
          </a:p>
        </p:txBody>
      </p:sp>
      <p:sp>
        <p:nvSpPr>
          <p:cNvPr id="34" name="Text 32"/>
          <p:cNvSpPr txBox="1"/>
          <p:nvPr/>
        </p:nvSpPr>
        <p:spPr>
          <a:xfrm>
            <a:off x="5550408" y="5035486"/>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Problem-saturated identity; internalised deficit</a:t>
            </a:r>
            <a:endParaRPr lang="en-US" sz="810" dirty="0"/>
          </a:p>
        </p:txBody>
      </p:sp>
      <p:sp>
        <p:nvSpPr>
          <p:cNvPr id="35" name="Text 33"/>
          <p:cNvSpPr txBox="1"/>
          <p:nvPr/>
        </p:nvSpPr>
        <p:spPr>
          <a:xfrm>
            <a:off x="8430768" y="5035486"/>
            <a:ext cx="2660904" cy="640080"/>
          </a:xfrm>
          <a:prstGeom prst="rect">
            <a:avLst/>
          </a:prstGeom>
          <a:noFill/>
          <a:ln/>
        </p:spPr>
        <p:txBody>
          <a:bodyPr wrap="square" lIns="0" tIns="0" rIns="0" bIns="0" rtlCol="0" anchor="t"/>
          <a:lstStyle/>
          <a:p>
            <a:pPr algn="l" indent="0" marL="0">
              <a:lnSpc>
                <a:spcPts val="1053"/>
              </a:lnSpc>
              <a:buNone/>
            </a:pPr>
            <a:r>
              <a:rPr lang="en-US" sz="810" dirty="0">
                <a:solidFill>
                  <a:srgbClr val="3F3A33"/>
                </a:solidFill>
                <a:latin typeface="Calibri" pitchFamily="34" charset="0"/>
                <a:ea typeface="Calibri" pitchFamily="34" charset="-122"/>
                <a:cs typeface="Calibri" pitchFamily="34" charset="-120"/>
              </a:rPr>
              <a:t>Externalising, unique outcomes, re-authoring</a:t>
            </a:r>
            <a:endParaRPr lang="en-US" sz="810" dirty="0"/>
          </a:p>
        </p:txBody>
      </p:sp>
      <p:sp>
        <p:nvSpPr>
          <p:cNvPr id="36" name="Shape 34"/>
          <p:cNvSpPr/>
          <p:nvPr/>
        </p:nvSpPr>
        <p:spPr>
          <a:xfrm>
            <a:off x="868680" y="5477256"/>
            <a:ext cx="10451592" cy="91"/>
          </a:xfrm>
          <a:prstGeom prst="line">
            <a:avLst/>
          </a:prstGeom>
          <a:noFill/>
          <a:ln w="6985">
            <a:solidFill>
              <a:srgbClr val="D9CDB7"/>
            </a:solidFill>
            <a:prstDash val="solid"/>
            <a:headEnd type="none"/>
            <a:tailEnd type="none"/>
          </a:ln>
        </p:spPr>
      </p:sp>
      <p:sp>
        <p:nvSpPr>
          <p:cNvPr id="37" name="Shape 35"/>
          <p:cNvSpPr/>
          <p:nvPr/>
        </p:nvSpPr>
        <p:spPr>
          <a:xfrm>
            <a:off x="2651760" y="2276856"/>
            <a:ext cx="91" cy="3218688"/>
          </a:xfrm>
          <a:prstGeom prst="line">
            <a:avLst/>
          </a:prstGeom>
          <a:noFill/>
          <a:ln w="6350">
            <a:solidFill>
              <a:srgbClr val="D9CDB7">
                <a:alpha val="80000"/>
              </a:srgbClr>
            </a:solidFill>
            <a:prstDash val="solid"/>
            <a:headEnd type="none"/>
            <a:tailEnd type="none"/>
          </a:ln>
        </p:spPr>
      </p:sp>
      <p:sp>
        <p:nvSpPr>
          <p:cNvPr id="38" name="Shape 36"/>
          <p:cNvSpPr/>
          <p:nvPr/>
        </p:nvSpPr>
        <p:spPr>
          <a:xfrm>
            <a:off x="5440680" y="2276856"/>
            <a:ext cx="91" cy="3218688"/>
          </a:xfrm>
          <a:prstGeom prst="line">
            <a:avLst/>
          </a:prstGeom>
          <a:noFill/>
          <a:ln w="6350">
            <a:solidFill>
              <a:srgbClr val="D9CDB7">
                <a:alpha val="80000"/>
              </a:srgbClr>
            </a:solidFill>
            <a:prstDash val="solid"/>
            <a:headEnd type="none"/>
            <a:tailEnd type="none"/>
          </a:ln>
        </p:spPr>
      </p:sp>
      <p:sp>
        <p:nvSpPr>
          <p:cNvPr id="39" name="Shape 37"/>
          <p:cNvSpPr/>
          <p:nvPr/>
        </p:nvSpPr>
        <p:spPr>
          <a:xfrm>
            <a:off x="8321040" y="2276856"/>
            <a:ext cx="91" cy="3218688"/>
          </a:xfrm>
          <a:prstGeom prst="line">
            <a:avLst/>
          </a:prstGeom>
          <a:noFill/>
          <a:ln w="6350">
            <a:solidFill>
              <a:srgbClr val="D9CDB7">
                <a:alpha val="80000"/>
              </a:srgbClr>
            </a:solidFill>
            <a:prstDash val="solid"/>
            <a:headEnd type="none"/>
            <a:tailEnd type="none"/>
          </a:ln>
        </p:spPr>
      </p:sp>
      <p:sp>
        <p:nvSpPr>
          <p:cNvPr id="40" name="Text 38"/>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 comparative grid for the Week 9 written formulation.</a:t>
            </a:r>
            <a:endParaRPr lang="en-US" sz="7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08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Same family, four lenses</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643890"/>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Using the family from your case formulation, argue the case for each model in turn — then</a:t>
            </a:r>
            <a:endParaRPr lang="en-US" sz="1300" dirty="0"/>
          </a:p>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choose one and justify the choice.</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does each model see that the others miss?</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Where do the formulations contradict one another?</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Which intervention follows from your chosen account?</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would count as evidence that you were wrong?</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6400800" cy="238760"/>
          </a:xfrm>
          <a:prstGeom prst="rect">
            <a:avLst/>
          </a:prstGeom>
          <a:noFill/>
          <a:ln/>
        </p:spPr>
        <p:txBody>
          <a:bodyPr wrap="square" lIns="0" tIns="0" rIns="0" bIns="0" rtlCol="0" anchor="t"/>
          <a:lstStyle/>
          <a:p>
            <a:pPr algn="l" indent="0" marL="0">
              <a:lnSpc>
                <a:spcPts val="1080"/>
              </a:lnSpc>
              <a:buNone/>
            </a:pPr>
            <a:r>
              <a:rPr lang="en-US" sz="800" spc="300" kern="0" dirty="0">
                <a:solidFill>
                  <a:srgbClr val="C2A05F"/>
                </a:solidFill>
                <a:latin typeface="Calibri" pitchFamily="34" charset="0"/>
                <a:ea typeface="Calibri" pitchFamily="34" charset="-122"/>
                <a:cs typeface="Calibri" pitchFamily="34" charset="-120"/>
              </a:rPr>
              <a:t>PHASE III · WEEKS 9–12</a:t>
            </a:r>
            <a:endParaRPr lang="en-US" sz="800" dirty="0"/>
          </a:p>
        </p:txBody>
      </p:sp>
      <p:sp>
        <p:nvSpPr>
          <p:cNvPr id="3" name="Text 1"/>
          <p:cNvSpPr txBox="1"/>
          <p:nvPr/>
        </p:nvSpPr>
        <p:spPr>
          <a:xfrm>
            <a:off x="6035040" y="-457200"/>
            <a:ext cx="5486400" cy="7620000"/>
          </a:xfrm>
          <a:prstGeom prst="rect">
            <a:avLst/>
          </a:prstGeom>
          <a:noFill/>
          <a:ln/>
        </p:spPr>
        <p:txBody>
          <a:bodyPr wrap="square" lIns="0" tIns="0" rIns="0" bIns="0" rtlCol="0" anchor="t"/>
          <a:lstStyle/>
          <a:p>
            <a:pPr algn="r" indent="0" marL="0">
              <a:lnSpc>
                <a:spcPts val="30000"/>
              </a:lnSpc>
              <a:buNone/>
            </a:pPr>
            <a:r>
              <a:rPr lang="en-US" sz="30000" dirty="0">
                <a:solidFill>
                  <a:srgbClr val="181611"/>
                </a:solidFill>
                <a:latin typeface="Georgia" pitchFamily="34" charset="0"/>
                <a:ea typeface="Georgia" pitchFamily="34" charset="-122"/>
                <a:cs typeface="Georgia" pitchFamily="34" charset="-120"/>
              </a:rPr>
              <a:t>09</a:t>
            </a:r>
            <a:endParaRPr lang="en-US" sz="30000" dirty="0"/>
          </a:p>
        </p:txBody>
      </p:sp>
      <p:sp>
        <p:nvSpPr>
          <p:cNvPr id="4" name="Text 2"/>
          <p:cNvSpPr txBox="1"/>
          <p:nvPr/>
        </p:nvSpPr>
        <p:spPr>
          <a:xfrm>
            <a:off x="822960" y="1874520"/>
            <a:ext cx="6766560" cy="1215136"/>
          </a:xfrm>
          <a:prstGeom prst="rect">
            <a:avLst/>
          </a:prstGeom>
          <a:noFill/>
          <a:ln/>
        </p:spPr>
        <p:txBody>
          <a:bodyPr wrap="square" lIns="0" tIns="0" rIns="0" bIns="0" rtlCol="0" anchor="t"/>
          <a:lstStyle/>
          <a:p>
            <a:pPr algn="l" indent="0" marL="0">
              <a:lnSpc>
                <a:spcPts val="4968"/>
              </a:lnSpc>
              <a:buNone/>
            </a:pPr>
            <a:r>
              <a:rPr lang="en-US" sz="4600" dirty="0">
                <a:solidFill>
                  <a:srgbClr val="F8F3E9"/>
                </a:solidFill>
                <a:latin typeface="Georgia" pitchFamily="34" charset="0"/>
                <a:ea typeface="Georgia" pitchFamily="34" charset="-122"/>
                <a:cs typeface="Georgia" pitchFamily="34" charset="-120"/>
              </a:rPr>
              <a:t>The Clinical Encounter</a:t>
            </a:r>
            <a:endParaRPr lang="en-US" sz="4600" dirty="0"/>
          </a:p>
        </p:txBody>
      </p:sp>
      <p:sp>
        <p:nvSpPr>
          <p:cNvPr id="5" name="Text 3"/>
          <p:cNvSpPr txBox="1"/>
          <p:nvPr/>
        </p:nvSpPr>
        <p:spPr>
          <a:xfrm>
            <a:off x="822960" y="3429000"/>
            <a:ext cx="6035040" cy="736600"/>
          </a:xfrm>
          <a:prstGeom prst="rect">
            <a:avLst/>
          </a:prstGeom>
          <a:noFill/>
          <a:ln/>
        </p:spPr>
        <p:txBody>
          <a:bodyPr wrap="square" lIns="0" tIns="0" rIns="0" bIns="0" rtlCol="0" anchor="t"/>
          <a:lstStyle/>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Joining, assessing and negotiating the ethical and cultural complexity of</a:t>
            </a:r>
            <a:endParaRPr lang="en-US" sz="1450" dirty="0"/>
          </a:p>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real clinical work.</a:t>
            </a:r>
            <a:endParaRPr lang="en-US" sz="1450" dirty="0"/>
          </a:p>
        </p:txBody>
      </p:sp>
      <p:sp>
        <p:nvSpPr>
          <p:cNvPr id="6" name="Shape 4"/>
          <p:cNvSpPr/>
          <p:nvPr/>
        </p:nvSpPr>
        <p:spPr>
          <a:xfrm>
            <a:off x="822960" y="4572000"/>
            <a:ext cx="1554480" cy="91"/>
          </a:xfrm>
          <a:prstGeom prst="line">
            <a:avLst/>
          </a:prstGeom>
          <a:noFill/>
          <a:ln w="10160">
            <a:solidFill>
              <a:srgbClr val="C2A05F"/>
            </a:solidFill>
            <a:prstDash val="solid"/>
            <a:headEnd type="none"/>
            <a:tailEnd type="none"/>
          </a:ln>
        </p:spPr>
      </p:sp>
      <p:sp>
        <p:nvSpPr>
          <p:cNvPr id="7" name="Text 5"/>
          <p:cNvSpPr txBox="1"/>
          <p:nvPr/>
        </p:nvSpPr>
        <p:spPr>
          <a:xfrm>
            <a:off x="82296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09</a:t>
            </a:r>
            <a:endParaRPr lang="en-US" sz="1000" dirty="0"/>
          </a:p>
        </p:txBody>
      </p:sp>
      <p:sp>
        <p:nvSpPr>
          <p:cNvPr id="8" name="Text 6"/>
          <p:cNvSpPr txBox="1"/>
          <p:nvPr/>
        </p:nvSpPr>
        <p:spPr>
          <a:xfrm>
            <a:off x="82296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First session &amp; alliance</a:t>
            </a:r>
            <a:endParaRPr lang="en-US" sz="760" dirty="0"/>
          </a:p>
        </p:txBody>
      </p:sp>
      <p:sp>
        <p:nvSpPr>
          <p:cNvPr id="9" name="Text 7"/>
          <p:cNvSpPr txBox="1"/>
          <p:nvPr/>
        </p:nvSpPr>
        <p:spPr>
          <a:xfrm>
            <a:off x="224028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010</a:t>
            </a:r>
            <a:endParaRPr lang="en-US" sz="1000" dirty="0"/>
          </a:p>
        </p:txBody>
      </p:sp>
      <p:sp>
        <p:nvSpPr>
          <p:cNvPr id="10" name="Text 8"/>
          <p:cNvSpPr txBox="1"/>
          <p:nvPr/>
        </p:nvSpPr>
        <p:spPr>
          <a:xfrm>
            <a:off x="224028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Assessment &amp; genograms</a:t>
            </a:r>
            <a:endParaRPr lang="en-US" sz="760" dirty="0"/>
          </a:p>
        </p:txBody>
      </p:sp>
      <p:sp>
        <p:nvSpPr>
          <p:cNvPr id="11" name="Text 9"/>
          <p:cNvSpPr txBox="1"/>
          <p:nvPr/>
        </p:nvSpPr>
        <p:spPr>
          <a:xfrm>
            <a:off x="365760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011</a:t>
            </a:r>
            <a:endParaRPr lang="en-US" sz="1000" dirty="0"/>
          </a:p>
        </p:txBody>
      </p:sp>
      <p:sp>
        <p:nvSpPr>
          <p:cNvPr id="12" name="Text 10"/>
          <p:cNvSpPr txBox="1"/>
          <p:nvPr/>
        </p:nvSpPr>
        <p:spPr>
          <a:xfrm>
            <a:off x="365760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Ethics, law &amp; governance</a:t>
            </a:r>
            <a:endParaRPr lang="en-US" sz="760" dirty="0"/>
          </a:p>
        </p:txBody>
      </p:sp>
      <p:sp>
        <p:nvSpPr>
          <p:cNvPr id="13" name="Text 11"/>
          <p:cNvSpPr txBox="1"/>
          <p:nvPr/>
        </p:nvSpPr>
        <p:spPr>
          <a:xfrm>
            <a:off x="507492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012</a:t>
            </a:r>
            <a:endParaRPr lang="en-US" sz="1000" dirty="0"/>
          </a:p>
        </p:txBody>
      </p:sp>
      <p:sp>
        <p:nvSpPr>
          <p:cNvPr id="14" name="Text 12"/>
          <p:cNvSpPr txBox="1"/>
          <p:nvPr/>
        </p:nvSpPr>
        <p:spPr>
          <a:xfrm>
            <a:off x="507492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Culture, power &amp; location</a:t>
            </a:r>
            <a:endParaRPr lang="en-US" sz="760" dirty="0"/>
          </a:p>
        </p:txBody>
      </p:sp>
      <p:sp>
        <p:nvSpPr>
          <p:cNvPr id="15" name="Shape 13"/>
          <p:cNvSpPr/>
          <p:nvPr/>
        </p:nvSpPr>
        <p:spPr>
          <a:xfrm>
            <a:off x="822960" y="5742432"/>
            <a:ext cx="10515600" cy="91"/>
          </a:xfrm>
          <a:prstGeom prst="line">
            <a:avLst/>
          </a:prstGeom>
          <a:noFill/>
          <a:ln w="10160">
            <a:solidFill>
              <a:srgbClr val="3A332A"/>
            </a:solidFill>
            <a:prstDash val="solid"/>
            <a:headEnd type="none"/>
            <a:tailEnd type="none"/>
          </a:ln>
        </p:spPr>
      </p:sp>
      <p:sp>
        <p:nvSpPr>
          <p:cNvPr id="16" name="Shape 14"/>
          <p:cNvSpPr/>
          <p:nvPr/>
        </p:nvSpPr>
        <p:spPr>
          <a:xfrm>
            <a:off x="793699" y="5713171"/>
            <a:ext cx="58522" cy="58522"/>
          </a:xfrm>
          <a:prstGeom prst="ellipse">
            <a:avLst/>
          </a:prstGeom>
          <a:solidFill>
            <a:srgbClr val="96733C"/>
          </a:solidFill>
          <a:ln w="12700">
            <a:solidFill>
              <a:srgbClr val="FFFFFF">
                <a:alpha val="0"/>
              </a:srgbClr>
            </a:solidFill>
            <a:prstDash val="solid"/>
          </a:ln>
        </p:spPr>
      </p:sp>
      <p:sp>
        <p:nvSpPr>
          <p:cNvPr id="17" name="Shape 15"/>
          <p:cNvSpPr/>
          <p:nvPr/>
        </p:nvSpPr>
        <p:spPr>
          <a:xfrm>
            <a:off x="1494739" y="5713171"/>
            <a:ext cx="58522" cy="58522"/>
          </a:xfrm>
          <a:prstGeom prst="ellipse">
            <a:avLst/>
          </a:prstGeom>
          <a:solidFill>
            <a:srgbClr val="96733C"/>
          </a:solidFill>
          <a:ln w="12700">
            <a:solidFill>
              <a:srgbClr val="FFFFFF">
                <a:alpha val="0"/>
              </a:srgbClr>
            </a:solidFill>
            <a:prstDash val="solid"/>
          </a:ln>
        </p:spPr>
      </p:sp>
      <p:sp>
        <p:nvSpPr>
          <p:cNvPr id="18" name="Shape 16"/>
          <p:cNvSpPr/>
          <p:nvPr/>
        </p:nvSpPr>
        <p:spPr>
          <a:xfrm>
            <a:off x="2195779" y="5713171"/>
            <a:ext cx="58522" cy="58522"/>
          </a:xfrm>
          <a:prstGeom prst="ellipse">
            <a:avLst/>
          </a:prstGeom>
          <a:solidFill>
            <a:srgbClr val="96733C"/>
          </a:solidFill>
          <a:ln w="12700">
            <a:solidFill>
              <a:srgbClr val="FFFFFF">
                <a:alpha val="0"/>
              </a:srgbClr>
            </a:solidFill>
            <a:prstDash val="solid"/>
          </a:ln>
        </p:spPr>
      </p:sp>
      <p:sp>
        <p:nvSpPr>
          <p:cNvPr id="19" name="Shape 17"/>
          <p:cNvSpPr/>
          <p:nvPr/>
        </p:nvSpPr>
        <p:spPr>
          <a:xfrm>
            <a:off x="2896819" y="5713171"/>
            <a:ext cx="58522" cy="58522"/>
          </a:xfrm>
          <a:prstGeom prst="ellipse">
            <a:avLst/>
          </a:prstGeom>
          <a:solidFill>
            <a:srgbClr val="96733C"/>
          </a:solidFill>
          <a:ln w="12700">
            <a:solidFill>
              <a:srgbClr val="FFFFFF">
                <a:alpha val="0"/>
              </a:srgbClr>
            </a:solidFill>
            <a:prstDash val="solid"/>
          </a:ln>
        </p:spPr>
      </p:sp>
      <p:sp>
        <p:nvSpPr>
          <p:cNvPr id="20" name="Shape 18"/>
          <p:cNvSpPr/>
          <p:nvPr/>
        </p:nvSpPr>
        <p:spPr>
          <a:xfrm>
            <a:off x="3597859" y="5713171"/>
            <a:ext cx="58522" cy="58522"/>
          </a:xfrm>
          <a:prstGeom prst="ellipse">
            <a:avLst/>
          </a:prstGeom>
          <a:solidFill>
            <a:srgbClr val="96733C"/>
          </a:solidFill>
          <a:ln w="12700">
            <a:solidFill>
              <a:srgbClr val="FFFFFF">
                <a:alpha val="0"/>
              </a:srgbClr>
            </a:solidFill>
            <a:prstDash val="solid"/>
          </a:ln>
        </p:spPr>
      </p:sp>
      <p:sp>
        <p:nvSpPr>
          <p:cNvPr id="21" name="Shape 19"/>
          <p:cNvSpPr/>
          <p:nvPr/>
        </p:nvSpPr>
        <p:spPr>
          <a:xfrm>
            <a:off x="4298899" y="5713171"/>
            <a:ext cx="58522" cy="58522"/>
          </a:xfrm>
          <a:prstGeom prst="ellipse">
            <a:avLst/>
          </a:prstGeom>
          <a:solidFill>
            <a:srgbClr val="96733C"/>
          </a:solidFill>
          <a:ln w="12700">
            <a:solidFill>
              <a:srgbClr val="FFFFFF">
                <a:alpha val="0"/>
              </a:srgbClr>
            </a:solidFill>
            <a:prstDash val="solid"/>
          </a:ln>
        </p:spPr>
      </p:sp>
      <p:sp>
        <p:nvSpPr>
          <p:cNvPr id="22" name="Shape 20"/>
          <p:cNvSpPr/>
          <p:nvPr/>
        </p:nvSpPr>
        <p:spPr>
          <a:xfrm>
            <a:off x="4999939" y="5713171"/>
            <a:ext cx="58522" cy="58522"/>
          </a:xfrm>
          <a:prstGeom prst="ellipse">
            <a:avLst/>
          </a:prstGeom>
          <a:solidFill>
            <a:srgbClr val="96733C"/>
          </a:solidFill>
          <a:ln w="12700">
            <a:solidFill>
              <a:srgbClr val="FFFFFF">
                <a:alpha val="0"/>
              </a:srgbClr>
            </a:solidFill>
            <a:prstDash val="solid"/>
          </a:ln>
        </p:spPr>
      </p:sp>
      <p:sp>
        <p:nvSpPr>
          <p:cNvPr id="23" name="Shape 21"/>
          <p:cNvSpPr/>
          <p:nvPr/>
        </p:nvSpPr>
        <p:spPr>
          <a:xfrm>
            <a:off x="5700979" y="5713171"/>
            <a:ext cx="58522" cy="58522"/>
          </a:xfrm>
          <a:prstGeom prst="ellipse">
            <a:avLst/>
          </a:prstGeom>
          <a:solidFill>
            <a:srgbClr val="96733C"/>
          </a:solidFill>
          <a:ln w="12700">
            <a:solidFill>
              <a:srgbClr val="FFFFFF">
                <a:alpha val="0"/>
              </a:srgbClr>
            </a:solidFill>
            <a:prstDash val="solid"/>
          </a:ln>
        </p:spPr>
      </p:sp>
      <p:sp>
        <p:nvSpPr>
          <p:cNvPr id="24" name="Shape 22"/>
          <p:cNvSpPr/>
          <p:nvPr/>
        </p:nvSpPr>
        <p:spPr>
          <a:xfrm>
            <a:off x="6402019" y="5713171"/>
            <a:ext cx="58522" cy="58522"/>
          </a:xfrm>
          <a:prstGeom prst="ellipse">
            <a:avLst/>
          </a:prstGeom>
          <a:solidFill>
            <a:srgbClr val="96733C"/>
          </a:solidFill>
          <a:ln w="12700">
            <a:solidFill>
              <a:srgbClr val="FFFFFF">
                <a:alpha val="0"/>
              </a:srgbClr>
            </a:solidFill>
            <a:prstDash val="solid"/>
          </a:ln>
        </p:spPr>
      </p:sp>
      <p:sp>
        <p:nvSpPr>
          <p:cNvPr id="25" name="Shape 23"/>
          <p:cNvSpPr/>
          <p:nvPr/>
        </p:nvSpPr>
        <p:spPr>
          <a:xfrm>
            <a:off x="7103059" y="5713171"/>
            <a:ext cx="58522" cy="58522"/>
          </a:xfrm>
          <a:prstGeom prst="ellipse">
            <a:avLst/>
          </a:prstGeom>
          <a:solidFill>
            <a:srgbClr val="96733C"/>
          </a:solidFill>
          <a:ln w="12700">
            <a:solidFill>
              <a:srgbClr val="FFFFFF">
                <a:alpha val="0"/>
              </a:srgbClr>
            </a:solidFill>
            <a:prstDash val="solid"/>
          </a:ln>
        </p:spPr>
      </p:sp>
      <p:sp>
        <p:nvSpPr>
          <p:cNvPr id="26" name="Shape 24"/>
          <p:cNvSpPr/>
          <p:nvPr/>
        </p:nvSpPr>
        <p:spPr>
          <a:xfrm>
            <a:off x="7804099" y="5713171"/>
            <a:ext cx="58522" cy="58522"/>
          </a:xfrm>
          <a:prstGeom prst="ellipse">
            <a:avLst/>
          </a:prstGeom>
          <a:solidFill>
            <a:srgbClr val="96733C"/>
          </a:solidFill>
          <a:ln w="12700">
            <a:solidFill>
              <a:srgbClr val="FFFFFF">
                <a:alpha val="0"/>
              </a:srgbClr>
            </a:solidFill>
            <a:prstDash val="solid"/>
          </a:ln>
        </p:spPr>
      </p:sp>
      <p:sp>
        <p:nvSpPr>
          <p:cNvPr id="27" name="Shape 25"/>
          <p:cNvSpPr/>
          <p:nvPr/>
        </p:nvSpPr>
        <p:spPr>
          <a:xfrm>
            <a:off x="8470392" y="5678424"/>
            <a:ext cx="128016" cy="128016"/>
          </a:xfrm>
          <a:prstGeom prst="ellipse">
            <a:avLst/>
          </a:prstGeom>
          <a:solidFill>
            <a:srgbClr val="C2A05F"/>
          </a:solidFill>
          <a:ln w="8890">
            <a:solidFill>
              <a:srgbClr val="E7D3A9"/>
            </a:solidFill>
            <a:prstDash val="solid"/>
          </a:ln>
        </p:spPr>
      </p:sp>
      <p:sp>
        <p:nvSpPr>
          <p:cNvPr id="28" name="Shape 26"/>
          <p:cNvSpPr/>
          <p:nvPr/>
        </p:nvSpPr>
        <p:spPr>
          <a:xfrm>
            <a:off x="9206179" y="5713171"/>
            <a:ext cx="58522" cy="58522"/>
          </a:xfrm>
          <a:prstGeom prst="ellipse">
            <a:avLst/>
          </a:prstGeom>
          <a:solidFill>
            <a:srgbClr val="1E1913"/>
          </a:solidFill>
          <a:ln w="12700">
            <a:solidFill>
              <a:srgbClr val="FFFFFF">
                <a:alpha val="0"/>
              </a:srgbClr>
            </a:solidFill>
            <a:prstDash val="solid"/>
          </a:ln>
        </p:spPr>
      </p:sp>
      <p:sp>
        <p:nvSpPr>
          <p:cNvPr id="29" name="Shape 27"/>
          <p:cNvSpPr/>
          <p:nvPr/>
        </p:nvSpPr>
        <p:spPr>
          <a:xfrm>
            <a:off x="9907219" y="5713171"/>
            <a:ext cx="58522" cy="58522"/>
          </a:xfrm>
          <a:prstGeom prst="ellipse">
            <a:avLst/>
          </a:prstGeom>
          <a:solidFill>
            <a:srgbClr val="1E1913"/>
          </a:solidFill>
          <a:ln w="12700">
            <a:solidFill>
              <a:srgbClr val="FFFFFF">
                <a:alpha val="0"/>
              </a:srgbClr>
            </a:solidFill>
            <a:prstDash val="solid"/>
          </a:ln>
        </p:spPr>
      </p:sp>
      <p:sp>
        <p:nvSpPr>
          <p:cNvPr id="30" name="Shape 28"/>
          <p:cNvSpPr/>
          <p:nvPr/>
        </p:nvSpPr>
        <p:spPr>
          <a:xfrm>
            <a:off x="10608259" y="5713171"/>
            <a:ext cx="58522" cy="58522"/>
          </a:xfrm>
          <a:prstGeom prst="ellipse">
            <a:avLst/>
          </a:prstGeom>
          <a:solidFill>
            <a:srgbClr val="1E1913"/>
          </a:solidFill>
          <a:ln w="12700">
            <a:solidFill>
              <a:srgbClr val="FFFFFF">
                <a:alpha val="0"/>
              </a:srgbClr>
            </a:solidFill>
            <a:prstDash val="solid"/>
          </a:ln>
        </p:spPr>
      </p:sp>
      <p:sp>
        <p:nvSpPr>
          <p:cNvPr id="31" name="Shape 29"/>
          <p:cNvSpPr/>
          <p:nvPr/>
        </p:nvSpPr>
        <p:spPr>
          <a:xfrm>
            <a:off x="11309299" y="5713171"/>
            <a:ext cx="58522" cy="58522"/>
          </a:xfrm>
          <a:prstGeom prst="ellipse">
            <a:avLst/>
          </a:prstGeom>
          <a:solidFill>
            <a:srgbClr val="1E1913"/>
          </a:solidFill>
          <a:ln w="12700">
            <a:solidFill>
              <a:srgbClr val="FFFFFF">
                <a:alpha val="0"/>
              </a:srgbClr>
            </a:solidFill>
            <a:prstDash val="solid"/>
          </a:ln>
        </p:spPr>
      </p:sp>
      <p:sp>
        <p:nvSpPr>
          <p:cNvPr id="32" name="Shape 30"/>
          <p:cNvSpPr/>
          <p:nvPr/>
        </p:nvSpPr>
        <p:spPr>
          <a:xfrm>
            <a:off x="822960" y="722376"/>
            <a:ext cx="10546050" cy="91"/>
          </a:xfrm>
          <a:prstGeom prst="line">
            <a:avLst/>
          </a:prstGeom>
          <a:noFill/>
          <a:ln w="6350">
            <a:solidFill>
              <a:srgbClr val="3A332A"/>
            </a:solidFill>
            <a:prstDash val="solid"/>
            <a:headEnd type="none"/>
            <a:tailEnd type="none"/>
          </a:ln>
        </p:spPr>
      </p:sp>
      <p:sp>
        <p:nvSpPr>
          <p:cNvPr id="33" name="Text 31"/>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34" name="Text 32"/>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09 · PHASE III — THE CLINICAL ENCOUNTER</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09</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The First Session and the</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Therapeutic Alliance</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do you join a system without joining its triangles?</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Joining before intervening</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alliance is not a dyad</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first ten minutes</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Structure a first session from opening to next steps.</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Build and monitor a multi-person alliance.</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Negotiate consent and confidentiality with several</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clients.</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joining · alliance · neutrality · informed consent · split alliance</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Minuchin &amp; Fishman (1981), ch. 1–2 · Friedlander, Escudero &amp; Heatherington (2006)</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367272" y="5696712"/>
            <a:ext cx="128016" cy="128016"/>
          </a:xfrm>
          <a:prstGeom prst="ellipse">
            <a:avLst/>
          </a:prstGeom>
          <a:solidFill>
            <a:srgbClr val="C2A05F"/>
          </a:solidFill>
          <a:ln w="8890">
            <a:solidFill>
              <a:srgbClr val="E7D3A9"/>
            </a:solidFill>
            <a:prstDash val="solid"/>
          </a:ln>
        </p:spPr>
      </p:sp>
      <p:sp>
        <p:nvSpPr>
          <p:cNvPr id="36" name="Shape 34"/>
          <p:cNvSpPr/>
          <p:nvPr/>
        </p:nvSpPr>
        <p:spPr>
          <a:xfrm>
            <a:off x="7103059" y="5731459"/>
            <a:ext cx="58522" cy="58522"/>
          </a:xfrm>
          <a:prstGeom prst="ellipse">
            <a:avLst/>
          </a:prstGeom>
          <a:solidFill>
            <a:srgbClr val="1E1913"/>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09 · LECTURE 09</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43</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Joining before intervening</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The first session is already an intervention. It establishes who is heard, what is named as the problem, and whether change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feels possible.</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THE TASKS OF SESSION ONE</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Engage every member, establish safety and consent, elicit each</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description, observe sequences, offer a tentative formulation, agree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next steps.</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speaks first — and who is spoken for?</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is the family’s own explanation?</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has already been tried?</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THE MULTI-PERSON ALLIANCE</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 couple and family work the alliance is not one relationship but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several — and they can conflict.</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Bond, goals, tasks</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Split alliances reproduce triangles</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Rupture is data, not failure</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NEUTRALITY, REVISED</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Neutrality is not indifference. It is a commitment not to become the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spokesperson for any one member — including the most articulate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one.</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Curiosity over alignment</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Multidirectional partiality</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absent member is still in the room</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CONSENT</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Who is the client?</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With multiple clients, consent must specify who holds confidentiality, how records are shared, and what</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happens when members disagree about disclosure.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Minuchin &amp; Fishman (1981); Pinsof &amp; Wynne</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(1995).</a:t>
            </a:r>
            <a:endParaRPr lang="en-US" sz="6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09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44</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The alliance is not a dyad</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Every statement is heard by more than one person — and heard differently. The therapist’s task is to remain available to all of them.</a:t>
            </a:r>
            <a:endParaRPr lang="en-US" sz="1060" dirty="0"/>
          </a:p>
        </p:txBody>
      </p:sp>
      <p:sp>
        <p:nvSpPr>
          <p:cNvPr id="10" name="Shape 8"/>
          <p:cNvSpPr/>
          <p:nvPr/>
        </p:nvSpPr>
        <p:spPr>
          <a:xfrm>
            <a:off x="3154680" y="1856232"/>
            <a:ext cx="822960" cy="822960"/>
          </a:xfrm>
          <a:prstGeom prst="ellipse">
            <a:avLst/>
          </a:prstGeom>
          <a:solidFill>
            <a:srgbClr val="1B1815"/>
          </a:solidFill>
          <a:ln w="10160">
            <a:solidFill>
              <a:srgbClr val="C2A05F"/>
            </a:solidFill>
            <a:prstDash val="solid"/>
          </a:ln>
        </p:spPr>
      </p:sp>
      <p:sp>
        <p:nvSpPr>
          <p:cNvPr id="11" name="Text 9"/>
          <p:cNvSpPr txBox="1"/>
          <p:nvPr/>
        </p:nvSpPr>
        <p:spPr>
          <a:xfrm>
            <a:off x="3154680" y="2121408"/>
            <a:ext cx="822960" cy="358140"/>
          </a:xfrm>
          <a:prstGeom prst="rect">
            <a:avLst/>
          </a:prstGeom>
          <a:noFill/>
          <a:ln/>
        </p:spPr>
        <p:txBody>
          <a:bodyPr wrap="square" lIns="0" tIns="0" rIns="0" bIns="0" rtlCol="0" anchor="t"/>
          <a:lstStyle/>
          <a:p>
            <a:pPr algn="ctr" indent="0" marL="0">
              <a:lnSpc>
                <a:spcPts val="1620"/>
              </a:lnSpc>
              <a:buNone/>
            </a:pPr>
            <a:r>
              <a:rPr lang="en-US" sz="1200" dirty="0">
                <a:solidFill>
                  <a:srgbClr val="E7D3A9"/>
                </a:solidFill>
                <a:latin typeface="Georgia" pitchFamily="34" charset="0"/>
                <a:ea typeface="Georgia" pitchFamily="34" charset="-122"/>
                <a:cs typeface="Georgia" pitchFamily="34" charset="-120"/>
              </a:rPr>
              <a:t>Th</a:t>
            </a:r>
            <a:endParaRPr lang="en-US" sz="1200" dirty="0"/>
          </a:p>
        </p:txBody>
      </p:sp>
      <p:sp>
        <p:nvSpPr>
          <p:cNvPr id="12" name="Text 10"/>
          <p:cNvSpPr txBox="1"/>
          <p:nvPr/>
        </p:nvSpPr>
        <p:spPr>
          <a:xfrm>
            <a:off x="2194560" y="2185416"/>
            <a:ext cx="868680" cy="202946"/>
          </a:xfrm>
          <a:prstGeom prst="rect">
            <a:avLst/>
          </a:prstGeom>
          <a:noFill/>
          <a:ln/>
        </p:spPr>
        <p:txBody>
          <a:bodyPr wrap="square" lIns="0" tIns="0" rIns="0" bIns="0" rtlCol="0" anchor="t"/>
          <a:lstStyle/>
          <a:p>
            <a:pPr algn="r" indent="0" marL="0">
              <a:lnSpc>
                <a:spcPts val="918"/>
              </a:lnSpc>
              <a:buNone/>
            </a:pPr>
            <a:r>
              <a:rPr lang="en-US" sz="680" spc="120" kern="0" dirty="0">
                <a:solidFill>
                  <a:srgbClr val="5B544A"/>
                </a:solidFill>
                <a:latin typeface="Calibri" pitchFamily="34" charset="0"/>
                <a:ea typeface="Calibri" pitchFamily="34" charset="-122"/>
                <a:cs typeface="Calibri" pitchFamily="34" charset="-120"/>
              </a:rPr>
              <a:t>THERAPIST</a:t>
            </a:r>
            <a:endParaRPr lang="en-US" sz="680" dirty="0"/>
          </a:p>
        </p:txBody>
      </p:sp>
      <p:sp>
        <p:nvSpPr>
          <p:cNvPr id="13" name="Shape 11"/>
          <p:cNvSpPr/>
          <p:nvPr/>
        </p:nvSpPr>
        <p:spPr>
          <a:xfrm flipH="1">
            <a:off x="1691640" y="2679192"/>
            <a:ext cx="1567780" cy="1828800"/>
          </a:xfrm>
          <a:prstGeom prst="line">
            <a:avLst/>
          </a:prstGeom>
          <a:noFill/>
          <a:ln w="19050">
            <a:solidFill>
              <a:srgbClr val="96733C"/>
            </a:solidFill>
            <a:prstDash val="solid"/>
            <a:headEnd type="none"/>
            <a:tailEnd type="none"/>
          </a:ln>
        </p:spPr>
      </p:sp>
      <p:sp>
        <p:nvSpPr>
          <p:cNvPr id="14" name="Shape 12"/>
          <p:cNvSpPr/>
          <p:nvPr/>
        </p:nvSpPr>
        <p:spPr>
          <a:xfrm>
            <a:off x="1435608" y="4526280"/>
            <a:ext cx="512064" cy="512064"/>
          </a:xfrm>
          <a:prstGeom prst="ellipse">
            <a:avLst/>
          </a:prstGeom>
          <a:solidFill>
            <a:srgbClr val="FBF7EF"/>
          </a:solidFill>
          <a:ln w="12700">
            <a:solidFill>
              <a:srgbClr val="1B1815"/>
            </a:solidFill>
            <a:prstDash val="solid"/>
          </a:ln>
        </p:spPr>
      </p:sp>
      <p:sp>
        <p:nvSpPr>
          <p:cNvPr id="15" name="Text 13"/>
          <p:cNvSpPr txBox="1"/>
          <p:nvPr/>
        </p:nvSpPr>
        <p:spPr>
          <a:xfrm>
            <a:off x="1143000" y="5111496"/>
            <a:ext cx="1097280" cy="221996"/>
          </a:xfrm>
          <a:prstGeom prst="rect">
            <a:avLst/>
          </a:prstGeom>
          <a:noFill/>
          <a:ln/>
        </p:spPr>
        <p:txBody>
          <a:bodyPr wrap="square" lIns="0" tIns="0" rIns="0" bIns="0" rtlCol="0" anchor="t"/>
          <a:lstStyle/>
          <a:p>
            <a:pPr algn="ctr" indent="0" marL="0">
              <a:lnSpc>
                <a:spcPts val="988"/>
              </a:lnSpc>
              <a:buNone/>
            </a:pPr>
            <a:r>
              <a:rPr lang="en-US" sz="760" dirty="0">
                <a:solidFill>
                  <a:srgbClr val="5B544A"/>
                </a:solidFill>
                <a:latin typeface="Calibri" pitchFamily="34" charset="0"/>
                <a:ea typeface="Calibri" pitchFamily="34" charset="-122"/>
                <a:cs typeface="Calibri" pitchFamily="34" charset="-120"/>
              </a:rPr>
              <a:t>Mother</a:t>
            </a:r>
            <a:endParaRPr lang="en-US" sz="760" dirty="0"/>
          </a:p>
        </p:txBody>
      </p:sp>
      <p:sp>
        <p:nvSpPr>
          <p:cNvPr id="16" name="Shape 14"/>
          <p:cNvSpPr/>
          <p:nvPr/>
        </p:nvSpPr>
        <p:spPr>
          <a:xfrm flipH="1">
            <a:off x="3474720" y="2679192"/>
            <a:ext cx="77492" cy="2011680"/>
          </a:xfrm>
          <a:prstGeom prst="line">
            <a:avLst/>
          </a:prstGeom>
          <a:noFill/>
          <a:ln w="19050">
            <a:solidFill>
              <a:srgbClr val="96733C"/>
            </a:solidFill>
            <a:prstDash val="solid"/>
            <a:headEnd type="none"/>
            <a:tailEnd type="none"/>
          </a:ln>
        </p:spPr>
      </p:sp>
      <p:sp>
        <p:nvSpPr>
          <p:cNvPr id="17" name="Shape 15"/>
          <p:cNvSpPr/>
          <p:nvPr/>
        </p:nvSpPr>
        <p:spPr>
          <a:xfrm>
            <a:off x="3218688" y="4709160"/>
            <a:ext cx="512064" cy="512064"/>
          </a:xfrm>
          <a:prstGeom prst="rect">
            <a:avLst/>
          </a:prstGeom>
          <a:solidFill>
            <a:srgbClr val="FBF7EF"/>
          </a:solidFill>
          <a:ln w="12700">
            <a:solidFill>
              <a:srgbClr val="1B1815"/>
            </a:solidFill>
            <a:prstDash val="solid"/>
          </a:ln>
        </p:spPr>
      </p:sp>
      <p:sp>
        <p:nvSpPr>
          <p:cNvPr id="18" name="Text 16"/>
          <p:cNvSpPr txBox="1"/>
          <p:nvPr/>
        </p:nvSpPr>
        <p:spPr>
          <a:xfrm>
            <a:off x="2926080" y="5294376"/>
            <a:ext cx="1097280" cy="221996"/>
          </a:xfrm>
          <a:prstGeom prst="rect">
            <a:avLst/>
          </a:prstGeom>
          <a:noFill/>
          <a:ln/>
        </p:spPr>
        <p:txBody>
          <a:bodyPr wrap="square" lIns="0" tIns="0" rIns="0" bIns="0" rtlCol="0" anchor="t"/>
          <a:lstStyle/>
          <a:p>
            <a:pPr algn="ctr" indent="0" marL="0">
              <a:lnSpc>
                <a:spcPts val="988"/>
              </a:lnSpc>
              <a:buNone/>
            </a:pPr>
            <a:r>
              <a:rPr lang="en-US" sz="760" dirty="0">
                <a:solidFill>
                  <a:srgbClr val="5B544A"/>
                </a:solidFill>
                <a:latin typeface="Calibri" pitchFamily="34" charset="0"/>
                <a:ea typeface="Calibri" pitchFamily="34" charset="-122"/>
                <a:cs typeface="Calibri" pitchFamily="34" charset="-120"/>
              </a:rPr>
              <a:t>Father</a:t>
            </a:r>
            <a:endParaRPr lang="en-US" sz="760" dirty="0"/>
          </a:p>
        </p:txBody>
      </p:sp>
      <p:sp>
        <p:nvSpPr>
          <p:cNvPr id="19" name="Shape 17"/>
          <p:cNvSpPr/>
          <p:nvPr/>
        </p:nvSpPr>
        <p:spPr>
          <a:xfrm>
            <a:off x="3842974" y="2679192"/>
            <a:ext cx="1414826" cy="1828800"/>
          </a:xfrm>
          <a:prstGeom prst="line">
            <a:avLst/>
          </a:prstGeom>
          <a:noFill/>
          <a:ln w="8890">
            <a:solidFill>
              <a:srgbClr val="D9CDB7"/>
            </a:solidFill>
            <a:prstDash val="dash"/>
            <a:headEnd type="none"/>
            <a:tailEnd type="none"/>
          </a:ln>
        </p:spPr>
      </p:sp>
      <p:sp>
        <p:nvSpPr>
          <p:cNvPr id="20" name="Shape 18"/>
          <p:cNvSpPr/>
          <p:nvPr/>
        </p:nvSpPr>
        <p:spPr>
          <a:xfrm>
            <a:off x="5001768" y="4526280"/>
            <a:ext cx="512064" cy="512064"/>
          </a:xfrm>
          <a:prstGeom prst="rect">
            <a:avLst/>
          </a:prstGeom>
          <a:solidFill>
            <a:srgbClr val="FBF7EF"/>
          </a:solidFill>
          <a:ln w="12700">
            <a:solidFill>
              <a:srgbClr val="1B1815"/>
            </a:solidFill>
            <a:prstDash val="solid"/>
          </a:ln>
        </p:spPr>
      </p:sp>
      <p:sp>
        <p:nvSpPr>
          <p:cNvPr id="21" name="Text 19"/>
          <p:cNvSpPr txBox="1"/>
          <p:nvPr/>
        </p:nvSpPr>
        <p:spPr>
          <a:xfrm>
            <a:off x="4709160" y="5111496"/>
            <a:ext cx="1097280" cy="221996"/>
          </a:xfrm>
          <a:prstGeom prst="rect">
            <a:avLst/>
          </a:prstGeom>
          <a:noFill/>
          <a:ln/>
        </p:spPr>
        <p:txBody>
          <a:bodyPr wrap="square" lIns="0" tIns="0" rIns="0" bIns="0" rtlCol="0" anchor="t"/>
          <a:lstStyle/>
          <a:p>
            <a:pPr algn="ctr" indent="0" marL="0">
              <a:lnSpc>
                <a:spcPts val="988"/>
              </a:lnSpc>
              <a:buNone/>
            </a:pPr>
            <a:r>
              <a:rPr lang="en-US" sz="760" dirty="0">
                <a:solidFill>
                  <a:srgbClr val="5B544A"/>
                </a:solidFill>
                <a:latin typeface="Calibri" pitchFamily="34" charset="0"/>
                <a:ea typeface="Calibri" pitchFamily="34" charset="-122"/>
                <a:cs typeface="Calibri" pitchFamily="34" charset="-120"/>
              </a:rPr>
              <a:t>Adolescent</a:t>
            </a:r>
            <a:endParaRPr lang="en-US" sz="760" dirty="0"/>
          </a:p>
        </p:txBody>
      </p:sp>
      <p:sp>
        <p:nvSpPr>
          <p:cNvPr id="22" name="Shape 20"/>
          <p:cNvSpPr/>
          <p:nvPr/>
        </p:nvSpPr>
        <p:spPr>
          <a:xfrm>
            <a:off x="1965960" y="4910328"/>
            <a:ext cx="1234440" cy="182880"/>
          </a:xfrm>
          <a:prstGeom prst="line">
            <a:avLst/>
          </a:prstGeom>
          <a:noFill/>
          <a:ln w="13970">
            <a:solidFill>
              <a:srgbClr val="A96A45"/>
            </a:solidFill>
            <a:prstDash val="dash"/>
            <a:headEnd type="none"/>
            <a:tailEnd type="none"/>
          </a:ln>
        </p:spPr>
      </p:sp>
      <p:sp>
        <p:nvSpPr>
          <p:cNvPr id="23" name="Text 21"/>
          <p:cNvSpPr txBox="1"/>
          <p:nvPr/>
        </p:nvSpPr>
        <p:spPr>
          <a:xfrm>
            <a:off x="2148840" y="4169664"/>
            <a:ext cx="1645920" cy="196977"/>
          </a:xfrm>
          <a:prstGeom prst="rect">
            <a:avLst/>
          </a:prstGeom>
          <a:noFill/>
          <a:ln/>
        </p:spPr>
        <p:txBody>
          <a:bodyPr wrap="square" lIns="0" tIns="0" rIns="0" bIns="0" rtlCol="0" anchor="t"/>
          <a:lstStyle/>
          <a:p>
            <a:pPr algn="ctr" indent="0" marL="0">
              <a:lnSpc>
                <a:spcPts val="891"/>
              </a:lnSpc>
              <a:buNone/>
            </a:pPr>
            <a:r>
              <a:rPr lang="en-US" sz="660" spc="130" kern="0" dirty="0">
                <a:solidFill>
                  <a:srgbClr val="A96A45"/>
                </a:solidFill>
                <a:latin typeface="Calibri" pitchFamily="34" charset="0"/>
                <a:ea typeface="Calibri" pitchFamily="34" charset="-122"/>
                <a:cs typeface="Calibri" pitchFamily="34" charset="-120"/>
              </a:rPr>
              <a:t>SPLIT ALLIANCE</a:t>
            </a:r>
            <a:endParaRPr lang="en-US" sz="660" dirty="0"/>
          </a:p>
        </p:txBody>
      </p:sp>
      <p:sp>
        <p:nvSpPr>
          <p:cNvPr id="24" name="Text 22"/>
          <p:cNvSpPr txBox="1"/>
          <p:nvPr/>
        </p:nvSpPr>
        <p:spPr>
          <a:xfrm>
            <a:off x="7543800" y="2130552"/>
            <a:ext cx="3657600" cy="394335"/>
          </a:xfrm>
          <a:prstGeom prst="rect">
            <a:avLst/>
          </a:prstGeom>
          <a:noFill/>
          <a:ln/>
        </p:spPr>
        <p:txBody>
          <a:bodyPr wrap="square" lIns="0" tIns="0" rIns="0" bIns="0" rtlCol="0" anchor="t"/>
          <a:lstStyle/>
          <a:p>
            <a:pPr algn="l" indent="0" marL="0">
              <a:lnSpc>
                <a:spcPts val="1755"/>
              </a:lnSpc>
              <a:buNone/>
            </a:pPr>
            <a:r>
              <a:rPr lang="en-US" sz="1350" dirty="0">
                <a:solidFill>
                  <a:srgbClr val="1B1815"/>
                </a:solidFill>
                <a:latin typeface="Georgia" pitchFamily="34" charset="0"/>
                <a:ea typeface="Georgia" pitchFamily="34" charset="-122"/>
                <a:cs typeface="Georgia" pitchFamily="34" charset="-120"/>
              </a:rPr>
              <a:t>Reading the alliance map</a:t>
            </a:r>
            <a:endParaRPr lang="en-US" sz="1350" dirty="0"/>
          </a:p>
        </p:txBody>
      </p:sp>
      <p:sp>
        <p:nvSpPr>
          <p:cNvPr id="25" name="Shape 23"/>
          <p:cNvSpPr/>
          <p:nvPr/>
        </p:nvSpPr>
        <p:spPr>
          <a:xfrm>
            <a:off x="7543800" y="2734056"/>
            <a:ext cx="256032" cy="91"/>
          </a:xfrm>
          <a:prstGeom prst="line">
            <a:avLst/>
          </a:prstGeom>
          <a:noFill/>
          <a:ln w="15240">
            <a:solidFill>
              <a:srgbClr val="C2A05F"/>
            </a:solidFill>
            <a:prstDash val="solid"/>
            <a:headEnd type="none"/>
            <a:tailEnd type="none"/>
          </a:ln>
        </p:spPr>
      </p:sp>
      <p:sp>
        <p:nvSpPr>
          <p:cNvPr id="26" name="Text 24"/>
          <p:cNvSpPr txBox="1"/>
          <p:nvPr/>
        </p:nvSpPr>
        <p:spPr>
          <a:xfrm>
            <a:off x="7909560" y="2624328"/>
            <a:ext cx="306324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Triadic by nature</a:t>
            </a:r>
            <a:endParaRPr lang="en-US" sz="940" dirty="0"/>
          </a:p>
        </p:txBody>
      </p:sp>
      <p:sp>
        <p:nvSpPr>
          <p:cNvPr id="27" name="Text 25"/>
          <p:cNvSpPr txBox="1"/>
          <p:nvPr/>
        </p:nvSpPr>
        <p:spPr>
          <a:xfrm>
            <a:off x="7909560" y="2871216"/>
            <a:ext cx="3063240" cy="385318"/>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Every statement is heard by more than one person, and heard</a:t>
            </a:r>
            <a:endParaRPr lang="en-US" sz="820" dirty="0"/>
          </a:p>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differently.</a:t>
            </a:r>
            <a:endParaRPr lang="en-US" sz="820" dirty="0"/>
          </a:p>
        </p:txBody>
      </p:sp>
      <p:sp>
        <p:nvSpPr>
          <p:cNvPr id="28" name="Shape 26"/>
          <p:cNvSpPr/>
          <p:nvPr/>
        </p:nvSpPr>
        <p:spPr>
          <a:xfrm>
            <a:off x="7543800" y="3758184"/>
            <a:ext cx="256032" cy="91"/>
          </a:xfrm>
          <a:prstGeom prst="line">
            <a:avLst/>
          </a:prstGeom>
          <a:noFill/>
          <a:ln w="15240">
            <a:solidFill>
              <a:srgbClr val="C2A05F"/>
            </a:solidFill>
            <a:prstDash val="solid"/>
            <a:headEnd type="none"/>
            <a:tailEnd type="none"/>
          </a:ln>
        </p:spPr>
      </p:sp>
      <p:sp>
        <p:nvSpPr>
          <p:cNvPr id="29" name="Text 27"/>
          <p:cNvSpPr txBox="1"/>
          <p:nvPr/>
        </p:nvSpPr>
        <p:spPr>
          <a:xfrm>
            <a:off x="7909560" y="3648456"/>
            <a:ext cx="306324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Split alliances</a:t>
            </a:r>
            <a:endParaRPr lang="en-US" sz="940" dirty="0"/>
          </a:p>
        </p:txBody>
      </p:sp>
      <p:sp>
        <p:nvSpPr>
          <p:cNvPr id="30" name="Text 28"/>
          <p:cNvSpPr txBox="1"/>
          <p:nvPr/>
        </p:nvSpPr>
        <p:spPr>
          <a:xfrm>
            <a:off x="7909560" y="3895344"/>
            <a:ext cx="3063240" cy="385318"/>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A strong bond with one member, paid for by distance from another,</a:t>
            </a:r>
            <a:endParaRPr lang="en-US" sz="820" dirty="0"/>
          </a:p>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reproduces the family’s own triangle.</a:t>
            </a:r>
            <a:endParaRPr lang="en-US" sz="820" dirty="0"/>
          </a:p>
        </p:txBody>
      </p:sp>
      <p:sp>
        <p:nvSpPr>
          <p:cNvPr id="31" name="Shape 29"/>
          <p:cNvSpPr/>
          <p:nvPr/>
        </p:nvSpPr>
        <p:spPr>
          <a:xfrm>
            <a:off x="7543800" y="4782312"/>
            <a:ext cx="256032" cy="91"/>
          </a:xfrm>
          <a:prstGeom prst="line">
            <a:avLst/>
          </a:prstGeom>
          <a:noFill/>
          <a:ln w="15240">
            <a:solidFill>
              <a:srgbClr val="C2A05F"/>
            </a:solidFill>
            <a:prstDash val="solid"/>
            <a:headEnd type="none"/>
            <a:tailEnd type="none"/>
          </a:ln>
        </p:spPr>
      </p:sp>
      <p:sp>
        <p:nvSpPr>
          <p:cNvPr id="32" name="Text 30"/>
          <p:cNvSpPr txBox="1"/>
          <p:nvPr/>
        </p:nvSpPr>
        <p:spPr>
          <a:xfrm>
            <a:off x="7909560" y="4672584"/>
            <a:ext cx="306324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Repair in session</a:t>
            </a:r>
            <a:endParaRPr lang="en-US" sz="940" dirty="0"/>
          </a:p>
        </p:txBody>
      </p:sp>
      <p:sp>
        <p:nvSpPr>
          <p:cNvPr id="33" name="Text 31"/>
          <p:cNvSpPr txBox="1"/>
          <p:nvPr/>
        </p:nvSpPr>
        <p:spPr>
          <a:xfrm>
            <a:off x="7909560" y="4919472"/>
            <a:ext cx="3063240" cy="385318"/>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Name the rupture, validate both positions, and re-establish the</a:t>
            </a:r>
            <a:endParaRPr lang="en-US" sz="820" dirty="0"/>
          </a:p>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therapist as available to all.</a:t>
            </a:r>
            <a:endParaRPr lang="en-US" sz="820" dirty="0"/>
          </a:p>
        </p:txBody>
      </p:sp>
      <p:sp>
        <p:nvSpPr>
          <p:cNvPr id="34" name="Text 32"/>
          <p:cNvSpPr txBox="1"/>
          <p:nvPr/>
        </p:nvSpPr>
        <p:spPr>
          <a:xfrm>
            <a:off x="1143000" y="5486400"/>
            <a:ext cx="4572000" cy="204470"/>
          </a:xfrm>
          <a:prstGeom prst="rect">
            <a:avLst/>
          </a:prstGeom>
          <a:noFill/>
          <a:ln/>
        </p:spPr>
        <p:txBody>
          <a:bodyPr wrap="square" lIns="0" tIns="0" rIns="0" bIns="0" rtlCol="0" anchor="t"/>
          <a:lstStyle/>
          <a:p>
            <a:pPr algn="l" indent="0" marL="0">
              <a:lnSpc>
                <a:spcPts val="910"/>
              </a:lnSpc>
              <a:buNone/>
            </a:pPr>
            <a:r>
              <a:rPr lang="en-US" sz="700" i="1" dirty="0">
                <a:solidFill>
                  <a:srgbClr val="5B544A"/>
                </a:solidFill>
                <a:latin typeface="Calibri" pitchFamily="34" charset="0"/>
                <a:ea typeface="Calibri" pitchFamily="34" charset="-122"/>
                <a:cs typeface="Calibri" pitchFamily="34" charset="-120"/>
              </a:rPr>
              <a:t>Solid line: strong alliance · dashed: weak or cut-off.</a:t>
            </a:r>
            <a:endParaRPr lang="en-US" sz="700" dirty="0"/>
          </a:p>
        </p:txBody>
      </p:sp>
      <p:sp>
        <p:nvSpPr>
          <p:cNvPr id="35" name="Text 33"/>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Friedlander, Escudero &amp; Heatherington (2006).</a:t>
            </a:r>
            <a:endParaRPr lang="en-US" sz="74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09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45</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first ten minutes</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299818"/>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couple arrives furious. One wants to leave; the other booked the session secretly. Both look at</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you before they sit down.</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joining</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alliance</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neutrality</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informed consent</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do you say in the first minute?</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How do you handle the secret booking?</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would make both feel heard without agreeing with</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either?</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10 · PHASE III — THE CLINICAL ENCOUNTER</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10</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Assessment, Genograms and</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Information Gathering</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755904"/>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What must a therapist know before intervening — and what does the asking itself</a:t>
            </a:r>
            <a:endParaRPr lang="en-US" sz="1550" dirty="0"/>
          </a:p>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do?</a:t>
            </a:r>
            <a:endParaRPr lang="en-US" sz="1550" dirty="0"/>
          </a:p>
        </p:txBody>
      </p:sp>
      <p:sp>
        <p:nvSpPr>
          <p:cNvPr id="8" name="Shape 6"/>
          <p:cNvSpPr/>
          <p:nvPr/>
        </p:nvSpPr>
        <p:spPr>
          <a:xfrm>
            <a:off x="822960" y="4190746"/>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Assessment as a relational act</a:t>
            </a:r>
            <a:endParaRPr lang="en-US" sz="850" dirty="0"/>
          </a:p>
        </p:txBody>
      </p:sp>
      <p:sp>
        <p:nvSpPr>
          <p:cNvPr id="11" name="Text 9"/>
          <p:cNvSpPr txBox="1"/>
          <p:nvPr/>
        </p:nvSpPr>
        <p:spPr>
          <a:xfrm>
            <a:off x="3282696"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Three generations in one view</a:t>
            </a:r>
            <a:endParaRPr lang="en-US" sz="850" dirty="0"/>
          </a:p>
        </p:txBody>
      </p:sp>
      <p:sp>
        <p:nvSpPr>
          <p:cNvPr id="13" name="Text 11"/>
          <p:cNvSpPr txBox="1"/>
          <p:nvPr/>
        </p:nvSpPr>
        <p:spPr>
          <a:xfrm>
            <a:off x="5742432"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family who would not draw</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Construct a three-generation genogram with a</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family.</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Use circular questions to elicit relational difference.</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Integrate risk screening into systemic assessment.</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genogram · circular questioning · interventive interviewing · risk assessment</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McGoldrick, Gerson &amp; Petry (2008), ch. 1–3 · Tomm (1988), interventive interviewing</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068312" y="5696712"/>
            <a:ext cx="128016" cy="128016"/>
          </a:xfrm>
          <a:prstGeom prst="ellipse">
            <a:avLst/>
          </a:prstGeom>
          <a:solidFill>
            <a:srgbClr val="C2A05F"/>
          </a:solidFill>
          <a:ln w="8890">
            <a:solidFill>
              <a:srgbClr val="E7D3A9"/>
            </a:solidFill>
            <a:prstDash val="solid"/>
          </a:ln>
        </p:spPr>
      </p:sp>
      <p:sp>
        <p:nvSpPr>
          <p:cNvPr id="37" name="Shape 35"/>
          <p:cNvSpPr/>
          <p:nvPr/>
        </p:nvSpPr>
        <p:spPr>
          <a:xfrm>
            <a:off x="7804099" y="5731459"/>
            <a:ext cx="58522" cy="58522"/>
          </a:xfrm>
          <a:prstGeom prst="ellipse">
            <a:avLst/>
          </a:prstGeom>
          <a:solidFill>
            <a:srgbClr val="1E1913"/>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10 · LECTURE 10</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47</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Assessment as a relational act</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Every question is an intervention: it directs attention, invites a description, and positions the family in relation to the</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problem.</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THE GENOGRAM</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Three generations, drawn with the family, in the first two sessions.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 drawing matters less than the conversation it makes possible.</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Structure · household, marriages, births, deaths, migration</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Patterns · repetition, cut-offs, coalitions</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Meaning · names, legacies, secrets</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CIRCULAR QUESTIONING</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Questions about difference and connection: “Who is most worried?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Who shows it least? What does your mother do when your father</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goes quiet?”</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Ask about relationships, not individuals</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Ask each member to compare</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Let the question land before asking the next</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RISK AND SAFEGUARDING</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Ask directly, document clearly, consult, and follow local law and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agency procedure. Risk assessment is not a form; it is a conversation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with consequences.</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Violence and coercive control</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Self-harm and suicidal ideation</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Child protection and elder safety</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TOMM</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Questions have effects</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Interventive interviewing treats the question as a clinical move: it creates difference, opens possibility, or closes</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a conversation.</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McGoldrick, Gerson &amp; Petry (2008); Tomm</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(1988); Fleuridas, Nelson &amp; Rosenthal (1986).</a:t>
            </a:r>
            <a:endParaRPr lang="en-US" sz="6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10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48</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Three generations in one view</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genogram turns history into a hypothesis: where the family repeats, where it cuts off, and where the symptom sits.</a:t>
            </a:r>
            <a:endParaRPr lang="en-US" sz="1060" dirty="0"/>
          </a:p>
        </p:txBody>
      </p:sp>
      <p:sp>
        <p:nvSpPr>
          <p:cNvPr id="10" name="Shape 8"/>
          <p:cNvSpPr/>
          <p:nvPr/>
        </p:nvSpPr>
        <p:spPr>
          <a:xfrm>
            <a:off x="2066544" y="2139696"/>
            <a:ext cx="347472" cy="347472"/>
          </a:xfrm>
          <a:prstGeom prst="ellipse">
            <a:avLst/>
          </a:prstGeom>
          <a:solidFill>
            <a:srgbClr val="FBF7EF"/>
          </a:solidFill>
          <a:ln w="11430">
            <a:solidFill>
              <a:srgbClr val="1B1815"/>
            </a:solidFill>
            <a:prstDash val="solid"/>
          </a:ln>
        </p:spPr>
      </p:sp>
      <p:sp>
        <p:nvSpPr>
          <p:cNvPr id="11" name="Shape 9"/>
          <p:cNvSpPr/>
          <p:nvPr/>
        </p:nvSpPr>
        <p:spPr>
          <a:xfrm>
            <a:off x="2798064" y="2139696"/>
            <a:ext cx="347472" cy="347472"/>
          </a:xfrm>
          <a:prstGeom prst="rect">
            <a:avLst/>
          </a:prstGeom>
          <a:solidFill>
            <a:srgbClr val="FBF7EF"/>
          </a:solidFill>
          <a:ln w="11430">
            <a:solidFill>
              <a:srgbClr val="1B1815"/>
            </a:solidFill>
            <a:prstDash val="solid"/>
          </a:ln>
        </p:spPr>
      </p:sp>
      <p:sp>
        <p:nvSpPr>
          <p:cNvPr id="12" name="Shape 10"/>
          <p:cNvSpPr/>
          <p:nvPr/>
        </p:nvSpPr>
        <p:spPr>
          <a:xfrm>
            <a:off x="2414016" y="2313432"/>
            <a:ext cx="384048" cy="91"/>
          </a:xfrm>
          <a:prstGeom prst="line">
            <a:avLst/>
          </a:prstGeom>
          <a:noFill/>
          <a:ln w="11430">
            <a:solidFill>
              <a:srgbClr val="1B1815"/>
            </a:solidFill>
            <a:prstDash val="solid"/>
            <a:headEnd type="none"/>
            <a:tailEnd type="none"/>
          </a:ln>
        </p:spPr>
      </p:sp>
      <p:sp>
        <p:nvSpPr>
          <p:cNvPr id="13" name="Text 11"/>
          <p:cNvSpPr txBox="1"/>
          <p:nvPr/>
        </p:nvSpPr>
        <p:spPr>
          <a:xfrm>
            <a:off x="1673352" y="1947672"/>
            <a:ext cx="1097280" cy="192786"/>
          </a:xfrm>
          <a:prstGeom prst="rect">
            <a:avLst/>
          </a:prstGeom>
          <a:noFill/>
          <a:ln/>
        </p:spPr>
        <p:txBody>
          <a:bodyPr wrap="square" lIns="0" tIns="0" rIns="0" bIns="0" rtlCol="0" anchor="t"/>
          <a:lstStyle/>
          <a:p>
            <a:pPr algn="ctr" indent="0" marL="0">
              <a:lnSpc>
                <a:spcPts val="858"/>
              </a:lnSpc>
              <a:buNone/>
            </a:pPr>
            <a:r>
              <a:rPr lang="en-US" sz="660" dirty="0">
                <a:solidFill>
                  <a:srgbClr val="5B544A"/>
                </a:solidFill>
                <a:latin typeface="Calibri" pitchFamily="34" charset="0"/>
                <a:ea typeface="Calibri" pitchFamily="34" charset="-122"/>
                <a:cs typeface="Calibri" pitchFamily="34" charset="-120"/>
              </a:rPr>
              <a:t>Grandmother</a:t>
            </a:r>
            <a:endParaRPr lang="en-US" sz="660" dirty="0"/>
          </a:p>
        </p:txBody>
      </p:sp>
      <p:sp>
        <p:nvSpPr>
          <p:cNvPr id="14" name="Text 12"/>
          <p:cNvSpPr txBox="1"/>
          <p:nvPr/>
        </p:nvSpPr>
        <p:spPr>
          <a:xfrm>
            <a:off x="2423160" y="1947672"/>
            <a:ext cx="1097280" cy="192786"/>
          </a:xfrm>
          <a:prstGeom prst="rect">
            <a:avLst/>
          </a:prstGeom>
          <a:noFill/>
          <a:ln/>
        </p:spPr>
        <p:txBody>
          <a:bodyPr wrap="square" lIns="0" tIns="0" rIns="0" bIns="0" rtlCol="0" anchor="t"/>
          <a:lstStyle/>
          <a:p>
            <a:pPr algn="ctr" indent="0" marL="0">
              <a:lnSpc>
                <a:spcPts val="858"/>
              </a:lnSpc>
              <a:buNone/>
            </a:pPr>
            <a:r>
              <a:rPr lang="en-US" sz="660" dirty="0">
                <a:solidFill>
                  <a:srgbClr val="5B544A"/>
                </a:solidFill>
                <a:latin typeface="Calibri" pitchFamily="34" charset="0"/>
                <a:ea typeface="Calibri" pitchFamily="34" charset="-122"/>
                <a:cs typeface="Calibri" pitchFamily="34" charset="-120"/>
              </a:rPr>
              <a:t>Grandfather</a:t>
            </a:r>
            <a:endParaRPr lang="en-US" sz="660" dirty="0"/>
          </a:p>
        </p:txBody>
      </p:sp>
      <p:sp>
        <p:nvSpPr>
          <p:cNvPr id="15" name="Shape 13"/>
          <p:cNvSpPr/>
          <p:nvPr/>
        </p:nvSpPr>
        <p:spPr>
          <a:xfrm>
            <a:off x="2606040" y="2487168"/>
            <a:ext cx="91" cy="466344"/>
          </a:xfrm>
          <a:prstGeom prst="line">
            <a:avLst/>
          </a:prstGeom>
          <a:noFill/>
          <a:ln w="10160">
            <a:solidFill>
              <a:srgbClr val="1B1815"/>
            </a:solidFill>
            <a:prstDash val="solid"/>
            <a:headEnd type="none"/>
            <a:tailEnd type="none"/>
          </a:ln>
        </p:spPr>
      </p:sp>
      <p:sp>
        <p:nvSpPr>
          <p:cNvPr id="16" name="Shape 14"/>
          <p:cNvSpPr/>
          <p:nvPr/>
        </p:nvSpPr>
        <p:spPr>
          <a:xfrm flipH="1">
            <a:off x="2240280" y="2953512"/>
            <a:ext cx="365760" cy="91"/>
          </a:xfrm>
          <a:prstGeom prst="line">
            <a:avLst/>
          </a:prstGeom>
          <a:noFill/>
          <a:ln w="10160">
            <a:solidFill>
              <a:srgbClr val="1B1815"/>
            </a:solidFill>
            <a:prstDash val="solid"/>
            <a:headEnd type="none"/>
            <a:tailEnd type="none"/>
          </a:ln>
        </p:spPr>
      </p:sp>
      <p:sp>
        <p:nvSpPr>
          <p:cNvPr id="17" name="Shape 15"/>
          <p:cNvSpPr/>
          <p:nvPr/>
        </p:nvSpPr>
        <p:spPr>
          <a:xfrm>
            <a:off x="2240280" y="2953512"/>
            <a:ext cx="91" cy="374904"/>
          </a:xfrm>
          <a:prstGeom prst="line">
            <a:avLst/>
          </a:prstGeom>
          <a:noFill/>
          <a:ln w="10160">
            <a:solidFill>
              <a:srgbClr val="1B1815"/>
            </a:solidFill>
            <a:prstDash val="solid"/>
            <a:headEnd type="none"/>
            <a:tailEnd type="none"/>
          </a:ln>
        </p:spPr>
      </p:sp>
      <p:sp>
        <p:nvSpPr>
          <p:cNvPr id="18" name="Shape 16"/>
          <p:cNvSpPr/>
          <p:nvPr/>
        </p:nvSpPr>
        <p:spPr>
          <a:xfrm>
            <a:off x="2066544" y="3328416"/>
            <a:ext cx="347472" cy="347472"/>
          </a:xfrm>
          <a:prstGeom prst="ellipse">
            <a:avLst/>
          </a:prstGeom>
          <a:solidFill>
            <a:srgbClr val="FBF7EF"/>
          </a:solidFill>
          <a:ln w="11430">
            <a:solidFill>
              <a:srgbClr val="1B1815"/>
            </a:solidFill>
            <a:prstDash val="solid"/>
          </a:ln>
        </p:spPr>
      </p:sp>
      <p:sp>
        <p:nvSpPr>
          <p:cNvPr id="19" name="Shape 17"/>
          <p:cNvSpPr/>
          <p:nvPr/>
        </p:nvSpPr>
        <p:spPr>
          <a:xfrm>
            <a:off x="2798064" y="3328416"/>
            <a:ext cx="347472" cy="347472"/>
          </a:xfrm>
          <a:prstGeom prst="rect">
            <a:avLst/>
          </a:prstGeom>
          <a:solidFill>
            <a:srgbClr val="FBF7EF"/>
          </a:solidFill>
          <a:ln w="11430">
            <a:solidFill>
              <a:srgbClr val="1B1815"/>
            </a:solidFill>
            <a:prstDash val="solid"/>
          </a:ln>
        </p:spPr>
      </p:sp>
      <p:sp>
        <p:nvSpPr>
          <p:cNvPr id="20" name="Shape 18"/>
          <p:cNvSpPr/>
          <p:nvPr/>
        </p:nvSpPr>
        <p:spPr>
          <a:xfrm>
            <a:off x="2414016" y="3502152"/>
            <a:ext cx="384048" cy="91"/>
          </a:xfrm>
          <a:prstGeom prst="line">
            <a:avLst/>
          </a:prstGeom>
          <a:noFill/>
          <a:ln w="11430">
            <a:solidFill>
              <a:srgbClr val="1B1815"/>
            </a:solidFill>
            <a:prstDash val="solid"/>
            <a:headEnd type="none"/>
            <a:tailEnd type="none"/>
          </a:ln>
        </p:spPr>
      </p:sp>
      <p:sp>
        <p:nvSpPr>
          <p:cNvPr id="21" name="Text 19"/>
          <p:cNvSpPr txBox="1"/>
          <p:nvPr/>
        </p:nvSpPr>
        <p:spPr>
          <a:xfrm>
            <a:off x="1188720" y="3410712"/>
            <a:ext cx="777240" cy="192786"/>
          </a:xfrm>
          <a:prstGeom prst="rect">
            <a:avLst/>
          </a:prstGeom>
          <a:noFill/>
          <a:ln/>
        </p:spPr>
        <p:txBody>
          <a:bodyPr wrap="square" lIns="0" tIns="0" rIns="0" bIns="0" rtlCol="0" anchor="t"/>
          <a:lstStyle/>
          <a:p>
            <a:pPr algn="r" indent="0" marL="0">
              <a:lnSpc>
                <a:spcPts val="858"/>
              </a:lnSpc>
              <a:buNone/>
            </a:pPr>
            <a:r>
              <a:rPr lang="en-US" sz="660" dirty="0">
                <a:solidFill>
                  <a:srgbClr val="5B544A"/>
                </a:solidFill>
                <a:latin typeface="Calibri" pitchFamily="34" charset="0"/>
                <a:ea typeface="Calibri" pitchFamily="34" charset="-122"/>
                <a:cs typeface="Calibri" pitchFamily="34" charset="-120"/>
              </a:rPr>
              <a:t>Mother, 44</a:t>
            </a:r>
            <a:endParaRPr lang="en-US" sz="660" dirty="0"/>
          </a:p>
        </p:txBody>
      </p:sp>
      <p:sp>
        <p:nvSpPr>
          <p:cNvPr id="22" name="Text 20"/>
          <p:cNvSpPr txBox="1"/>
          <p:nvPr/>
        </p:nvSpPr>
        <p:spPr>
          <a:xfrm>
            <a:off x="3246120" y="3410712"/>
            <a:ext cx="914400" cy="192786"/>
          </a:xfrm>
          <a:prstGeom prst="rect">
            <a:avLst/>
          </a:prstGeom>
          <a:noFill/>
          <a:ln/>
        </p:spPr>
        <p:txBody>
          <a:bodyPr wrap="square" lIns="0" tIns="0" rIns="0" bIns="0" rtlCol="0" anchor="t"/>
          <a:lstStyle/>
          <a:p>
            <a:pPr algn="l" indent="0" marL="0">
              <a:lnSpc>
                <a:spcPts val="858"/>
              </a:lnSpc>
              <a:buNone/>
            </a:pPr>
            <a:r>
              <a:rPr lang="en-US" sz="660" dirty="0">
                <a:solidFill>
                  <a:srgbClr val="5B544A"/>
                </a:solidFill>
                <a:latin typeface="Calibri" pitchFamily="34" charset="0"/>
                <a:ea typeface="Calibri" pitchFamily="34" charset="-122"/>
                <a:cs typeface="Calibri" pitchFamily="34" charset="-120"/>
              </a:rPr>
              <a:t>Father, 47</a:t>
            </a:r>
            <a:endParaRPr lang="en-US" sz="660" dirty="0"/>
          </a:p>
        </p:txBody>
      </p:sp>
      <p:sp>
        <p:nvSpPr>
          <p:cNvPr id="23" name="Shape 21"/>
          <p:cNvSpPr/>
          <p:nvPr/>
        </p:nvSpPr>
        <p:spPr>
          <a:xfrm>
            <a:off x="2606040" y="3675888"/>
            <a:ext cx="91" cy="557784"/>
          </a:xfrm>
          <a:prstGeom prst="line">
            <a:avLst/>
          </a:prstGeom>
          <a:noFill/>
          <a:ln w="10160">
            <a:solidFill>
              <a:srgbClr val="1B1815"/>
            </a:solidFill>
            <a:prstDash val="solid"/>
            <a:headEnd type="none"/>
            <a:tailEnd type="none"/>
          </a:ln>
        </p:spPr>
      </p:sp>
      <p:sp>
        <p:nvSpPr>
          <p:cNvPr id="24" name="Shape 22"/>
          <p:cNvSpPr/>
          <p:nvPr/>
        </p:nvSpPr>
        <p:spPr>
          <a:xfrm>
            <a:off x="1691640" y="4233672"/>
            <a:ext cx="1463040" cy="91"/>
          </a:xfrm>
          <a:prstGeom prst="line">
            <a:avLst/>
          </a:prstGeom>
          <a:noFill/>
          <a:ln w="10160">
            <a:solidFill>
              <a:srgbClr val="1B1815"/>
            </a:solidFill>
            <a:prstDash val="solid"/>
            <a:headEnd type="none"/>
            <a:tailEnd type="none"/>
          </a:ln>
        </p:spPr>
      </p:sp>
      <p:sp>
        <p:nvSpPr>
          <p:cNvPr id="25" name="Shape 23"/>
          <p:cNvSpPr/>
          <p:nvPr/>
        </p:nvSpPr>
        <p:spPr>
          <a:xfrm>
            <a:off x="1691640" y="4233672"/>
            <a:ext cx="91" cy="283464"/>
          </a:xfrm>
          <a:prstGeom prst="line">
            <a:avLst/>
          </a:prstGeom>
          <a:noFill/>
          <a:ln w="10160">
            <a:solidFill>
              <a:srgbClr val="1B1815"/>
            </a:solidFill>
            <a:prstDash val="solid"/>
            <a:headEnd type="none"/>
            <a:tailEnd type="none"/>
          </a:ln>
        </p:spPr>
      </p:sp>
      <p:sp>
        <p:nvSpPr>
          <p:cNvPr id="26" name="Shape 24"/>
          <p:cNvSpPr/>
          <p:nvPr/>
        </p:nvSpPr>
        <p:spPr>
          <a:xfrm>
            <a:off x="1517904" y="4517136"/>
            <a:ext cx="347472" cy="347472"/>
          </a:xfrm>
          <a:prstGeom prst="ellipse">
            <a:avLst/>
          </a:prstGeom>
          <a:solidFill>
            <a:srgbClr val="FBF7EF"/>
          </a:solidFill>
          <a:ln w="11430">
            <a:solidFill>
              <a:srgbClr val="1B1815"/>
            </a:solidFill>
            <a:prstDash val="solid"/>
          </a:ln>
        </p:spPr>
      </p:sp>
      <p:sp>
        <p:nvSpPr>
          <p:cNvPr id="27" name="Shape 25"/>
          <p:cNvSpPr/>
          <p:nvPr/>
        </p:nvSpPr>
        <p:spPr>
          <a:xfrm>
            <a:off x="2423160" y="4233672"/>
            <a:ext cx="91" cy="283464"/>
          </a:xfrm>
          <a:prstGeom prst="line">
            <a:avLst/>
          </a:prstGeom>
          <a:noFill/>
          <a:ln w="10160">
            <a:solidFill>
              <a:srgbClr val="1B1815"/>
            </a:solidFill>
            <a:prstDash val="solid"/>
            <a:headEnd type="none"/>
            <a:tailEnd type="none"/>
          </a:ln>
        </p:spPr>
      </p:sp>
      <p:sp>
        <p:nvSpPr>
          <p:cNvPr id="28" name="Shape 26"/>
          <p:cNvSpPr/>
          <p:nvPr/>
        </p:nvSpPr>
        <p:spPr>
          <a:xfrm>
            <a:off x="2249424" y="4517136"/>
            <a:ext cx="347472" cy="347472"/>
          </a:xfrm>
          <a:prstGeom prst="rect">
            <a:avLst/>
          </a:prstGeom>
          <a:solidFill>
            <a:srgbClr val="FBF7EF"/>
          </a:solidFill>
          <a:ln w="11430">
            <a:solidFill>
              <a:srgbClr val="1B1815"/>
            </a:solidFill>
            <a:prstDash val="solid"/>
          </a:ln>
        </p:spPr>
      </p:sp>
      <p:sp>
        <p:nvSpPr>
          <p:cNvPr id="29" name="Shape 27"/>
          <p:cNvSpPr/>
          <p:nvPr/>
        </p:nvSpPr>
        <p:spPr>
          <a:xfrm>
            <a:off x="3154680" y="4233672"/>
            <a:ext cx="91" cy="283464"/>
          </a:xfrm>
          <a:prstGeom prst="line">
            <a:avLst/>
          </a:prstGeom>
          <a:noFill/>
          <a:ln w="10160">
            <a:solidFill>
              <a:srgbClr val="1B1815"/>
            </a:solidFill>
            <a:prstDash val="solid"/>
            <a:headEnd type="none"/>
            <a:tailEnd type="none"/>
          </a:ln>
        </p:spPr>
      </p:sp>
      <p:sp>
        <p:nvSpPr>
          <p:cNvPr id="30" name="Shape 28"/>
          <p:cNvSpPr/>
          <p:nvPr/>
        </p:nvSpPr>
        <p:spPr>
          <a:xfrm>
            <a:off x="2980944" y="4517136"/>
            <a:ext cx="347472" cy="347472"/>
          </a:xfrm>
          <a:prstGeom prst="ellipse">
            <a:avLst/>
          </a:prstGeom>
          <a:solidFill>
            <a:srgbClr val="FBF7EF"/>
          </a:solidFill>
          <a:ln w="11430">
            <a:solidFill>
              <a:srgbClr val="1B1815"/>
            </a:solidFill>
            <a:prstDash val="solid"/>
          </a:ln>
        </p:spPr>
      </p:sp>
      <p:sp>
        <p:nvSpPr>
          <p:cNvPr id="31" name="Shape 29"/>
          <p:cNvSpPr/>
          <p:nvPr/>
        </p:nvSpPr>
        <p:spPr>
          <a:xfrm>
            <a:off x="2944368" y="4480560"/>
            <a:ext cx="420624" cy="420624"/>
          </a:xfrm>
          <a:prstGeom prst="rect">
            <a:avLst/>
          </a:prstGeom>
          <a:solidFill>
            <a:srgbClr val="FFFFFF">
              <a:alpha val="0"/>
            </a:srgbClr>
          </a:solidFill>
          <a:ln w="7620">
            <a:solidFill>
              <a:srgbClr val="1B1815"/>
            </a:solidFill>
            <a:prstDash val="solid"/>
          </a:ln>
        </p:spPr>
      </p:sp>
      <p:sp>
        <p:nvSpPr>
          <p:cNvPr id="32" name="Text 30"/>
          <p:cNvSpPr txBox="1"/>
          <p:nvPr/>
        </p:nvSpPr>
        <p:spPr>
          <a:xfrm>
            <a:off x="1188720" y="4937760"/>
            <a:ext cx="1005840" cy="192786"/>
          </a:xfrm>
          <a:prstGeom prst="rect">
            <a:avLst/>
          </a:prstGeom>
          <a:noFill/>
          <a:ln/>
        </p:spPr>
        <p:txBody>
          <a:bodyPr wrap="square" lIns="0" tIns="0" rIns="0" bIns="0" rtlCol="0" anchor="t"/>
          <a:lstStyle/>
          <a:p>
            <a:pPr algn="ctr" indent="0" marL="0">
              <a:lnSpc>
                <a:spcPts val="858"/>
              </a:lnSpc>
              <a:buNone/>
            </a:pPr>
            <a:r>
              <a:rPr lang="en-US" sz="660" dirty="0">
                <a:solidFill>
                  <a:srgbClr val="5B544A"/>
                </a:solidFill>
                <a:latin typeface="Calibri" pitchFamily="34" charset="0"/>
                <a:ea typeface="Calibri" pitchFamily="34" charset="-122"/>
                <a:cs typeface="Calibri" pitchFamily="34" charset="-120"/>
              </a:rPr>
              <a:t>Daughter, 17</a:t>
            </a:r>
            <a:endParaRPr lang="en-US" sz="660" dirty="0"/>
          </a:p>
        </p:txBody>
      </p:sp>
      <p:sp>
        <p:nvSpPr>
          <p:cNvPr id="33" name="Text 31"/>
          <p:cNvSpPr txBox="1"/>
          <p:nvPr/>
        </p:nvSpPr>
        <p:spPr>
          <a:xfrm>
            <a:off x="1920240" y="4937760"/>
            <a:ext cx="1005840" cy="192786"/>
          </a:xfrm>
          <a:prstGeom prst="rect">
            <a:avLst/>
          </a:prstGeom>
          <a:noFill/>
          <a:ln/>
        </p:spPr>
        <p:txBody>
          <a:bodyPr wrap="square" lIns="0" tIns="0" rIns="0" bIns="0" rtlCol="0" anchor="t"/>
          <a:lstStyle/>
          <a:p>
            <a:pPr algn="ctr" indent="0" marL="0">
              <a:lnSpc>
                <a:spcPts val="858"/>
              </a:lnSpc>
              <a:buNone/>
            </a:pPr>
            <a:r>
              <a:rPr lang="en-US" sz="660" dirty="0">
                <a:solidFill>
                  <a:srgbClr val="5B544A"/>
                </a:solidFill>
                <a:latin typeface="Calibri" pitchFamily="34" charset="0"/>
                <a:ea typeface="Calibri" pitchFamily="34" charset="-122"/>
                <a:cs typeface="Calibri" pitchFamily="34" charset="-120"/>
              </a:rPr>
              <a:t>Son, 14</a:t>
            </a:r>
            <a:endParaRPr lang="en-US" sz="660" dirty="0"/>
          </a:p>
        </p:txBody>
      </p:sp>
      <p:sp>
        <p:nvSpPr>
          <p:cNvPr id="34" name="Text 32"/>
          <p:cNvSpPr txBox="1"/>
          <p:nvPr/>
        </p:nvSpPr>
        <p:spPr>
          <a:xfrm>
            <a:off x="2651760" y="4992624"/>
            <a:ext cx="1005840" cy="268224"/>
          </a:xfrm>
          <a:prstGeom prst="rect">
            <a:avLst/>
          </a:prstGeom>
          <a:noFill/>
          <a:ln/>
        </p:spPr>
        <p:txBody>
          <a:bodyPr wrap="square" lIns="0" tIns="0" rIns="0" bIns="0" rtlCol="0" anchor="t"/>
          <a:lstStyle/>
          <a:p>
            <a:pPr algn="ctr" indent="0" marL="0">
              <a:lnSpc>
                <a:spcPts val="726"/>
              </a:lnSpc>
              <a:buNone/>
            </a:pPr>
            <a:r>
              <a:rPr lang="en-US" sz="660" dirty="0">
                <a:solidFill>
                  <a:srgbClr val="96733C"/>
                </a:solidFill>
                <a:latin typeface="Calibri" pitchFamily="34" charset="0"/>
                <a:ea typeface="Calibri" pitchFamily="34" charset="-122"/>
                <a:cs typeface="Calibri" pitchFamily="34" charset="-120"/>
              </a:rPr>
              <a:t>Daughter, 9</a:t>
            </a:r>
            <a:endParaRPr lang="en-US" sz="660" dirty="0"/>
          </a:p>
          <a:p>
            <a:pPr algn="ctr" indent="0" marL="0">
              <a:lnSpc>
                <a:spcPts val="726"/>
              </a:lnSpc>
              <a:buNone/>
            </a:pPr>
            <a:r>
              <a:rPr lang="en-US" sz="660" dirty="0">
                <a:solidFill>
                  <a:srgbClr val="96733C"/>
                </a:solidFill>
                <a:latin typeface="Calibri" pitchFamily="34" charset="0"/>
                <a:ea typeface="Calibri" pitchFamily="34" charset="-122"/>
                <a:cs typeface="Calibri" pitchFamily="34" charset="-120"/>
              </a:rPr>
              <a:t>IP</a:t>
            </a:r>
            <a:endParaRPr lang="en-US" sz="660" dirty="0"/>
          </a:p>
        </p:txBody>
      </p:sp>
      <p:sp>
        <p:nvSpPr>
          <p:cNvPr id="35" name="Shape 33"/>
          <p:cNvSpPr/>
          <p:nvPr/>
        </p:nvSpPr>
        <p:spPr>
          <a:xfrm flipH="1">
            <a:off x="1789353" y="3671393"/>
            <a:ext cx="403029" cy="873230"/>
          </a:xfrm>
          <a:prstGeom prst="line">
            <a:avLst/>
          </a:prstGeom>
          <a:noFill/>
          <a:ln w="6350">
            <a:solidFill>
              <a:srgbClr val="6E8274">
                <a:alpha val="90000"/>
              </a:srgbClr>
            </a:solidFill>
            <a:prstDash val="solid"/>
            <a:headEnd type="none"/>
            <a:tailEnd type="none"/>
          </a:ln>
        </p:spPr>
      </p:sp>
      <p:sp>
        <p:nvSpPr>
          <p:cNvPr id="36" name="Shape 34"/>
          <p:cNvSpPr/>
          <p:nvPr/>
        </p:nvSpPr>
        <p:spPr>
          <a:xfrm flipH="1">
            <a:off x="1764445" y="3659897"/>
            <a:ext cx="403029" cy="873230"/>
          </a:xfrm>
          <a:prstGeom prst="line">
            <a:avLst/>
          </a:prstGeom>
          <a:noFill/>
          <a:ln w="6350">
            <a:solidFill>
              <a:srgbClr val="6E8274">
                <a:alpha val="90000"/>
              </a:srgbClr>
            </a:solidFill>
            <a:prstDash val="solid"/>
            <a:headEnd type="none"/>
            <a:tailEnd type="none"/>
          </a:ln>
        </p:spPr>
      </p:sp>
      <p:sp>
        <p:nvSpPr>
          <p:cNvPr id="37" name="Shape 35"/>
          <p:cNvSpPr/>
          <p:nvPr/>
        </p:nvSpPr>
        <p:spPr>
          <a:xfrm flipH="1">
            <a:off x="1739538" y="3648402"/>
            <a:ext cx="403029" cy="873230"/>
          </a:xfrm>
          <a:prstGeom prst="line">
            <a:avLst/>
          </a:prstGeom>
          <a:noFill/>
          <a:ln w="6350">
            <a:solidFill>
              <a:srgbClr val="6E8274">
                <a:alpha val="90000"/>
              </a:srgbClr>
            </a:solidFill>
            <a:prstDash val="solid"/>
            <a:headEnd type="none"/>
            <a:tailEnd type="none"/>
          </a:ln>
        </p:spPr>
      </p:sp>
      <p:sp>
        <p:nvSpPr>
          <p:cNvPr id="38" name="Shape 36"/>
          <p:cNvSpPr/>
          <p:nvPr/>
        </p:nvSpPr>
        <p:spPr>
          <a:xfrm>
            <a:off x="2606040" y="3547872"/>
            <a:ext cx="82296" cy="91440"/>
          </a:xfrm>
          <a:prstGeom prst="line">
            <a:avLst/>
          </a:prstGeom>
          <a:noFill/>
          <a:ln w="12700">
            <a:solidFill>
              <a:srgbClr val="A96A45"/>
            </a:solidFill>
            <a:prstDash val="solid"/>
            <a:headEnd type="none"/>
            <a:tailEnd type="none"/>
          </a:ln>
        </p:spPr>
      </p:sp>
      <p:sp>
        <p:nvSpPr>
          <p:cNvPr id="39" name="Shape 37"/>
          <p:cNvSpPr/>
          <p:nvPr/>
        </p:nvSpPr>
        <p:spPr>
          <a:xfrm flipH="1">
            <a:off x="2551176" y="3529584"/>
            <a:ext cx="137160" cy="155448"/>
          </a:xfrm>
          <a:prstGeom prst="line">
            <a:avLst/>
          </a:prstGeom>
          <a:noFill/>
          <a:ln w="12700">
            <a:solidFill>
              <a:srgbClr val="A96A45"/>
            </a:solidFill>
            <a:prstDash val="solid"/>
            <a:headEnd type="none"/>
            <a:tailEnd type="none"/>
          </a:ln>
        </p:spPr>
      </p:sp>
      <p:sp>
        <p:nvSpPr>
          <p:cNvPr id="40" name="Shape 38"/>
          <p:cNvSpPr/>
          <p:nvPr/>
        </p:nvSpPr>
        <p:spPr>
          <a:xfrm>
            <a:off x="4983480" y="1947672"/>
            <a:ext cx="4206240" cy="3401568"/>
          </a:xfrm>
          <a:prstGeom prst="roundRect">
            <a:avLst>
              <a:gd name="adj" fmla="val 325"/>
            </a:avLst>
          </a:prstGeom>
          <a:solidFill>
            <a:srgbClr val="FDFAF3"/>
          </a:solidFill>
          <a:ln w="8890">
            <a:solidFill>
              <a:srgbClr val="D9CDB7"/>
            </a:solidFill>
            <a:prstDash val="solid"/>
          </a:ln>
        </p:spPr>
      </p:sp>
      <p:sp>
        <p:nvSpPr>
          <p:cNvPr id="41" name="Text 39"/>
          <p:cNvSpPr txBox="1"/>
          <p:nvPr/>
        </p:nvSpPr>
        <p:spPr>
          <a:xfrm>
            <a:off x="5184648" y="2084832"/>
            <a:ext cx="3840480" cy="350520"/>
          </a:xfrm>
          <a:prstGeom prst="rect">
            <a:avLst/>
          </a:prstGeom>
          <a:noFill/>
          <a:ln/>
        </p:spPr>
        <p:txBody>
          <a:bodyPr wrap="square" lIns="0" tIns="0" rIns="0" bIns="0" rtlCol="0" anchor="t"/>
          <a:lstStyle/>
          <a:p>
            <a:pPr algn="l" indent="0" marL="0">
              <a:lnSpc>
                <a:spcPts val="1560"/>
              </a:lnSpc>
              <a:buNone/>
            </a:pPr>
            <a:r>
              <a:rPr lang="en-US" sz="1200" dirty="0">
                <a:solidFill>
                  <a:srgbClr val="1B1815"/>
                </a:solidFill>
                <a:latin typeface="Georgia" pitchFamily="34" charset="0"/>
                <a:ea typeface="Georgia" pitchFamily="34" charset="-122"/>
                <a:cs typeface="Georgia" pitchFamily="34" charset="-120"/>
              </a:rPr>
              <a:t>Genogram conventions</a:t>
            </a:r>
            <a:endParaRPr lang="en-US" sz="1200" dirty="0"/>
          </a:p>
        </p:txBody>
      </p:sp>
      <p:sp>
        <p:nvSpPr>
          <p:cNvPr id="42" name="Shape 40"/>
          <p:cNvSpPr/>
          <p:nvPr/>
        </p:nvSpPr>
        <p:spPr>
          <a:xfrm>
            <a:off x="5225796" y="2400300"/>
            <a:ext cx="137160" cy="137160"/>
          </a:xfrm>
          <a:prstGeom prst="rect">
            <a:avLst/>
          </a:prstGeom>
          <a:solidFill>
            <a:srgbClr val="FBF7EF"/>
          </a:solidFill>
          <a:ln w="8890">
            <a:solidFill>
              <a:srgbClr val="1B1815"/>
            </a:solidFill>
            <a:prstDash val="solid"/>
          </a:ln>
        </p:spPr>
      </p:sp>
      <p:sp>
        <p:nvSpPr>
          <p:cNvPr id="43" name="Text 41"/>
          <p:cNvSpPr txBox="1"/>
          <p:nvPr/>
        </p:nvSpPr>
        <p:spPr>
          <a:xfrm>
            <a:off x="5568696" y="2409444"/>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male</a:t>
            </a:r>
            <a:endParaRPr lang="en-US" sz="820" dirty="0"/>
          </a:p>
        </p:txBody>
      </p:sp>
      <p:sp>
        <p:nvSpPr>
          <p:cNvPr id="44" name="Shape 42"/>
          <p:cNvSpPr/>
          <p:nvPr/>
        </p:nvSpPr>
        <p:spPr>
          <a:xfrm>
            <a:off x="5225796" y="2729484"/>
            <a:ext cx="137160" cy="137160"/>
          </a:xfrm>
          <a:prstGeom prst="ellipse">
            <a:avLst/>
          </a:prstGeom>
          <a:solidFill>
            <a:srgbClr val="FBF7EF"/>
          </a:solidFill>
          <a:ln w="8890">
            <a:solidFill>
              <a:srgbClr val="1B1815"/>
            </a:solidFill>
            <a:prstDash val="solid"/>
          </a:ln>
        </p:spPr>
      </p:sp>
      <p:sp>
        <p:nvSpPr>
          <p:cNvPr id="45" name="Text 43"/>
          <p:cNvSpPr txBox="1"/>
          <p:nvPr/>
        </p:nvSpPr>
        <p:spPr>
          <a:xfrm>
            <a:off x="5568696" y="2738628"/>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female</a:t>
            </a:r>
            <a:endParaRPr lang="en-US" sz="820" dirty="0"/>
          </a:p>
        </p:txBody>
      </p:sp>
      <p:sp>
        <p:nvSpPr>
          <p:cNvPr id="46" name="Shape 44"/>
          <p:cNvSpPr/>
          <p:nvPr/>
        </p:nvSpPr>
        <p:spPr>
          <a:xfrm>
            <a:off x="5221224" y="3054096"/>
            <a:ext cx="146304" cy="146304"/>
          </a:xfrm>
          <a:prstGeom prst="rect">
            <a:avLst/>
          </a:prstGeom>
          <a:solidFill>
            <a:srgbClr val="FFFFFF">
              <a:alpha val="0"/>
            </a:srgbClr>
          </a:solidFill>
          <a:ln w="6985">
            <a:solidFill>
              <a:srgbClr val="1B1815"/>
            </a:solidFill>
            <a:prstDash val="solid"/>
          </a:ln>
        </p:spPr>
      </p:sp>
      <p:sp>
        <p:nvSpPr>
          <p:cNvPr id="47" name="Shape 45"/>
          <p:cNvSpPr/>
          <p:nvPr/>
        </p:nvSpPr>
        <p:spPr>
          <a:xfrm>
            <a:off x="5244084" y="3076956"/>
            <a:ext cx="100584" cy="100584"/>
          </a:xfrm>
          <a:prstGeom prst="rect">
            <a:avLst/>
          </a:prstGeom>
          <a:solidFill>
            <a:srgbClr val="FFFFFF">
              <a:alpha val="0"/>
            </a:srgbClr>
          </a:solidFill>
          <a:ln w="6985">
            <a:solidFill>
              <a:srgbClr val="1B1815"/>
            </a:solidFill>
            <a:prstDash val="solid"/>
          </a:ln>
        </p:spPr>
      </p:sp>
      <p:sp>
        <p:nvSpPr>
          <p:cNvPr id="48" name="Text 46"/>
          <p:cNvSpPr txBox="1"/>
          <p:nvPr/>
        </p:nvSpPr>
        <p:spPr>
          <a:xfrm>
            <a:off x="5568696" y="3067812"/>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index patient</a:t>
            </a:r>
            <a:endParaRPr lang="en-US" sz="820" dirty="0"/>
          </a:p>
        </p:txBody>
      </p:sp>
      <p:sp>
        <p:nvSpPr>
          <p:cNvPr id="49" name="Shape 47"/>
          <p:cNvSpPr/>
          <p:nvPr/>
        </p:nvSpPr>
        <p:spPr>
          <a:xfrm>
            <a:off x="5225796" y="3387852"/>
            <a:ext cx="137160" cy="137160"/>
          </a:xfrm>
          <a:prstGeom prst="rect">
            <a:avLst/>
          </a:prstGeom>
          <a:solidFill>
            <a:srgbClr val="FBF7EF"/>
          </a:solidFill>
          <a:ln w="8890">
            <a:solidFill>
              <a:srgbClr val="1B1815"/>
            </a:solidFill>
            <a:prstDash val="solid"/>
          </a:ln>
        </p:spPr>
      </p:sp>
      <p:sp>
        <p:nvSpPr>
          <p:cNvPr id="50" name="Shape 48"/>
          <p:cNvSpPr/>
          <p:nvPr/>
        </p:nvSpPr>
        <p:spPr>
          <a:xfrm>
            <a:off x="5225796" y="3387852"/>
            <a:ext cx="137160" cy="137160"/>
          </a:xfrm>
          <a:prstGeom prst="line">
            <a:avLst/>
          </a:prstGeom>
          <a:noFill/>
          <a:ln w="7620">
            <a:solidFill>
              <a:srgbClr val="1B1815"/>
            </a:solidFill>
            <a:prstDash val="solid"/>
            <a:headEnd type="none"/>
            <a:tailEnd type="none"/>
          </a:ln>
        </p:spPr>
      </p:sp>
      <p:sp>
        <p:nvSpPr>
          <p:cNvPr id="51" name="Shape 49"/>
          <p:cNvSpPr/>
          <p:nvPr/>
        </p:nvSpPr>
        <p:spPr>
          <a:xfrm flipV="1">
            <a:off x="5225796" y="3387852"/>
            <a:ext cx="137160" cy="137160"/>
          </a:xfrm>
          <a:prstGeom prst="line">
            <a:avLst/>
          </a:prstGeom>
          <a:noFill/>
          <a:ln w="7620">
            <a:solidFill>
              <a:srgbClr val="1B1815"/>
            </a:solidFill>
            <a:prstDash val="solid"/>
            <a:headEnd type="none"/>
            <a:tailEnd type="none"/>
          </a:ln>
        </p:spPr>
      </p:sp>
      <p:sp>
        <p:nvSpPr>
          <p:cNvPr id="52" name="Text 50"/>
          <p:cNvSpPr txBox="1"/>
          <p:nvPr/>
        </p:nvSpPr>
        <p:spPr>
          <a:xfrm>
            <a:off x="5568696" y="3396996"/>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deceased</a:t>
            </a:r>
            <a:endParaRPr lang="en-US" sz="820" dirty="0"/>
          </a:p>
        </p:txBody>
      </p:sp>
      <p:sp>
        <p:nvSpPr>
          <p:cNvPr id="53" name="Shape 51"/>
          <p:cNvSpPr/>
          <p:nvPr/>
        </p:nvSpPr>
        <p:spPr>
          <a:xfrm>
            <a:off x="5166360" y="3762756"/>
            <a:ext cx="256032" cy="91"/>
          </a:xfrm>
          <a:prstGeom prst="line">
            <a:avLst/>
          </a:prstGeom>
          <a:noFill/>
          <a:ln w="7620">
            <a:solidFill>
              <a:srgbClr val="1B1815"/>
            </a:solidFill>
            <a:prstDash val="solid"/>
            <a:headEnd type="none"/>
            <a:tailEnd type="none"/>
          </a:ln>
        </p:spPr>
      </p:sp>
      <p:sp>
        <p:nvSpPr>
          <p:cNvPr id="54" name="Shape 52"/>
          <p:cNvSpPr/>
          <p:nvPr/>
        </p:nvSpPr>
        <p:spPr>
          <a:xfrm>
            <a:off x="5166360" y="3813048"/>
            <a:ext cx="256032" cy="91"/>
          </a:xfrm>
          <a:prstGeom prst="line">
            <a:avLst/>
          </a:prstGeom>
          <a:noFill/>
          <a:ln w="7620">
            <a:solidFill>
              <a:srgbClr val="1B1815"/>
            </a:solidFill>
            <a:prstDash val="solid"/>
            <a:headEnd type="none"/>
            <a:tailEnd type="none"/>
          </a:ln>
        </p:spPr>
      </p:sp>
      <p:sp>
        <p:nvSpPr>
          <p:cNvPr id="55" name="Text 53"/>
          <p:cNvSpPr txBox="1"/>
          <p:nvPr/>
        </p:nvSpPr>
        <p:spPr>
          <a:xfrm>
            <a:off x="5568696" y="3726180"/>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marriage</a:t>
            </a:r>
            <a:endParaRPr lang="en-US" sz="820" dirty="0"/>
          </a:p>
        </p:txBody>
      </p:sp>
      <p:sp>
        <p:nvSpPr>
          <p:cNvPr id="56" name="Shape 54"/>
          <p:cNvSpPr/>
          <p:nvPr/>
        </p:nvSpPr>
        <p:spPr>
          <a:xfrm>
            <a:off x="5166360" y="4069080"/>
            <a:ext cx="82296" cy="82296"/>
          </a:xfrm>
          <a:prstGeom prst="line">
            <a:avLst/>
          </a:prstGeom>
          <a:noFill/>
          <a:ln w="11430">
            <a:solidFill>
              <a:srgbClr val="A96A45"/>
            </a:solidFill>
            <a:prstDash val="solid"/>
            <a:headEnd type="none"/>
            <a:tailEnd type="none"/>
          </a:ln>
        </p:spPr>
      </p:sp>
      <p:sp>
        <p:nvSpPr>
          <p:cNvPr id="57" name="Shape 55"/>
          <p:cNvSpPr/>
          <p:nvPr/>
        </p:nvSpPr>
        <p:spPr>
          <a:xfrm flipV="1">
            <a:off x="5248656" y="4069080"/>
            <a:ext cx="82296" cy="82296"/>
          </a:xfrm>
          <a:prstGeom prst="line">
            <a:avLst/>
          </a:prstGeom>
          <a:noFill/>
          <a:ln w="11430">
            <a:solidFill>
              <a:srgbClr val="A96A45"/>
            </a:solidFill>
            <a:prstDash val="solid"/>
            <a:headEnd type="none"/>
            <a:tailEnd type="none"/>
          </a:ln>
        </p:spPr>
      </p:sp>
      <p:sp>
        <p:nvSpPr>
          <p:cNvPr id="58" name="Shape 56"/>
          <p:cNvSpPr/>
          <p:nvPr/>
        </p:nvSpPr>
        <p:spPr>
          <a:xfrm>
            <a:off x="5330952" y="4069080"/>
            <a:ext cx="73152" cy="82296"/>
          </a:xfrm>
          <a:prstGeom prst="line">
            <a:avLst/>
          </a:prstGeom>
          <a:noFill/>
          <a:ln w="11430">
            <a:solidFill>
              <a:srgbClr val="A96A45"/>
            </a:solidFill>
            <a:prstDash val="solid"/>
            <a:headEnd type="none"/>
            <a:tailEnd type="none"/>
          </a:ln>
        </p:spPr>
      </p:sp>
      <p:sp>
        <p:nvSpPr>
          <p:cNvPr id="59" name="Text 57"/>
          <p:cNvSpPr txBox="1"/>
          <p:nvPr/>
        </p:nvSpPr>
        <p:spPr>
          <a:xfrm>
            <a:off x="5568696" y="4055364"/>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conflict</a:t>
            </a:r>
            <a:endParaRPr lang="en-US" sz="820" dirty="0"/>
          </a:p>
        </p:txBody>
      </p:sp>
      <p:sp>
        <p:nvSpPr>
          <p:cNvPr id="60" name="Shape 58"/>
          <p:cNvSpPr/>
          <p:nvPr/>
        </p:nvSpPr>
        <p:spPr>
          <a:xfrm>
            <a:off x="5166360" y="4411980"/>
            <a:ext cx="256032" cy="91"/>
          </a:xfrm>
          <a:prstGeom prst="line">
            <a:avLst/>
          </a:prstGeom>
          <a:noFill/>
          <a:ln w="6350">
            <a:solidFill>
              <a:srgbClr val="6E8274"/>
            </a:solidFill>
            <a:prstDash val="solid"/>
            <a:headEnd type="none"/>
            <a:tailEnd type="none"/>
          </a:ln>
        </p:spPr>
      </p:sp>
      <p:sp>
        <p:nvSpPr>
          <p:cNvPr id="61" name="Shape 59"/>
          <p:cNvSpPr/>
          <p:nvPr/>
        </p:nvSpPr>
        <p:spPr>
          <a:xfrm>
            <a:off x="5166360" y="4443984"/>
            <a:ext cx="256032" cy="91"/>
          </a:xfrm>
          <a:prstGeom prst="line">
            <a:avLst/>
          </a:prstGeom>
          <a:noFill/>
          <a:ln w="6350">
            <a:solidFill>
              <a:srgbClr val="6E8274"/>
            </a:solidFill>
            <a:prstDash val="solid"/>
            <a:headEnd type="none"/>
            <a:tailEnd type="none"/>
          </a:ln>
        </p:spPr>
      </p:sp>
      <p:sp>
        <p:nvSpPr>
          <p:cNvPr id="62" name="Shape 60"/>
          <p:cNvSpPr/>
          <p:nvPr/>
        </p:nvSpPr>
        <p:spPr>
          <a:xfrm>
            <a:off x="5166360" y="4475988"/>
            <a:ext cx="256032" cy="91"/>
          </a:xfrm>
          <a:prstGeom prst="line">
            <a:avLst/>
          </a:prstGeom>
          <a:noFill/>
          <a:ln w="6350">
            <a:solidFill>
              <a:srgbClr val="6E8274"/>
            </a:solidFill>
            <a:prstDash val="solid"/>
            <a:headEnd type="none"/>
            <a:tailEnd type="none"/>
          </a:ln>
        </p:spPr>
      </p:sp>
      <p:sp>
        <p:nvSpPr>
          <p:cNvPr id="63" name="Text 61"/>
          <p:cNvSpPr txBox="1"/>
          <p:nvPr/>
        </p:nvSpPr>
        <p:spPr>
          <a:xfrm>
            <a:off x="5568696" y="4384548"/>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close / fused</a:t>
            </a:r>
            <a:endParaRPr lang="en-US" sz="820" dirty="0"/>
          </a:p>
        </p:txBody>
      </p:sp>
      <p:sp>
        <p:nvSpPr>
          <p:cNvPr id="64" name="Shape 62"/>
          <p:cNvSpPr/>
          <p:nvPr/>
        </p:nvSpPr>
        <p:spPr>
          <a:xfrm>
            <a:off x="5157216" y="4773168"/>
            <a:ext cx="274320" cy="91"/>
          </a:xfrm>
          <a:prstGeom prst="line">
            <a:avLst/>
          </a:prstGeom>
          <a:noFill/>
          <a:ln w="6350">
            <a:solidFill>
              <a:srgbClr val="1B1815"/>
            </a:solidFill>
            <a:prstDash val="solid"/>
            <a:headEnd type="none"/>
            <a:tailEnd type="none"/>
          </a:ln>
        </p:spPr>
      </p:sp>
      <p:sp>
        <p:nvSpPr>
          <p:cNvPr id="65" name="Shape 63"/>
          <p:cNvSpPr/>
          <p:nvPr/>
        </p:nvSpPr>
        <p:spPr>
          <a:xfrm>
            <a:off x="5230368" y="4718304"/>
            <a:ext cx="54864" cy="109728"/>
          </a:xfrm>
          <a:prstGeom prst="line">
            <a:avLst/>
          </a:prstGeom>
          <a:noFill/>
          <a:ln w="10160">
            <a:solidFill>
              <a:srgbClr val="A96A45"/>
            </a:solidFill>
            <a:prstDash val="solid"/>
            <a:headEnd type="none"/>
            <a:tailEnd type="none"/>
          </a:ln>
        </p:spPr>
      </p:sp>
      <p:sp>
        <p:nvSpPr>
          <p:cNvPr id="66" name="Shape 64"/>
          <p:cNvSpPr/>
          <p:nvPr/>
        </p:nvSpPr>
        <p:spPr>
          <a:xfrm>
            <a:off x="5303520" y="4718304"/>
            <a:ext cx="54864" cy="109728"/>
          </a:xfrm>
          <a:prstGeom prst="line">
            <a:avLst/>
          </a:prstGeom>
          <a:noFill/>
          <a:ln w="10160">
            <a:solidFill>
              <a:srgbClr val="A96A45"/>
            </a:solidFill>
            <a:prstDash val="solid"/>
            <a:headEnd type="none"/>
            <a:tailEnd type="none"/>
          </a:ln>
        </p:spPr>
      </p:sp>
      <p:sp>
        <p:nvSpPr>
          <p:cNvPr id="67" name="Text 65"/>
          <p:cNvSpPr txBox="1"/>
          <p:nvPr/>
        </p:nvSpPr>
        <p:spPr>
          <a:xfrm>
            <a:off x="5568696" y="4713732"/>
            <a:ext cx="3200400" cy="239522"/>
          </a:xfrm>
          <a:prstGeom prst="rect">
            <a:avLst/>
          </a:prstGeom>
          <a:noFill/>
          <a:ln/>
        </p:spPr>
        <p:txBody>
          <a:bodyPr wrap="square" lIns="0" tIns="0" rIns="0" bIns="0" rtlCol="0" anchor="t"/>
          <a:lstStyle/>
          <a:p>
            <a:pPr algn="l" indent="0" marL="0">
              <a:lnSpc>
                <a:spcPts val="1066"/>
              </a:lnSpc>
              <a:buNone/>
            </a:pPr>
            <a:r>
              <a:rPr lang="en-US" sz="820" dirty="0">
                <a:solidFill>
                  <a:srgbClr val="3F3A33"/>
                </a:solidFill>
                <a:latin typeface="Calibri" pitchFamily="34" charset="0"/>
                <a:ea typeface="Calibri" pitchFamily="34" charset="-122"/>
                <a:cs typeface="Calibri" pitchFamily="34" charset="-120"/>
              </a:rPr>
              <a:t>cut-off</a:t>
            </a:r>
            <a:endParaRPr lang="en-US" sz="820" dirty="0"/>
          </a:p>
        </p:txBody>
      </p:sp>
      <p:sp>
        <p:nvSpPr>
          <p:cNvPr id="68" name="Text 66"/>
          <p:cNvSpPr txBox="1"/>
          <p:nvPr/>
        </p:nvSpPr>
        <p:spPr>
          <a:xfrm>
            <a:off x="5184648" y="4974336"/>
            <a:ext cx="3840480" cy="205931"/>
          </a:xfrm>
          <a:prstGeom prst="rect">
            <a:avLst/>
          </a:prstGeom>
          <a:noFill/>
          <a:ln/>
        </p:spPr>
        <p:txBody>
          <a:bodyPr wrap="square" lIns="0" tIns="0" rIns="0" bIns="0" rtlCol="0" anchor="t"/>
          <a:lstStyle/>
          <a:p>
            <a:pPr algn="l" indent="0" marL="0">
              <a:lnSpc>
                <a:spcPts val="932"/>
              </a:lnSpc>
              <a:buNone/>
            </a:pPr>
            <a:r>
              <a:rPr lang="en-US" sz="690" i="1" dirty="0">
                <a:solidFill>
                  <a:srgbClr val="5B544A"/>
                </a:solidFill>
                <a:latin typeface="Calibri" pitchFamily="34" charset="0"/>
                <a:ea typeface="Calibri" pitchFamily="34" charset="-122"/>
                <a:cs typeface="Calibri" pitchFamily="34" charset="-120"/>
              </a:rPr>
              <a:t>Three generations, one view: pattern, not blame.</a:t>
            </a:r>
            <a:endParaRPr lang="en-US" sz="690" dirty="0"/>
          </a:p>
        </p:txBody>
      </p:sp>
      <p:sp>
        <p:nvSpPr>
          <p:cNvPr id="69" name="Text 67"/>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Conventions after McGoldrick, Gerson &amp; Petry (2008).</a:t>
            </a:r>
            <a:endParaRPr lang="en-US" sz="74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10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49</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family who would not draw</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299818"/>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The parents decline the genogram: “We don’t talk about the past.” The 17-year-old asks whether</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their uncle is “the one nobody mentions”.</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genogram</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circular questioning</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interventive interviewing</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risk assessment</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the refusal protecting?</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How do you honour the boundary and stay curious?</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does the adolescent already know — and what is that</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knowledge doing?</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11 · PHASE III — THE CLINICAL ENCOUNTER</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11</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Ethics, Law and Professional</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Governance</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Whose confidence is it, when the client is a family?</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ethical complexity of the many</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Deciding what may be shared</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secret in the room</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Apply the AAMFT Code of Ethics to multi-client</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dilemmas.</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Manage confidentiality, secrets and record-sharing.</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Document ethical decisions defensibly.</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informed consent · confidentiality · duty to warn · competence · documentation</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AAMFT (2015), Code of Ethics · Corey, Corey &amp; Callanan (2019), ch. 6–8</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769352" y="5696712"/>
            <a:ext cx="128016" cy="128016"/>
          </a:xfrm>
          <a:prstGeom prst="ellipse">
            <a:avLst/>
          </a:prstGeom>
          <a:solidFill>
            <a:srgbClr val="C2A05F"/>
          </a:solidFill>
          <a:ln w="8890">
            <a:solidFill>
              <a:srgbClr val="E7D3A9"/>
            </a:solidFill>
            <a:prstDash val="solid"/>
          </a:ln>
        </p:spPr>
      </p:sp>
      <p:sp>
        <p:nvSpPr>
          <p:cNvPr id="38" name="Shape 36"/>
          <p:cNvSpPr/>
          <p:nvPr/>
        </p:nvSpPr>
        <p:spPr>
          <a:xfrm>
            <a:off x="8505139" y="5731459"/>
            <a:ext cx="58522" cy="58522"/>
          </a:xfrm>
          <a:prstGeom prst="ellipse">
            <a:avLst/>
          </a:prstGeom>
          <a:solidFill>
            <a:srgbClr val="1E1913"/>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11 · LECTURE 11</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51</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ethical complexity of the many</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Family therapy multiplies the number of people to whom the therapist owes a duty — and the number of ways those duties</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can collide.</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CONSENT IS CONTINUOUS</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Consent is not a signature at intake. It is a conversation renewed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whenever the system changes — a new partner, an adolescent,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court order.</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the client?</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has each member agreed to?</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changes when someone joins or leaves?</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CONFIDENTIALITY IS NOT SINGULAR</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Who owns the record? Who may see it? What happens to a secret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disclosed by one member? These questions must be answered before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they are urgent.</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Secrets within the system</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Records and third parties</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Limits required by law</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BOUNDARIES AND COMPETENCE</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Multiple relationships are endemic in small communities.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Competence is an ethical obligation, not a personal achievement.</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Recognise the limits of your training</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Seek supervision early</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Document the reasoning, not only the outcome</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AAMFT CODE</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Nonmaleficence first</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When duties conflict, the standard is the least harm and the most transparency achievable. Consultation is both</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a safeguard and an ethical practice.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AAMFT (2015); Corey, Corey &amp; Callanan</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(2019).</a:t>
            </a:r>
            <a:endParaRPr lang="en-US" sz="62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11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52</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Deciding what may be shared</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decision pathway for the most common ethical pressure in family work: the secret in the room.</a:t>
            </a:r>
            <a:endParaRPr lang="en-US" sz="1060" dirty="0"/>
          </a:p>
        </p:txBody>
      </p:sp>
      <p:sp>
        <p:nvSpPr>
          <p:cNvPr id="10" name="Shape 8"/>
          <p:cNvSpPr/>
          <p:nvPr/>
        </p:nvSpPr>
        <p:spPr>
          <a:xfrm>
            <a:off x="1074420" y="1901952"/>
            <a:ext cx="4160520" cy="658368"/>
          </a:xfrm>
          <a:prstGeom prst="roundRect">
            <a:avLst>
              <a:gd name="adj" fmla="val 8681"/>
            </a:avLst>
          </a:prstGeom>
          <a:solidFill>
            <a:srgbClr val="1B1815"/>
          </a:solidFill>
          <a:ln w="12700">
            <a:solidFill>
              <a:srgbClr val="FFFFFF">
                <a:alpha val="0"/>
              </a:srgbClr>
            </a:solidFill>
            <a:prstDash val="solid"/>
          </a:ln>
        </p:spPr>
      </p:sp>
      <p:sp>
        <p:nvSpPr>
          <p:cNvPr id="11" name="Text 9"/>
          <p:cNvSpPr txBox="1"/>
          <p:nvPr/>
        </p:nvSpPr>
        <p:spPr>
          <a:xfrm>
            <a:off x="1239012" y="2156524"/>
            <a:ext cx="3831336" cy="658368"/>
          </a:xfrm>
          <a:prstGeom prst="rect">
            <a:avLst/>
          </a:prstGeom>
          <a:noFill/>
          <a:ln/>
        </p:spPr>
        <p:txBody>
          <a:bodyPr wrap="square" lIns="0" tIns="0" rIns="0" bIns="0" rtlCol="0" anchor="t"/>
          <a:lstStyle/>
          <a:p>
            <a:pPr algn="ctr" indent="0" marL="0">
              <a:lnSpc>
                <a:spcPts val="1175"/>
              </a:lnSpc>
              <a:buNone/>
            </a:pPr>
            <a:r>
              <a:rPr lang="en-US" sz="940" dirty="0">
                <a:solidFill>
                  <a:srgbClr val="F8F3E9"/>
                </a:solidFill>
                <a:latin typeface="Calibri" pitchFamily="34" charset="0"/>
                <a:ea typeface="Calibri" pitchFamily="34" charset="-122"/>
                <a:cs typeface="Calibri" pitchFamily="34" charset="-120"/>
              </a:rPr>
              <a:t>A family member asks you to keep a secret from the others</a:t>
            </a:r>
            <a:endParaRPr lang="en-US" sz="940" dirty="0"/>
          </a:p>
        </p:txBody>
      </p:sp>
      <p:sp>
        <p:nvSpPr>
          <p:cNvPr id="12" name="Shape 10"/>
          <p:cNvSpPr/>
          <p:nvPr/>
        </p:nvSpPr>
        <p:spPr>
          <a:xfrm>
            <a:off x="1074420" y="2834640"/>
            <a:ext cx="4160520" cy="713232"/>
          </a:xfrm>
          <a:prstGeom prst="roundRect">
            <a:avLst>
              <a:gd name="adj" fmla="val 7396"/>
            </a:avLst>
          </a:prstGeom>
          <a:solidFill>
            <a:srgbClr val="EFE5D3"/>
          </a:solidFill>
          <a:ln w="8890">
            <a:solidFill>
              <a:srgbClr val="C2A05F"/>
            </a:solidFill>
            <a:prstDash val="solid"/>
          </a:ln>
        </p:spPr>
      </p:sp>
      <p:sp>
        <p:nvSpPr>
          <p:cNvPr id="13" name="Text 11"/>
          <p:cNvSpPr txBox="1"/>
          <p:nvPr/>
        </p:nvSpPr>
        <p:spPr>
          <a:xfrm>
            <a:off x="1239012" y="3118231"/>
            <a:ext cx="3831336" cy="713232"/>
          </a:xfrm>
          <a:prstGeom prst="rect">
            <a:avLst/>
          </a:prstGeom>
          <a:noFill/>
          <a:ln/>
        </p:spPr>
        <p:txBody>
          <a:bodyPr wrap="square" lIns="0" tIns="0" rIns="0" bIns="0" rtlCol="0" anchor="t"/>
          <a:lstStyle/>
          <a:p>
            <a:pPr algn="ctr" indent="0" marL="0">
              <a:lnSpc>
                <a:spcPts val="1150"/>
              </a:lnSpc>
              <a:buNone/>
            </a:pPr>
            <a:r>
              <a:rPr lang="en-US" sz="920" dirty="0">
                <a:solidFill>
                  <a:srgbClr val="1B1815"/>
                </a:solidFill>
                <a:latin typeface="Calibri" pitchFamily="34" charset="0"/>
                <a:ea typeface="Calibri" pitchFamily="34" charset="-122"/>
                <a:cs typeface="Calibri" pitchFamily="34" charset="-120"/>
              </a:rPr>
              <a:t>Is there a legal duty to disclose, or a serious risk of harm?</a:t>
            </a:r>
            <a:endParaRPr lang="en-US" sz="920" dirty="0"/>
          </a:p>
        </p:txBody>
      </p:sp>
      <p:sp>
        <p:nvSpPr>
          <p:cNvPr id="14" name="Shape 12"/>
          <p:cNvSpPr/>
          <p:nvPr/>
        </p:nvSpPr>
        <p:spPr>
          <a:xfrm>
            <a:off x="1074420" y="3858768"/>
            <a:ext cx="4160520" cy="713232"/>
          </a:xfrm>
          <a:prstGeom prst="roundRect">
            <a:avLst>
              <a:gd name="adj" fmla="val 7396"/>
            </a:avLst>
          </a:prstGeom>
          <a:solidFill>
            <a:srgbClr val="EFE5D3"/>
          </a:solidFill>
          <a:ln w="8890">
            <a:solidFill>
              <a:srgbClr val="C2A05F"/>
            </a:solidFill>
            <a:prstDash val="solid"/>
          </a:ln>
        </p:spPr>
      </p:sp>
      <p:sp>
        <p:nvSpPr>
          <p:cNvPr id="15" name="Text 13"/>
          <p:cNvSpPr txBox="1"/>
          <p:nvPr/>
        </p:nvSpPr>
        <p:spPr>
          <a:xfrm>
            <a:off x="1239012" y="4142359"/>
            <a:ext cx="3831336" cy="713232"/>
          </a:xfrm>
          <a:prstGeom prst="rect">
            <a:avLst/>
          </a:prstGeom>
          <a:noFill/>
          <a:ln/>
        </p:spPr>
        <p:txBody>
          <a:bodyPr wrap="square" lIns="0" tIns="0" rIns="0" bIns="0" rtlCol="0" anchor="t"/>
          <a:lstStyle/>
          <a:p>
            <a:pPr algn="ctr" indent="0" marL="0">
              <a:lnSpc>
                <a:spcPts val="1150"/>
              </a:lnSpc>
              <a:buNone/>
            </a:pPr>
            <a:r>
              <a:rPr lang="en-US" sz="920" dirty="0">
                <a:solidFill>
                  <a:srgbClr val="1B1815"/>
                </a:solidFill>
                <a:latin typeface="Calibri" pitchFamily="34" charset="0"/>
                <a:ea typeface="Calibri" pitchFamily="34" charset="-122"/>
                <a:cs typeface="Calibri" pitchFamily="34" charset="-120"/>
              </a:rPr>
              <a:t>Does the third party have a legitimate claim to the information?</a:t>
            </a:r>
            <a:endParaRPr lang="en-US" sz="920" dirty="0"/>
          </a:p>
        </p:txBody>
      </p:sp>
      <p:sp>
        <p:nvSpPr>
          <p:cNvPr id="16" name="Shape 14"/>
          <p:cNvSpPr/>
          <p:nvPr/>
        </p:nvSpPr>
        <p:spPr>
          <a:xfrm>
            <a:off x="1074420" y="4882896"/>
            <a:ext cx="4160520" cy="566928"/>
          </a:xfrm>
          <a:prstGeom prst="roundRect">
            <a:avLst>
              <a:gd name="adj" fmla="val 11707"/>
            </a:avLst>
          </a:prstGeom>
          <a:solidFill>
            <a:srgbClr val="1B1815"/>
          </a:solidFill>
          <a:ln w="12700">
            <a:solidFill>
              <a:srgbClr val="FFFFFF">
                <a:alpha val="0"/>
              </a:srgbClr>
            </a:solidFill>
            <a:prstDash val="solid"/>
          </a:ln>
        </p:spPr>
      </p:sp>
      <p:sp>
        <p:nvSpPr>
          <p:cNvPr id="17" name="Text 15"/>
          <p:cNvSpPr txBox="1"/>
          <p:nvPr/>
        </p:nvSpPr>
        <p:spPr>
          <a:xfrm>
            <a:off x="1239012" y="5096510"/>
            <a:ext cx="3831336" cy="566928"/>
          </a:xfrm>
          <a:prstGeom prst="rect">
            <a:avLst/>
          </a:prstGeom>
          <a:noFill/>
          <a:ln/>
        </p:spPr>
        <p:txBody>
          <a:bodyPr wrap="square" lIns="0" tIns="0" rIns="0" bIns="0" rtlCol="0" anchor="t"/>
          <a:lstStyle/>
          <a:p>
            <a:pPr algn="ctr" indent="0" marL="0">
              <a:lnSpc>
                <a:spcPts val="1100"/>
              </a:lnSpc>
              <a:buNone/>
            </a:pPr>
            <a:r>
              <a:rPr lang="en-US" sz="880" dirty="0">
                <a:solidFill>
                  <a:srgbClr val="F8F3E9"/>
                </a:solidFill>
                <a:latin typeface="Calibri" pitchFamily="34" charset="0"/>
                <a:ea typeface="Calibri" pitchFamily="34" charset="-122"/>
                <a:cs typeface="Calibri" pitchFamily="34" charset="-120"/>
              </a:rPr>
              <a:t>Document the decision, the rationale, and the consultation</a:t>
            </a:r>
            <a:endParaRPr lang="en-US" sz="880" dirty="0"/>
          </a:p>
        </p:txBody>
      </p:sp>
      <p:sp>
        <p:nvSpPr>
          <p:cNvPr id="18" name="Shape 16"/>
          <p:cNvSpPr/>
          <p:nvPr/>
        </p:nvSpPr>
        <p:spPr>
          <a:xfrm>
            <a:off x="3154680" y="2587752"/>
            <a:ext cx="91" cy="201168"/>
          </a:xfrm>
          <a:prstGeom prst="line">
            <a:avLst/>
          </a:prstGeom>
          <a:noFill/>
          <a:ln w="11430">
            <a:solidFill>
              <a:srgbClr val="96733C"/>
            </a:solidFill>
            <a:prstDash val="solid"/>
            <a:headEnd type="none"/>
            <a:tailEnd type="triangle"/>
          </a:ln>
        </p:spPr>
      </p:sp>
      <p:sp>
        <p:nvSpPr>
          <p:cNvPr id="19" name="Text 17"/>
          <p:cNvSpPr txBox="1"/>
          <p:nvPr/>
        </p:nvSpPr>
        <p:spPr>
          <a:xfrm>
            <a:off x="3227832" y="2569464"/>
            <a:ext cx="457200" cy="191008"/>
          </a:xfrm>
          <a:prstGeom prst="rect">
            <a:avLst/>
          </a:prstGeom>
          <a:noFill/>
          <a:ln/>
        </p:spPr>
        <p:txBody>
          <a:bodyPr wrap="square" lIns="0" tIns="0" rIns="0" bIns="0" rtlCol="0" anchor="t"/>
          <a:lstStyle/>
          <a:p>
            <a:pPr algn="l" indent="0" marL="0">
              <a:lnSpc>
                <a:spcPts val="864"/>
              </a:lnSpc>
              <a:buNone/>
            </a:pPr>
            <a:r>
              <a:rPr lang="en-US" sz="640" b="1" spc="80" kern="0" dirty="0">
                <a:solidFill>
                  <a:srgbClr val="96733C"/>
                </a:solidFill>
                <a:latin typeface="Calibri" pitchFamily="34" charset="0"/>
                <a:ea typeface="Calibri" pitchFamily="34" charset="-122"/>
                <a:cs typeface="Calibri" pitchFamily="34" charset="-120"/>
              </a:rPr>
              <a:t>NO</a:t>
            </a:r>
            <a:endParaRPr lang="en-US" sz="640" dirty="0"/>
          </a:p>
        </p:txBody>
      </p:sp>
      <p:sp>
        <p:nvSpPr>
          <p:cNvPr id="20" name="Shape 18"/>
          <p:cNvSpPr/>
          <p:nvPr/>
        </p:nvSpPr>
        <p:spPr>
          <a:xfrm>
            <a:off x="3154680" y="3575304"/>
            <a:ext cx="91" cy="237744"/>
          </a:xfrm>
          <a:prstGeom prst="line">
            <a:avLst/>
          </a:prstGeom>
          <a:noFill/>
          <a:ln w="11430">
            <a:solidFill>
              <a:srgbClr val="96733C"/>
            </a:solidFill>
            <a:prstDash val="solid"/>
            <a:headEnd type="none"/>
            <a:tailEnd type="triangle"/>
          </a:ln>
        </p:spPr>
      </p:sp>
      <p:sp>
        <p:nvSpPr>
          <p:cNvPr id="21" name="Text 19"/>
          <p:cNvSpPr txBox="1"/>
          <p:nvPr/>
        </p:nvSpPr>
        <p:spPr>
          <a:xfrm>
            <a:off x="3227832" y="3575304"/>
            <a:ext cx="457200" cy="191008"/>
          </a:xfrm>
          <a:prstGeom prst="rect">
            <a:avLst/>
          </a:prstGeom>
          <a:noFill/>
          <a:ln/>
        </p:spPr>
        <p:txBody>
          <a:bodyPr wrap="square" lIns="0" tIns="0" rIns="0" bIns="0" rtlCol="0" anchor="t"/>
          <a:lstStyle/>
          <a:p>
            <a:pPr algn="l" indent="0" marL="0">
              <a:lnSpc>
                <a:spcPts val="864"/>
              </a:lnSpc>
              <a:buNone/>
            </a:pPr>
            <a:r>
              <a:rPr lang="en-US" sz="640" b="1" spc="80" kern="0" dirty="0">
                <a:solidFill>
                  <a:srgbClr val="96733C"/>
                </a:solidFill>
                <a:latin typeface="Calibri" pitchFamily="34" charset="0"/>
                <a:ea typeface="Calibri" pitchFamily="34" charset="-122"/>
                <a:cs typeface="Calibri" pitchFamily="34" charset="-120"/>
              </a:rPr>
              <a:t>NO</a:t>
            </a:r>
            <a:endParaRPr lang="en-US" sz="640" dirty="0"/>
          </a:p>
        </p:txBody>
      </p:sp>
      <p:sp>
        <p:nvSpPr>
          <p:cNvPr id="22" name="Shape 20"/>
          <p:cNvSpPr/>
          <p:nvPr/>
        </p:nvSpPr>
        <p:spPr>
          <a:xfrm>
            <a:off x="3154680" y="4599432"/>
            <a:ext cx="91" cy="237744"/>
          </a:xfrm>
          <a:prstGeom prst="line">
            <a:avLst/>
          </a:prstGeom>
          <a:noFill/>
          <a:ln w="11430">
            <a:solidFill>
              <a:srgbClr val="96733C"/>
            </a:solidFill>
            <a:prstDash val="solid"/>
            <a:headEnd type="none"/>
            <a:tailEnd type="triangle"/>
          </a:ln>
        </p:spPr>
      </p:sp>
      <p:sp>
        <p:nvSpPr>
          <p:cNvPr id="23" name="Shape 21"/>
          <p:cNvSpPr/>
          <p:nvPr/>
        </p:nvSpPr>
        <p:spPr>
          <a:xfrm>
            <a:off x="6355080" y="2788920"/>
            <a:ext cx="4206240" cy="822960"/>
          </a:xfrm>
          <a:prstGeom prst="roundRect">
            <a:avLst>
              <a:gd name="adj" fmla="val 5556"/>
            </a:avLst>
          </a:prstGeom>
          <a:solidFill>
            <a:srgbClr val="FDFAF3"/>
          </a:solidFill>
          <a:ln w="8890">
            <a:solidFill>
              <a:srgbClr val="A96A45"/>
            </a:solidFill>
            <a:prstDash val="solid"/>
          </a:ln>
        </p:spPr>
      </p:sp>
      <p:sp>
        <p:nvSpPr>
          <p:cNvPr id="24" name="Text 22"/>
          <p:cNvSpPr txBox="1"/>
          <p:nvPr/>
        </p:nvSpPr>
        <p:spPr>
          <a:xfrm>
            <a:off x="6501384" y="2889504"/>
            <a:ext cx="3931920" cy="365760"/>
          </a:xfrm>
          <a:prstGeom prst="rect">
            <a:avLst/>
          </a:prstGeom>
          <a:noFill/>
          <a:ln/>
        </p:spPr>
        <p:txBody>
          <a:bodyPr wrap="square" lIns="0" tIns="0" rIns="0" bIns="0" rtlCol="0" anchor="t"/>
          <a:lstStyle/>
          <a:p>
            <a:pPr algn="l" indent="0" marL="0">
              <a:lnSpc>
                <a:spcPts val="1040"/>
              </a:lnSpc>
              <a:buNone/>
            </a:pPr>
            <a:r>
              <a:rPr lang="en-US" sz="800" dirty="0">
                <a:solidFill>
                  <a:srgbClr val="3F3A33"/>
                </a:solidFill>
                <a:latin typeface="Calibri" pitchFamily="34" charset="0"/>
                <a:ea typeface="Calibri" pitchFamily="34" charset="-122"/>
                <a:cs typeface="Calibri" pitchFamily="34" charset="-120"/>
              </a:rPr>
              <a:t>Disclose to the minimum necessary. Consult your supervisor, follow the governing statute, and</a:t>
            </a:r>
            <a:endParaRPr lang="en-US" sz="800" dirty="0"/>
          </a:p>
          <a:p>
            <a:pPr algn="l" indent="0" marL="0">
              <a:lnSpc>
                <a:spcPts val="1040"/>
              </a:lnSpc>
              <a:buNone/>
            </a:pPr>
            <a:r>
              <a:rPr lang="en-US" sz="800" dirty="0">
                <a:solidFill>
                  <a:srgbClr val="3F3A33"/>
                </a:solidFill>
                <a:latin typeface="Calibri" pitchFamily="34" charset="0"/>
                <a:ea typeface="Calibri" pitchFamily="34" charset="-122"/>
                <a:cs typeface="Calibri" pitchFamily="34" charset="-120"/>
              </a:rPr>
              <a:t>record what you did and why.</a:t>
            </a:r>
            <a:endParaRPr lang="en-US" sz="800" dirty="0"/>
          </a:p>
        </p:txBody>
      </p:sp>
      <p:sp>
        <p:nvSpPr>
          <p:cNvPr id="25" name="Shape 23"/>
          <p:cNvSpPr/>
          <p:nvPr/>
        </p:nvSpPr>
        <p:spPr>
          <a:xfrm>
            <a:off x="5253228" y="3191256"/>
            <a:ext cx="1046988" cy="91"/>
          </a:xfrm>
          <a:prstGeom prst="line">
            <a:avLst/>
          </a:prstGeom>
          <a:noFill/>
          <a:ln w="11430">
            <a:solidFill>
              <a:srgbClr val="A96A45"/>
            </a:solidFill>
            <a:prstDash val="solid"/>
            <a:headEnd type="none"/>
            <a:tailEnd type="triangle"/>
          </a:ln>
        </p:spPr>
      </p:sp>
      <p:sp>
        <p:nvSpPr>
          <p:cNvPr id="26" name="Text 24"/>
          <p:cNvSpPr txBox="1"/>
          <p:nvPr/>
        </p:nvSpPr>
        <p:spPr>
          <a:xfrm>
            <a:off x="5344668" y="2962656"/>
            <a:ext cx="548640" cy="191008"/>
          </a:xfrm>
          <a:prstGeom prst="rect">
            <a:avLst/>
          </a:prstGeom>
          <a:noFill/>
          <a:ln/>
        </p:spPr>
        <p:txBody>
          <a:bodyPr wrap="square" lIns="0" tIns="0" rIns="0" bIns="0" rtlCol="0" anchor="t"/>
          <a:lstStyle/>
          <a:p>
            <a:pPr algn="l" indent="0" marL="0">
              <a:lnSpc>
                <a:spcPts val="864"/>
              </a:lnSpc>
              <a:buNone/>
            </a:pPr>
            <a:r>
              <a:rPr lang="en-US" sz="640" b="1" spc="80" kern="0" dirty="0">
                <a:solidFill>
                  <a:srgbClr val="A96A45"/>
                </a:solidFill>
                <a:latin typeface="Calibri" pitchFamily="34" charset="0"/>
                <a:ea typeface="Calibri" pitchFamily="34" charset="-122"/>
                <a:cs typeface="Calibri" pitchFamily="34" charset="-120"/>
              </a:rPr>
              <a:t>YES</a:t>
            </a:r>
            <a:endParaRPr lang="en-US" sz="640" dirty="0"/>
          </a:p>
        </p:txBody>
      </p:sp>
      <p:sp>
        <p:nvSpPr>
          <p:cNvPr id="27" name="Shape 25"/>
          <p:cNvSpPr/>
          <p:nvPr/>
        </p:nvSpPr>
        <p:spPr>
          <a:xfrm>
            <a:off x="6355080" y="3813048"/>
            <a:ext cx="4206240" cy="822960"/>
          </a:xfrm>
          <a:prstGeom prst="roundRect">
            <a:avLst>
              <a:gd name="adj" fmla="val 5556"/>
            </a:avLst>
          </a:prstGeom>
          <a:solidFill>
            <a:srgbClr val="FDFAF3"/>
          </a:solidFill>
          <a:ln w="8890">
            <a:solidFill>
              <a:srgbClr val="6E8274"/>
            </a:solidFill>
            <a:prstDash val="solid"/>
          </a:ln>
        </p:spPr>
      </p:sp>
      <p:sp>
        <p:nvSpPr>
          <p:cNvPr id="28" name="Text 26"/>
          <p:cNvSpPr txBox="1"/>
          <p:nvPr/>
        </p:nvSpPr>
        <p:spPr>
          <a:xfrm>
            <a:off x="6501384" y="3913632"/>
            <a:ext cx="3931920" cy="365760"/>
          </a:xfrm>
          <a:prstGeom prst="rect">
            <a:avLst/>
          </a:prstGeom>
          <a:noFill/>
          <a:ln/>
        </p:spPr>
        <p:txBody>
          <a:bodyPr wrap="square" lIns="0" tIns="0" rIns="0" bIns="0" rtlCol="0" anchor="t"/>
          <a:lstStyle/>
          <a:p>
            <a:pPr algn="l" indent="0" marL="0">
              <a:lnSpc>
                <a:spcPts val="1040"/>
              </a:lnSpc>
              <a:buNone/>
            </a:pPr>
            <a:r>
              <a:rPr lang="en-US" sz="800" dirty="0">
                <a:solidFill>
                  <a:srgbClr val="3F3A33"/>
                </a:solidFill>
                <a:latin typeface="Calibri" pitchFamily="34" charset="0"/>
                <a:ea typeface="Calibri" pitchFamily="34" charset="-122"/>
                <a:cs typeface="Calibri" pitchFamily="34" charset="-120"/>
              </a:rPr>
              <a:t>Obtain a written, informed release that names the recipient and the scope of information to be</a:t>
            </a:r>
            <a:endParaRPr lang="en-US" sz="800" dirty="0"/>
          </a:p>
          <a:p>
            <a:pPr algn="l" indent="0" marL="0">
              <a:lnSpc>
                <a:spcPts val="1040"/>
              </a:lnSpc>
              <a:buNone/>
            </a:pPr>
            <a:r>
              <a:rPr lang="en-US" sz="800" dirty="0">
                <a:solidFill>
                  <a:srgbClr val="3F3A33"/>
                </a:solidFill>
                <a:latin typeface="Calibri" pitchFamily="34" charset="0"/>
                <a:ea typeface="Calibri" pitchFamily="34" charset="-122"/>
                <a:cs typeface="Calibri" pitchFamily="34" charset="-120"/>
              </a:rPr>
              <a:t>shared.</a:t>
            </a:r>
            <a:endParaRPr lang="en-US" sz="800" dirty="0"/>
          </a:p>
        </p:txBody>
      </p:sp>
      <p:sp>
        <p:nvSpPr>
          <p:cNvPr id="29" name="Shape 27"/>
          <p:cNvSpPr/>
          <p:nvPr/>
        </p:nvSpPr>
        <p:spPr>
          <a:xfrm>
            <a:off x="5253228" y="4215384"/>
            <a:ext cx="1046988" cy="91"/>
          </a:xfrm>
          <a:prstGeom prst="line">
            <a:avLst/>
          </a:prstGeom>
          <a:noFill/>
          <a:ln w="11430">
            <a:solidFill>
              <a:srgbClr val="6E8274"/>
            </a:solidFill>
            <a:prstDash val="solid"/>
            <a:headEnd type="none"/>
            <a:tailEnd type="triangle"/>
          </a:ln>
        </p:spPr>
      </p:sp>
      <p:sp>
        <p:nvSpPr>
          <p:cNvPr id="30" name="Text 28"/>
          <p:cNvSpPr txBox="1"/>
          <p:nvPr/>
        </p:nvSpPr>
        <p:spPr>
          <a:xfrm>
            <a:off x="5344668" y="3986784"/>
            <a:ext cx="548640" cy="191008"/>
          </a:xfrm>
          <a:prstGeom prst="rect">
            <a:avLst/>
          </a:prstGeom>
          <a:noFill/>
          <a:ln/>
        </p:spPr>
        <p:txBody>
          <a:bodyPr wrap="square" lIns="0" tIns="0" rIns="0" bIns="0" rtlCol="0" anchor="t"/>
          <a:lstStyle/>
          <a:p>
            <a:pPr algn="l" indent="0" marL="0">
              <a:lnSpc>
                <a:spcPts val="864"/>
              </a:lnSpc>
              <a:buNone/>
            </a:pPr>
            <a:r>
              <a:rPr lang="en-US" sz="640" b="1" spc="80" kern="0" dirty="0">
                <a:solidFill>
                  <a:srgbClr val="6E8274"/>
                </a:solidFill>
                <a:latin typeface="Calibri" pitchFamily="34" charset="0"/>
                <a:ea typeface="Calibri" pitchFamily="34" charset="-122"/>
                <a:cs typeface="Calibri" pitchFamily="34" charset="-120"/>
              </a:rPr>
              <a:t>YES</a:t>
            </a:r>
            <a:endParaRPr lang="en-US" sz="640" dirty="0"/>
          </a:p>
        </p:txBody>
      </p:sp>
      <p:sp>
        <p:nvSpPr>
          <p:cNvPr id="31" name="Shape 29"/>
          <p:cNvSpPr/>
          <p:nvPr/>
        </p:nvSpPr>
        <p:spPr>
          <a:xfrm>
            <a:off x="3154680" y="4590288"/>
            <a:ext cx="91" cy="246888"/>
          </a:xfrm>
          <a:prstGeom prst="line">
            <a:avLst/>
          </a:prstGeom>
          <a:noFill/>
          <a:ln w="11430">
            <a:solidFill>
              <a:srgbClr val="96733C"/>
            </a:solidFill>
            <a:prstDash val="solid"/>
            <a:headEnd type="none"/>
            <a:tailEnd type="triangle"/>
          </a:ln>
        </p:spPr>
      </p:sp>
      <p:sp>
        <p:nvSpPr>
          <p:cNvPr id="32" name="Text 30"/>
          <p:cNvSpPr txBox="1"/>
          <p:nvPr/>
        </p:nvSpPr>
        <p:spPr>
          <a:xfrm>
            <a:off x="3227832" y="4663440"/>
            <a:ext cx="548640" cy="191008"/>
          </a:xfrm>
          <a:prstGeom prst="rect">
            <a:avLst/>
          </a:prstGeom>
          <a:noFill/>
          <a:ln/>
        </p:spPr>
        <p:txBody>
          <a:bodyPr wrap="square" lIns="0" tIns="0" rIns="0" bIns="0" rtlCol="0" anchor="t"/>
          <a:lstStyle/>
          <a:p>
            <a:pPr algn="l" indent="0" marL="0">
              <a:lnSpc>
                <a:spcPts val="864"/>
              </a:lnSpc>
              <a:buNone/>
            </a:pPr>
            <a:r>
              <a:rPr lang="en-US" sz="640" b="1" spc="80" kern="0" dirty="0">
                <a:solidFill>
                  <a:srgbClr val="96733C"/>
                </a:solidFill>
                <a:latin typeface="Calibri" pitchFamily="34" charset="0"/>
                <a:ea typeface="Calibri" pitchFamily="34" charset="-122"/>
                <a:cs typeface="Calibri" pitchFamily="34" charset="-120"/>
              </a:rPr>
              <a:t>NO</a:t>
            </a:r>
            <a:endParaRPr lang="en-US" sz="640" dirty="0"/>
          </a:p>
        </p:txBody>
      </p:sp>
      <p:sp>
        <p:nvSpPr>
          <p:cNvPr id="33" name="Text 31"/>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Adapt to your jurisdiction, agency policy and professional code.</a:t>
            </a:r>
            <a:endParaRPr lang="en-US" sz="74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11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The secret in the room</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643890"/>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A mother tells you, alone, that she is planning to leave her husband. She asks you not to tell</a:t>
            </a:r>
            <a:endParaRPr lang="en-US" sz="1300" dirty="0"/>
          </a:p>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him. The couple is due in twenty minutes.</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did you promise at intake — explicitly and implicitly?</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are the risks of holding the secret, and of disclosing it?</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would you say, and to whom, in the next session?</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How would you document your reasoning?</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12 · PHASE III — THE CLINICAL ENCOUNTER</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12</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Culture, Power and Social</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Location</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Whose normal is the therapy measuring against?</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Culture is not a variable; it is the water</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Mapping social location</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interpreter in the room</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Apply cultural humility as a clinical stance.</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Use the ADDRESSING framework to map social</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location.</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Interrogate your own cultural assumptions in</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supervision.</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cultural humility · intersectionality · power · cultural genogram · positionality</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Hays (2016), ch. 1–4 · McGoldrick, Giordano &amp; Garcia-Preto (2005)</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96733C"/>
          </a:solidFill>
          <a:ln w="12700">
            <a:solidFill>
              <a:srgbClr val="FFFFFF">
                <a:alpha val="0"/>
              </a:srgbClr>
            </a:solidFill>
            <a:prstDash val="solid"/>
          </a:ln>
        </p:spPr>
      </p:sp>
      <p:sp>
        <p:nvSpPr>
          <p:cNvPr id="38" name="Shape 36"/>
          <p:cNvSpPr/>
          <p:nvPr/>
        </p:nvSpPr>
        <p:spPr>
          <a:xfrm>
            <a:off x="8470392" y="5696712"/>
            <a:ext cx="128016" cy="128016"/>
          </a:xfrm>
          <a:prstGeom prst="ellipse">
            <a:avLst/>
          </a:prstGeom>
          <a:solidFill>
            <a:srgbClr val="C2A05F"/>
          </a:solidFill>
          <a:ln w="8890">
            <a:solidFill>
              <a:srgbClr val="E7D3A9"/>
            </a:solidFill>
            <a:prstDash val="solid"/>
          </a:ln>
        </p:spPr>
      </p:sp>
      <p:sp>
        <p:nvSpPr>
          <p:cNvPr id="39" name="Shape 37"/>
          <p:cNvSpPr/>
          <p:nvPr/>
        </p:nvSpPr>
        <p:spPr>
          <a:xfrm>
            <a:off x="9206179" y="5731459"/>
            <a:ext cx="58522" cy="58522"/>
          </a:xfrm>
          <a:prstGeom prst="ellipse">
            <a:avLst/>
          </a:prstGeom>
          <a:solidFill>
            <a:srgbClr val="1E1913"/>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12 · LECTURE 12</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55</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Culture is not a variable; it is the water</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Every family is cultural, including the therapist’s. The question is not whether culture matters, but whose cultural</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assumptions are doing the work.</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BEYOND COMPETENCE</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Cultural competence risks treating culture as a checklist. Cultural</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humility is a stance: self-reflection, attention to power, and lifelong</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learning.</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Notice your own location</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Treat the family as expert on its culture</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Expect to be corrected</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INTERSECTIONALITY AND POWER</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Race, class, gender, faith, migration status and sexuality intersect. No</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single identity explains a family — and the therapist’s institution is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part of the power in the room.</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speaking, and who is spoken about?</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absent?</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does the family have to risk to be understood?</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LOCAL CONTEXT</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 Nigeria and across Africa, extended kin, faith communities and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communal child-rearing are central resources — and sometimes sites</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of obligation, surveillance and conflict.</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Kinship as support and constraint</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Faith as coping and as authority</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Migration and the transnational family</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HARDY &amp; LASZLOFFY (1995)</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The cultural genogram</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Map the family’s cultural identity, migration, language and the meanings attached to difference — including</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what the family was taught to think about other groups.</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Hays (2016); Falicov (2014); Hardy &amp;</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Laszloffy (1995).</a:t>
            </a:r>
            <a:endParaRPr lang="en-US" sz="62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12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56</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Mapping social location</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ADDRESSING asks the therapist to locate themselves before locating the family — and to notice which differences carry power in this room.</a:t>
            </a:r>
            <a:endParaRPr lang="en-US" sz="1060" dirty="0"/>
          </a:p>
        </p:txBody>
      </p:sp>
      <p:sp>
        <p:nvSpPr>
          <p:cNvPr id="10" name="Shape 8"/>
          <p:cNvSpPr/>
          <p:nvPr/>
        </p:nvSpPr>
        <p:spPr>
          <a:xfrm>
            <a:off x="3227832" y="2980944"/>
            <a:ext cx="1682496" cy="1682496"/>
          </a:xfrm>
          <a:prstGeom prst="ellipse">
            <a:avLst/>
          </a:prstGeom>
          <a:solidFill>
            <a:srgbClr val="EFE5D3"/>
          </a:solidFill>
          <a:ln w="10160">
            <a:solidFill>
              <a:srgbClr val="C2A05F"/>
            </a:solidFill>
            <a:prstDash val="solid"/>
          </a:ln>
        </p:spPr>
      </p:sp>
      <p:sp>
        <p:nvSpPr>
          <p:cNvPr id="11" name="Text 9"/>
          <p:cNvSpPr txBox="1"/>
          <p:nvPr/>
        </p:nvSpPr>
        <p:spPr>
          <a:xfrm>
            <a:off x="3337560" y="3547872"/>
            <a:ext cx="1463040" cy="544830"/>
          </a:xfrm>
          <a:prstGeom prst="rect">
            <a:avLst/>
          </a:prstGeom>
          <a:noFill/>
          <a:ln/>
        </p:spPr>
        <p:txBody>
          <a:bodyPr wrap="square" lIns="0" tIns="0" rIns="0" bIns="0" rtlCol="0" anchor="t"/>
          <a:lstStyle/>
          <a:p>
            <a:pPr algn="ctr" indent="0" marL="0">
              <a:lnSpc>
                <a:spcPts val="1495"/>
              </a:lnSpc>
              <a:buNone/>
            </a:pPr>
            <a:r>
              <a:rPr lang="en-US" sz="1300" dirty="0">
                <a:solidFill>
                  <a:srgbClr val="1B1815"/>
                </a:solidFill>
                <a:latin typeface="Georgia" pitchFamily="34" charset="0"/>
                <a:ea typeface="Georgia" pitchFamily="34" charset="-122"/>
                <a:cs typeface="Georgia" pitchFamily="34" charset="-120"/>
              </a:rPr>
              <a:t>Cultural</a:t>
            </a:r>
            <a:endParaRPr lang="en-US" sz="1300" dirty="0"/>
          </a:p>
          <a:p>
            <a:pPr algn="ctr" indent="0" marL="0">
              <a:lnSpc>
                <a:spcPts val="1495"/>
              </a:lnSpc>
              <a:buNone/>
            </a:pPr>
            <a:r>
              <a:rPr lang="en-US" sz="1300" dirty="0">
                <a:solidFill>
                  <a:srgbClr val="1B1815"/>
                </a:solidFill>
                <a:latin typeface="Georgia" pitchFamily="34" charset="0"/>
                <a:ea typeface="Georgia" pitchFamily="34" charset="-122"/>
                <a:cs typeface="Georgia" pitchFamily="34" charset="-120"/>
              </a:rPr>
              <a:t>humility</a:t>
            </a:r>
            <a:endParaRPr lang="en-US" sz="1300" dirty="0"/>
          </a:p>
        </p:txBody>
      </p:sp>
      <p:sp>
        <p:nvSpPr>
          <p:cNvPr id="12" name="Text 10"/>
          <p:cNvSpPr txBox="1"/>
          <p:nvPr/>
        </p:nvSpPr>
        <p:spPr>
          <a:xfrm>
            <a:off x="3337560" y="4096512"/>
            <a:ext cx="1463040" cy="204470"/>
          </a:xfrm>
          <a:prstGeom prst="rect">
            <a:avLst/>
          </a:prstGeom>
          <a:noFill/>
          <a:ln/>
        </p:spPr>
        <p:txBody>
          <a:bodyPr wrap="square" lIns="0" tIns="0" rIns="0" bIns="0" rtlCol="0" anchor="t"/>
          <a:lstStyle/>
          <a:p>
            <a:pPr algn="ctr" indent="0" marL="0">
              <a:lnSpc>
                <a:spcPts val="910"/>
              </a:lnSpc>
              <a:buNone/>
            </a:pPr>
            <a:r>
              <a:rPr lang="en-US" sz="700" i="1" dirty="0">
                <a:solidFill>
                  <a:srgbClr val="5B544A"/>
                </a:solidFill>
                <a:latin typeface="Calibri" pitchFamily="34" charset="0"/>
                <a:ea typeface="Calibri" pitchFamily="34" charset="-122"/>
                <a:cs typeface="Calibri" pitchFamily="34" charset="-120"/>
              </a:rPr>
              <a:t>a stance, not a technique</a:t>
            </a:r>
            <a:endParaRPr lang="en-US" sz="700" dirty="0"/>
          </a:p>
        </p:txBody>
      </p:sp>
      <p:sp>
        <p:nvSpPr>
          <p:cNvPr id="13" name="Shape 11"/>
          <p:cNvSpPr/>
          <p:nvPr/>
        </p:nvSpPr>
        <p:spPr>
          <a:xfrm flipV="1">
            <a:off x="4069080" y="2249424"/>
            <a:ext cx="91" cy="731520"/>
          </a:xfrm>
          <a:prstGeom prst="line">
            <a:avLst/>
          </a:prstGeom>
          <a:noFill/>
          <a:ln w="7620">
            <a:solidFill>
              <a:srgbClr val="D9CDB7"/>
            </a:solidFill>
            <a:prstDash val="solid"/>
            <a:headEnd type="none"/>
            <a:tailEnd type="none"/>
          </a:ln>
        </p:spPr>
      </p:sp>
      <p:sp>
        <p:nvSpPr>
          <p:cNvPr id="14" name="Shape 12"/>
          <p:cNvSpPr/>
          <p:nvPr/>
        </p:nvSpPr>
        <p:spPr>
          <a:xfrm>
            <a:off x="4037076" y="2217420"/>
            <a:ext cx="64008" cy="64008"/>
          </a:xfrm>
          <a:prstGeom prst="ellipse">
            <a:avLst/>
          </a:prstGeom>
          <a:solidFill>
            <a:srgbClr val="C2A05F"/>
          </a:solidFill>
          <a:ln w="12700">
            <a:solidFill>
              <a:srgbClr val="FFFFFF">
                <a:alpha val="0"/>
              </a:srgbClr>
            </a:solidFill>
            <a:prstDash val="solid"/>
          </a:ln>
        </p:spPr>
      </p:sp>
      <p:sp>
        <p:nvSpPr>
          <p:cNvPr id="15" name="Text 13"/>
          <p:cNvSpPr txBox="1"/>
          <p:nvPr/>
        </p:nvSpPr>
        <p:spPr>
          <a:xfrm>
            <a:off x="3200400" y="2039112"/>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Age &amp; generation</a:t>
            </a:r>
            <a:endParaRPr lang="en-US" sz="780" dirty="0"/>
          </a:p>
        </p:txBody>
      </p:sp>
      <p:sp>
        <p:nvSpPr>
          <p:cNvPr id="16" name="Shape 14"/>
          <p:cNvSpPr/>
          <p:nvPr/>
        </p:nvSpPr>
        <p:spPr>
          <a:xfrm flipV="1">
            <a:off x="4609824" y="2617382"/>
            <a:ext cx="1251939" cy="560377"/>
          </a:xfrm>
          <a:prstGeom prst="line">
            <a:avLst/>
          </a:prstGeom>
          <a:noFill/>
          <a:ln w="7620">
            <a:solidFill>
              <a:srgbClr val="D9CDB7"/>
            </a:solidFill>
            <a:prstDash val="solid"/>
            <a:headEnd type="none"/>
            <a:tailEnd type="none"/>
          </a:ln>
        </p:spPr>
      </p:sp>
      <p:sp>
        <p:nvSpPr>
          <p:cNvPr id="17" name="Shape 15"/>
          <p:cNvSpPr/>
          <p:nvPr/>
        </p:nvSpPr>
        <p:spPr>
          <a:xfrm>
            <a:off x="5829759" y="2585378"/>
            <a:ext cx="64008" cy="64008"/>
          </a:xfrm>
          <a:prstGeom prst="ellipse">
            <a:avLst/>
          </a:prstGeom>
          <a:solidFill>
            <a:srgbClr val="C2A05F"/>
          </a:solidFill>
          <a:ln w="12700">
            <a:solidFill>
              <a:srgbClr val="FFFFFF">
                <a:alpha val="0"/>
              </a:srgbClr>
            </a:solidFill>
            <a:prstDash val="solid"/>
          </a:ln>
        </p:spPr>
      </p:sp>
      <p:sp>
        <p:nvSpPr>
          <p:cNvPr id="18" name="Text 16"/>
          <p:cNvSpPr txBox="1"/>
          <p:nvPr/>
        </p:nvSpPr>
        <p:spPr>
          <a:xfrm>
            <a:off x="4993083" y="2407070"/>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Disability status</a:t>
            </a:r>
            <a:endParaRPr lang="en-US" sz="780" dirty="0"/>
          </a:p>
        </p:txBody>
      </p:sp>
      <p:sp>
        <p:nvSpPr>
          <p:cNvPr id="19" name="Shape 17"/>
          <p:cNvSpPr/>
          <p:nvPr/>
        </p:nvSpPr>
        <p:spPr>
          <a:xfrm flipV="1">
            <a:off x="4897548" y="3549084"/>
            <a:ext cx="1918082" cy="127027"/>
          </a:xfrm>
          <a:prstGeom prst="line">
            <a:avLst/>
          </a:prstGeom>
          <a:noFill/>
          <a:ln w="7620">
            <a:solidFill>
              <a:srgbClr val="D9CDB7"/>
            </a:solidFill>
            <a:prstDash val="solid"/>
            <a:headEnd type="none"/>
            <a:tailEnd type="none"/>
          </a:ln>
        </p:spPr>
      </p:sp>
      <p:sp>
        <p:nvSpPr>
          <p:cNvPr id="20" name="Shape 18"/>
          <p:cNvSpPr/>
          <p:nvPr/>
        </p:nvSpPr>
        <p:spPr>
          <a:xfrm>
            <a:off x="6783626" y="3517080"/>
            <a:ext cx="64008" cy="64008"/>
          </a:xfrm>
          <a:prstGeom prst="ellipse">
            <a:avLst/>
          </a:prstGeom>
          <a:solidFill>
            <a:srgbClr val="C2A05F"/>
          </a:solidFill>
          <a:ln w="12700">
            <a:solidFill>
              <a:srgbClr val="FFFFFF">
                <a:alpha val="0"/>
              </a:srgbClr>
            </a:solidFill>
            <a:prstDash val="solid"/>
          </a:ln>
        </p:spPr>
      </p:sp>
      <p:sp>
        <p:nvSpPr>
          <p:cNvPr id="21" name="Text 19"/>
          <p:cNvSpPr txBox="1"/>
          <p:nvPr/>
        </p:nvSpPr>
        <p:spPr>
          <a:xfrm>
            <a:off x="5946950" y="3338772"/>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Religion &amp; spirituality</a:t>
            </a:r>
            <a:endParaRPr lang="en-US" sz="780" dirty="0"/>
          </a:p>
        </p:txBody>
      </p:sp>
      <p:sp>
        <p:nvSpPr>
          <p:cNvPr id="22" name="Shape 20"/>
          <p:cNvSpPr/>
          <p:nvPr/>
        </p:nvSpPr>
        <p:spPr>
          <a:xfrm>
            <a:off x="4797622" y="4242816"/>
            <a:ext cx="1686733" cy="365760"/>
          </a:xfrm>
          <a:prstGeom prst="line">
            <a:avLst/>
          </a:prstGeom>
          <a:noFill/>
          <a:ln w="7620">
            <a:solidFill>
              <a:srgbClr val="D9CDB7"/>
            </a:solidFill>
            <a:prstDash val="solid"/>
            <a:headEnd type="none"/>
            <a:tailEnd type="none"/>
          </a:ln>
        </p:spPr>
      </p:sp>
      <p:sp>
        <p:nvSpPr>
          <p:cNvPr id="23" name="Shape 21"/>
          <p:cNvSpPr/>
          <p:nvPr/>
        </p:nvSpPr>
        <p:spPr>
          <a:xfrm>
            <a:off x="6452352" y="4576572"/>
            <a:ext cx="64008" cy="64008"/>
          </a:xfrm>
          <a:prstGeom prst="ellipse">
            <a:avLst/>
          </a:prstGeom>
          <a:solidFill>
            <a:srgbClr val="C2A05F"/>
          </a:solidFill>
          <a:ln w="12700">
            <a:solidFill>
              <a:srgbClr val="FFFFFF">
                <a:alpha val="0"/>
              </a:srgbClr>
            </a:solidFill>
            <a:prstDash val="solid"/>
          </a:ln>
        </p:spPr>
      </p:sp>
      <p:sp>
        <p:nvSpPr>
          <p:cNvPr id="24" name="Text 22"/>
          <p:cNvSpPr txBox="1"/>
          <p:nvPr/>
        </p:nvSpPr>
        <p:spPr>
          <a:xfrm>
            <a:off x="5615676" y="4398264"/>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Ethnic identity</a:t>
            </a:r>
            <a:endParaRPr lang="en-US" sz="780" dirty="0"/>
          </a:p>
        </p:txBody>
      </p:sp>
      <p:sp>
        <p:nvSpPr>
          <p:cNvPr id="25" name="Shape 23"/>
          <p:cNvSpPr/>
          <p:nvPr/>
        </p:nvSpPr>
        <p:spPr>
          <a:xfrm>
            <a:off x="4356804" y="4612707"/>
            <a:ext cx="666143" cy="687404"/>
          </a:xfrm>
          <a:prstGeom prst="line">
            <a:avLst/>
          </a:prstGeom>
          <a:noFill/>
          <a:ln w="7620">
            <a:solidFill>
              <a:srgbClr val="D9CDB7"/>
            </a:solidFill>
            <a:prstDash val="solid"/>
            <a:headEnd type="none"/>
            <a:tailEnd type="none"/>
          </a:ln>
        </p:spPr>
      </p:sp>
      <p:sp>
        <p:nvSpPr>
          <p:cNvPr id="26" name="Shape 24"/>
          <p:cNvSpPr/>
          <p:nvPr/>
        </p:nvSpPr>
        <p:spPr>
          <a:xfrm>
            <a:off x="4990943" y="5268106"/>
            <a:ext cx="64008" cy="64008"/>
          </a:xfrm>
          <a:prstGeom prst="ellipse">
            <a:avLst/>
          </a:prstGeom>
          <a:solidFill>
            <a:srgbClr val="C2A05F"/>
          </a:solidFill>
          <a:ln w="12700">
            <a:solidFill>
              <a:srgbClr val="FFFFFF">
                <a:alpha val="0"/>
              </a:srgbClr>
            </a:solidFill>
            <a:prstDash val="solid"/>
          </a:ln>
        </p:spPr>
      </p:sp>
      <p:sp>
        <p:nvSpPr>
          <p:cNvPr id="27" name="Text 25"/>
          <p:cNvSpPr txBox="1"/>
          <p:nvPr/>
        </p:nvSpPr>
        <p:spPr>
          <a:xfrm>
            <a:off x="4154267" y="5089798"/>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Socio-economic status</a:t>
            </a:r>
            <a:endParaRPr lang="en-US" sz="780" dirty="0"/>
          </a:p>
        </p:txBody>
      </p:sp>
      <p:sp>
        <p:nvSpPr>
          <p:cNvPr id="28" name="Shape 26"/>
          <p:cNvSpPr/>
          <p:nvPr/>
        </p:nvSpPr>
        <p:spPr>
          <a:xfrm flipH="1">
            <a:off x="3115213" y="4612707"/>
            <a:ext cx="666143" cy="687404"/>
          </a:xfrm>
          <a:prstGeom prst="line">
            <a:avLst/>
          </a:prstGeom>
          <a:noFill/>
          <a:ln w="7620">
            <a:solidFill>
              <a:srgbClr val="D9CDB7"/>
            </a:solidFill>
            <a:prstDash val="solid"/>
            <a:headEnd type="none"/>
            <a:tailEnd type="none"/>
          </a:ln>
        </p:spPr>
      </p:sp>
      <p:sp>
        <p:nvSpPr>
          <p:cNvPr id="29" name="Shape 27"/>
          <p:cNvSpPr/>
          <p:nvPr/>
        </p:nvSpPr>
        <p:spPr>
          <a:xfrm>
            <a:off x="3083209" y="5268106"/>
            <a:ext cx="64008" cy="64008"/>
          </a:xfrm>
          <a:prstGeom prst="ellipse">
            <a:avLst/>
          </a:prstGeom>
          <a:solidFill>
            <a:srgbClr val="C2A05F"/>
          </a:solidFill>
          <a:ln w="12700">
            <a:solidFill>
              <a:srgbClr val="FFFFFF">
                <a:alpha val="0"/>
              </a:srgbClr>
            </a:solidFill>
            <a:prstDash val="solid"/>
          </a:ln>
        </p:spPr>
      </p:sp>
      <p:sp>
        <p:nvSpPr>
          <p:cNvPr id="30" name="Text 28"/>
          <p:cNvSpPr txBox="1"/>
          <p:nvPr/>
        </p:nvSpPr>
        <p:spPr>
          <a:xfrm>
            <a:off x="2246533" y="5089798"/>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Sexual orientation</a:t>
            </a:r>
            <a:endParaRPr lang="en-US" sz="780" dirty="0"/>
          </a:p>
        </p:txBody>
      </p:sp>
      <p:sp>
        <p:nvSpPr>
          <p:cNvPr id="31" name="Shape 29"/>
          <p:cNvSpPr/>
          <p:nvPr/>
        </p:nvSpPr>
        <p:spPr>
          <a:xfrm flipH="1">
            <a:off x="1653804" y="4242816"/>
            <a:ext cx="1686733" cy="365760"/>
          </a:xfrm>
          <a:prstGeom prst="line">
            <a:avLst/>
          </a:prstGeom>
          <a:noFill/>
          <a:ln w="7620">
            <a:solidFill>
              <a:srgbClr val="D9CDB7"/>
            </a:solidFill>
            <a:prstDash val="solid"/>
            <a:headEnd type="none"/>
            <a:tailEnd type="none"/>
          </a:ln>
        </p:spPr>
      </p:sp>
      <p:sp>
        <p:nvSpPr>
          <p:cNvPr id="32" name="Shape 30"/>
          <p:cNvSpPr/>
          <p:nvPr/>
        </p:nvSpPr>
        <p:spPr>
          <a:xfrm>
            <a:off x="1621800" y="4576572"/>
            <a:ext cx="64008" cy="64008"/>
          </a:xfrm>
          <a:prstGeom prst="ellipse">
            <a:avLst/>
          </a:prstGeom>
          <a:solidFill>
            <a:srgbClr val="C2A05F"/>
          </a:solidFill>
          <a:ln w="12700">
            <a:solidFill>
              <a:srgbClr val="FFFFFF">
                <a:alpha val="0"/>
              </a:srgbClr>
            </a:solidFill>
            <a:prstDash val="solid"/>
          </a:ln>
        </p:spPr>
      </p:sp>
      <p:sp>
        <p:nvSpPr>
          <p:cNvPr id="33" name="Text 31"/>
          <p:cNvSpPr txBox="1"/>
          <p:nvPr/>
        </p:nvSpPr>
        <p:spPr>
          <a:xfrm>
            <a:off x="785124" y="4398264"/>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Gender</a:t>
            </a:r>
            <a:endParaRPr lang="en-US" sz="780" dirty="0"/>
          </a:p>
        </p:txBody>
      </p:sp>
      <p:sp>
        <p:nvSpPr>
          <p:cNvPr id="34" name="Shape 32"/>
          <p:cNvSpPr/>
          <p:nvPr/>
        </p:nvSpPr>
        <p:spPr>
          <a:xfrm flipH="1" flipV="1">
            <a:off x="1322530" y="3549084"/>
            <a:ext cx="1918082" cy="127027"/>
          </a:xfrm>
          <a:prstGeom prst="line">
            <a:avLst/>
          </a:prstGeom>
          <a:noFill/>
          <a:ln w="7620">
            <a:solidFill>
              <a:srgbClr val="D9CDB7"/>
            </a:solidFill>
            <a:prstDash val="solid"/>
            <a:headEnd type="none"/>
            <a:tailEnd type="none"/>
          </a:ln>
        </p:spPr>
      </p:sp>
      <p:sp>
        <p:nvSpPr>
          <p:cNvPr id="35" name="Shape 33"/>
          <p:cNvSpPr/>
          <p:nvPr/>
        </p:nvSpPr>
        <p:spPr>
          <a:xfrm>
            <a:off x="1290526" y="3517080"/>
            <a:ext cx="64008" cy="64008"/>
          </a:xfrm>
          <a:prstGeom prst="ellipse">
            <a:avLst/>
          </a:prstGeom>
          <a:solidFill>
            <a:srgbClr val="C2A05F"/>
          </a:solidFill>
          <a:ln w="12700">
            <a:solidFill>
              <a:srgbClr val="FFFFFF">
                <a:alpha val="0"/>
              </a:srgbClr>
            </a:solidFill>
            <a:prstDash val="solid"/>
          </a:ln>
        </p:spPr>
      </p:sp>
      <p:sp>
        <p:nvSpPr>
          <p:cNvPr id="36" name="Text 34"/>
          <p:cNvSpPr txBox="1"/>
          <p:nvPr/>
        </p:nvSpPr>
        <p:spPr>
          <a:xfrm>
            <a:off x="453850" y="3338772"/>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Indigenous heritage</a:t>
            </a:r>
            <a:endParaRPr lang="en-US" sz="780" dirty="0"/>
          </a:p>
        </p:txBody>
      </p:sp>
      <p:sp>
        <p:nvSpPr>
          <p:cNvPr id="37" name="Shape 35"/>
          <p:cNvSpPr/>
          <p:nvPr/>
        </p:nvSpPr>
        <p:spPr>
          <a:xfrm flipH="1" flipV="1">
            <a:off x="2276397" y="2617382"/>
            <a:ext cx="1251939" cy="560377"/>
          </a:xfrm>
          <a:prstGeom prst="line">
            <a:avLst/>
          </a:prstGeom>
          <a:noFill/>
          <a:ln w="7620">
            <a:solidFill>
              <a:srgbClr val="D9CDB7"/>
            </a:solidFill>
            <a:prstDash val="solid"/>
            <a:headEnd type="none"/>
            <a:tailEnd type="none"/>
          </a:ln>
        </p:spPr>
      </p:sp>
      <p:sp>
        <p:nvSpPr>
          <p:cNvPr id="38" name="Shape 36"/>
          <p:cNvSpPr/>
          <p:nvPr/>
        </p:nvSpPr>
        <p:spPr>
          <a:xfrm>
            <a:off x="2244393" y="2585378"/>
            <a:ext cx="64008" cy="64008"/>
          </a:xfrm>
          <a:prstGeom prst="ellipse">
            <a:avLst/>
          </a:prstGeom>
          <a:solidFill>
            <a:srgbClr val="C2A05F"/>
          </a:solidFill>
          <a:ln w="12700">
            <a:solidFill>
              <a:srgbClr val="FFFFFF">
                <a:alpha val="0"/>
              </a:srgbClr>
            </a:solidFill>
            <a:prstDash val="solid"/>
          </a:ln>
        </p:spPr>
      </p:sp>
      <p:sp>
        <p:nvSpPr>
          <p:cNvPr id="39" name="Text 37"/>
          <p:cNvSpPr txBox="1"/>
          <p:nvPr/>
        </p:nvSpPr>
        <p:spPr>
          <a:xfrm>
            <a:off x="1407717" y="2407070"/>
            <a:ext cx="1737360" cy="212979"/>
          </a:xfrm>
          <a:prstGeom prst="rect">
            <a:avLst/>
          </a:prstGeom>
          <a:noFill/>
          <a:ln/>
        </p:spPr>
        <p:txBody>
          <a:bodyPr wrap="square" lIns="0" tIns="0" rIns="0" bIns="0" rtlCol="0" anchor="t"/>
          <a:lstStyle/>
          <a:p>
            <a:pPr algn="ctr" indent="0" marL="0">
              <a:lnSpc>
                <a:spcPts val="897"/>
              </a:lnSpc>
              <a:buNone/>
            </a:pPr>
            <a:r>
              <a:rPr lang="en-US" sz="780" dirty="0">
                <a:solidFill>
                  <a:srgbClr val="3F3A33"/>
                </a:solidFill>
                <a:latin typeface="Calibri" pitchFamily="34" charset="0"/>
                <a:ea typeface="Calibri" pitchFamily="34" charset="-122"/>
                <a:cs typeface="Calibri" pitchFamily="34" charset="-120"/>
              </a:rPr>
              <a:t>National origin</a:t>
            </a:r>
            <a:endParaRPr lang="en-US" sz="780" dirty="0"/>
          </a:p>
        </p:txBody>
      </p:sp>
      <p:sp>
        <p:nvSpPr>
          <p:cNvPr id="40" name="Text 38"/>
          <p:cNvSpPr txBox="1"/>
          <p:nvPr/>
        </p:nvSpPr>
        <p:spPr>
          <a:xfrm>
            <a:off x="7772400" y="2130552"/>
            <a:ext cx="3566160" cy="394335"/>
          </a:xfrm>
          <a:prstGeom prst="rect">
            <a:avLst/>
          </a:prstGeom>
          <a:noFill/>
          <a:ln/>
        </p:spPr>
        <p:txBody>
          <a:bodyPr wrap="square" lIns="0" tIns="0" rIns="0" bIns="0" rtlCol="0" anchor="t"/>
          <a:lstStyle/>
          <a:p>
            <a:pPr algn="l" indent="0" marL="0">
              <a:lnSpc>
                <a:spcPts val="1755"/>
              </a:lnSpc>
              <a:buNone/>
            </a:pPr>
            <a:r>
              <a:rPr lang="en-US" sz="1350" dirty="0">
                <a:solidFill>
                  <a:srgbClr val="1B1815"/>
                </a:solidFill>
                <a:latin typeface="Georgia" pitchFamily="34" charset="0"/>
                <a:ea typeface="Georgia" pitchFamily="34" charset="-122"/>
                <a:cs typeface="Georgia" pitchFamily="34" charset="-120"/>
              </a:rPr>
              <a:t>Working principles</a:t>
            </a:r>
            <a:endParaRPr lang="en-US" sz="1350" dirty="0"/>
          </a:p>
        </p:txBody>
      </p:sp>
      <p:sp>
        <p:nvSpPr>
          <p:cNvPr id="41" name="Shape 39"/>
          <p:cNvSpPr/>
          <p:nvPr/>
        </p:nvSpPr>
        <p:spPr>
          <a:xfrm>
            <a:off x="7763256" y="2679192"/>
            <a:ext cx="219456" cy="219456"/>
          </a:xfrm>
          <a:prstGeom prst="ellipse">
            <a:avLst/>
          </a:prstGeom>
          <a:solidFill>
            <a:srgbClr val="FFFFFF">
              <a:alpha val="0"/>
            </a:srgbClr>
          </a:solidFill>
          <a:ln w="7620">
            <a:solidFill>
              <a:srgbClr val="C2A05F"/>
            </a:solidFill>
            <a:prstDash val="solid"/>
          </a:ln>
        </p:spPr>
      </p:sp>
      <p:sp>
        <p:nvSpPr>
          <p:cNvPr id="42" name="Text 40"/>
          <p:cNvSpPr txBox="1"/>
          <p:nvPr/>
        </p:nvSpPr>
        <p:spPr>
          <a:xfrm>
            <a:off x="7763256" y="2743200"/>
            <a:ext cx="219456" cy="219456"/>
          </a:xfrm>
          <a:prstGeom prst="rect">
            <a:avLst/>
          </a:prstGeom>
          <a:noFill/>
          <a:ln/>
        </p:spPr>
        <p:txBody>
          <a:bodyPr wrap="square" lIns="0" tIns="0" rIns="0" bIns="0" rtlCol="0" anchor="t"/>
          <a:lstStyle/>
          <a:p>
            <a:pPr algn="ctr" indent="0" marL="0">
              <a:lnSpc>
                <a:spcPts val="720"/>
              </a:lnSpc>
              <a:buNone/>
            </a:pPr>
            <a:r>
              <a:rPr lang="en-US" sz="720" b="1" dirty="0">
                <a:solidFill>
                  <a:srgbClr val="96733C"/>
                </a:solidFill>
                <a:latin typeface="Calibri" pitchFamily="34" charset="0"/>
                <a:ea typeface="Calibri" pitchFamily="34" charset="-122"/>
                <a:cs typeface="Calibri" pitchFamily="34" charset="-120"/>
              </a:rPr>
              <a:t>1</a:t>
            </a:r>
            <a:endParaRPr lang="en-US" sz="720" dirty="0"/>
          </a:p>
        </p:txBody>
      </p:sp>
      <p:sp>
        <p:nvSpPr>
          <p:cNvPr id="43" name="Text 41"/>
          <p:cNvSpPr txBox="1"/>
          <p:nvPr/>
        </p:nvSpPr>
        <p:spPr>
          <a:xfrm>
            <a:off x="8119872" y="2642616"/>
            <a:ext cx="301752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Self-reflection</a:t>
            </a:r>
            <a:endParaRPr lang="en-US" sz="940" dirty="0"/>
          </a:p>
        </p:txBody>
      </p:sp>
      <p:sp>
        <p:nvSpPr>
          <p:cNvPr id="44" name="Text 42"/>
          <p:cNvSpPr txBox="1"/>
          <p:nvPr/>
        </p:nvSpPr>
        <p:spPr>
          <a:xfrm>
            <a:off x="8119872" y="2889504"/>
            <a:ext cx="301752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Notice your own cultural location, assumptions and discomfort.</a:t>
            </a:r>
            <a:endParaRPr lang="en-US" sz="820" dirty="0"/>
          </a:p>
        </p:txBody>
      </p:sp>
      <p:sp>
        <p:nvSpPr>
          <p:cNvPr id="45" name="Shape 43"/>
          <p:cNvSpPr/>
          <p:nvPr/>
        </p:nvSpPr>
        <p:spPr>
          <a:xfrm>
            <a:off x="7763256" y="3639312"/>
            <a:ext cx="219456" cy="219456"/>
          </a:xfrm>
          <a:prstGeom prst="ellipse">
            <a:avLst/>
          </a:prstGeom>
          <a:solidFill>
            <a:srgbClr val="FFFFFF">
              <a:alpha val="0"/>
            </a:srgbClr>
          </a:solidFill>
          <a:ln w="7620">
            <a:solidFill>
              <a:srgbClr val="C2A05F"/>
            </a:solidFill>
            <a:prstDash val="solid"/>
          </a:ln>
        </p:spPr>
      </p:sp>
      <p:sp>
        <p:nvSpPr>
          <p:cNvPr id="46" name="Text 44"/>
          <p:cNvSpPr txBox="1"/>
          <p:nvPr/>
        </p:nvSpPr>
        <p:spPr>
          <a:xfrm>
            <a:off x="7763256" y="3703320"/>
            <a:ext cx="219456" cy="219456"/>
          </a:xfrm>
          <a:prstGeom prst="rect">
            <a:avLst/>
          </a:prstGeom>
          <a:noFill/>
          <a:ln/>
        </p:spPr>
        <p:txBody>
          <a:bodyPr wrap="square" lIns="0" tIns="0" rIns="0" bIns="0" rtlCol="0" anchor="t"/>
          <a:lstStyle/>
          <a:p>
            <a:pPr algn="ctr" indent="0" marL="0">
              <a:lnSpc>
                <a:spcPts val="720"/>
              </a:lnSpc>
              <a:buNone/>
            </a:pPr>
            <a:r>
              <a:rPr lang="en-US" sz="720" b="1" dirty="0">
                <a:solidFill>
                  <a:srgbClr val="96733C"/>
                </a:solidFill>
                <a:latin typeface="Calibri" pitchFamily="34" charset="0"/>
                <a:ea typeface="Calibri" pitchFamily="34" charset="-122"/>
                <a:cs typeface="Calibri" pitchFamily="34" charset="-120"/>
              </a:rPr>
              <a:t>2</a:t>
            </a:r>
            <a:endParaRPr lang="en-US" sz="720" dirty="0"/>
          </a:p>
        </p:txBody>
      </p:sp>
      <p:sp>
        <p:nvSpPr>
          <p:cNvPr id="47" name="Text 45"/>
          <p:cNvSpPr txBox="1"/>
          <p:nvPr/>
        </p:nvSpPr>
        <p:spPr>
          <a:xfrm>
            <a:off x="8119872" y="3602736"/>
            <a:ext cx="301752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Power</a:t>
            </a:r>
            <a:endParaRPr lang="en-US" sz="940" dirty="0"/>
          </a:p>
        </p:txBody>
      </p:sp>
      <p:sp>
        <p:nvSpPr>
          <p:cNvPr id="48" name="Text 46"/>
          <p:cNvSpPr txBox="1"/>
          <p:nvPr/>
        </p:nvSpPr>
        <p:spPr>
          <a:xfrm>
            <a:off x="8119872" y="3849624"/>
            <a:ext cx="301752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Ask who is speaking, who is being spoken about, and who is absent.</a:t>
            </a:r>
            <a:endParaRPr lang="en-US" sz="820" dirty="0"/>
          </a:p>
        </p:txBody>
      </p:sp>
      <p:sp>
        <p:nvSpPr>
          <p:cNvPr id="49" name="Shape 47"/>
          <p:cNvSpPr/>
          <p:nvPr/>
        </p:nvSpPr>
        <p:spPr>
          <a:xfrm>
            <a:off x="7763256" y="4599432"/>
            <a:ext cx="219456" cy="219456"/>
          </a:xfrm>
          <a:prstGeom prst="ellipse">
            <a:avLst/>
          </a:prstGeom>
          <a:solidFill>
            <a:srgbClr val="FFFFFF">
              <a:alpha val="0"/>
            </a:srgbClr>
          </a:solidFill>
          <a:ln w="7620">
            <a:solidFill>
              <a:srgbClr val="C2A05F"/>
            </a:solidFill>
            <a:prstDash val="solid"/>
          </a:ln>
        </p:spPr>
      </p:sp>
      <p:sp>
        <p:nvSpPr>
          <p:cNvPr id="50" name="Text 48"/>
          <p:cNvSpPr txBox="1"/>
          <p:nvPr/>
        </p:nvSpPr>
        <p:spPr>
          <a:xfrm>
            <a:off x="7763256" y="4663440"/>
            <a:ext cx="219456" cy="219456"/>
          </a:xfrm>
          <a:prstGeom prst="rect">
            <a:avLst/>
          </a:prstGeom>
          <a:noFill/>
          <a:ln/>
        </p:spPr>
        <p:txBody>
          <a:bodyPr wrap="square" lIns="0" tIns="0" rIns="0" bIns="0" rtlCol="0" anchor="t"/>
          <a:lstStyle/>
          <a:p>
            <a:pPr algn="ctr" indent="0" marL="0">
              <a:lnSpc>
                <a:spcPts val="720"/>
              </a:lnSpc>
              <a:buNone/>
            </a:pPr>
            <a:r>
              <a:rPr lang="en-US" sz="720" b="1" dirty="0">
                <a:solidFill>
                  <a:srgbClr val="96733C"/>
                </a:solidFill>
                <a:latin typeface="Calibri" pitchFamily="34" charset="0"/>
                <a:ea typeface="Calibri" pitchFamily="34" charset="-122"/>
                <a:cs typeface="Calibri" pitchFamily="34" charset="-120"/>
              </a:rPr>
              <a:t>3</a:t>
            </a:r>
            <a:endParaRPr lang="en-US" sz="720" dirty="0"/>
          </a:p>
        </p:txBody>
      </p:sp>
      <p:sp>
        <p:nvSpPr>
          <p:cNvPr id="51" name="Text 49"/>
          <p:cNvSpPr txBox="1"/>
          <p:nvPr/>
        </p:nvSpPr>
        <p:spPr>
          <a:xfrm>
            <a:off x="8119872" y="4562856"/>
            <a:ext cx="301752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Learning</a:t>
            </a:r>
            <a:endParaRPr lang="en-US" sz="940" dirty="0"/>
          </a:p>
        </p:txBody>
      </p:sp>
      <p:sp>
        <p:nvSpPr>
          <p:cNvPr id="52" name="Text 50"/>
          <p:cNvSpPr txBox="1"/>
          <p:nvPr/>
        </p:nvSpPr>
        <p:spPr>
          <a:xfrm>
            <a:off x="8119872" y="4809744"/>
            <a:ext cx="301752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Treat the family as the expert on its own culture; remain a learner.</a:t>
            </a:r>
            <a:endParaRPr lang="en-US" sz="820" dirty="0"/>
          </a:p>
        </p:txBody>
      </p:sp>
      <p:sp>
        <p:nvSpPr>
          <p:cNvPr id="53" name="Text 51"/>
          <p:cNvSpPr txBox="1"/>
          <p:nvPr/>
        </p:nvSpPr>
        <p:spPr>
          <a:xfrm>
            <a:off x="1097280" y="5486400"/>
            <a:ext cx="5760720" cy="204470"/>
          </a:xfrm>
          <a:prstGeom prst="rect">
            <a:avLst/>
          </a:prstGeom>
          <a:noFill/>
          <a:ln/>
        </p:spPr>
        <p:txBody>
          <a:bodyPr wrap="square" lIns="0" tIns="0" rIns="0" bIns="0" rtlCol="0" anchor="t"/>
          <a:lstStyle/>
          <a:p>
            <a:pPr algn="l" indent="0" marL="0">
              <a:lnSpc>
                <a:spcPts val="910"/>
              </a:lnSpc>
              <a:buNone/>
            </a:pPr>
            <a:r>
              <a:rPr lang="en-US" sz="700" i="1" dirty="0">
                <a:solidFill>
                  <a:srgbClr val="5B544A"/>
                </a:solidFill>
                <a:latin typeface="Calibri" pitchFamily="34" charset="0"/>
                <a:ea typeface="Calibri" pitchFamily="34" charset="-122"/>
                <a:cs typeface="Calibri" pitchFamily="34" charset="-120"/>
              </a:rPr>
              <a:t>Framework adapted from Hays (2016); see also Hardy &amp; Laszloffy (1995) on the cultural genogram.</a:t>
            </a:r>
            <a:endParaRPr lang="en-US" sz="700" dirty="0"/>
          </a:p>
        </p:txBody>
      </p:sp>
      <p:sp>
        <p:nvSpPr>
          <p:cNvPr id="54" name="Text 52"/>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Framework after Hays (2016).</a:t>
            </a:r>
            <a:endParaRPr lang="en-US" sz="74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12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57</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interpreter in the room</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187854"/>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family recently arrived from a rural area speaks a language you do not share. The interpreter</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is a member of their faith community. The parents defer to the interpreter; the daughter answers</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in the dominant language.</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cultural humility</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intersectionality</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power</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cultural genogram</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are the risks of using a community interpreter?</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How do you protect the daughter’s voice?</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448666"/>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would you need to ask about the family’s own</a:t>
            </a:r>
            <a:endParaRPr lang="en-US" sz="920" dirty="0"/>
          </a:p>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explanation?</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6400800" cy="238760"/>
          </a:xfrm>
          <a:prstGeom prst="rect">
            <a:avLst/>
          </a:prstGeom>
          <a:noFill/>
          <a:ln/>
        </p:spPr>
        <p:txBody>
          <a:bodyPr wrap="square" lIns="0" tIns="0" rIns="0" bIns="0" rtlCol="0" anchor="t"/>
          <a:lstStyle/>
          <a:p>
            <a:pPr algn="l" indent="0" marL="0">
              <a:lnSpc>
                <a:spcPts val="1080"/>
              </a:lnSpc>
              <a:buNone/>
            </a:pPr>
            <a:r>
              <a:rPr lang="en-US" sz="800" spc="300" kern="0" dirty="0">
                <a:solidFill>
                  <a:srgbClr val="C2A05F"/>
                </a:solidFill>
                <a:latin typeface="Calibri" pitchFamily="34" charset="0"/>
                <a:ea typeface="Calibri" pitchFamily="34" charset="-122"/>
                <a:cs typeface="Calibri" pitchFamily="34" charset="-120"/>
              </a:rPr>
              <a:t>PHASE IV · WEEKS 13–16</a:t>
            </a:r>
            <a:endParaRPr lang="en-US" sz="800" dirty="0"/>
          </a:p>
        </p:txBody>
      </p:sp>
      <p:sp>
        <p:nvSpPr>
          <p:cNvPr id="3" name="Text 1"/>
          <p:cNvSpPr txBox="1"/>
          <p:nvPr/>
        </p:nvSpPr>
        <p:spPr>
          <a:xfrm>
            <a:off x="6035040" y="-457200"/>
            <a:ext cx="5486400" cy="7620000"/>
          </a:xfrm>
          <a:prstGeom prst="rect">
            <a:avLst/>
          </a:prstGeom>
          <a:noFill/>
          <a:ln/>
        </p:spPr>
        <p:txBody>
          <a:bodyPr wrap="square" lIns="0" tIns="0" rIns="0" bIns="0" rtlCol="0" anchor="t"/>
          <a:lstStyle/>
          <a:p>
            <a:pPr algn="r" indent="0" marL="0">
              <a:lnSpc>
                <a:spcPts val="30000"/>
              </a:lnSpc>
              <a:buNone/>
            </a:pPr>
            <a:r>
              <a:rPr lang="en-US" sz="30000" dirty="0">
                <a:solidFill>
                  <a:srgbClr val="181611"/>
                </a:solidFill>
                <a:latin typeface="Georgia" pitchFamily="34" charset="0"/>
                <a:ea typeface="Georgia" pitchFamily="34" charset="-122"/>
                <a:cs typeface="Georgia" pitchFamily="34" charset="-120"/>
              </a:rPr>
              <a:t>13</a:t>
            </a:r>
            <a:endParaRPr lang="en-US" sz="30000" dirty="0"/>
          </a:p>
        </p:txBody>
      </p:sp>
      <p:sp>
        <p:nvSpPr>
          <p:cNvPr id="4" name="Text 2"/>
          <p:cNvSpPr txBox="1"/>
          <p:nvPr/>
        </p:nvSpPr>
        <p:spPr>
          <a:xfrm>
            <a:off x="822960" y="1874520"/>
            <a:ext cx="6766560" cy="1215136"/>
          </a:xfrm>
          <a:prstGeom prst="rect">
            <a:avLst/>
          </a:prstGeom>
          <a:noFill/>
          <a:ln/>
        </p:spPr>
        <p:txBody>
          <a:bodyPr wrap="square" lIns="0" tIns="0" rIns="0" bIns="0" rtlCol="0" anchor="t"/>
          <a:lstStyle/>
          <a:p>
            <a:pPr algn="l" indent="0" marL="0">
              <a:lnSpc>
                <a:spcPts val="4968"/>
              </a:lnSpc>
              <a:buNone/>
            </a:pPr>
            <a:r>
              <a:rPr lang="en-US" sz="4600" dirty="0">
                <a:solidFill>
                  <a:srgbClr val="F8F3E9"/>
                </a:solidFill>
                <a:latin typeface="Georgia" pitchFamily="34" charset="0"/>
                <a:ea typeface="Georgia" pitchFamily="34" charset="-122"/>
                <a:cs typeface="Georgia" pitchFamily="34" charset="-120"/>
              </a:rPr>
              <a:t>Integration &amp; Transition</a:t>
            </a:r>
            <a:endParaRPr lang="en-US" sz="4600" dirty="0"/>
          </a:p>
        </p:txBody>
      </p:sp>
      <p:sp>
        <p:nvSpPr>
          <p:cNvPr id="5" name="Text 3"/>
          <p:cNvSpPr txBox="1"/>
          <p:nvPr/>
        </p:nvSpPr>
        <p:spPr>
          <a:xfrm>
            <a:off x="822960" y="3429000"/>
            <a:ext cx="6035040" cy="736600"/>
          </a:xfrm>
          <a:prstGeom prst="rect">
            <a:avLst/>
          </a:prstGeom>
          <a:noFill/>
          <a:ln/>
        </p:spPr>
        <p:txBody>
          <a:bodyPr wrap="square" lIns="0" tIns="0" rIns="0" bIns="0" rtlCol="0" anchor="t"/>
          <a:lstStyle/>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Applying systemic thinking across the life course, and beginning the</a:t>
            </a:r>
            <a:endParaRPr lang="en-US" sz="1450" dirty="0"/>
          </a:p>
          <a:p>
            <a:pPr algn="l" indent="0" marL="0">
              <a:lnSpc>
                <a:spcPts val="2175"/>
              </a:lnSpc>
              <a:buNone/>
            </a:pPr>
            <a:r>
              <a:rPr lang="en-US" sz="1450" i="1" dirty="0">
                <a:solidFill>
                  <a:srgbClr val="E7D3A9"/>
                </a:solidFill>
                <a:latin typeface="Georgia" pitchFamily="34" charset="0"/>
                <a:ea typeface="Georgia" pitchFamily="34" charset="-122"/>
                <a:cs typeface="Georgia" pitchFamily="34" charset="-120"/>
              </a:rPr>
              <a:t>transition to supervised practice.</a:t>
            </a:r>
            <a:endParaRPr lang="en-US" sz="1450" dirty="0"/>
          </a:p>
        </p:txBody>
      </p:sp>
      <p:sp>
        <p:nvSpPr>
          <p:cNvPr id="6" name="Shape 4"/>
          <p:cNvSpPr/>
          <p:nvPr/>
        </p:nvSpPr>
        <p:spPr>
          <a:xfrm>
            <a:off x="822960" y="4572000"/>
            <a:ext cx="1554480" cy="91"/>
          </a:xfrm>
          <a:prstGeom prst="line">
            <a:avLst/>
          </a:prstGeom>
          <a:noFill/>
          <a:ln w="10160">
            <a:solidFill>
              <a:srgbClr val="C2A05F"/>
            </a:solidFill>
            <a:prstDash val="solid"/>
            <a:headEnd type="none"/>
            <a:tailEnd type="none"/>
          </a:ln>
        </p:spPr>
      </p:sp>
      <p:sp>
        <p:nvSpPr>
          <p:cNvPr id="7" name="Text 5"/>
          <p:cNvSpPr txBox="1"/>
          <p:nvPr/>
        </p:nvSpPr>
        <p:spPr>
          <a:xfrm>
            <a:off x="82296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013</a:t>
            </a:r>
            <a:endParaRPr lang="en-US" sz="1000" dirty="0"/>
          </a:p>
        </p:txBody>
      </p:sp>
      <p:sp>
        <p:nvSpPr>
          <p:cNvPr id="8" name="Text 6"/>
          <p:cNvSpPr txBox="1"/>
          <p:nvPr/>
        </p:nvSpPr>
        <p:spPr>
          <a:xfrm>
            <a:off x="82296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Children &amp; adolescents</a:t>
            </a:r>
            <a:endParaRPr lang="en-US" sz="760" dirty="0"/>
          </a:p>
        </p:txBody>
      </p:sp>
      <p:sp>
        <p:nvSpPr>
          <p:cNvPr id="9" name="Text 7"/>
          <p:cNvSpPr txBox="1"/>
          <p:nvPr/>
        </p:nvSpPr>
        <p:spPr>
          <a:xfrm>
            <a:off x="224028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014</a:t>
            </a:r>
            <a:endParaRPr lang="en-US" sz="1000" dirty="0"/>
          </a:p>
        </p:txBody>
      </p:sp>
      <p:sp>
        <p:nvSpPr>
          <p:cNvPr id="10" name="Text 8"/>
          <p:cNvSpPr txBox="1"/>
          <p:nvPr/>
        </p:nvSpPr>
        <p:spPr>
          <a:xfrm>
            <a:off x="224028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Couples &amp; attachment</a:t>
            </a:r>
            <a:endParaRPr lang="en-US" sz="760" dirty="0"/>
          </a:p>
        </p:txBody>
      </p:sp>
      <p:sp>
        <p:nvSpPr>
          <p:cNvPr id="11" name="Text 9"/>
          <p:cNvSpPr txBox="1"/>
          <p:nvPr/>
        </p:nvSpPr>
        <p:spPr>
          <a:xfrm>
            <a:off x="365760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015</a:t>
            </a:r>
            <a:endParaRPr lang="en-US" sz="1000" dirty="0"/>
          </a:p>
        </p:txBody>
      </p:sp>
      <p:sp>
        <p:nvSpPr>
          <p:cNvPr id="12" name="Text 10"/>
          <p:cNvSpPr txBox="1"/>
          <p:nvPr/>
        </p:nvSpPr>
        <p:spPr>
          <a:xfrm>
            <a:off x="3657600" y="5074920"/>
            <a:ext cx="1234440" cy="21717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Transitions &amp; crisis</a:t>
            </a:r>
            <a:endParaRPr lang="en-US" sz="760" dirty="0"/>
          </a:p>
        </p:txBody>
      </p:sp>
      <p:sp>
        <p:nvSpPr>
          <p:cNvPr id="13" name="Text 11"/>
          <p:cNvSpPr txBox="1"/>
          <p:nvPr/>
        </p:nvSpPr>
        <p:spPr>
          <a:xfrm>
            <a:off x="5074920" y="4846320"/>
            <a:ext cx="457200" cy="298450"/>
          </a:xfrm>
          <a:prstGeom prst="rect">
            <a:avLst/>
          </a:prstGeom>
          <a:noFill/>
          <a:ln/>
        </p:spPr>
        <p:txBody>
          <a:bodyPr wrap="square" lIns="0" tIns="0" rIns="0" bIns="0" rtlCol="0" anchor="t"/>
          <a:lstStyle/>
          <a:p>
            <a:pPr algn="l" indent="0" marL="0">
              <a:lnSpc>
                <a:spcPts val="1350"/>
              </a:lnSpc>
              <a:buNone/>
            </a:pPr>
            <a:r>
              <a:rPr lang="en-US" sz="1000" dirty="0">
                <a:solidFill>
                  <a:srgbClr val="C2A05F"/>
                </a:solidFill>
                <a:latin typeface="Georgia" pitchFamily="34" charset="0"/>
                <a:ea typeface="Georgia" pitchFamily="34" charset="-122"/>
                <a:cs typeface="Georgia" pitchFamily="34" charset="-120"/>
              </a:rPr>
              <a:t>016</a:t>
            </a:r>
            <a:endParaRPr lang="en-US" sz="1000" dirty="0"/>
          </a:p>
        </p:txBody>
      </p:sp>
      <p:sp>
        <p:nvSpPr>
          <p:cNvPr id="14" name="Text 12"/>
          <p:cNvSpPr txBox="1"/>
          <p:nvPr/>
        </p:nvSpPr>
        <p:spPr>
          <a:xfrm>
            <a:off x="5074920" y="5074920"/>
            <a:ext cx="1234440" cy="337820"/>
          </a:xfrm>
          <a:prstGeom prst="rect">
            <a:avLst/>
          </a:prstGeom>
          <a:noFill/>
          <a:ln/>
        </p:spPr>
        <p:txBody>
          <a:bodyPr wrap="square" lIns="0" tIns="0" rIns="0" bIns="0" rtlCol="0" anchor="t"/>
          <a:lstStyle/>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Evidence &amp; professional</a:t>
            </a:r>
            <a:endParaRPr lang="en-US" sz="760" dirty="0"/>
          </a:p>
          <a:p>
            <a:pPr algn="l" indent="0" marL="0">
              <a:lnSpc>
                <a:spcPts val="950"/>
              </a:lnSpc>
              <a:buNone/>
            </a:pPr>
            <a:r>
              <a:rPr lang="en-US" sz="760" dirty="0">
                <a:solidFill>
                  <a:srgbClr val="EFE5D3"/>
                </a:solidFill>
                <a:latin typeface="Calibri" pitchFamily="34" charset="0"/>
                <a:ea typeface="Calibri" pitchFamily="34" charset="-122"/>
                <a:cs typeface="Calibri" pitchFamily="34" charset="-120"/>
              </a:rPr>
              <a:t>identity</a:t>
            </a:r>
            <a:endParaRPr lang="en-US" sz="760" dirty="0"/>
          </a:p>
        </p:txBody>
      </p:sp>
      <p:sp>
        <p:nvSpPr>
          <p:cNvPr id="15" name="Shape 13"/>
          <p:cNvSpPr/>
          <p:nvPr/>
        </p:nvSpPr>
        <p:spPr>
          <a:xfrm>
            <a:off x="822960" y="5742432"/>
            <a:ext cx="10515600" cy="91"/>
          </a:xfrm>
          <a:prstGeom prst="line">
            <a:avLst/>
          </a:prstGeom>
          <a:noFill/>
          <a:ln w="10160">
            <a:solidFill>
              <a:srgbClr val="3A332A"/>
            </a:solidFill>
            <a:prstDash val="solid"/>
            <a:headEnd type="none"/>
            <a:tailEnd type="none"/>
          </a:ln>
        </p:spPr>
      </p:sp>
      <p:sp>
        <p:nvSpPr>
          <p:cNvPr id="16" name="Shape 14"/>
          <p:cNvSpPr/>
          <p:nvPr/>
        </p:nvSpPr>
        <p:spPr>
          <a:xfrm>
            <a:off x="793699" y="5713171"/>
            <a:ext cx="58522" cy="58522"/>
          </a:xfrm>
          <a:prstGeom prst="ellipse">
            <a:avLst/>
          </a:prstGeom>
          <a:solidFill>
            <a:srgbClr val="96733C"/>
          </a:solidFill>
          <a:ln w="12700">
            <a:solidFill>
              <a:srgbClr val="FFFFFF">
                <a:alpha val="0"/>
              </a:srgbClr>
            </a:solidFill>
            <a:prstDash val="solid"/>
          </a:ln>
        </p:spPr>
      </p:sp>
      <p:sp>
        <p:nvSpPr>
          <p:cNvPr id="17" name="Shape 15"/>
          <p:cNvSpPr/>
          <p:nvPr/>
        </p:nvSpPr>
        <p:spPr>
          <a:xfrm>
            <a:off x="1494739" y="5713171"/>
            <a:ext cx="58522" cy="58522"/>
          </a:xfrm>
          <a:prstGeom prst="ellipse">
            <a:avLst/>
          </a:prstGeom>
          <a:solidFill>
            <a:srgbClr val="96733C"/>
          </a:solidFill>
          <a:ln w="12700">
            <a:solidFill>
              <a:srgbClr val="FFFFFF">
                <a:alpha val="0"/>
              </a:srgbClr>
            </a:solidFill>
            <a:prstDash val="solid"/>
          </a:ln>
        </p:spPr>
      </p:sp>
      <p:sp>
        <p:nvSpPr>
          <p:cNvPr id="18" name="Shape 16"/>
          <p:cNvSpPr/>
          <p:nvPr/>
        </p:nvSpPr>
        <p:spPr>
          <a:xfrm>
            <a:off x="2195779" y="5713171"/>
            <a:ext cx="58522" cy="58522"/>
          </a:xfrm>
          <a:prstGeom prst="ellipse">
            <a:avLst/>
          </a:prstGeom>
          <a:solidFill>
            <a:srgbClr val="96733C"/>
          </a:solidFill>
          <a:ln w="12700">
            <a:solidFill>
              <a:srgbClr val="FFFFFF">
                <a:alpha val="0"/>
              </a:srgbClr>
            </a:solidFill>
            <a:prstDash val="solid"/>
          </a:ln>
        </p:spPr>
      </p:sp>
      <p:sp>
        <p:nvSpPr>
          <p:cNvPr id="19" name="Shape 17"/>
          <p:cNvSpPr/>
          <p:nvPr/>
        </p:nvSpPr>
        <p:spPr>
          <a:xfrm>
            <a:off x="2896819" y="5713171"/>
            <a:ext cx="58522" cy="58522"/>
          </a:xfrm>
          <a:prstGeom prst="ellipse">
            <a:avLst/>
          </a:prstGeom>
          <a:solidFill>
            <a:srgbClr val="96733C"/>
          </a:solidFill>
          <a:ln w="12700">
            <a:solidFill>
              <a:srgbClr val="FFFFFF">
                <a:alpha val="0"/>
              </a:srgbClr>
            </a:solidFill>
            <a:prstDash val="solid"/>
          </a:ln>
        </p:spPr>
      </p:sp>
      <p:sp>
        <p:nvSpPr>
          <p:cNvPr id="20" name="Shape 18"/>
          <p:cNvSpPr/>
          <p:nvPr/>
        </p:nvSpPr>
        <p:spPr>
          <a:xfrm>
            <a:off x="3597859" y="5713171"/>
            <a:ext cx="58522" cy="58522"/>
          </a:xfrm>
          <a:prstGeom prst="ellipse">
            <a:avLst/>
          </a:prstGeom>
          <a:solidFill>
            <a:srgbClr val="96733C"/>
          </a:solidFill>
          <a:ln w="12700">
            <a:solidFill>
              <a:srgbClr val="FFFFFF">
                <a:alpha val="0"/>
              </a:srgbClr>
            </a:solidFill>
            <a:prstDash val="solid"/>
          </a:ln>
        </p:spPr>
      </p:sp>
      <p:sp>
        <p:nvSpPr>
          <p:cNvPr id="21" name="Shape 19"/>
          <p:cNvSpPr/>
          <p:nvPr/>
        </p:nvSpPr>
        <p:spPr>
          <a:xfrm>
            <a:off x="4298899" y="5713171"/>
            <a:ext cx="58522" cy="58522"/>
          </a:xfrm>
          <a:prstGeom prst="ellipse">
            <a:avLst/>
          </a:prstGeom>
          <a:solidFill>
            <a:srgbClr val="96733C"/>
          </a:solidFill>
          <a:ln w="12700">
            <a:solidFill>
              <a:srgbClr val="FFFFFF">
                <a:alpha val="0"/>
              </a:srgbClr>
            </a:solidFill>
            <a:prstDash val="solid"/>
          </a:ln>
        </p:spPr>
      </p:sp>
      <p:sp>
        <p:nvSpPr>
          <p:cNvPr id="22" name="Shape 20"/>
          <p:cNvSpPr/>
          <p:nvPr/>
        </p:nvSpPr>
        <p:spPr>
          <a:xfrm>
            <a:off x="4999939" y="5713171"/>
            <a:ext cx="58522" cy="58522"/>
          </a:xfrm>
          <a:prstGeom prst="ellipse">
            <a:avLst/>
          </a:prstGeom>
          <a:solidFill>
            <a:srgbClr val="96733C"/>
          </a:solidFill>
          <a:ln w="12700">
            <a:solidFill>
              <a:srgbClr val="FFFFFF">
                <a:alpha val="0"/>
              </a:srgbClr>
            </a:solidFill>
            <a:prstDash val="solid"/>
          </a:ln>
        </p:spPr>
      </p:sp>
      <p:sp>
        <p:nvSpPr>
          <p:cNvPr id="23" name="Shape 21"/>
          <p:cNvSpPr/>
          <p:nvPr/>
        </p:nvSpPr>
        <p:spPr>
          <a:xfrm>
            <a:off x="5700979" y="5713171"/>
            <a:ext cx="58522" cy="58522"/>
          </a:xfrm>
          <a:prstGeom prst="ellipse">
            <a:avLst/>
          </a:prstGeom>
          <a:solidFill>
            <a:srgbClr val="96733C"/>
          </a:solidFill>
          <a:ln w="12700">
            <a:solidFill>
              <a:srgbClr val="FFFFFF">
                <a:alpha val="0"/>
              </a:srgbClr>
            </a:solidFill>
            <a:prstDash val="solid"/>
          </a:ln>
        </p:spPr>
      </p:sp>
      <p:sp>
        <p:nvSpPr>
          <p:cNvPr id="24" name="Shape 22"/>
          <p:cNvSpPr/>
          <p:nvPr/>
        </p:nvSpPr>
        <p:spPr>
          <a:xfrm>
            <a:off x="6402019" y="5713171"/>
            <a:ext cx="58522" cy="58522"/>
          </a:xfrm>
          <a:prstGeom prst="ellipse">
            <a:avLst/>
          </a:prstGeom>
          <a:solidFill>
            <a:srgbClr val="96733C"/>
          </a:solidFill>
          <a:ln w="12700">
            <a:solidFill>
              <a:srgbClr val="FFFFFF">
                <a:alpha val="0"/>
              </a:srgbClr>
            </a:solidFill>
            <a:prstDash val="solid"/>
          </a:ln>
        </p:spPr>
      </p:sp>
      <p:sp>
        <p:nvSpPr>
          <p:cNvPr id="25" name="Shape 23"/>
          <p:cNvSpPr/>
          <p:nvPr/>
        </p:nvSpPr>
        <p:spPr>
          <a:xfrm>
            <a:off x="7103059" y="5713171"/>
            <a:ext cx="58522" cy="58522"/>
          </a:xfrm>
          <a:prstGeom prst="ellipse">
            <a:avLst/>
          </a:prstGeom>
          <a:solidFill>
            <a:srgbClr val="96733C"/>
          </a:solidFill>
          <a:ln w="12700">
            <a:solidFill>
              <a:srgbClr val="FFFFFF">
                <a:alpha val="0"/>
              </a:srgbClr>
            </a:solidFill>
            <a:prstDash val="solid"/>
          </a:ln>
        </p:spPr>
      </p:sp>
      <p:sp>
        <p:nvSpPr>
          <p:cNvPr id="26" name="Shape 24"/>
          <p:cNvSpPr/>
          <p:nvPr/>
        </p:nvSpPr>
        <p:spPr>
          <a:xfrm>
            <a:off x="7804099" y="5713171"/>
            <a:ext cx="58522" cy="58522"/>
          </a:xfrm>
          <a:prstGeom prst="ellipse">
            <a:avLst/>
          </a:prstGeom>
          <a:solidFill>
            <a:srgbClr val="96733C"/>
          </a:solidFill>
          <a:ln w="12700">
            <a:solidFill>
              <a:srgbClr val="FFFFFF">
                <a:alpha val="0"/>
              </a:srgbClr>
            </a:solidFill>
            <a:prstDash val="solid"/>
          </a:ln>
        </p:spPr>
      </p:sp>
      <p:sp>
        <p:nvSpPr>
          <p:cNvPr id="27" name="Shape 25"/>
          <p:cNvSpPr/>
          <p:nvPr/>
        </p:nvSpPr>
        <p:spPr>
          <a:xfrm>
            <a:off x="8505139" y="5713171"/>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9206179" y="5713171"/>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9907219" y="5713171"/>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10608259" y="5713171"/>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11274552" y="5678424"/>
            <a:ext cx="128016" cy="128016"/>
          </a:xfrm>
          <a:prstGeom prst="ellipse">
            <a:avLst/>
          </a:prstGeom>
          <a:solidFill>
            <a:srgbClr val="C2A05F"/>
          </a:solidFill>
          <a:ln w="8890">
            <a:solidFill>
              <a:srgbClr val="E7D3A9"/>
            </a:solidFill>
            <a:prstDash val="solid"/>
          </a:ln>
        </p:spPr>
      </p:sp>
      <p:sp>
        <p:nvSpPr>
          <p:cNvPr id="32" name="Shape 30"/>
          <p:cNvSpPr/>
          <p:nvPr/>
        </p:nvSpPr>
        <p:spPr>
          <a:xfrm>
            <a:off x="822960" y="722376"/>
            <a:ext cx="10546050" cy="91"/>
          </a:xfrm>
          <a:prstGeom prst="line">
            <a:avLst/>
          </a:prstGeom>
          <a:noFill/>
          <a:ln w="6350">
            <a:solidFill>
              <a:srgbClr val="3A332A"/>
            </a:solidFill>
            <a:prstDash val="solid"/>
            <a:headEnd type="none"/>
            <a:tailEnd type="none"/>
          </a:ln>
        </p:spPr>
      </p:sp>
      <p:sp>
        <p:nvSpPr>
          <p:cNvPr id="33" name="Text 31"/>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34" name="Text 32"/>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13 · PHASE IV — INTEGRATION &amp; TRANSITION</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13</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Children, Adolescents and</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Parenting</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does a child’s symptom speak for the family — and to it?</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child in the system</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Development as a clinical frame</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symptomatic child</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Conduct child-inclusive family sessions.</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Apply a developmental frame to presenting</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problems.</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Work with the parental subsystem as a coalition.</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parentification · developmental task · triangulation · parenting coalition</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Combrinck-Graham (2006) · Sori &amp; Hecker (2015)</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96733C"/>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96733C"/>
          </a:solidFill>
          <a:ln w="12700">
            <a:solidFill>
              <a:srgbClr val="FFFFFF">
                <a:alpha val="0"/>
              </a:srgbClr>
            </a:solidFill>
            <a:prstDash val="solid"/>
          </a:ln>
        </p:spPr>
      </p:sp>
      <p:sp>
        <p:nvSpPr>
          <p:cNvPr id="39" name="Shape 37"/>
          <p:cNvSpPr/>
          <p:nvPr/>
        </p:nvSpPr>
        <p:spPr>
          <a:xfrm>
            <a:off x="9171432" y="5696712"/>
            <a:ext cx="128016" cy="128016"/>
          </a:xfrm>
          <a:prstGeom prst="ellipse">
            <a:avLst/>
          </a:prstGeom>
          <a:solidFill>
            <a:srgbClr val="C2A05F"/>
          </a:solidFill>
          <a:ln w="8890">
            <a:solidFill>
              <a:srgbClr val="E7D3A9"/>
            </a:solidFill>
            <a:prstDash val="solid"/>
          </a:ln>
        </p:spPr>
      </p:sp>
      <p:sp>
        <p:nvSpPr>
          <p:cNvPr id="40" name="Shape 38"/>
          <p:cNvSpPr/>
          <p:nvPr/>
        </p:nvSpPr>
        <p:spPr>
          <a:xfrm>
            <a:off x="9907219" y="5731459"/>
            <a:ext cx="58522" cy="58522"/>
          </a:xfrm>
          <a:prstGeom prst="ellipse">
            <a:avLst/>
          </a:prstGeom>
          <a:solidFill>
            <a:srgbClr val="1E1913"/>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13 · LECTURE 13</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60</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child in the system</a:t>
            </a:r>
            <a:endParaRPr lang="en-US" sz="2800" dirty="0"/>
          </a:p>
        </p:txBody>
      </p:sp>
      <p:sp>
        <p:nvSpPr>
          <p:cNvPr id="9" name="Text 7"/>
          <p:cNvSpPr txBox="1"/>
          <p:nvPr/>
        </p:nvSpPr>
        <p:spPr>
          <a:xfrm>
            <a:off x="822960" y="1486408"/>
            <a:ext cx="8138160" cy="387248"/>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Children are often the reason a family comes — and the least powerful person in the room.</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DEVELOPMENT AS CONSTRAINT</a:t>
            </a:r>
            <a:endParaRPr lang="en-US" sz="750" dirty="0"/>
          </a:p>
        </p:txBody>
      </p:sp>
      <p:sp>
        <p:nvSpPr>
          <p:cNvPr id="13" name="Text 11"/>
          <p:cNvSpPr txBox="1"/>
          <p:nvPr/>
        </p:nvSpPr>
        <p:spPr>
          <a:xfrm>
            <a:off x="82296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What looks like defiance at 14 may be a developmentally ordinary bid</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for autonomy; what looks like independence at 7 may be neglect.</a:t>
            </a:r>
            <a:endParaRPr lang="en-US" sz="900" dirty="0"/>
          </a:p>
        </p:txBody>
      </p:sp>
      <p:sp>
        <p:nvSpPr>
          <p:cNvPr id="14" name="Shape 12"/>
          <p:cNvSpPr/>
          <p:nvPr/>
        </p:nvSpPr>
        <p:spPr>
          <a:xfrm>
            <a:off x="822960" y="3364992"/>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Development is relational, not only biological</a:t>
            </a:r>
            <a:endParaRPr lang="en-US" sz="880" dirty="0"/>
          </a:p>
        </p:txBody>
      </p:sp>
      <p:sp>
        <p:nvSpPr>
          <p:cNvPr id="16" name="Shape 14"/>
          <p:cNvSpPr/>
          <p:nvPr/>
        </p:nvSpPr>
        <p:spPr>
          <a:xfrm>
            <a:off x="822960" y="3610661"/>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Behaviour is age-referenced</a:t>
            </a:r>
            <a:endParaRPr lang="en-US" sz="880" dirty="0"/>
          </a:p>
        </p:txBody>
      </p:sp>
      <p:sp>
        <p:nvSpPr>
          <p:cNvPr id="18" name="Shape 16"/>
          <p:cNvSpPr/>
          <p:nvPr/>
        </p:nvSpPr>
        <p:spPr>
          <a:xfrm>
            <a:off x="822960" y="3856330"/>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symptom may be on schedule</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TRIANGULATION AND PARENTIFICATION</a:t>
            </a:r>
            <a:endParaRPr lang="en-US" sz="750" dirty="0"/>
          </a:p>
        </p:txBody>
      </p:sp>
      <p:sp>
        <p:nvSpPr>
          <p:cNvPr id="23" name="Text 21"/>
          <p:cNvSpPr txBox="1"/>
          <p:nvPr/>
        </p:nvSpPr>
        <p:spPr>
          <a:xfrm>
            <a:off x="446532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 child recruited into parental conflict may present the symptom.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child who cares for a parent may present competence — and neither</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is a diagnosis.</a:t>
            </a:r>
            <a:endParaRPr lang="en-US" sz="900" dirty="0"/>
          </a:p>
        </p:txBody>
      </p:sp>
      <p:sp>
        <p:nvSpPr>
          <p:cNvPr id="24" name="Shape 22"/>
          <p:cNvSpPr/>
          <p:nvPr/>
        </p:nvSpPr>
        <p:spPr>
          <a:xfrm>
            <a:off x="4465320" y="3529584"/>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is protecting whom?</a:t>
            </a:r>
            <a:endParaRPr lang="en-US" sz="880" dirty="0"/>
          </a:p>
        </p:txBody>
      </p:sp>
      <p:sp>
        <p:nvSpPr>
          <p:cNvPr id="26" name="Shape 24"/>
          <p:cNvSpPr/>
          <p:nvPr/>
        </p:nvSpPr>
        <p:spPr>
          <a:xfrm>
            <a:off x="4465320" y="3775253"/>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Who has been promoted to adult?</a:t>
            </a:r>
            <a:endParaRPr lang="en-US" sz="880" dirty="0"/>
          </a:p>
        </p:txBody>
      </p:sp>
      <p:sp>
        <p:nvSpPr>
          <p:cNvPr id="28" name="Shape 26"/>
          <p:cNvSpPr/>
          <p:nvPr/>
        </p:nvSpPr>
        <p:spPr>
          <a:xfrm>
            <a:off x="4465320" y="4020922"/>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What does the child’s behaviour hold together?</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PARENTING AS A SUBSYSTEM</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Effective parenting requires a coalition between caregivers, not a</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coalition with the child. Agreement is not uniformity.</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Negotiate the frame before the rules</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Support the weaker parental voice</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Keep children out of the executive</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ALLIANCE</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The adolescent’s confidence</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Adolescents need a space that is theirs. Confidentiality must be negotiated explicitly with parents — and its</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limits stated in advance.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Combrinck-Graham (2006); Sori &amp; Hecker</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(2015).</a:t>
            </a:r>
            <a:endParaRPr lang="en-US" sz="62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13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61</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Development as a clinical frame</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Each stage carries a task, a vulnerability and a particular way of speaking without words.</a:t>
            </a:r>
            <a:endParaRPr lang="en-US" sz="1060" dirty="0"/>
          </a:p>
        </p:txBody>
      </p:sp>
      <p:sp>
        <p:nvSpPr>
          <p:cNvPr id="10" name="Shape 8"/>
          <p:cNvSpPr/>
          <p:nvPr/>
        </p:nvSpPr>
        <p:spPr>
          <a:xfrm>
            <a:off x="822960" y="2313432"/>
            <a:ext cx="10543032" cy="420624"/>
          </a:xfrm>
          <a:prstGeom prst="rect">
            <a:avLst/>
          </a:prstGeom>
          <a:solidFill>
            <a:srgbClr val="1B1815"/>
          </a:solidFill>
          <a:ln w="12700">
            <a:solidFill>
              <a:srgbClr val="FFFFFF">
                <a:alpha val="0"/>
              </a:srgbClr>
            </a:solidFill>
            <a:prstDash val="solid"/>
          </a:ln>
        </p:spPr>
      </p:sp>
      <p:sp>
        <p:nvSpPr>
          <p:cNvPr id="11" name="Text 9"/>
          <p:cNvSpPr txBox="1"/>
          <p:nvPr/>
        </p:nvSpPr>
        <p:spPr>
          <a:xfrm>
            <a:off x="822960" y="2403729"/>
            <a:ext cx="2072030" cy="420624"/>
          </a:xfrm>
          <a:prstGeom prst="rect">
            <a:avLst/>
          </a:prstGeom>
          <a:noFill/>
          <a:ln/>
        </p:spPr>
        <p:txBody>
          <a:bodyPr wrap="square" lIns="0" tIns="0" rIns="0" bIns="0" rtlCol="0" anchor="t"/>
          <a:lstStyle/>
          <a:p>
            <a:pPr algn="ctr" indent="0" marL="0">
              <a:lnSpc>
                <a:spcPts val="1890"/>
              </a:lnSpc>
              <a:buNone/>
            </a:pPr>
            <a:r>
              <a:rPr lang="en-US" sz="1400" dirty="0">
                <a:solidFill>
                  <a:srgbClr val="E7D3A9"/>
                </a:solidFill>
                <a:latin typeface="Georgia" pitchFamily="34" charset="0"/>
                <a:ea typeface="Georgia" pitchFamily="34" charset="-122"/>
                <a:cs typeface="Georgia" pitchFamily="34" charset="-120"/>
              </a:rPr>
              <a:t>0–3</a:t>
            </a:r>
            <a:endParaRPr lang="en-US" sz="1400" dirty="0"/>
          </a:p>
        </p:txBody>
      </p:sp>
      <p:sp>
        <p:nvSpPr>
          <p:cNvPr id="12" name="Text 10"/>
          <p:cNvSpPr txBox="1"/>
          <p:nvPr/>
        </p:nvSpPr>
        <p:spPr>
          <a:xfrm>
            <a:off x="822960" y="2862072"/>
            <a:ext cx="2072030" cy="305816"/>
          </a:xfrm>
          <a:prstGeom prst="rect">
            <a:avLst/>
          </a:prstGeom>
          <a:noFill/>
          <a:ln/>
        </p:spPr>
        <p:txBody>
          <a:bodyPr wrap="square" lIns="0" tIns="0" rIns="0" bIns="0" rtlCol="0" anchor="t"/>
          <a:lstStyle/>
          <a:p>
            <a:pPr algn="ctr" indent="0" marL="0">
              <a:lnSpc>
                <a:spcPts val="1288"/>
              </a:lnSpc>
              <a:buNone/>
            </a:pPr>
            <a:r>
              <a:rPr lang="en-US" sz="1120" dirty="0">
                <a:solidFill>
                  <a:srgbClr val="1B1815"/>
                </a:solidFill>
                <a:latin typeface="Georgia" pitchFamily="34" charset="0"/>
                <a:ea typeface="Georgia" pitchFamily="34" charset="-122"/>
                <a:cs typeface="Georgia" pitchFamily="34" charset="-120"/>
              </a:rPr>
              <a:t>Infancy &amp; toddlerhood</a:t>
            </a:r>
            <a:endParaRPr lang="en-US" sz="1120" dirty="0"/>
          </a:p>
        </p:txBody>
      </p:sp>
      <p:sp>
        <p:nvSpPr>
          <p:cNvPr id="13" name="Text 11"/>
          <p:cNvSpPr txBox="1"/>
          <p:nvPr/>
        </p:nvSpPr>
        <p:spPr>
          <a:xfrm>
            <a:off x="932688" y="3538728"/>
            <a:ext cx="1852574" cy="238760"/>
          </a:xfrm>
          <a:prstGeom prst="rect">
            <a:avLst/>
          </a:prstGeom>
          <a:noFill/>
          <a:ln/>
        </p:spPr>
        <p:txBody>
          <a:bodyPr wrap="square" lIns="0" tIns="0" rIns="0" bIns="0" rtlCol="0" anchor="t"/>
          <a:lstStyle/>
          <a:p>
            <a:pPr algn="ctr" indent="0" marL="0">
              <a:lnSpc>
                <a:spcPts val="1080"/>
              </a:lnSpc>
              <a:buNone/>
            </a:pPr>
            <a:r>
              <a:rPr lang="en-US" sz="800" dirty="0">
                <a:solidFill>
                  <a:srgbClr val="5B544A"/>
                </a:solidFill>
                <a:latin typeface="Calibri" pitchFamily="34" charset="0"/>
                <a:ea typeface="Calibri" pitchFamily="34" charset="-122"/>
                <a:cs typeface="Calibri" pitchFamily="34" charset="-120"/>
              </a:rPr>
              <a:t>Attachment, regulation, co-regulation</a:t>
            </a:r>
            <a:endParaRPr lang="en-US" sz="800" dirty="0"/>
          </a:p>
        </p:txBody>
      </p:sp>
      <p:sp>
        <p:nvSpPr>
          <p:cNvPr id="14" name="Shape 12"/>
          <p:cNvSpPr/>
          <p:nvPr/>
        </p:nvSpPr>
        <p:spPr>
          <a:xfrm>
            <a:off x="1024128" y="4160520"/>
            <a:ext cx="1669694" cy="91"/>
          </a:xfrm>
          <a:prstGeom prst="line">
            <a:avLst/>
          </a:prstGeom>
          <a:noFill/>
          <a:ln w="7620">
            <a:solidFill>
              <a:srgbClr val="D9CDB7"/>
            </a:solidFill>
            <a:prstDash val="solid"/>
            <a:headEnd type="none"/>
            <a:tailEnd type="none"/>
          </a:ln>
        </p:spPr>
      </p:sp>
      <p:sp>
        <p:nvSpPr>
          <p:cNvPr id="15" name="Text 13"/>
          <p:cNvSpPr txBox="1"/>
          <p:nvPr/>
        </p:nvSpPr>
        <p:spPr>
          <a:xfrm>
            <a:off x="932688" y="4325112"/>
            <a:ext cx="1852574" cy="244729"/>
          </a:xfrm>
          <a:prstGeom prst="rect">
            <a:avLst/>
          </a:prstGeom>
          <a:noFill/>
          <a:ln/>
        </p:spPr>
        <p:txBody>
          <a:bodyPr wrap="square" lIns="0" tIns="0" rIns="0" bIns="0" rtlCol="0" anchor="t"/>
          <a:lstStyle/>
          <a:p>
            <a:pPr algn="ctr" indent="0" marL="0">
              <a:lnSpc>
                <a:spcPts val="1107"/>
              </a:lnSpc>
              <a:buNone/>
            </a:pPr>
            <a:r>
              <a:rPr lang="en-US" sz="820" dirty="0">
                <a:solidFill>
                  <a:srgbClr val="3F3A33"/>
                </a:solidFill>
                <a:latin typeface="Calibri" pitchFamily="34" charset="0"/>
                <a:ea typeface="Calibri" pitchFamily="34" charset="-122"/>
                <a:cs typeface="Calibri" pitchFamily="34" charset="-120"/>
              </a:rPr>
              <a:t>Include caregivers; observe the dyad</a:t>
            </a:r>
            <a:endParaRPr lang="en-US" sz="820" dirty="0"/>
          </a:p>
        </p:txBody>
      </p:sp>
      <p:sp>
        <p:nvSpPr>
          <p:cNvPr id="16" name="Text 14"/>
          <p:cNvSpPr txBox="1"/>
          <p:nvPr/>
        </p:nvSpPr>
        <p:spPr>
          <a:xfrm>
            <a:off x="822960" y="4690872"/>
            <a:ext cx="2072030" cy="179070"/>
          </a:xfrm>
          <a:prstGeom prst="rect">
            <a:avLst/>
          </a:prstGeom>
          <a:noFill/>
          <a:ln/>
        </p:spPr>
        <p:txBody>
          <a:bodyPr wrap="square" lIns="0" tIns="0" rIns="0" bIns="0" rtlCol="0" anchor="t"/>
          <a:lstStyle/>
          <a:p>
            <a:pPr algn="ctr" indent="0" marL="0">
              <a:lnSpc>
                <a:spcPts val="810"/>
              </a:lnSpc>
              <a:buNone/>
            </a:pPr>
            <a:r>
              <a:rPr lang="en-US" sz="600" spc="120" kern="0" dirty="0">
                <a:solidFill>
                  <a:srgbClr val="96733C">
                    <a:alpha val="75000"/>
                  </a:srgbClr>
                </a:solidFill>
                <a:latin typeface="Calibri" pitchFamily="34" charset="0"/>
                <a:ea typeface="Calibri" pitchFamily="34" charset="-122"/>
                <a:cs typeface="Calibri" pitchFamily="34" charset="-120"/>
              </a:rPr>
              <a:t>CLINICAL FOCUS</a:t>
            </a:r>
            <a:endParaRPr lang="en-US" sz="600" dirty="0"/>
          </a:p>
        </p:txBody>
      </p:sp>
      <p:sp>
        <p:nvSpPr>
          <p:cNvPr id="17" name="Text 15"/>
          <p:cNvSpPr txBox="1"/>
          <p:nvPr/>
        </p:nvSpPr>
        <p:spPr>
          <a:xfrm>
            <a:off x="2894990" y="2403729"/>
            <a:ext cx="2072030" cy="420624"/>
          </a:xfrm>
          <a:prstGeom prst="rect">
            <a:avLst/>
          </a:prstGeom>
          <a:noFill/>
          <a:ln/>
        </p:spPr>
        <p:txBody>
          <a:bodyPr wrap="square" lIns="0" tIns="0" rIns="0" bIns="0" rtlCol="0" anchor="t"/>
          <a:lstStyle/>
          <a:p>
            <a:pPr algn="ctr" indent="0" marL="0">
              <a:lnSpc>
                <a:spcPts val="1890"/>
              </a:lnSpc>
              <a:buNone/>
            </a:pPr>
            <a:r>
              <a:rPr lang="en-US" sz="1400" dirty="0">
                <a:solidFill>
                  <a:srgbClr val="E7D3A9"/>
                </a:solidFill>
                <a:latin typeface="Georgia" pitchFamily="34" charset="0"/>
                <a:ea typeface="Georgia" pitchFamily="34" charset="-122"/>
                <a:cs typeface="Georgia" pitchFamily="34" charset="-120"/>
              </a:rPr>
              <a:t>4–6</a:t>
            </a:r>
            <a:endParaRPr lang="en-US" sz="1400" dirty="0"/>
          </a:p>
        </p:txBody>
      </p:sp>
      <p:sp>
        <p:nvSpPr>
          <p:cNvPr id="18" name="Text 16"/>
          <p:cNvSpPr txBox="1"/>
          <p:nvPr/>
        </p:nvSpPr>
        <p:spPr>
          <a:xfrm>
            <a:off x="2894990" y="2862072"/>
            <a:ext cx="2072030" cy="305816"/>
          </a:xfrm>
          <a:prstGeom prst="rect">
            <a:avLst/>
          </a:prstGeom>
          <a:noFill/>
          <a:ln/>
        </p:spPr>
        <p:txBody>
          <a:bodyPr wrap="square" lIns="0" tIns="0" rIns="0" bIns="0" rtlCol="0" anchor="t"/>
          <a:lstStyle/>
          <a:p>
            <a:pPr algn="ctr" indent="0" marL="0">
              <a:lnSpc>
                <a:spcPts val="1288"/>
              </a:lnSpc>
              <a:buNone/>
            </a:pPr>
            <a:r>
              <a:rPr lang="en-US" sz="1120" dirty="0">
                <a:solidFill>
                  <a:srgbClr val="1B1815"/>
                </a:solidFill>
                <a:latin typeface="Georgia" pitchFamily="34" charset="0"/>
                <a:ea typeface="Georgia" pitchFamily="34" charset="-122"/>
                <a:cs typeface="Georgia" pitchFamily="34" charset="-120"/>
              </a:rPr>
              <a:t>Early childhood</a:t>
            </a:r>
            <a:endParaRPr lang="en-US" sz="1120" dirty="0"/>
          </a:p>
        </p:txBody>
      </p:sp>
      <p:sp>
        <p:nvSpPr>
          <p:cNvPr id="19" name="Text 17"/>
          <p:cNvSpPr txBox="1"/>
          <p:nvPr/>
        </p:nvSpPr>
        <p:spPr>
          <a:xfrm>
            <a:off x="3004718" y="3538728"/>
            <a:ext cx="1852574" cy="238760"/>
          </a:xfrm>
          <a:prstGeom prst="rect">
            <a:avLst/>
          </a:prstGeom>
          <a:noFill/>
          <a:ln/>
        </p:spPr>
        <p:txBody>
          <a:bodyPr wrap="square" lIns="0" tIns="0" rIns="0" bIns="0" rtlCol="0" anchor="t"/>
          <a:lstStyle/>
          <a:p>
            <a:pPr algn="ctr" indent="0" marL="0">
              <a:lnSpc>
                <a:spcPts val="1080"/>
              </a:lnSpc>
              <a:buNone/>
            </a:pPr>
            <a:r>
              <a:rPr lang="en-US" sz="800" dirty="0">
                <a:solidFill>
                  <a:srgbClr val="5B544A"/>
                </a:solidFill>
                <a:latin typeface="Calibri" pitchFamily="34" charset="0"/>
                <a:ea typeface="Calibri" pitchFamily="34" charset="-122"/>
                <a:cs typeface="Calibri" pitchFamily="34" charset="-120"/>
              </a:rPr>
              <a:t>Language, play, initiative</a:t>
            </a:r>
            <a:endParaRPr lang="en-US" sz="800" dirty="0"/>
          </a:p>
        </p:txBody>
      </p:sp>
      <p:sp>
        <p:nvSpPr>
          <p:cNvPr id="20" name="Shape 18"/>
          <p:cNvSpPr/>
          <p:nvPr/>
        </p:nvSpPr>
        <p:spPr>
          <a:xfrm>
            <a:off x="3096158" y="4160520"/>
            <a:ext cx="1669694" cy="91"/>
          </a:xfrm>
          <a:prstGeom prst="line">
            <a:avLst/>
          </a:prstGeom>
          <a:noFill/>
          <a:ln w="7620">
            <a:solidFill>
              <a:srgbClr val="D9CDB7"/>
            </a:solidFill>
            <a:prstDash val="solid"/>
            <a:headEnd type="none"/>
            <a:tailEnd type="none"/>
          </a:ln>
        </p:spPr>
      </p:sp>
      <p:sp>
        <p:nvSpPr>
          <p:cNvPr id="21" name="Text 19"/>
          <p:cNvSpPr txBox="1"/>
          <p:nvPr/>
        </p:nvSpPr>
        <p:spPr>
          <a:xfrm>
            <a:off x="3004718" y="4325112"/>
            <a:ext cx="1852574" cy="244729"/>
          </a:xfrm>
          <a:prstGeom prst="rect">
            <a:avLst/>
          </a:prstGeom>
          <a:noFill/>
          <a:ln/>
        </p:spPr>
        <p:txBody>
          <a:bodyPr wrap="square" lIns="0" tIns="0" rIns="0" bIns="0" rtlCol="0" anchor="t"/>
          <a:lstStyle/>
          <a:p>
            <a:pPr algn="ctr" indent="0" marL="0">
              <a:lnSpc>
                <a:spcPts val="1107"/>
              </a:lnSpc>
              <a:buNone/>
            </a:pPr>
            <a:r>
              <a:rPr lang="en-US" sz="820" dirty="0">
                <a:solidFill>
                  <a:srgbClr val="3F3A33"/>
                </a:solidFill>
                <a:latin typeface="Calibri" pitchFamily="34" charset="0"/>
                <a:ea typeface="Calibri" pitchFamily="34" charset="-122"/>
                <a:cs typeface="Calibri" pitchFamily="34" charset="-120"/>
              </a:rPr>
              <a:t>Play-based methods; parent guidance</a:t>
            </a:r>
            <a:endParaRPr lang="en-US" sz="820" dirty="0"/>
          </a:p>
        </p:txBody>
      </p:sp>
      <p:sp>
        <p:nvSpPr>
          <p:cNvPr id="22" name="Text 20"/>
          <p:cNvSpPr txBox="1"/>
          <p:nvPr/>
        </p:nvSpPr>
        <p:spPr>
          <a:xfrm>
            <a:off x="2894990" y="4690872"/>
            <a:ext cx="2072030" cy="179070"/>
          </a:xfrm>
          <a:prstGeom prst="rect">
            <a:avLst/>
          </a:prstGeom>
          <a:noFill/>
          <a:ln/>
        </p:spPr>
        <p:txBody>
          <a:bodyPr wrap="square" lIns="0" tIns="0" rIns="0" bIns="0" rtlCol="0" anchor="t"/>
          <a:lstStyle/>
          <a:p>
            <a:pPr algn="ctr" indent="0" marL="0">
              <a:lnSpc>
                <a:spcPts val="810"/>
              </a:lnSpc>
              <a:buNone/>
            </a:pPr>
            <a:r>
              <a:rPr lang="en-US" sz="600" spc="120" kern="0" dirty="0">
                <a:solidFill>
                  <a:srgbClr val="96733C">
                    <a:alpha val="75000"/>
                  </a:srgbClr>
                </a:solidFill>
                <a:latin typeface="Calibri" pitchFamily="34" charset="0"/>
                <a:ea typeface="Calibri" pitchFamily="34" charset="-122"/>
                <a:cs typeface="Calibri" pitchFamily="34" charset="-120"/>
              </a:rPr>
              <a:t>CLINICAL FOCUS</a:t>
            </a:r>
            <a:endParaRPr lang="en-US" sz="600" dirty="0"/>
          </a:p>
        </p:txBody>
      </p:sp>
      <p:sp>
        <p:nvSpPr>
          <p:cNvPr id="23" name="Shape 21"/>
          <p:cNvSpPr/>
          <p:nvPr/>
        </p:nvSpPr>
        <p:spPr>
          <a:xfrm>
            <a:off x="2894990" y="2816352"/>
            <a:ext cx="91" cy="2606040"/>
          </a:xfrm>
          <a:prstGeom prst="line">
            <a:avLst/>
          </a:prstGeom>
          <a:noFill/>
          <a:ln w="6350">
            <a:solidFill>
              <a:srgbClr val="D9CDB7">
                <a:alpha val="60000"/>
              </a:srgbClr>
            </a:solidFill>
            <a:prstDash val="solid"/>
            <a:headEnd type="none"/>
            <a:tailEnd type="none"/>
          </a:ln>
        </p:spPr>
      </p:sp>
      <p:sp>
        <p:nvSpPr>
          <p:cNvPr id="24" name="Text 22"/>
          <p:cNvSpPr txBox="1"/>
          <p:nvPr/>
        </p:nvSpPr>
        <p:spPr>
          <a:xfrm>
            <a:off x="4967021" y="2403729"/>
            <a:ext cx="2072030" cy="420624"/>
          </a:xfrm>
          <a:prstGeom prst="rect">
            <a:avLst/>
          </a:prstGeom>
          <a:noFill/>
          <a:ln/>
        </p:spPr>
        <p:txBody>
          <a:bodyPr wrap="square" lIns="0" tIns="0" rIns="0" bIns="0" rtlCol="0" anchor="t"/>
          <a:lstStyle/>
          <a:p>
            <a:pPr algn="ctr" indent="0" marL="0">
              <a:lnSpc>
                <a:spcPts val="1890"/>
              </a:lnSpc>
              <a:buNone/>
            </a:pPr>
            <a:r>
              <a:rPr lang="en-US" sz="1400" dirty="0">
                <a:solidFill>
                  <a:srgbClr val="E7D3A9"/>
                </a:solidFill>
                <a:latin typeface="Georgia" pitchFamily="34" charset="0"/>
                <a:ea typeface="Georgia" pitchFamily="34" charset="-122"/>
                <a:cs typeface="Georgia" pitchFamily="34" charset="-120"/>
              </a:rPr>
              <a:t>7–11</a:t>
            </a:r>
            <a:endParaRPr lang="en-US" sz="1400" dirty="0"/>
          </a:p>
        </p:txBody>
      </p:sp>
      <p:sp>
        <p:nvSpPr>
          <p:cNvPr id="25" name="Text 23"/>
          <p:cNvSpPr txBox="1"/>
          <p:nvPr/>
        </p:nvSpPr>
        <p:spPr>
          <a:xfrm>
            <a:off x="4967021" y="2862072"/>
            <a:ext cx="2072030" cy="305816"/>
          </a:xfrm>
          <a:prstGeom prst="rect">
            <a:avLst/>
          </a:prstGeom>
          <a:noFill/>
          <a:ln/>
        </p:spPr>
        <p:txBody>
          <a:bodyPr wrap="square" lIns="0" tIns="0" rIns="0" bIns="0" rtlCol="0" anchor="t"/>
          <a:lstStyle/>
          <a:p>
            <a:pPr algn="ctr" indent="0" marL="0">
              <a:lnSpc>
                <a:spcPts val="1288"/>
              </a:lnSpc>
              <a:buNone/>
            </a:pPr>
            <a:r>
              <a:rPr lang="en-US" sz="1120" dirty="0">
                <a:solidFill>
                  <a:srgbClr val="1B1815"/>
                </a:solidFill>
                <a:latin typeface="Georgia" pitchFamily="34" charset="0"/>
                <a:ea typeface="Georgia" pitchFamily="34" charset="-122"/>
                <a:cs typeface="Georgia" pitchFamily="34" charset="-120"/>
              </a:rPr>
              <a:t>Middle childhood</a:t>
            </a:r>
            <a:endParaRPr lang="en-US" sz="1120" dirty="0"/>
          </a:p>
        </p:txBody>
      </p:sp>
      <p:sp>
        <p:nvSpPr>
          <p:cNvPr id="26" name="Text 24"/>
          <p:cNvSpPr txBox="1"/>
          <p:nvPr/>
        </p:nvSpPr>
        <p:spPr>
          <a:xfrm>
            <a:off x="5076749" y="3538728"/>
            <a:ext cx="1852574" cy="238760"/>
          </a:xfrm>
          <a:prstGeom prst="rect">
            <a:avLst/>
          </a:prstGeom>
          <a:noFill/>
          <a:ln/>
        </p:spPr>
        <p:txBody>
          <a:bodyPr wrap="square" lIns="0" tIns="0" rIns="0" bIns="0" rtlCol="0" anchor="t"/>
          <a:lstStyle/>
          <a:p>
            <a:pPr algn="ctr" indent="0" marL="0">
              <a:lnSpc>
                <a:spcPts val="1080"/>
              </a:lnSpc>
              <a:buNone/>
            </a:pPr>
            <a:r>
              <a:rPr lang="en-US" sz="800" dirty="0">
                <a:solidFill>
                  <a:srgbClr val="5B544A"/>
                </a:solidFill>
                <a:latin typeface="Calibri" pitchFamily="34" charset="0"/>
                <a:ea typeface="Calibri" pitchFamily="34" charset="-122"/>
                <a:cs typeface="Calibri" pitchFamily="34" charset="-120"/>
              </a:rPr>
              <a:t>School, peers, competence</a:t>
            </a:r>
            <a:endParaRPr lang="en-US" sz="800" dirty="0"/>
          </a:p>
        </p:txBody>
      </p:sp>
      <p:sp>
        <p:nvSpPr>
          <p:cNvPr id="27" name="Shape 25"/>
          <p:cNvSpPr/>
          <p:nvPr/>
        </p:nvSpPr>
        <p:spPr>
          <a:xfrm>
            <a:off x="5168189" y="4160520"/>
            <a:ext cx="1669694" cy="91"/>
          </a:xfrm>
          <a:prstGeom prst="line">
            <a:avLst/>
          </a:prstGeom>
          <a:noFill/>
          <a:ln w="7620">
            <a:solidFill>
              <a:srgbClr val="D9CDB7"/>
            </a:solidFill>
            <a:prstDash val="solid"/>
            <a:headEnd type="none"/>
            <a:tailEnd type="none"/>
          </a:ln>
        </p:spPr>
      </p:sp>
      <p:sp>
        <p:nvSpPr>
          <p:cNvPr id="28" name="Text 26"/>
          <p:cNvSpPr txBox="1"/>
          <p:nvPr/>
        </p:nvSpPr>
        <p:spPr>
          <a:xfrm>
            <a:off x="5076749" y="4325112"/>
            <a:ext cx="1852574" cy="244729"/>
          </a:xfrm>
          <a:prstGeom prst="rect">
            <a:avLst/>
          </a:prstGeom>
          <a:noFill/>
          <a:ln/>
        </p:spPr>
        <p:txBody>
          <a:bodyPr wrap="square" lIns="0" tIns="0" rIns="0" bIns="0" rtlCol="0" anchor="t"/>
          <a:lstStyle/>
          <a:p>
            <a:pPr algn="ctr" indent="0" marL="0">
              <a:lnSpc>
                <a:spcPts val="1107"/>
              </a:lnSpc>
              <a:buNone/>
            </a:pPr>
            <a:r>
              <a:rPr lang="en-US" sz="820" dirty="0">
                <a:solidFill>
                  <a:srgbClr val="3F3A33"/>
                </a:solidFill>
                <a:latin typeface="Calibri" pitchFamily="34" charset="0"/>
                <a:ea typeface="Calibri" pitchFamily="34" charset="-122"/>
                <a:cs typeface="Calibri" pitchFamily="34" charset="-120"/>
              </a:rPr>
              <a:t>School–family liaison; structure</a:t>
            </a:r>
            <a:endParaRPr lang="en-US" sz="820" dirty="0"/>
          </a:p>
        </p:txBody>
      </p:sp>
      <p:sp>
        <p:nvSpPr>
          <p:cNvPr id="29" name="Text 27"/>
          <p:cNvSpPr txBox="1"/>
          <p:nvPr/>
        </p:nvSpPr>
        <p:spPr>
          <a:xfrm>
            <a:off x="4967021" y="4690872"/>
            <a:ext cx="2072030" cy="179070"/>
          </a:xfrm>
          <a:prstGeom prst="rect">
            <a:avLst/>
          </a:prstGeom>
          <a:noFill/>
          <a:ln/>
        </p:spPr>
        <p:txBody>
          <a:bodyPr wrap="square" lIns="0" tIns="0" rIns="0" bIns="0" rtlCol="0" anchor="t"/>
          <a:lstStyle/>
          <a:p>
            <a:pPr algn="ctr" indent="0" marL="0">
              <a:lnSpc>
                <a:spcPts val="810"/>
              </a:lnSpc>
              <a:buNone/>
            </a:pPr>
            <a:r>
              <a:rPr lang="en-US" sz="600" spc="120" kern="0" dirty="0">
                <a:solidFill>
                  <a:srgbClr val="96733C">
                    <a:alpha val="75000"/>
                  </a:srgbClr>
                </a:solidFill>
                <a:latin typeface="Calibri" pitchFamily="34" charset="0"/>
                <a:ea typeface="Calibri" pitchFamily="34" charset="-122"/>
                <a:cs typeface="Calibri" pitchFamily="34" charset="-120"/>
              </a:rPr>
              <a:t>CLINICAL FOCUS</a:t>
            </a:r>
            <a:endParaRPr lang="en-US" sz="600" dirty="0"/>
          </a:p>
        </p:txBody>
      </p:sp>
      <p:sp>
        <p:nvSpPr>
          <p:cNvPr id="30" name="Shape 28"/>
          <p:cNvSpPr/>
          <p:nvPr/>
        </p:nvSpPr>
        <p:spPr>
          <a:xfrm>
            <a:off x="4967021" y="2816352"/>
            <a:ext cx="91" cy="2606040"/>
          </a:xfrm>
          <a:prstGeom prst="line">
            <a:avLst/>
          </a:prstGeom>
          <a:noFill/>
          <a:ln w="6350">
            <a:solidFill>
              <a:srgbClr val="D9CDB7">
                <a:alpha val="60000"/>
              </a:srgbClr>
            </a:solidFill>
            <a:prstDash val="solid"/>
            <a:headEnd type="none"/>
            <a:tailEnd type="none"/>
          </a:ln>
        </p:spPr>
      </p:sp>
      <p:sp>
        <p:nvSpPr>
          <p:cNvPr id="31" name="Text 29"/>
          <p:cNvSpPr txBox="1"/>
          <p:nvPr/>
        </p:nvSpPr>
        <p:spPr>
          <a:xfrm>
            <a:off x="7039051" y="2403729"/>
            <a:ext cx="2072030" cy="420624"/>
          </a:xfrm>
          <a:prstGeom prst="rect">
            <a:avLst/>
          </a:prstGeom>
          <a:noFill/>
          <a:ln/>
        </p:spPr>
        <p:txBody>
          <a:bodyPr wrap="square" lIns="0" tIns="0" rIns="0" bIns="0" rtlCol="0" anchor="t"/>
          <a:lstStyle/>
          <a:p>
            <a:pPr algn="ctr" indent="0" marL="0">
              <a:lnSpc>
                <a:spcPts val="1890"/>
              </a:lnSpc>
              <a:buNone/>
            </a:pPr>
            <a:r>
              <a:rPr lang="en-US" sz="1400" dirty="0">
                <a:solidFill>
                  <a:srgbClr val="E7D3A9"/>
                </a:solidFill>
                <a:latin typeface="Georgia" pitchFamily="34" charset="0"/>
                <a:ea typeface="Georgia" pitchFamily="34" charset="-122"/>
                <a:cs typeface="Georgia" pitchFamily="34" charset="-120"/>
              </a:rPr>
              <a:t>12–18</a:t>
            </a:r>
            <a:endParaRPr lang="en-US" sz="1400" dirty="0"/>
          </a:p>
        </p:txBody>
      </p:sp>
      <p:sp>
        <p:nvSpPr>
          <p:cNvPr id="32" name="Text 30"/>
          <p:cNvSpPr txBox="1"/>
          <p:nvPr/>
        </p:nvSpPr>
        <p:spPr>
          <a:xfrm>
            <a:off x="7039051" y="2862072"/>
            <a:ext cx="2072030" cy="305816"/>
          </a:xfrm>
          <a:prstGeom prst="rect">
            <a:avLst/>
          </a:prstGeom>
          <a:noFill/>
          <a:ln/>
        </p:spPr>
        <p:txBody>
          <a:bodyPr wrap="square" lIns="0" tIns="0" rIns="0" bIns="0" rtlCol="0" anchor="t"/>
          <a:lstStyle/>
          <a:p>
            <a:pPr algn="ctr" indent="0" marL="0">
              <a:lnSpc>
                <a:spcPts val="1288"/>
              </a:lnSpc>
              <a:buNone/>
            </a:pPr>
            <a:r>
              <a:rPr lang="en-US" sz="1120" dirty="0">
                <a:solidFill>
                  <a:srgbClr val="1B1815"/>
                </a:solidFill>
                <a:latin typeface="Georgia" pitchFamily="34" charset="0"/>
                <a:ea typeface="Georgia" pitchFamily="34" charset="-122"/>
                <a:cs typeface="Georgia" pitchFamily="34" charset="-120"/>
              </a:rPr>
              <a:t>Adolescence</a:t>
            </a:r>
            <a:endParaRPr lang="en-US" sz="1120" dirty="0"/>
          </a:p>
        </p:txBody>
      </p:sp>
      <p:sp>
        <p:nvSpPr>
          <p:cNvPr id="33" name="Text 31"/>
          <p:cNvSpPr txBox="1"/>
          <p:nvPr/>
        </p:nvSpPr>
        <p:spPr>
          <a:xfrm>
            <a:off x="7148779" y="3538728"/>
            <a:ext cx="1852574" cy="238760"/>
          </a:xfrm>
          <a:prstGeom prst="rect">
            <a:avLst/>
          </a:prstGeom>
          <a:noFill/>
          <a:ln/>
        </p:spPr>
        <p:txBody>
          <a:bodyPr wrap="square" lIns="0" tIns="0" rIns="0" bIns="0" rtlCol="0" anchor="t"/>
          <a:lstStyle/>
          <a:p>
            <a:pPr algn="ctr" indent="0" marL="0">
              <a:lnSpc>
                <a:spcPts val="1080"/>
              </a:lnSpc>
              <a:buNone/>
            </a:pPr>
            <a:r>
              <a:rPr lang="en-US" sz="800" dirty="0">
                <a:solidFill>
                  <a:srgbClr val="5B544A"/>
                </a:solidFill>
                <a:latin typeface="Calibri" pitchFamily="34" charset="0"/>
                <a:ea typeface="Calibri" pitchFamily="34" charset="-122"/>
                <a:cs typeface="Calibri" pitchFamily="34" charset="-120"/>
              </a:rPr>
              <a:t>Identity, autonomy, sexuality</a:t>
            </a:r>
            <a:endParaRPr lang="en-US" sz="800" dirty="0"/>
          </a:p>
        </p:txBody>
      </p:sp>
      <p:sp>
        <p:nvSpPr>
          <p:cNvPr id="34" name="Shape 32"/>
          <p:cNvSpPr/>
          <p:nvPr/>
        </p:nvSpPr>
        <p:spPr>
          <a:xfrm>
            <a:off x="7240219" y="4160520"/>
            <a:ext cx="1669694" cy="91"/>
          </a:xfrm>
          <a:prstGeom prst="line">
            <a:avLst/>
          </a:prstGeom>
          <a:noFill/>
          <a:ln w="7620">
            <a:solidFill>
              <a:srgbClr val="D9CDB7"/>
            </a:solidFill>
            <a:prstDash val="solid"/>
            <a:headEnd type="none"/>
            <a:tailEnd type="none"/>
          </a:ln>
        </p:spPr>
      </p:sp>
      <p:sp>
        <p:nvSpPr>
          <p:cNvPr id="35" name="Text 33"/>
          <p:cNvSpPr txBox="1"/>
          <p:nvPr/>
        </p:nvSpPr>
        <p:spPr>
          <a:xfrm>
            <a:off x="7148779" y="4325112"/>
            <a:ext cx="1852574" cy="244729"/>
          </a:xfrm>
          <a:prstGeom prst="rect">
            <a:avLst/>
          </a:prstGeom>
          <a:noFill/>
          <a:ln/>
        </p:spPr>
        <p:txBody>
          <a:bodyPr wrap="square" lIns="0" tIns="0" rIns="0" bIns="0" rtlCol="0" anchor="t"/>
          <a:lstStyle/>
          <a:p>
            <a:pPr algn="ctr" indent="0" marL="0">
              <a:lnSpc>
                <a:spcPts val="1107"/>
              </a:lnSpc>
              <a:buNone/>
            </a:pPr>
            <a:r>
              <a:rPr lang="en-US" sz="820" dirty="0">
                <a:solidFill>
                  <a:srgbClr val="3F3A33"/>
                </a:solidFill>
                <a:latin typeface="Calibri" pitchFamily="34" charset="0"/>
                <a:ea typeface="Calibri" pitchFamily="34" charset="-122"/>
                <a:cs typeface="Calibri" pitchFamily="34" charset="-120"/>
              </a:rPr>
              <a:t>Negotiate privacy; alliance with teen</a:t>
            </a:r>
            <a:endParaRPr lang="en-US" sz="820" dirty="0"/>
          </a:p>
        </p:txBody>
      </p:sp>
      <p:sp>
        <p:nvSpPr>
          <p:cNvPr id="36" name="Text 34"/>
          <p:cNvSpPr txBox="1"/>
          <p:nvPr/>
        </p:nvSpPr>
        <p:spPr>
          <a:xfrm>
            <a:off x="7039051" y="4690872"/>
            <a:ext cx="2072030" cy="179070"/>
          </a:xfrm>
          <a:prstGeom prst="rect">
            <a:avLst/>
          </a:prstGeom>
          <a:noFill/>
          <a:ln/>
        </p:spPr>
        <p:txBody>
          <a:bodyPr wrap="square" lIns="0" tIns="0" rIns="0" bIns="0" rtlCol="0" anchor="t"/>
          <a:lstStyle/>
          <a:p>
            <a:pPr algn="ctr" indent="0" marL="0">
              <a:lnSpc>
                <a:spcPts val="810"/>
              </a:lnSpc>
              <a:buNone/>
            </a:pPr>
            <a:r>
              <a:rPr lang="en-US" sz="600" spc="120" kern="0" dirty="0">
                <a:solidFill>
                  <a:srgbClr val="96733C">
                    <a:alpha val="75000"/>
                  </a:srgbClr>
                </a:solidFill>
                <a:latin typeface="Calibri" pitchFamily="34" charset="0"/>
                <a:ea typeface="Calibri" pitchFamily="34" charset="-122"/>
                <a:cs typeface="Calibri" pitchFamily="34" charset="-120"/>
              </a:rPr>
              <a:t>CLINICAL FOCUS</a:t>
            </a:r>
            <a:endParaRPr lang="en-US" sz="600" dirty="0"/>
          </a:p>
        </p:txBody>
      </p:sp>
      <p:sp>
        <p:nvSpPr>
          <p:cNvPr id="37" name="Shape 35"/>
          <p:cNvSpPr/>
          <p:nvPr/>
        </p:nvSpPr>
        <p:spPr>
          <a:xfrm>
            <a:off x="7039051" y="2816352"/>
            <a:ext cx="91" cy="2606040"/>
          </a:xfrm>
          <a:prstGeom prst="line">
            <a:avLst/>
          </a:prstGeom>
          <a:noFill/>
          <a:ln w="6350">
            <a:solidFill>
              <a:srgbClr val="D9CDB7">
                <a:alpha val="60000"/>
              </a:srgbClr>
            </a:solidFill>
            <a:prstDash val="solid"/>
            <a:headEnd type="none"/>
            <a:tailEnd type="none"/>
          </a:ln>
        </p:spPr>
      </p:sp>
      <p:sp>
        <p:nvSpPr>
          <p:cNvPr id="38" name="Text 36"/>
          <p:cNvSpPr txBox="1"/>
          <p:nvPr/>
        </p:nvSpPr>
        <p:spPr>
          <a:xfrm>
            <a:off x="9111082" y="2403729"/>
            <a:ext cx="2072030" cy="420624"/>
          </a:xfrm>
          <a:prstGeom prst="rect">
            <a:avLst/>
          </a:prstGeom>
          <a:noFill/>
          <a:ln/>
        </p:spPr>
        <p:txBody>
          <a:bodyPr wrap="square" lIns="0" tIns="0" rIns="0" bIns="0" rtlCol="0" anchor="t"/>
          <a:lstStyle/>
          <a:p>
            <a:pPr algn="ctr" indent="0" marL="0">
              <a:lnSpc>
                <a:spcPts val="1890"/>
              </a:lnSpc>
              <a:buNone/>
            </a:pPr>
            <a:r>
              <a:rPr lang="en-US" sz="1400" dirty="0">
                <a:solidFill>
                  <a:srgbClr val="E7D3A9"/>
                </a:solidFill>
                <a:latin typeface="Georgia" pitchFamily="34" charset="0"/>
                <a:ea typeface="Georgia" pitchFamily="34" charset="-122"/>
                <a:cs typeface="Georgia" pitchFamily="34" charset="-120"/>
              </a:rPr>
              <a:t>19+</a:t>
            </a:r>
            <a:endParaRPr lang="en-US" sz="1400" dirty="0"/>
          </a:p>
        </p:txBody>
      </p:sp>
      <p:sp>
        <p:nvSpPr>
          <p:cNvPr id="39" name="Text 37"/>
          <p:cNvSpPr txBox="1"/>
          <p:nvPr/>
        </p:nvSpPr>
        <p:spPr>
          <a:xfrm>
            <a:off x="9111082" y="2862072"/>
            <a:ext cx="2072030" cy="305816"/>
          </a:xfrm>
          <a:prstGeom prst="rect">
            <a:avLst/>
          </a:prstGeom>
          <a:noFill/>
          <a:ln/>
        </p:spPr>
        <p:txBody>
          <a:bodyPr wrap="square" lIns="0" tIns="0" rIns="0" bIns="0" rtlCol="0" anchor="t"/>
          <a:lstStyle/>
          <a:p>
            <a:pPr algn="ctr" indent="0" marL="0">
              <a:lnSpc>
                <a:spcPts val="1288"/>
              </a:lnSpc>
              <a:buNone/>
            </a:pPr>
            <a:r>
              <a:rPr lang="en-US" sz="1120" dirty="0">
                <a:solidFill>
                  <a:srgbClr val="1B1815"/>
                </a:solidFill>
                <a:latin typeface="Georgia" pitchFamily="34" charset="0"/>
                <a:ea typeface="Georgia" pitchFamily="34" charset="-122"/>
                <a:cs typeface="Georgia" pitchFamily="34" charset="-120"/>
              </a:rPr>
              <a:t>Emerging adulthood</a:t>
            </a:r>
            <a:endParaRPr lang="en-US" sz="1120" dirty="0"/>
          </a:p>
        </p:txBody>
      </p:sp>
      <p:sp>
        <p:nvSpPr>
          <p:cNvPr id="40" name="Text 38"/>
          <p:cNvSpPr txBox="1"/>
          <p:nvPr/>
        </p:nvSpPr>
        <p:spPr>
          <a:xfrm>
            <a:off x="9220810" y="3538728"/>
            <a:ext cx="1852574" cy="238760"/>
          </a:xfrm>
          <a:prstGeom prst="rect">
            <a:avLst/>
          </a:prstGeom>
          <a:noFill/>
          <a:ln/>
        </p:spPr>
        <p:txBody>
          <a:bodyPr wrap="square" lIns="0" tIns="0" rIns="0" bIns="0" rtlCol="0" anchor="t"/>
          <a:lstStyle/>
          <a:p>
            <a:pPr algn="ctr" indent="0" marL="0">
              <a:lnSpc>
                <a:spcPts val="1080"/>
              </a:lnSpc>
              <a:buNone/>
            </a:pPr>
            <a:r>
              <a:rPr lang="en-US" sz="800" dirty="0">
                <a:solidFill>
                  <a:srgbClr val="5B544A"/>
                </a:solidFill>
                <a:latin typeface="Calibri" pitchFamily="34" charset="0"/>
                <a:ea typeface="Calibri" pitchFamily="34" charset="-122"/>
                <a:cs typeface="Calibri" pitchFamily="34" charset="-120"/>
              </a:rPr>
              <a:t>Launching, individuation</a:t>
            </a:r>
            <a:endParaRPr lang="en-US" sz="800" dirty="0"/>
          </a:p>
        </p:txBody>
      </p:sp>
      <p:sp>
        <p:nvSpPr>
          <p:cNvPr id="41" name="Shape 39"/>
          <p:cNvSpPr/>
          <p:nvPr/>
        </p:nvSpPr>
        <p:spPr>
          <a:xfrm>
            <a:off x="9312250" y="4160520"/>
            <a:ext cx="1669694" cy="91"/>
          </a:xfrm>
          <a:prstGeom prst="line">
            <a:avLst/>
          </a:prstGeom>
          <a:noFill/>
          <a:ln w="7620">
            <a:solidFill>
              <a:srgbClr val="D9CDB7"/>
            </a:solidFill>
            <a:prstDash val="solid"/>
            <a:headEnd type="none"/>
            <a:tailEnd type="none"/>
          </a:ln>
        </p:spPr>
      </p:sp>
      <p:sp>
        <p:nvSpPr>
          <p:cNvPr id="42" name="Text 40"/>
          <p:cNvSpPr txBox="1"/>
          <p:nvPr/>
        </p:nvSpPr>
        <p:spPr>
          <a:xfrm>
            <a:off x="9220810" y="4325112"/>
            <a:ext cx="1852574" cy="244729"/>
          </a:xfrm>
          <a:prstGeom prst="rect">
            <a:avLst/>
          </a:prstGeom>
          <a:noFill/>
          <a:ln/>
        </p:spPr>
        <p:txBody>
          <a:bodyPr wrap="square" lIns="0" tIns="0" rIns="0" bIns="0" rtlCol="0" anchor="t"/>
          <a:lstStyle/>
          <a:p>
            <a:pPr algn="ctr" indent="0" marL="0">
              <a:lnSpc>
                <a:spcPts val="1107"/>
              </a:lnSpc>
              <a:buNone/>
            </a:pPr>
            <a:r>
              <a:rPr lang="en-US" sz="820" dirty="0">
                <a:solidFill>
                  <a:srgbClr val="3F3A33"/>
                </a:solidFill>
                <a:latin typeface="Calibri" pitchFamily="34" charset="0"/>
                <a:ea typeface="Calibri" pitchFamily="34" charset="-122"/>
                <a:cs typeface="Calibri" pitchFamily="34" charset="-120"/>
              </a:rPr>
              <a:t>Re-contract the parent–child bond</a:t>
            </a:r>
            <a:endParaRPr lang="en-US" sz="820" dirty="0"/>
          </a:p>
        </p:txBody>
      </p:sp>
      <p:sp>
        <p:nvSpPr>
          <p:cNvPr id="43" name="Text 41"/>
          <p:cNvSpPr txBox="1"/>
          <p:nvPr/>
        </p:nvSpPr>
        <p:spPr>
          <a:xfrm>
            <a:off x="9111082" y="4690872"/>
            <a:ext cx="2072030" cy="179070"/>
          </a:xfrm>
          <a:prstGeom prst="rect">
            <a:avLst/>
          </a:prstGeom>
          <a:noFill/>
          <a:ln/>
        </p:spPr>
        <p:txBody>
          <a:bodyPr wrap="square" lIns="0" tIns="0" rIns="0" bIns="0" rtlCol="0" anchor="t"/>
          <a:lstStyle/>
          <a:p>
            <a:pPr algn="ctr" indent="0" marL="0">
              <a:lnSpc>
                <a:spcPts val="810"/>
              </a:lnSpc>
              <a:buNone/>
            </a:pPr>
            <a:r>
              <a:rPr lang="en-US" sz="600" spc="120" kern="0" dirty="0">
                <a:solidFill>
                  <a:srgbClr val="96733C">
                    <a:alpha val="75000"/>
                  </a:srgbClr>
                </a:solidFill>
                <a:latin typeface="Calibri" pitchFamily="34" charset="0"/>
                <a:ea typeface="Calibri" pitchFamily="34" charset="-122"/>
                <a:cs typeface="Calibri" pitchFamily="34" charset="-120"/>
              </a:rPr>
              <a:t>CLINICAL FOCUS</a:t>
            </a:r>
            <a:endParaRPr lang="en-US" sz="600" dirty="0"/>
          </a:p>
        </p:txBody>
      </p:sp>
      <p:sp>
        <p:nvSpPr>
          <p:cNvPr id="44" name="Shape 42"/>
          <p:cNvSpPr/>
          <p:nvPr/>
        </p:nvSpPr>
        <p:spPr>
          <a:xfrm>
            <a:off x="9111082" y="2816352"/>
            <a:ext cx="91" cy="2606040"/>
          </a:xfrm>
          <a:prstGeom prst="line">
            <a:avLst/>
          </a:prstGeom>
          <a:noFill/>
          <a:ln w="6350">
            <a:solidFill>
              <a:srgbClr val="D9CDB7">
                <a:alpha val="60000"/>
              </a:srgbClr>
            </a:solidFill>
            <a:prstDash val="solid"/>
            <a:headEnd type="none"/>
            <a:tailEnd type="none"/>
          </a:ln>
        </p:spPr>
      </p:sp>
      <p:sp>
        <p:nvSpPr>
          <p:cNvPr id="45" name="Shape 43"/>
          <p:cNvSpPr/>
          <p:nvPr/>
        </p:nvSpPr>
        <p:spPr>
          <a:xfrm>
            <a:off x="822960" y="4983480"/>
            <a:ext cx="10543032" cy="91"/>
          </a:xfrm>
          <a:prstGeom prst="line">
            <a:avLst/>
          </a:prstGeom>
          <a:noFill/>
          <a:ln w="8890">
            <a:solidFill>
              <a:srgbClr val="C2A05F">
                <a:alpha val="55000"/>
              </a:srgbClr>
            </a:solidFill>
            <a:prstDash val="solid"/>
            <a:headEnd type="none"/>
            <a:tailEnd type="none"/>
          </a:ln>
        </p:spPr>
      </p:sp>
      <p:sp>
        <p:nvSpPr>
          <p:cNvPr id="46" name="Text 44"/>
          <p:cNvSpPr txBox="1"/>
          <p:nvPr/>
        </p:nvSpPr>
        <p:spPr>
          <a:xfrm>
            <a:off x="822960" y="5102352"/>
            <a:ext cx="10543032" cy="233680"/>
          </a:xfrm>
          <a:prstGeom prst="rect">
            <a:avLst/>
          </a:prstGeom>
          <a:noFill/>
          <a:ln/>
        </p:spPr>
        <p:txBody>
          <a:bodyPr wrap="square" lIns="0" tIns="0" rIns="0" bIns="0" rtlCol="0" anchor="t"/>
          <a:lstStyle/>
          <a:p>
            <a:pPr algn="ctr" indent="0" marL="0">
              <a:lnSpc>
                <a:spcPts val="1040"/>
              </a:lnSpc>
              <a:buNone/>
            </a:pPr>
            <a:r>
              <a:rPr lang="en-US" sz="800" i="1" dirty="0">
                <a:solidFill>
                  <a:srgbClr val="5B544A"/>
                </a:solidFill>
                <a:latin typeface="Calibri" pitchFamily="34" charset="0"/>
                <a:ea typeface="Calibri" pitchFamily="34" charset="-122"/>
                <a:cs typeface="Calibri" pitchFamily="34" charset="-120"/>
              </a:rPr>
              <a:t>Development is not a backdrop to family life — it is one of the family’s organising constraints.</a:t>
            </a:r>
            <a:endParaRPr lang="en-US" sz="800" dirty="0"/>
          </a:p>
        </p:txBody>
      </p:sp>
      <p:sp>
        <p:nvSpPr>
          <p:cNvPr id="47" name="Text 45"/>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Read alongside the family life cycle (Week 15).</a:t>
            </a:r>
            <a:endParaRPr lang="en-US" sz="74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13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62</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symptomatic child</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299818"/>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9-year-old refuses school. Her parents disagree about whether she is “manipulative” or</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“anxious”. Her mother has recently returned to full-time work; her father works nights.</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parentification</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developmental task</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triangulation</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parenting coalition</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developmental and family transitions converge here?</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is the school refusal doing for the system?</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Who needs to be in the next session?</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14 · PHASE IV — INTEGRATION &amp; TRANSITION</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14</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Couple Relationships, Attachment</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and Repair</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476377"/>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What if the problem is not the argument, but the cycle beneath it?</a:t>
            </a:r>
            <a:endParaRPr lang="en-US" sz="1550" dirty="0"/>
          </a:p>
        </p:txBody>
      </p:sp>
      <p:sp>
        <p:nvSpPr>
          <p:cNvPr id="8" name="Shape 6"/>
          <p:cNvSpPr/>
          <p:nvPr/>
        </p:nvSpPr>
        <p:spPr>
          <a:xfrm>
            <a:off x="822960" y="3911219"/>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cycle beneath the argument</a:t>
            </a:r>
            <a:endParaRPr lang="en-US" sz="850" dirty="0"/>
          </a:p>
        </p:txBody>
      </p:sp>
      <p:sp>
        <p:nvSpPr>
          <p:cNvPr id="11" name="Text 9"/>
          <p:cNvSpPr txBox="1"/>
          <p:nvPr/>
        </p:nvSpPr>
        <p:spPr>
          <a:xfrm>
            <a:off x="3282696"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Mapping the negative cycle</a:t>
            </a:r>
            <a:endParaRPr lang="en-US" sz="850" dirty="0"/>
          </a:p>
        </p:txBody>
      </p:sp>
      <p:sp>
        <p:nvSpPr>
          <p:cNvPr id="13" name="Text 11"/>
          <p:cNvSpPr txBox="1"/>
          <p:nvPr/>
        </p:nvSpPr>
        <p:spPr>
          <a:xfrm>
            <a:off x="5742432" y="4057523"/>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4249547"/>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argument underneath</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Describe attachment cycles in couple distress.</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Map a pursuer–withdrawer sequence.</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Identify and rehearse a repair move.</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negative cycle · attachment · pursuer–withdrawer · repair</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Johnson (2019), ch. 1–4 · Gottman &amp; Gottman (2017)</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96733C"/>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96733C"/>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96733C"/>
          </a:solidFill>
          <a:ln w="12700">
            <a:solidFill>
              <a:srgbClr val="FFFFFF">
                <a:alpha val="0"/>
              </a:srgbClr>
            </a:solidFill>
            <a:prstDash val="solid"/>
          </a:ln>
        </p:spPr>
      </p:sp>
      <p:sp>
        <p:nvSpPr>
          <p:cNvPr id="40" name="Shape 38"/>
          <p:cNvSpPr/>
          <p:nvPr/>
        </p:nvSpPr>
        <p:spPr>
          <a:xfrm>
            <a:off x="9872472" y="5696712"/>
            <a:ext cx="128016" cy="128016"/>
          </a:xfrm>
          <a:prstGeom prst="ellipse">
            <a:avLst/>
          </a:prstGeom>
          <a:solidFill>
            <a:srgbClr val="C2A05F"/>
          </a:solidFill>
          <a:ln w="8890">
            <a:solidFill>
              <a:srgbClr val="E7D3A9"/>
            </a:solidFill>
            <a:prstDash val="solid"/>
          </a:ln>
        </p:spPr>
      </p:sp>
      <p:sp>
        <p:nvSpPr>
          <p:cNvPr id="41" name="Shape 39"/>
          <p:cNvSpPr/>
          <p:nvPr/>
        </p:nvSpPr>
        <p:spPr>
          <a:xfrm>
            <a:off x="10608259" y="5731459"/>
            <a:ext cx="58522" cy="58522"/>
          </a:xfrm>
          <a:prstGeom prst="ellipse">
            <a:avLst/>
          </a:prstGeom>
          <a:solidFill>
            <a:srgbClr val="1E1913"/>
          </a:solidFill>
          <a:ln w="12700">
            <a:solidFill>
              <a:srgbClr val="FFFFFF">
                <a:alpha val="0"/>
              </a:srgbClr>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14 · LECTURE 14</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64</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The cycle beneath the argument</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Couples do not fight about the dishes. They fight about whether they matter to each other — and the dishes are the only</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vocabulary available.</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ATTACHMENT IN ADULTHOOD</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Proximity-seeking, safe haven, secure base: the needs that organise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infancy organise marriage. Attachment is not dependency; it is how</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humans regulate fear.</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Protest behaviours signal threat</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Withdrawal protects and abandons</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Security is built in small repetitions</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THE PURSUER–WITHDRAWER CYCLE</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Protest and withdrawal are two versions of the same attachment cry.</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Each triggers the other, and each is experienced as the cause.</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Criticism invites distance</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Distance confirms abandonment</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 cycle, not the partner, is the problem</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REPAIR</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Repair is not the absence of conflict. It is the return to connection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after rupture — and it can be learned.</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Name the cycle</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Validate the fear beneath the move</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Risk a new response</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EMOTIONALLY FOCUSED THERAPY</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Change the cycle, not the person</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EFT tracks the cycle, accesses the attachment emotion, and stages a new conversation in which each partner</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can be reached.</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Johnson (2019); Gottman &amp; Gottman (2017);</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Epstein &amp; Baucom (2002).</a:t>
            </a:r>
            <a:endParaRPr lang="en-US" sz="62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14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65</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Mapping the negative cycle</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A three-move loop, repeated thousands of times, until it feels like the truth about the relationship.</a:t>
            </a:r>
            <a:endParaRPr lang="en-US" sz="1060" dirty="0"/>
          </a:p>
        </p:txBody>
      </p:sp>
      <p:sp>
        <p:nvSpPr>
          <p:cNvPr id="10" name="Shape 8"/>
          <p:cNvSpPr/>
          <p:nvPr/>
        </p:nvSpPr>
        <p:spPr>
          <a:xfrm>
            <a:off x="1325880" y="2194560"/>
            <a:ext cx="2240280" cy="877824"/>
          </a:xfrm>
          <a:prstGeom prst="roundRect">
            <a:avLst>
              <a:gd name="adj" fmla="val 4883"/>
            </a:avLst>
          </a:prstGeom>
          <a:solidFill>
            <a:srgbClr val="FBF7EF"/>
          </a:solidFill>
          <a:ln w="8890">
            <a:solidFill>
              <a:srgbClr val="D9CDB7"/>
            </a:solidFill>
            <a:prstDash val="solid"/>
          </a:ln>
        </p:spPr>
      </p:sp>
      <p:sp>
        <p:nvSpPr>
          <p:cNvPr id="11" name="Text 9"/>
          <p:cNvSpPr txBox="1"/>
          <p:nvPr/>
        </p:nvSpPr>
        <p:spPr>
          <a:xfrm>
            <a:off x="1417320" y="2331720"/>
            <a:ext cx="2057400" cy="370078"/>
          </a:xfrm>
          <a:prstGeom prst="rect">
            <a:avLst/>
          </a:prstGeom>
          <a:noFill/>
          <a:ln/>
        </p:spPr>
        <p:txBody>
          <a:bodyPr wrap="square" lIns="0" tIns="0" rIns="0" bIns="0" rtlCol="0" anchor="t"/>
          <a:lstStyle/>
          <a:p>
            <a:pPr algn="ctr" indent="0" marL="0">
              <a:lnSpc>
                <a:spcPts val="1674"/>
              </a:lnSpc>
              <a:buNone/>
            </a:pPr>
            <a:r>
              <a:rPr lang="en-US" sz="1240" dirty="0">
                <a:solidFill>
                  <a:srgbClr val="1B1815"/>
                </a:solidFill>
                <a:latin typeface="Georgia" pitchFamily="34" charset="0"/>
                <a:ea typeface="Georgia" pitchFamily="34" charset="-122"/>
                <a:cs typeface="Georgia" pitchFamily="34" charset="-120"/>
              </a:rPr>
              <a:t>Pursuer</a:t>
            </a:r>
            <a:endParaRPr lang="en-US" sz="1240" dirty="0"/>
          </a:p>
        </p:txBody>
      </p:sp>
      <p:sp>
        <p:nvSpPr>
          <p:cNvPr id="12" name="Text 10"/>
          <p:cNvSpPr txBox="1"/>
          <p:nvPr/>
        </p:nvSpPr>
        <p:spPr>
          <a:xfrm>
            <a:off x="1417320" y="2670048"/>
            <a:ext cx="2057400" cy="227838"/>
          </a:xfrm>
          <a:prstGeom prst="rect">
            <a:avLst/>
          </a:prstGeom>
          <a:noFill/>
          <a:ln/>
        </p:spPr>
        <p:txBody>
          <a:bodyPr wrap="square" lIns="0" tIns="0" rIns="0" bIns="0" rtlCol="0" anchor="t"/>
          <a:lstStyle/>
          <a:p>
            <a:pPr algn="ctr" indent="0" marL="0">
              <a:lnSpc>
                <a:spcPts val="1014"/>
              </a:lnSpc>
              <a:buNone/>
            </a:pPr>
            <a:r>
              <a:rPr lang="en-US" sz="780" dirty="0">
                <a:solidFill>
                  <a:srgbClr val="5B544A"/>
                </a:solidFill>
                <a:latin typeface="Calibri" pitchFamily="34" charset="0"/>
                <a:ea typeface="Calibri" pitchFamily="34" charset="-122"/>
                <a:cs typeface="Calibri" pitchFamily="34" charset="-120"/>
              </a:rPr>
              <a:t>protest, criticism, pursuit</a:t>
            </a:r>
            <a:endParaRPr lang="en-US" sz="780" dirty="0"/>
          </a:p>
        </p:txBody>
      </p:sp>
      <p:sp>
        <p:nvSpPr>
          <p:cNvPr id="13" name="Shape 11"/>
          <p:cNvSpPr/>
          <p:nvPr/>
        </p:nvSpPr>
        <p:spPr>
          <a:xfrm>
            <a:off x="4663440" y="2194560"/>
            <a:ext cx="2240280" cy="877824"/>
          </a:xfrm>
          <a:prstGeom prst="roundRect">
            <a:avLst>
              <a:gd name="adj" fmla="val 4883"/>
            </a:avLst>
          </a:prstGeom>
          <a:solidFill>
            <a:srgbClr val="FBF7EF"/>
          </a:solidFill>
          <a:ln w="8890">
            <a:solidFill>
              <a:srgbClr val="D9CDB7"/>
            </a:solidFill>
            <a:prstDash val="solid"/>
          </a:ln>
        </p:spPr>
      </p:sp>
      <p:sp>
        <p:nvSpPr>
          <p:cNvPr id="14" name="Text 12"/>
          <p:cNvSpPr txBox="1"/>
          <p:nvPr/>
        </p:nvSpPr>
        <p:spPr>
          <a:xfrm>
            <a:off x="4754880" y="2331720"/>
            <a:ext cx="2057400" cy="370078"/>
          </a:xfrm>
          <a:prstGeom prst="rect">
            <a:avLst/>
          </a:prstGeom>
          <a:noFill/>
          <a:ln/>
        </p:spPr>
        <p:txBody>
          <a:bodyPr wrap="square" lIns="0" tIns="0" rIns="0" bIns="0" rtlCol="0" anchor="t"/>
          <a:lstStyle/>
          <a:p>
            <a:pPr algn="ctr" indent="0" marL="0">
              <a:lnSpc>
                <a:spcPts val="1674"/>
              </a:lnSpc>
              <a:buNone/>
            </a:pPr>
            <a:r>
              <a:rPr lang="en-US" sz="1240" dirty="0">
                <a:solidFill>
                  <a:srgbClr val="1B1815"/>
                </a:solidFill>
                <a:latin typeface="Georgia" pitchFamily="34" charset="0"/>
                <a:ea typeface="Georgia" pitchFamily="34" charset="-122"/>
                <a:cs typeface="Georgia" pitchFamily="34" charset="-120"/>
              </a:rPr>
              <a:t>Withdrawer</a:t>
            </a:r>
            <a:endParaRPr lang="en-US" sz="1240" dirty="0"/>
          </a:p>
        </p:txBody>
      </p:sp>
      <p:sp>
        <p:nvSpPr>
          <p:cNvPr id="15" name="Text 13"/>
          <p:cNvSpPr txBox="1"/>
          <p:nvPr/>
        </p:nvSpPr>
        <p:spPr>
          <a:xfrm>
            <a:off x="4754880" y="2670048"/>
            <a:ext cx="2057400" cy="227838"/>
          </a:xfrm>
          <a:prstGeom prst="rect">
            <a:avLst/>
          </a:prstGeom>
          <a:noFill/>
          <a:ln/>
        </p:spPr>
        <p:txBody>
          <a:bodyPr wrap="square" lIns="0" tIns="0" rIns="0" bIns="0" rtlCol="0" anchor="t"/>
          <a:lstStyle/>
          <a:p>
            <a:pPr algn="ctr" indent="0" marL="0">
              <a:lnSpc>
                <a:spcPts val="1014"/>
              </a:lnSpc>
              <a:buNone/>
            </a:pPr>
            <a:r>
              <a:rPr lang="en-US" sz="780" dirty="0">
                <a:solidFill>
                  <a:srgbClr val="5B544A"/>
                </a:solidFill>
                <a:latin typeface="Calibri" pitchFamily="34" charset="0"/>
                <a:ea typeface="Calibri" pitchFamily="34" charset="-122"/>
                <a:cs typeface="Calibri" pitchFamily="34" charset="-120"/>
              </a:rPr>
              <a:t>silence, distance, shutdown</a:t>
            </a:r>
            <a:endParaRPr lang="en-US" sz="780" dirty="0"/>
          </a:p>
        </p:txBody>
      </p:sp>
      <p:sp>
        <p:nvSpPr>
          <p:cNvPr id="16" name="Shape 14"/>
          <p:cNvSpPr/>
          <p:nvPr/>
        </p:nvSpPr>
        <p:spPr>
          <a:xfrm>
            <a:off x="3675888" y="2468880"/>
            <a:ext cx="841248" cy="91"/>
          </a:xfrm>
          <a:prstGeom prst="line">
            <a:avLst/>
          </a:prstGeom>
          <a:noFill/>
          <a:ln w="12700">
            <a:solidFill>
              <a:srgbClr val="96733C"/>
            </a:solidFill>
            <a:prstDash val="solid"/>
            <a:headEnd type="none"/>
            <a:tailEnd type="triangle"/>
          </a:ln>
        </p:spPr>
      </p:sp>
      <p:sp>
        <p:nvSpPr>
          <p:cNvPr id="17" name="Shape 15"/>
          <p:cNvSpPr/>
          <p:nvPr/>
        </p:nvSpPr>
        <p:spPr>
          <a:xfrm flipH="1">
            <a:off x="3675888" y="2779776"/>
            <a:ext cx="841248" cy="91"/>
          </a:xfrm>
          <a:prstGeom prst="line">
            <a:avLst/>
          </a:prstGeom>
          <a:noFill/>
          <a:ln w="12700">
            <a:solidFill>
              <a:srgbClr val="96733C"/>
            </a:solidFill>
            <a:prstDash val="solid"/>
            <a:headEnd type="none"/>
            <a:tailEnd type="triangle"/>
          </a:ln>
        </p:spPr>
      </p:sp>
      <p:sp>
        <p:nvSpPr>
          <p:cNvPr id="18" name="Text 16"/>
          <p:cNvSpPr txBox="1"/>
          <p:nvPr/>
        </p:nvSpPr>
        <p:spPr>
          <a:xfrm>
            <a:off x="3456432" y="2048256"/>
            <a:ext cx="1316736" cy="179070"/>
          </a:xfrm>
          <a:prstGeom prst="rect">
            <a:avLst/>
          </a:prstGeom>
          <a:noFill/>
          <a:ln/>
        </p:spPr>
        <p:txBody>
          <a:bodyPr wrap="square" lIns="0" tIns="0" rIns="0" bIns="0" rtlCol="0" anchor="t"/>
          <a:lstStyle/>
          <a:p>
            <a:pPr algn="ctr" indent="0" marL="0">
              <a:lnSpc>
                <a:spcPts val="810"/>
              </a:lnSpc>
              <a:buNone/>
            </a:pPr>
            <a:r>
              <a:rPr lang="en-US" sz="600" spc="140" kern="0" dirty="0">
                <a:solidFill>
                  <a:srgbClr val="96733C"/>
                </a:solidFill>
                <a:latin typeface="Calibri" pitchFamily="34" charset="0"/>
                <a:ea typeface="Calibri" pitchFamily="34" charset="-122"/>
                <a:cs typeface="Calibri" pitchFamily="34" charset="-120"/>
              </a:rPr>
              <a:t>MUTUAL TRIGGER</a:t>
            </a:r>
            <a:endParaRPr lang="en-US" sz="600" dirty="0"/>
          </a:p>
        </p:txBody>
      </p:sp>
      <p:sp>
        <p:nvSpPr>
          <p:cNvPr id="19" name="Shape 17"/>
          <p:cNvSpPr/>
          <p:nvPr/>
        </p:nvSpPr>
        <p:spPr>
          <a:xfrm>
            <a:off x="2944368" y="3977640"/>
            <a:ext cx="2340864" cy="896112"/>
          </a:xfrm>
          <a:prstGeom prst="roundRect">
            <a:avLst>
              <a:gd name="adj" fmla="val 4686"/>
            </a:avLst>
          </a:prstGeom>
          <a:solidFill>
            <a:srgbClr val="1B1815"/>
          </a:solidFill>
          <a:ln w="7620">
            <a:solidFill>
              <a:srgbClr val="C2A05F"/>
            </a:solidFill>
            <a:prstDash val="solid"/>
          </a:ln>
        </p:spPr>
      </p:sp>
      <p:sp>
        <p:nvSpPr>
          <p:cNvPr id="20" name="Text 18"/>
          <p:cNvSpPr txBox="1"/>
          <p:nvPr/>
        </p:nvSpPr>
        <p:spPr>
          <a:xfrm>
            <a:off x="3054096" y="4123944"/>
            <a:ext cx="2121408" cy="185039"/>
          </a:xfrm>
          <a:prstGeom prst="rect">
            <a:avLst/>
          </a:prstGeom>
          <a:noFill/>
          <a:ln/>
        </p:spPr>
        <p:txBody>
          <a:bodyPr wrap="square" lIns="0" tIns="0" rIns="0" bIns="0" rtlCol="0" anchor="t"/>
          <a:lstStyle/>
          <a:p>
            <a:pPr algn="ctr" indent="0" marL="0">
              <a:lnSpc>
                <a:spcPts val="837"/>
              </a:lnSpc>
              <a:buNone/>
            </a:pPr>
            <a:r>
              <a:rPr lang="en-US" sz="620" spc="150" kern="0" dirty="0">
                <a:solidFill>
                  <a:srgbClr val="C2A05F"/>
                </a:solidFill>
                <a:latin typeface="Calibri" pitchFamily="34" charset="0"/>
                <a:ea typeface="Calibri" pitchFamily="34" charset="-122"/>
                <a:cs typeface="Calibri" pitchFamily="34" charset="-120"/>
              </a:rPr>
              <a:t>ATTACHMENT FEAR</a:t>
            </a:r>
            <a:endParaRPr lang="en-US" sz="620" dirty="0"/>
          </a:p>
        </p:txBody>
      </p:sp>
      <p:sp>
        <p:nvSpPr>
          <p:cNvPr id="21" name="Text 19"/>
          <p:cNvSpPr txBox="1"/>
          <p:nvPr/>
        </p:nvSpPr>
        <p:spPr>
          <a:xfrm>
            <a:off x="3054096" y="4361688"/>
            <a:ext cx="2121408" cy="328295"/>
          </a:xfrm>
          <a:prstGeom prst="rect">
            <a:avLst/>
          </a:prstGeom>
          <a:noFill/>
          <a:ln/>
        </p:spPr>
        <p:txBody>
          <a:bodyPr wrap="square" lIns="0" tIns="0" rIns="0" bIns="0" rtlCol="0" anchor="t"/>
          <a:lstStyle/>
          <a:p>
            <a:pPr algn="ctr" indent="0" marL="0">
              <a:lnSpc>
                <a:spcPts val="1485"/>
              </a:lnSpc>
              <a:buNone/>
            </a:pPr>
            <a:r>
              <a:rPr lang="en-US" sz="1100" i="1" dirty="0">
                <a:solidFill>
                  <a:srgbClr val="FBF7EF"/>
                </a:solidFill>
                <a:latin typeface="Georgia" pitchFamily="34" charset="0"/>
                <a:ea typeface="Georgia" pitchFamily="34" charset="-122"/>
                <a:cs typeface="Georgia" pitchFamily="34" charset="-120"/>
              </a:rPr>
              <a:t>“I do not matter to you”</a:t>
            </a:r>
            <a:endParaRPr lang="en-US" sz="1100" dirty="0"/>
          </a:p>
        </p:txBody>
      </p:sp>
      <p:sp>
        <p:nvSpPr>
          <p:cNvPr id="22" name="Shape 20"/>
          <p:cNvSpPr/>
          <p:nvPr/>
        </p:nvSpPr>
        <p:spPr>
          <a:xfrm flipV="1">
            <a:off x="2743200" y="3127248"/>
            <a:ext cx="91" cy="813816"/>
          </a:xfrm>
          <a:prstGeom prst="line">
            <a:avLst/>
          </a:prstGeom>
          <a:noFill/>
          <a:ln w="10160">
            <a:solidFill>
              <a:srgbClr val="C2A05F"/>
            </a:solidFill>
            <a:prstDash val="solid"/>
            <a:headEnd type="none"/>
            <a:tailEnd type="none"/>
          </a:ln>
        </p:spPr>
      </p:sp>
      <p:sp>
        <p:nvSpPr>
          <p:cNvPr id="23" name="Shape 21"/>
          <p:cNvSpPr/>
          <p:nvPr/>
        </p:nvSpPr>
        <p:spPr>
          <a:xfrm flipV="1">
            <a:off x="5486400" y="3127248"/>
            <a:ext cx="91" cy="813816"/>
          </a:xfrm>
          <a:prstGeom prst="line">
            <a:avLst/>
          </a:prstGeom>
          <a:noFill/>
          <a:ln w="10160">
            <a:solidFill>
              <a:srgbClr val="C2A05F"/>
            </a:solidFill>
            <a:prstDash val="solid"/>
            <a:headEnd type="none"/>
            <a:tailEnd type="none"/>
          </a:ln>
        </p:spPr>
      </p:sp>
      <p:sp>
        <p:nvSpPr>
          <p:cNvPr id="24" name="Shape 22"/>
          <p:cNvSpPr/>
          <p:nvPr/>
        </p:nvSpPr>
        <p:spPr>
          <a:xfrm>
            <a:off x="2713939" y="3893515"/>
            <a:ext cx="58522" cy="58522"/>
          </a:xfrm>
          <a:prstGeom prst="ellipse">
            <a:avLst/>
          </a:prstGeom>
          <a:solidFill>
            <a:srgbClr val="C2A05F"/>
          </a:solidFill>
          <a:ln w="12700">
            <a:solidFill>
              <a:srgbClr val="FFFFFF">
                <a:alpha val="0"/>
              </a:srgbClr>
            </a:solidFill>
            <a:prstDash val="solid"/>
          </a:ln>
        </p:spPr>
      </p:sp>
      <p:sp>
        <p:nvSpPr>
          <p:cNvPr id="25" name="Shape 23"/>
          <p:cNvSpPr/>
          <p:nvPr/>
        </p:nvSpPr>
        <p:spPr>
          <a:xfrm>
            <a:off x="5457139" y="3893515"/>
            <a:ext cx="58522" cy="58522"/>
          </a:xfrm>
          <a:prstGeom prst="ellipse">
            <a:avLst/>
          </a:prstGeom>
          <a:solidFill>
            <a:srgbClr val="C2A05F"/>
          </a:solidFill>
          <a:ln w="12700">
            <a:solidFill>
              <a:srgbClr val="FFFFFF">
                <a:alpha val="0"/>
              </a:srgbClr>
            </a:solidFill>
            <a:prstDash val="solid"/>
          </a:ln>
        </p:spPr>
      </p:sp>
      <p:sp>
        <p:nvSpPr>
          <p:cNvPr id="26" name="Text 24"/>
          <p:cNvSpPr txBox="1"/>
          <p:nvPr/>
        </p:nvSpPr>
        <p:spPr>
          <a:xfrm>
            <a:off x="5687568" y="3794760"/>
            <a:ext cx="1600200" cy="204470"/>
          </a:xfrm>
          <a:prstGeom prst="rect">
            <a:avLst/>
          </a:prstGeom>
          <a:noFill/>
          <a:ln/>
        </p:spPr>
        <p:txBody>
          <a:bodyPr wrap="square" lIns="0" tIns="0" rIns="0" bIns="0" rtlCol="0" anchor="t"/>
          <a:lstStyle/>
          <a:p>
            <a:pPr algn="l" indent="0" marL="0">
              <a:lnSpc>
                <a:spcPts val="910"/>
              </a:lnSpc>
              <a:buNone/>
            </a:pPr>
            <a:r>
              <a:rPr lang="en-US" sz="700" i="1" dirty="0">
                <a:solidFill>
                  <a:srgbClr val="5B544A"/>
                </a:solidFill>
                <a:latin typeface="Calibri" pitchFamily="34" charset="0"/>
                <a:ea typeface="Calibri" pitchFamily="34" charset="-122"/>
                <a:cs typeface="Calibri" pitchFamily="34" charset="-120"/>
              </a:rPr>
              <a:t>beneath both moves, one fear</a:t>
            </a:r>
            <a:endParaRPr lang="en-US" sz="700" dirty="0"/>
          </a:p>
        </p:txBody>
      </p:sp>
      <p:sp>
        <p:nvSpPr>
          <p:cNvPr id="27" name="Text 25"/>
          <p:cNvSpPr txBox="1"/>
          <p:nvPr/>
        </p:nvSpPr>
        <p:spPr>
          <a:xfrm>
            <a:off x="7680960" y="2121408"/>
            <a:ext cx="3566160" cy="402908"/>
          </a:xfrm>
          <a:prstGeom prst="rect">
            <a:avLst/>
          </a:prstGeom>
          <a:noFill/>
          <a:ln/>
        </p:spPr>
        <p:txBody>
          <a:bodyPr wrap="square" lIns="0" tIns="0" rIns="0" bIns="0" rtlCol="0" anchor="t"/>
          <a:lstStyle/>
          <a:p>
            <a:pPr algn="l" indent="0" marL="0">
              <a:lnSpc>
                <a:spcPts val="1823"/>
              </a:lnSpc>
              <a:buNone/>
            </a:pPr>
            <a:r>
              <a:rPr lang="en-US" sz="1350" dirty="0">
                <a:solidFill>
                  <a:srgbClr val="1B1815"/>
                </a:solidFill>
                <a:latin typeface="Georgia" pitchFamily="34" charset="0"/>
                <a:ea typeface="Georgia" pitchFamily="34" charset="-122"/>
                <a:cs typeface="Georgia" pitchFamily="34" charset="-120"/>
              </a:rPr>
              <a:t>Interrupting the cycle</a:t>
            </a:r>
            <a:endParaRPr lang="en-US" sz="1350" dirty="0"/>
          </a:p>
        </p:txBody>
      </p:sp>
      <p:sp>
        <p:nvSpPr>
          <p:cNvPr id="28" name="Shape 26"/>
          <p:cNvSpPr/>
          <p:nvPr/>
        </p:nvSpPr>
        <p:spPr>
          <a:xfrm>
            <a:off x="7662672" y="2670048"/>
            <a:ext cx="237744" cy="237744"/>
          </a:xfrm>
          <a:prstGeom prst="ellipse">
            <a:avLst/>
          </a:prstGeom>
          <a:solidFill>
            <a:srgbClr val="FFFFFF">
              <a:alpha val="0"/>
            </a:srgbClr>
          </a:solidFill>
          <a:ln w="7620">
            <a:solidFill>
              <a:srgbClr val="C2A05F"/>
            </a:solidFill>
            <a:prstDash val="solid"/>
          </a:ln>
        </p:spPr>
      </p:sp>
      <p:sp>
        <p:nvSpPr>
          <p:cNvPr id="29" name="Text 27"/>
          <p:cNvSpPr txBox="1"/>
          <p:nvPr/>
        </p:nvSpPr>
        <p:spPr>
          <a:xfrm>
            <a:off x="7662672" y="2741930"/>
            <a:ext cx="237744" cy="237744"/>
          </a:xfrm>
          <a:prstGeom prst="rect">
            <a:avLst/>
          </a:prstGeom>
          <a:noFill/>
          <a:ln/>
        </p:spPr>
        <p:txBody>
          <a:bodyPr wrap="square" lIns="0" tIns="0" rIns="0" bIns="0" rtlCol="0" anchor="t"/>
          <a:lstStyle/>
          <a:p>
            <a:pPr algn="ctr" indent="0" marL="0">
              <a:lnSpc>
                <a:spcPts val="740"/>
              </a:lnSpc>
              <a:buNone/>
            </a:pPr>
            <a:r>
              <a:rPr lang="en-US" sz="740" b="1" dirty="0">
                <a:solidFill>
                  <a:srgbClr val="96733C"/>
                </a:solidFill>
                <a:latin typeface="Calibri" pitchFamily="34" charset="0"/>
                <a:ea typeface="Calibri" pitchFamily="34" charset="-122"/>
                <a:cs typeface="Calibri" pitchFamily="34" charset="-120"/>
              </a:rPr>
              <a:t>1</a:t>
            </a:r>
            <a:endParaRPr lang="en-US" sz="740" dirty="0"/>
          </a:p>
        </p:txBody>
      </p:sp>
      <p:sp>
        <p:nvSpPr>
          <p:cNvPr id="30" name="Text 28"/>
          <p:cNvSpPr txBox="1"/>
          <p:nvPr/>
        </p:nvSpPr>
        <p:spPr>
          <a:xfrm>
            <a:off x="8046720" y="2633472"/>
            <a:ext cx="297180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Name it</a:t>
            </a:r>
            <a:endParaRPr lang="en-US" sz="940" dirty="0"/>
          </a:p>
        </p:txBody>
      </p:sp>
      <p:sp>
        <p:nvSpPr>
          <p:cNvPr id="31" name="Text 29"/>
          <p:cNvSpPr txBox="1"/>
          <p:nvPr/>
        </p:nvSpPr>
        <p:spPr>
          <a:xfrm>
            <a:off x="8046720" y="2880360"/>
            <a:ext cx="297180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“Can we slow this down and look at the loop together?”</a:t>
            </a:r>
            <a:endParaRPr lang="en-US" sz="820" dirty="0"/>
          </a:p>
        </p:txBody>
      </p:sp>
      <p:sp>
        <p:nvSpPr>
          <p:cNvPr id="32" name="Shape 30"/>
          <p:cNvSpPr/>
          <p:nvPr/>
        </p:nvSpPr>
        <p:spPr>
          <a:xfrm>
            <a:off x="7662672" y="3694176"/>
            <a:ext cx="237744" cy="237744"/>
          </a:xfrm>
          <a:prstGeom prst="ellipse">
            <a:avLst/>
          </a:prstGeom>
          <a:solidFill>
            <a:srgbClr val="FFFFFF">
              <a:alpha val="0"/>
            </a:srgbClr>
          </a:solidFill>
          <a:ln w="7620">
            <a:solidFill>
              <a:srgbClr val="C2A05F"/>
            </a:solidFill>
            <a:prstDash val="solid"/>
          </a:ln>
        </p:spPr>
      </p:sp>
      <p:sp>
        <p:nvSpPr>
          <p:cNvPr id="33" name="Text 31"/>
          <p:cNvSpPr txBox="1"/>
          <p:nvPr/>
        </p:nvSpPr>
        <p:spPr>
          <a:xfrm>
            <a:off x="7662672" y="3766058"/>
            <a:ext cx="237744" cy="237744"/>
          </a:xfrm>
          <a:prstGeom prst="rect">
            <a:avLst/>
          </a:prstGeom>
          <a:noFill/>
          <a:ln/>
        </p:spPr>
        <p:txBody>
          <a:bodyPr wrap="square" lIns="0" tIns="0" rIns="0" bIns="0" rtlCol="0" anchor="t"/>
          <a:lstStyle/>
          <a:p>
            <a:pPr algn="ctr" indent="0" marL="0">
              <a:lnSpc>
                <a:spcPts val="740"/>
              </a:lnSpc>
              <a:buNone/>
            </a:pPr>
            <a:r>
              <a:rPr lang="en-US" sz="740" b="1" dirty="0">
                <a:solidFill>
                  <a:srgbClr val="96733C"/>
                </a:solidFill>
                <a:latin typeface="Calibri" pitchFamily="34" charset="0"/>
                <a:ea typeface="Calibri" pitchFamily="34" charset="-122"/>
                <a:cs typeface="Calibri" pitchFamily="34" charset="-120"/>
              </a:rPr>
              <a:t>2</a:t>
            </a:r>
            <a:endParaRPr lang="en-US" sz="740" dirty="0"/>
          </a:p>
        </p:txBody>
      </p:sp>
      <p:sp>
        <p:nvSpPr>
          <p:cNvPr id="34" name="Text 32"/>
          <p:cNvSpPr txBox="1"/>
          <p:nvPr/>
        </p:nvSpPr>
        <p:spPr>
          <a:xfrm>
            <a:off x="8046720" y="3657600"/>
            <a:ext cx="297180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Validate both</a:t>
            </a:r>
            <a:endParaRPr lang="en-US" sz="940" dirty="0"/>
          </a:p>
        </p:txBody>
      </p:sp>
      <p:sp>
        <p:nvSpPr>
          <p:cNvPr id="35" name="Text 33"/>
          <p:cNvSpPr txBox="1"/>
          <p:nvPr/>
        </p:nvSpPr>
        <p:spPr>
          <a:xfrm>
            <a:off x="8046720" y="3904488"/>
            <a:ext cx="297180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Each response makes sense given the attachment fear beneath it.</a:t>
            </a:r>
            <a:endParaRPr lang="en-US" sz="820" dirty="0"/>
          </a:p>
        </p:txBody>
      </p:sp>
      <p:sp>
        <p:nvSpPr>
          <p:cNvPr id="36" name="Shape 34"/>
          <p:cNvSpPr/>
          <p:nvPr/>
        </p:nvSpPr>
        <p:spPr>
          <a:xfrm>
            <a:off x="7662672" y="4718304"/>
            <a:ext cx="237744" cy="237744"/>
          </a:xfrm>
          <a:prstGeom prst="ellipse">
            <a:avLst/>
          </a:prstGeom>
          <a:solidFill>
            <a:srgbClr val="FFFFFF">
              <a:alpha val="0"/>
            </a:srgbClr>
          </a:solidFill>
          <a:ln w="7620">
            <a:solidFill>
              <a:srgbClr val="C2A05F"/>
            </a:solidFill>
            <a:prstDash val="solid"/>
          </a:ln>
        </p:spPr>
      </p:sp>
      <p:sp>
        <p:nvSpPr>
          <p:cNvPr id="37" name="Text 35"/>
          <p:cNvSpPr txBox="1"/>
          <p:nvPr/>
        </p:nvSpPr>
        <p:spPr>
          <a:xfrm>
            <a:off x="7662672" y="4790186"/>
            <a:ext cx="237744" cy="237744"/>
          </a:xfrm>
          <a:prstGeom prst="rect">
            <a:avLst/>
          </a:prstGeom>
          <a:noFill/>
          <a:ln/>
        </p:spPr>
        <p:txBody>
          <a:bodyPr wrap="square" lIns="0" tIns="0" rIns="0" bIns="0" rtlCol="0" anchor="t"/>
          <a:lstStyle/>
          <a:p>
            <a:pPr algn="ctr" indent="0" marL="0">
              <a:lnSpc>
                <a:spcPts val="740"/>
              </a:lnSpc>
              <a:buNone/>
            </a:pPr>
            <a:r>
              <a:rPr lang="en-US" sz="740" b="1" dirty="0">
                <a:solidFill>
                  <a:srgbClr val="96733C"/>
                </a:solidFill>
                <a:latin typeface="Calibri" pitchFamily="34" charset="0"/>
                <a:ea typeface="Calibri" pitchFamily="34" charset="-122"/>
                <a:cs typeface="Calibri" pitchFamily="34" charset="-120"/>
              </a:rPr>
              <a:t>3</a:t>
            </a:r>
            <a:endParaRPr lang="en-US" sz="740" dirty="0"/>
          </a:p>
        </p:txBody>
      </p:sp>
      <p:sp>
        <p:nvSpPr>
          <p:cNvPr id="38" name="Text 36"/>
          <p:cNvSpPr txBox="1"/>
          <p:nvPr/>
        </p:nvSpPr>
        <p:spPr>
          <a:xfrm>
            <a:off x="8046720" y="4681728"/>
            <a:ext cx="2971800" cy="274574"/>
          </a:xfrm>
          <a:prstGeom prst="rect">
            <a:avLst/>
          </a:prstGeom>
          <a:noFill/>
          <a:ln/>
        </p:spPr>
        <p:txBody>
          <a:bodyPr wrap="square" lIns="0" tIns="0" rIns="0" bIns="0" rtlCol="0" anchor="t"/>
          <a:lstStyle/>
          <a:p>
            <a:pPr algn="l" indent="0" marL="0">
              <a:lnSpc>
                <a:spcPts val="1222"/>
              </a:lnSpc>
              <a:buNone/>
            </a:pPr>
            <a:r>
              <a:rPr lang="en-US" sz="940" b="1" dirty="0">
                <a:solidFill>
                  <a:srgbClr val="1B1815"/>
                </a:solidFill>
                <a:latin typeface="Calibri" pitchFamily="34" charset="0"/>
                <a:ea typeface="Calibri" pitchFamily="34" charset="-122"/>
                <a:cs typeface="Calibri" pitchFamily="34" charset="-120"/>
              </a:rPr>
              <a:t>Create a new move</a:t>
            </a:r>
            <a:endParaRPr lang="en-US" sz="940" dirty="0"/>
          </a:p>
        </p:txBody>
      </p:sp>
      <p:sp>
        <p:nvSpPr>
          <p:cNvPr id="39" name="Text 37"/>
          <p:cNvSpPr txBox="1"/>
          <p:nvPr/>
        </p:nvSpPr>
        <p:spPr>
          <a:xfrm>
            <a:off x="8046720" y="4928616"/>
            <a:ext cx="2971800" cy="244729"/>
          </a:xfrm>
          <a:prstGeom prst="rect">
            <a:avLst/>
          </a:prstGeom>
          <a:noFill/>
          <a:ln/>
        </p:spPr>
        <p:txBody>
          <a:bodyPr wrap="square" lIns="0" tIns="0" rIns="0" bIns="0" rtlCol="0" anchor="t"/>
          <a:lstStyle/>
          <a:p>
            <a:pPr algn="l" indent="0" marL="0">
              <a:lnSpc>
                <a:spcPts val="1107"/>
              </a:lnSpc>
              <a:buNone/>
            </a:pPr>
            <a:r>
              <a:rPr lang="en-US" sz="820" dirty="0">
                <a:solidFill>
                  <a:srgbClr val="5B544A"/>
                </a:solidFill>
                <a:latin typeface="Calibri" pitchFamily="34" charset="0"/>
                <a:ea typeface="Calibri" pitchFamily="34" charset="-122"/>
                <a:cs typeface="Calibri" pitchFamily="34" charset="-120"/>
              </a:rPr>
              <a:t>Risk a softer signal; respond with accessibility and responsiveness.</a:t>
            </a:r>
            <a:endParaRPr lang="en-US" sz="820" dirty="0"/>
          </a:p>
        </p:txBody>
      </p:sp>
      <p:sp>
        <p:nvSpPr>
          <p:cNvPr id="40" name="Text 38"/>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Johnson (2019).</a:t>
            </a:r>
            <a:endParaRPr lang="en-US" sz="74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14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The argument underneath</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643890"/>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In pairs, take one repeated argument and map it as an attachment cycle rather than a</a:t>
            </a:r>
            <a:endParaRPr lang="en-US" sz="1300" dirty="0"/>
          </a:p>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disagreement.</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is each partner asking for beneath the complaint?</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Which move most reliably triggers the other?</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Where could a softer signal be risked?</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would make repair credible rather than polite?</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66</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15 · PHASE IV — INTEGRATION &amp; TRANSITION</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15</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Family Transitions, Crisis and</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High-Conflict Contexts</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755904"/>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When the family changes shape, what holds it together — and what must be made</a:t>
            </a:r>
            <a:endParaRPr lang="en-US" sz="1550" dirty="0"/>
          </a:p>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safe first?</a:t>
            </a:r>
            <a:endParaRPr lang="en-US" sz="1550" dirty="0"/>
          </a:p>
        </p:txBody>
      </p:sp>
      <p:sp>
        <p:nvSpPr>
          <p:cNvPr id="8" name="Shape 6"/>
          <p:cNvSpPr/>
          <p:nvPr/>
        </p:nvSpPr>
        <p:spPr>
          <a:xfrm>
            <a:off x="822960" y="4190746"/>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Symptoms at the threshold</a:t>
            </a:r>
            <a:endParaRPr lang="en-US" sz="850" dirty="0"/>
          </a:p>
        </p:txBody>
      </p:sp>
      <p:sp>
        <p:nvSpPr>
          <p:cNvPr id="11" name="Text 9"/>
          <p:cNvSpPr txBox="1"/>
          <p:nvPr/>
        </p:nvSpPr>
        <p:spPr>
          <a:xfrm>
            <a:off x="3282696"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staircase of transitions</a:t>
            </a:r>
            <a:endParaRPr lang="en-US" sz="850" dirty="0"/>
          </a:p>
        </p:txBody>
      </p:sp>
      <p:sp>
        <p:nvSpPr>
          <p:cNvPr id="13" name="Text 11"/>
          <p:cNvSpPr txBox="1"/>
          <p:nvPr/>
        </p:nvSpPr>
        <p:spPr>
          <a:xfrm>
            <a:off x="5742432"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CLINICAL CASE</a:t>
            </a:r>
            <a:endParaRPr lang="en-US" sz="620" dirty="0"/>
          </a:p>
        </p:txBody>
      </p:sp>
      <p:sp>
        <p:nvSpPr>
          <p:cNvPr id="14" name="Text 12"/>
          <p:cNvSpPr txBox="1"/>
          <p:nvPr/>
        </p:nvSpPr>
        <p:spPr>
          <a:xfrm>
            <a:off x="5742432"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transition nobody named</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Map transitions using a family life cycle frame.</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Assess safety and crisis in family work.</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Work systemically with separation and stepfamily</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formation.</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transition · family life cycle · ambiguous loss · coercive control · safety plan</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Carter &amp; McGoldrick (1999), ch. 1–2 · Walsh (2016) · Emery (2012)</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96733C"/>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96733C"/>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96733C"/>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96733C"/>
          </a:solidFill>
          <a:ln w="12700">
            <a:solidFill>
              <a:srgbClr val="FFFFFF">
                <a:alpha val="0"/>
              </a:srgbClr>
            </a:solidFill>
            <a:prstDash val="solid"/>
          </a:ln>
        </p:spPr>
      </p:sp>
      <p:sp>
        <p:nvSpPr>
          <p:cNvPr id="41" name="Shape 39"/>
          <p:cNvSpPr/>
          <p:nvPr/>
        </p:nvSpPr>
        <p:spPr>
          <a:xfrm>
            <a:off x="10573512" y="5696712"/>
            <a:ext cx="128016" cy="128016"/>
          </a:xfrm>
          <a:prstGeom prst="ellipse">
            <a:avLst/>
          </a:prstGeom>
          <a:solidFill>
            <a:srgbClr val="C2A05F"/>
          </a:solidFill>
          <a:ln w="8890">
            <a:solidFill>
              <a:srgbClr val="E7D3A9"/>
            </a:solidFill>
            <a:prstDash val="solid"/>
          </a:ln>
        </p:spPr>
      </p:sp>
      <p:sp>
        <p:nvSpPr>
          <p:cNvPr id="42" name="Shape 40"/>
          <p:cNvSpPr/>
          <p:nvPr/>
        </p:nvSpPr>
        <p:spPr>
          <a:xfrm>
            <a:off x="11309299" y="5731459"/>
            <a:ext cx="58522" cy="58522"/>
          </a:xfrm>
          <a:prstGeom prst="ellipse">
            <a:avLst/>
          </a:prstGeom>
          <a:solidFill>
            <a:srgbClr val="1E1913"/>
          </a:solidFill>
          <a:ln w="12700">
            <a:solidFill>
              <a:srgbClr val="FFFFFF">
                <a:alpha val="0"/>
              </a:srgbClr>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67</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15 · LECTURE 15</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68</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Symptoms at the threshold</a:t>
            </a:r>
            <a:endParaRPr lang="en-US" sz="2800" dirty="0"/>
          </a:p>
        </p:txBody>
      </p:sp>
      <p:sp>
        <p:nvSpPr>
          <p:cNvPr id="9" name="Text 7"/>
          <p:cNvSpPr txBox="1"/>
          <p:nvPr/>
        </p:nvSpPr>
        <p:spPr>
          <a:xfrm>
            <a:off x="822960" y="1486408"/>
            <a:ext cx="8138160" cy="614477"/>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Families do not present at random. Symptoms cluster at transitions — when the old rules no longer fit and the new ones do</a:t>
            </a:r>
            <a:endParaRPr lang="en-US" sz="1260" dirty="0"/>
          </a:p>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not yet exist.</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THE FAMILY LIFE CYCLE</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Stages and transitions; vertical stressors (history, legacy) meet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horizontal stressors (events, time). The symptom often appears in the</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in-between.</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Not a timetable but a set of tasks</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Transitions renegotiate every relationship</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Cultural timing varies widely</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CRISIS AND SAFETY</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Crisis compresses time. The first tasks are safety and stabilisation;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meaning-making comes after the system can hold it.</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Screen for violence separately</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Do not do couple work under coercive control</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Document and refer</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SEPARATION AND STEPFAMILY</a:t>
            </a:r>
            <a:endParaRPr lang="en-US" sz="750" dirty="0"/>
          </a:p>
        </p:txBody>
      </p:sp>
      <p:sp>
        <p:nvSpPr>
          <p:cNvPr id="33" name="Text 31"/>
          <p:cNvSpPr txBox="1"/>
          <p:nvPr/>
        </p:nvSpPr>
        <p:spPr>
          <a:xfrm>
            <a:off x="810768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Divorce is not an event but a process. Co-parenting requires a new</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boundary around the couple relationship — and stepfamily formation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requires time.</a:t>
            </a:r>
            <a:endParaRPr lang="en-US" sz="900" dirty="0"/>
          </a:p>
        </p:txBody>
      </p:sp>
      <p:sp>
        <p:nvSpPr>
          <p:cNvPr id="34" name="Shape 32"/>
          <p:cNvSpPr/>
          <p:nvPr/>
        </p:nvSpPr>
        <p:spPr>
          <a:xfrm>
            <a:off x="8107680" y="3529584"/>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Grief alongside relief</a:t>
            </a:r>
            <a:endParaRPr lang="en-US" sz="880" dirty="0"/>
          </a:p>
        </p:txBody>
      </p:sp>
      <p:sp>
        <p:nvSpPr>
          <p:cNvPr id="36" name="Shape 34"/>
          <p:cNvSpPr/>
          <p:nvPr/>
        </p:nvSpPr>
        <p:spPr>
          <a:xfrm>
            <a:off x="8107680" y="3775253"/>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Loyalty conflicts</a:t>
            </a:r>
            <a:endParaRPr lang="en-US" sz="880" dirty="0"/>
          </a:p>
        </p:txBody>
      </p:sp>
      <p:sp>
        <p:nvSpPr>
          <p:cNvPr id="38" name="Shape 36"/>
          <p:cNvSpPr/>
          <p:nvPr/>
        </p:nvSpPr>
        <p:spPr>
          <a:xfrm>
            <a:off x="8107680" y="4020922"/>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 slower integration than adults expect</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AMBIGUOUS LOSS</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Present and absent at once</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When a person is physically absent but psychologically present — or the reverse — grief cannot close. Naming</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the ambiguity can restore movement.</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Carter &amp; McGoldrick (1999); Walsh (2016);</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Emery (2012).</a:t>
            </a:r>
            <a:endParaRPr lang="en-US" sz="62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15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69</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The staircase of transitions</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Each step up requires the family to reorganise. The step down is where symptoms often appear.</a:t>
            </a:r>
            <a:endParaRPr lang="en-US" sz="1060" dirty="0"/>
          </a:p>
        </p:txBody>
      </p:sp>
      <p:sp>
        <p:nvSpPr>
          <p:cNvPr id="10" name="Shape 8"/>
          <p:cNvSpPr/>
          <p:nvPr/>
        </p:nvSpPr>
        <p:spPr>
          <a:xfrm>
            <a:off x="1097280" y="4663440"/>
            <a:ext cx="1574292" cy="457200"/>
          </a:xfrm>
          <a:prstGeom prst="rect">
            <a:avLst/>
          </a:prstGeom>
          <a:solidFill>
            <a:srgbClr val="EFE3CF">
              <a:alpha val="50000"/>
            </a:srgbClr>
          </a:solidFill>
          <a:ln w="12700">
            <a:solidFill>
              <a:srgbClr val="FFFFFF">
                <a:alpha val="0"/>
              </a:srgbClr>
            </a:solidFill>
            <a:prstDash val="solid"/>
          </a:ln>
        </p:spPr>
      </p:sp>
      <p:sp>
        <p:nvSpPr>
          <p:cNvPr id="11" name="Shape 9"/>
          <p:cNvSpPr/>
          <p:nvPr/>
        </p:nvSpPr>
        <p:spPr>
          <a:xfrm>
            <a:off x="1097280" y="4663440"/>
            <a:ext cx="1574292" cy="91"/>
          </a:xfrm>
          <a:prstGeom prst="line">
            <a:avLst/>
          </a:prstGeom>
          <a:noFill/>
          <a:ln w="12700">
            <a:solidFill>
              <a:srgbClr val="C2A05F"/>
            </a:solidFill>
            <a:prstDash val="solid"/>
            <a:headEnd type="none"/>
            <a:tailEnd type="none"/>
          </a:ln>
        </p:spPr>
      </p:sp>
      <p:sp>
        <p:nvSpPr>
          <p:cNvPr id="12" name="Text 10"/>
          <p:cNvSpPr txBox="1"/>
          <p:nvPr/>
        </p:nvSpPr>
        <p:spPr>
          <a:xfrm>
            <a:off x="1188720" y="4773168"/>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Differentiate without cutting off</a:t>
            </a:r>
            <a:endParaRPr lang="en-US" sz="720" dirty="0"/>
          </a:p>
        </p:txBody>
      </p:sp>
      <p:sp>
        <p:nvSpPr>
          <p:cNvPr id="13" name="Text 11"/>
          <p:cNvSpPr txBox="1"/>
          <p:nvPr/>
        </p:nvSpPr>
        <p:spPr>
          <a:xfrm>
            <a:off x="1097280"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Leaving home</a:t>
            </a:r>
            <a:endParaRPr lang="en-US" sz="1080" dirty="0"/>
          </a:p>
        </p:txBody>
      </p:sp>
      <p:sp>
        <p:nvSpPr>
          <p:cNvPr id="14" name="Text 12"/>
          <p:cNvSpPr txBox="1"/>
          <p:nvPr/>
        </p:nvSpPr>
        <p:spPr>
          <a:xfrm>
            <a:off x="2525268"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1</a:t>
            </a:r>
            <a:endParaRPr lang="en-US" sz="950" dirty="0"/>
          </a:p>
        </p:txBody>
      </p:sp>
      <p:sp>
        <p:nvSpPr>
          <p:cNvPr id="15" name="Shape 13"/>
          <p:cNvSpPr/>
          <p:nvPr/>
        </p:nvSpPr>
        <p:spPr>
          <a:xfrm>
            <a:off x="2671572" y="4663440"/>
            <a:ext cx="91" cy="457200"/>
          </a:xfrm>
          <a:prstGeom prst="line">
            <a:avLst/>
          </a:prstGeom>
          <a:noFill/>
          <a:ln w="5715">
            <a:solidFill>
              <a:srgbClr val="D9CDB7"/>
            </a:solidFill>
            <a:prstDash val="sysDot"/>
            <a:headEnd type="none"/>
            <a:tailEnd type="none"/>
          </a:ln>
        </p:spPr>
      </p:sp>
      <p:sp>
        <p:nvSpPr>
          <p:cNvPr id="16" name="Shape 14"/>
          <p:cNvSpPr/>
          <p:nvPr/>
        </p:nvSpPr>
        <p:spPr>
          <a:xfrm>
            <a:off x="2763012" y="4347556"/>
            <a:ext cx="1574292" cy="773084"/>
          </a:xfrm>
          <a:prstGeom prst="rect">
            <a:avLst/>
          </a:prstGeom>
          <a:solidFill>
            <a:srgbClr val="EFE5D3">
              <a:alpha val="50000"/>
            </a:srgbClr>
          </a:solidFill>
          <a:ln w="12700">
            <a:solidFill>
              <a:srgbClr val="FFFFFF">
                <a:alpha val="0"/>
              </a:srgbClr>
            </a:solidFill>
            <a:prstDash val="solid"/>
          </a:ln>
        </p:spPr>
      </p:sp>
      <p:sp>
        <p:nvSpPr>
          <p:cNvPr id="17" name="Shape 15"/>
          <p:cNvSpPr/>
          <p:nvPr/>
        </p:nvSpPr>
        <p:spPr>
          <a:xfrm>
            <a:off x="2763012" y="4347556"/>
            <a:ext cx="1574292" cy="91"/>
          </a:xfrm>
          <a:prstGeom prst="line">
            <a:avLst/>
          </a:prstGeom>
          <a:noFill/>
          <a:ln w="12700">
            <a:solidFill>
              <a:srgbClr val="C2A05F"/>
            </a:solidFill>
            <a:prstDash val="solid"/>
            <a:headEnd type="none"/>
            <a:tailEnd type="none"/>
          </a:ln>
        </p:spPr>
      </p:sp>
      <p:sp>
        <p:nvSpPr>
          <p:cNvPr id="18" name="Text 16"/>
          <p:cNvSpPr txBox="1"/>
          <p:nvPr/>
        </p:nvSpPr>
        <p:spPr>
          <a:xfrm>
            <a:off x="2854452" y="4457284"/>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Negotiate a new couple system</a:t>
            </a:r>
            <a:endParaRPr lang="en-US" sz="720" dirty="0"/>
          </a:p>
        </p:txBody>
      </p:sp>
      <p:sp>
        <p:nvSpPr>
          <p:cNvPr id="19" name="Text 17"/>
          <p:cNvSpPr txBox="1"/>
          <p:nvPr/>
        </p:nvSpPr>
        <p:spPr>
          <a:xfrm>
            <a:off x="2763012"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Joining families</a:t>
            </a:r>
            <a:endParaRPr lang="en-US" sz="1080" dirty="0"/>
          </a:p>
        </p:txBody>
      </p:sp>
      <p:sp>
        <p:nvSpPr>
          <p:cNvPr id="20" name="Text 18"/>
          <p:cNvSpPr txBox="1"/>
          <p:nvPr/>
        </p:nvSpPr>
        <p:spPr>
          <a:xfrm>
            <a:off x="4191000"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2</a:t>
            </a:r>
            <a:endParaRPr lang="en-US" sz="950" dirty="0"/>
          </a:p>
        </p:txBody>
      </p:sp>
      <p:sp>
        <p:nvSpPr>
          <p:cNvPr id="21" name="Shape 19"/>
          <p:cNvSpPr/>
          <p:nvPr/>
        </p:nvSpPr>
        <p:spPr>
          <a:xfrm>
            <a:off x="4337304" y="4347556"/>
            <a:ext cx="91" cy="773084"/>
          </a:xfrm>
          <a:prstGeom prst="line">
            <a:avLst/>
          </a:prstGeom>
          <a:noFill/>
          <a:ln w="5715">
            <a:solidFill>
              <a:srgbClr val="D9CDB7"/>
            </a:solidFill>
            <a:prstDash val="sysDot"/>
            <a:headEnd type="none"/>
            <a:tailEnd type="none"/>
          </a:ln>
        </p:spPr>
      </p:sp>
      <p:sp>
        <p:nvSpPr>
          <p:cNvPr id="22" name="Shape 20"/>
          <p:cNvSpPr/>
          <p:nvPr/>
        </p:nvSpPr>
        <p:spPr>
          <a:xfrm>
            <a:off x="4428744" y="4031673"/>
            <a:ext cx="1574292" cy="1088967"/>
          </a:xfrm>
          <a:prstGeom prst="rect">
            <a:avLst/>
          </a:prstGeom>
          <a:solidFill>
            <a:srgbClr val="EFE3CF">
              <a:alpha val="50000"/>
            </a:srgbClr>
          </a:solidFill>
          <a:ln w="12700">
            <a:solidFill>
              <a:srgbClr val="FFFFFF">
                <a:alpha val="0"/>
              </a:srgbClr>
            </a:solidFill>
            <a:prstDash val="solid"/>
          </a:ln>
        </p:spPr>
      </p:sp>
      <p:sp>
        <p:nvSpPr>
          <p:cNvPr id="23" name="Shape 21"/>
          <p:cNvSpPr/>
          <p:nvPr/>
        </p:nvSpPr>
        <p:spPr>
          <a:xfrm>
            <a:off x="4428744" y="4031673"/>
            <a:ext cx="1574292" cy="91"/>
          </a:xfrm>
          <a:prstGeom prst="line">
            <a:avLst/>
          </a:prstGeom>
          <a:noFill/>
          <a:ln w="12700">
            <a:solidFill>
              <a:srgbClr val="C2A05F"/>
            </a:solidFill>
            <a:prstDash val="solid"/>
            <a:headEnd type="none"/>
            <a:tailEnd type="none"/>
          </a:ln>
        </p:spPr>
      </p:sp>
      <p:sp>
        <p:nvSpPr>
          <p:cNvPr id="24" name="Text 22"/>
          <p:cNvSpPr txBox="1"/>
          <p:nvPr/>
        </p:nvSpPr>
        <p:spPr>
          <a:xfrm>
            <a:off x="4520184" y="4141401"/>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Expand the system; share care</a:t>
            </a:r>
            <a:endParaRPr lang="en-US" sz="720" dirty="0"/>
          </a:p>
        </p:txBody>
      </p:sp>
      <p:sp>
        <p:nvSpPr>
          <p:cNvPr id="25" name="Text 23"/>
          <p:cNvSpPr txBox="1"/>
          <p:nvPr/>
        </p:nvSpPr>
        <p:spPr>
          <a:xfrm>
            <a:off x="4428744"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Young children</a:t>
            </a:r>
            <a:endParaRPr lang="en-US" sz="1080" dirty="0"/>
          </a:p>
        </p:txBody>
      </p:sp>
      <p:sp>
        <p:nvSpPr>
          <p:cNvPr id="26" name="Text 24"/>
          <p:cNvSpPr txBox="1"/>
          <p:nvPr/>
        </p:nvSpPr>
        <p:spPr>
          <a:xfrm>
            <a:off x="5856732"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3</a:t>
            </a:r>
            <a:endParaRPr lang="en-US" sz="950" dirty="0"/>
          </a:p>
        </p:txBody>
      </p:sp>
      <p:sp>
        <p:nvSpPr>
          <p:cNvPr id="27" name="Shape 25"/>
          <p:cNvSpPr/>
          <p:nvPr/>
        </p:nvSpPr>
        <p:spPr>
          <a:xfrm>
            <a:off x="6003036" y="4031673"/>
            <a:ext cx="91" cy="1088967"/>
          </a:xfrm>
          <a:prstGeom prst="line">
            <a:avLst/>
          </a:prstGeom>
          <a:noFill/>
          <a:ln w="5715">
            <a:solidFill>
              <a:srgbClr val="D9CDB7"/>
            </a:solidFill>
            <a:prstDash val="sysDot"/>
            <a:headEnd type="none"/>
            <a:tailEnd type="none"/>
          </a:ln>
        </p:spPr>
      </p:sp>
      <p:sp>
        <p:nvSpPr>
          <p:cNvPr id="28" name="Shape 26"/>
          <p:cNvSpPr/>
          <p:nvPr/>
        </p:nvSpPr>
        <p:spPr>
          <a:xfrm>
            <a:off x="6094476" y="3715789"/>
            <a:ext cx="1574292" cy="1404851"/>
          </a:xfrm>
          <a:prstGeom prst="rect">
            <a:avLst/>
          </a:prstGeom>
          <a:solidFill>
            <a:srgbClr val="EFE5D3">
              <a:alpha val="50000"/>
            </a:srgbClr>
          </a:solidFill>
          <a:ln w="12700">
            <a:solidFill>
              <a:srgbClr val="FFFFFF">
                <a:alpha val="0"/>
              </a:srgbClr>
            </a:solidFill>
            <a:prstDash val="solid"/>
          </a:ln>
        </p:spPr>
      </p:sp>
      <p:sp>
        <p:nvSpPr>
          <p:cNvPr id="29" name="Shape 27"/>
          <p:cNvSpPr/>
          <p:nvPr/>
        </p:nvSpPr>
        <p:spPr>
          <a:xfrm>
            <a:off x="6094476" y="3715789"/>
            <a:ext cx="1574292" cy="91"/>
          </a:xfrm>
          <a:prstGeom prst="line">
            <a:avLst/>
          </a:prstGeom>
          <a:noFill/>
          <a:ln w="12700">
            <a:solidFill>
              <a:srgbClr val="C2A05F"/>
            </a:solidFill>
            <a:prstDash val="solid"/>
            <a:headEnd type="none"/>
            <a:tailEnd type="none"/>
          </a:ln>
        </p:spPr>
      </p:sp>
      <p:sp>
        <p:nvSpPr>
          <p:cNvPr id="30" name="Text 28"/>
          <p:cNvSpPr txBox="1"/>
          <p:nvPr/>
        </p:nvSpPr>
        <p:spPr>
          <a:xfrm>
            <a:off x="6185916" y="3825517"/>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Increase flexibility; open boundaries</a:t>
            </a:r>
            <a:endParaRPr lang="en-US" sz="720" dirty="0"/>
          </a:p>
        </p:txBody>
      </p:sp>
      <p:sp>
        <p:nvSpPr>
          <p:cNvPr id="31" name="Text 29"/>
          <p:cNvSpPr txBox="1"/>
          <p:nvPr/>
        </p:nvSpPr>
        <p:spPr>
          <a:xfrm>
            <a:off x="6094476"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Adolescents</a:t>
            </a:r>
            <a:endParaRPr lang="en-US" sz="1080" dirty="0"/>
          </a:p>
        </p:txBody>
      </p:sp>
      <p:sp>
        <p:nvSpPr>
          <p:cNvPr id="32" name="Text 30"/>
          <p:cNvSpPr txBox="1"/>
          <p:nvPr/>
        </p:nvSpPr>
        <p:spPr>
          <a:xfrm>
            <a:off x="7522464"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4</a:t>
            </a:r>
            <a:endParaRPr lang="en-US" sz="950" dirty="0"/>
          </a:p>
        </p:txBody>
      </p:sp>
      <p:sp>
        <p:nvSpPr>
          <p:cNvPr id="33" name="Shape 31"/>
          <p:cNvSpPr/>
          <p:nvPr/>
        </p:nvSpPr>
        <p:spPr>
          <a:xfrm>
            <a:off x="7668768" y="3715789"/>
            <a:ext cx="91" cy="1404851"/>
          </a:xfrm>
          <a:prstGeom prst="line">
            <a:avLst/>
          </a:prstGeom>
          <a:noFill/>
          <a:ln w="5715">
            <a:solidFill>
              <a:srgbClr val="D9CDB7"/>
            </a:solidFill>
            <a:prstDash val="sysDot"/>
            <a:headEnd type="none"/>
            <a:tailEnd type="none"/>
          </a:ln>
        </p:spPr>
      </p:sp>
      <p:sp>
        <p:nvSpPr>
          <p:cNvPr id="34" name="Shape 32"/>
          <p:cNvSpPr/>
          <p:nvPr/>
        </p:nvSpPr>
        <p:spPr>
          <a:xfrm>
            <a:off x="7760208" y="3399905"/>
            <a:ext cx="1574292" cy="1720735"/>
          </a:xfrm>
          <a:prstGeom prst="rect">
            <a:avLst/>
          </a:prstGeom>
          <a:solidFill>
            <a:srgbClr val="EFE3CF">
              <a:alpha val="50000"/>
            </a:srgbClr>
          </a:solidFill>
          <a:ln w="12700">
            <a:solidFill>
              <a:srgbClr val="FFFFFF">
                <a:alpha val="0"/>
              </a:srgbClr>
            </a:solidFill>
            <a:prstDash val="solid"/>
          </a:ln>
        </p:spPr>
      </p:sp>
      <p:sp>
        <p:nvSpPr>
          <p:cNvPr id="35" name="Shape 33"/>
          <p:cNvSpPr/>
          <p:nvPr/>
        </p:nvSpPr>
        <p:spPr>
          <a:xfrm>
            <a:off x="7760208" y="3399905"/>
            <a:ext cx="1574292" cy="91"/>
          </a:xfrm>
          <a:prstGeom prst="line">
            <a:avLst/>
          </a:prstGeom>
          <a:noFill/>
          <a:ln w="12700">
            <a:solidFill>
              <a:srgbClr val="C2A05F"/>
            </a:solidFill>
            <a:prstDash val="solid"/>
            <a:headEnd type="none"/>
            <a:tailEnd type="none"/>
          </a:ln>
        </p:spPr>
      </p:sp>
      <p:sp>
        <p:nvSpPr>
          <p:cNvPr id="36" name="Text 34"/>
          <p:cNvSpPr txBox="1"/>
          <p:nvPr/>
        </p:nvSpPr>
        <p:spPr>
          <a:xfrm>
            <a:off x="7851648" y="3509633"/>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Re-negotiate the couple bond</a:t>
            </a:r>
            <a:endParaRPr lang="en-US" sz="720" dirty="0"/>
          </a:p>
        </p:txBody>
      </p:sp>
      <p:sp>
        <p:nvSpPr>
          <p:cNvPr id="37" name="Text 35"/>
          <p:cNvSpPr txBox="1"/>
          <p:nvPr/>
        </p:nvSpPr>
        <p:spPr>
          <a:xfrm>
            <a:off x="7760208"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Launching</a:t>
            </a:r>
            <a:endParaRPr lang="en-US" sz="1080" dirty="0"/>
          </a:p>
        </p:txBody>
      </p:sp>
      <p:sp>
        <p:nvSpPr>
          <p:cNvPr id="38" name="Text 36"/>
          <p:cNvSpPr txBox="1"/>
          <p:nvPr/>
        </p:nvSpPr>
        <p:spPr>
          <a:xfrm>
            <a:off x="9188196"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5</a:t>
            </a:r>
            <a:endParaRPr lang="en-US" sz="950" dirty="0"/>
          </a:p>
        </p:txBody>
      </p:sp>
      <p:sp>
        <p:nvSpPr>
          <p:cNvPr id="39" name="Shape 37"/>
          <p:cNvSpPr/>
          <p:nvPr/>
        </p:nvSpPr>
        <p:spPr>
          <a:xfrm>
            <a:off x="9334500" y="3399905"/>
            <a:ext cx="91" cy="1720735"/>
          </a:xfrm>
          <a:prstGeom prst="line">
            <a:avLst/>
          </a:prstGeom>
          <a:noFill/>
          <a:ln w="5715">
            <a:solidFill>
              <a:srgbClr val="D9CDB7"/>
            </a:solidFill>
            <a:prstDash val="sysDot"/>
            <a:headEnd type="none"/>
            <a:tailEnd type="none"/>
          </a:ln>
        </p:spPr>
      </p:sp>
      <p:sp>
        <p:nvSpPr>
          <p:cNvPr id="40" name="Shape 38"/>
          <p:cNvSpPr/>
          <p:nvPr/>
        </p:nvSpPr>
        <p:spPr>
          <a:xfrm>
            <a:off x="9425940" y="3084022"/>
            <a:ext cx="1574292" cy="2036618"/>
          </a:xfrm>
          <a:prstGeom prst="rect">
            <a:avLst/>
          </a:prstGeom>
          <a:solidFill>
            <a:srgbClr val="EFE5D3">
              <a:alpha val="50000"/>
            </a:srgbClr>
          </a:solidFill>
          <a:ln w="12700">
            <a:solidFill>
              <a:srgbClr val="FFFFFF">
                <a:alpha val="0"/>
              </a:srgbClr>
            </a:solidFill>
            <a:prstDash val="solid"/>
          </a:ln>
        </p:spPr>
      </p:sp>
      <p:sp>
        <p:nvSpPr>
          <p:cNvPr id="41" name="Shape 39"/>
          <p:cNvSpPr/>
          <p:nvPr/>
        </p:nvSpPr>
        <p:spPr>
          <a:xfrm>
            <a:off x="9425940" y="3084022"/>
            <a:ext cx="1574292" cy="91"/>
          </a:xfrm>
          <a:prstGeom prst="line">
            <a:avLst/>
          </a:prstGeom>
          <a:noFill/>
          <a:ln w="12700">
            <a:solidFill>
              <a:srgbClr val="C2A05F"/>
            </a:solidFill>
            <a:prstDash val="solid"/>
            <a:headEnd type="none"/>
            <a:tailEnd type="none"/>
          </a:ln>
        </p:spPr>
      </p:sp>
      <p:sp>
        <p:nvSpPr>
          <p:cNvPr id="42" name="Text 40"/>
          <p:cNvSpPr txBox="1"/>
          <p:nvPr/>
        </p:nvSpPr>
        <p:spPr>
          <a:xfrm>
            <a:off x="9517380" y="3193750"/>
            <a:ext cx="1409700" cy="205740"/>
          </a:xfrm>
          <a:prstGeom prst="rect">
            <a:avLst/>
          </a:prstGeom>
          <a:noFill/>
          <a:ln/>
        </p:spPr>
        <p:txBody>
          <a:bodyPr wrap="square" lIns="0" tIns="0" rIns="0" bIns="0" rtlCol="0" anchor="t"/>
          <a:lstStyle/>
          <a:p>
            <a:pPr algn="l" indent="0" marL="0">
              <a:lnSpc>
                <a:spcPts val="900"/>
              </a:lnSpc>
              <a:buNone/>
            </a:pPr>
            <a:r>
              <a:rPr lang="en-US" sz="720" dirty="0">
                <a:solidFill>
                  <a:srgbClr val="5B544A"/>
                </a:solidFill>
                <a:latin typeface="Calibri" pitchFamily="34" charset="0"/>
                <a:ea typeface="Calibri" pitchFamily="34" charset="-122"/>
                <a:cs typeface="Calibri" pitchFamily="34" charset="-120"/>
              </a:rPr>
              <a:t>Accept shifts in roles and loss</a:t>
            </a:r>
            <a:endParaRPr lang="en-US" sz="720" dirty="0"/>
          </a:p>
        </p:txBody>
      </p:sp>
      <p:sp>
        <p:nvSpPr>
          <p:cNvPr id="43" name="Text 41"/>
          <p:cNvSpPr txBox="1"/>
          <p:nvPr/>
        </p:nvSpPr>
        <p:spPr>
          <a:xfrm>
            <a:off x="9425940" y="2706624"/>
            <a:ext cx="1537716" cy="282550"/>
          </a:xfrm>
          <a:prstGeom prst="rect">
            <a:avLst/>
          </a:prstGeom>
          <a:noFill/>
          <a:ln/>
        </p:spPr>
        <p:txBody>
          <a:bodyPr wrap="square" lIns="0" tIns="0" rIns="0" bIns="0" rtlCol="0" anchor="t"/>
          <a:lstStyle/>
          <a:p>
            <a:pPr algn="l" indent="0" marL="0">
              <a:lnSpc>
                <a:spcPts val="1145"/>
              </a:lnSpc>
              <a:buNone/>
            </a:pPr>
            <a:r>
              <a:rPr lang="en-US" sz="1080" dirty="0">
                <a:solidFill>
                  <a:srgbClr val="1B1815"/>
                </a:solidFill>
                <a:latin typeface="Georgia" pitchFamily="34" charset="0"/>
                <a:ea typeface="Georgia" pitchFamily="34" charset="-122"/>
                <a:cs typeface="Georgia" pitchFamily="34" charset="-120"/>
              </a:rPr>
              <a:t>Later life</a:t>
            </a:r>
            <a:endParaRPr lang="en-US" sz="1080" dirty="0"/>
          </a:p>
        </p:txBody>
      </p:sp>
      <p:sp>
        <p:nvSpPr>
          <p:cNvPr id="44" name="Text 42"/>
          <p:cNvSpPr txBox="1"/>
          <p:nvPr/>
        </p:nvSpPr>
        <p:spPr>
          <a:xfrm>
            <a:off x="10853928" y="2377440"/>
            <a:ext cx="201168" cy="283528"/>
          </a:xfrm>
          <a:prstGeom prst="rect">
            <a:avLst/>
          </a:prstGeom>
          <a:noFill/>
          <a:ln/>
        </p:spPr>
        <p:txBody>
          <a:bodyPr wrap="square" lIns="0" tIns="0" rIns="0" bIns="0" rtlCol="0" anchor="t"/>
          <a:lstStyle/>
          <a:p>
            <a:pPr algn="r" indent="0" marL="0">
              <a:lnSpc>
                <a:spcPts val="1283"/>
              </a:lnSpc>
              <a:buNone/>
            </a:pPr>
            <a:r>
              <a:rPr lang="en-US" sz="950" dirty="0">
                <a:solidFill>
                  <a:srgbClr val="96733C"/>
                </a:solidFill>
                <a:latin typeface="Georgia" pitchFamily="34" charset="0"/>
                <a:ea typeface="Georgia" pitchFamily="34" charset="-122"/>
                <a:cs typeface="Georgia" pitchFamily="34" charset="-120"/>
              </a:rPr>
              <a:t>6</a:t>
            </a:r>
            <a:endParaRPr lang="en-US" sz="950" dirty="0"/>
          </a:p>
        </p:txBody>
      </p:sp>
      <p:sp>
        <p:nvSpPr>
          <p:cNvPr id="45" name="Shape 43"/>
          <p:cNvSpPr/>
          <p:nvPr/>
        </p:nvSpPr>
        <p:spPr>
          <a:xfrm>
            <a:off x="1097280" y="3291840"/>
            <a:ext cx="9902952" cy="91"/>
          </a:xfrm>
          <a:prstGeom prst="line">
            <a:avLst/>
          </a:prstGeom>
          <a:noFill/>
          <a:ln w="6350">
            <a:solidFill>
              <a:srgbClr val="D9CDB7"/>
            </a:solidFill>
            <a:prstDash val="solid"/>
            <a:headEnd type="none"/>
            <a:tailEnd type="none"/>
          </a:ln>
        </p:spPr>
      </p:sp>
      <p:sp>
        <p:nvSpPr>
          <p:cNvPr id="46" name="Shape 44"/>
          <p:cNvSpPr/>
          <p:nvPr/>
        </p:nvSpPr>
        <p:spPr>
          <a:xfrm>
            <a:off x="1097280" y="5120640"/>
            <a:ext cx="9902952" cy="91"/>
          </a:xfrm>
          <a:prstGeom prst="line">
            <a:avLst/>
          </a:prstGeom>
          <a:noFill/>
          <a:ln w="13970">
            <a:solidFill>
              <a:srgbClr val="C2A05F"/>
            </a:solidFill>
            <a:prstDash val="solid"/>
            <a:headEnd type="none"/>
            <a:tailEnd type="none"/>
          </a:ln>
        </p:spPr>
      </p:sp>
      <p:sp>
        <p:nvSpPr>
          <p:cNvPr id="47" name="Text 45"/>
          <p:cNvSpPr txBox="1"/>
          <p:nvPr/>
        </p:nvSpPr>
        <p:spPr>
          <a:xfrm>
            <a:off x="1097280" y="5266944"/>
            <a:ext cx="5852160" cy="216154"/>
          </a:xfrm>
          <a:prstGeom prst="rect">
            <a:avLst/>
          </a:prstGeom>
          <a:noFill/>
          <a:ln/>
        </p:spPr>
        <p:txBody>
          <a:bodyPr wrap="square" lIns="0" tIns="0" rIns="0" bIns="0" rtlCol="0" anchor="t"/>
          <a:lstStyle/>
          <a:p>
            <a:pPr algn="l" indent="0" marL="0">
              <a:lnSpc>
                <a:spcPts val="962"/>
              </a:lnSpc>
              <a:buNone/>
            </a:pPr>
            <a:r>
              <a:rPr lang="en-US" sz="740" i="1" dirty="0">
                <a:solidFill>
                  <a:srgbClr val="5B544A"/>
                </a:solidFill>
                <a:latin typeface="Calibri" pitchFamily="34" charset="0"/>
                <a:ea typeface="Calibri" pitchFamily="34" charset="-122"/>
                <a:cs typeface="Calibri" pitchFamily="34" charset="-120"/>
              </a:rPr>
              <a:t>Vertical stressors · family history, legacy, scripts</a:t>
            </a:r>
            <a:endParaRPr lang="en-US" sz="740" dirty="0"/>
          </a:p>
        </p:txBody>
      </p:sp>
      <p:sp>
        <p:nvSpPr>
          <p:cNvPr id="48" name="Text 46"/>
          <p:cNvSpPr txBox="1"/>
          <p:nvPr/>
        </p:nvSpPr>
        <p:spPr>
          <a:xfrm>
            <a:off x="6217920" y="5266944"/>
            <a:ext cx="5120640" cy="216154"/>
          </a:xfrm>
          <a:prstGeom prst="rect">
            <a:avLst/>
          </a:prstGeom>
          <a:noFill/>
          <a:ln/>
        </p:spPr>
        <p:txBody>
          <a:bodyPr wrap="square" lIns="0" tIns="0" rIns="0" bIns="0" rtlCol="0" anchor="t"/>
          <a:lstStyle/>
          <a:p>
            <a:pPr algn="r" indent="0" marL="0">
              <a:lnSpc>
                <a:spcPts val="962"/>
              </a:lnSpc>
              <a:buNone/>
            </a:pPr>
            <a:r>
              <a:rPr lang="en-US" sz="740" i="1" dirty="0">
                <a:solidFill>
                  <a:srgbClr val="5B544A"/>
                </a:solidFill>
                <a:latin typeface="Calibri" pitchFamily="34" charset="0"/>
                <a:ea typeface="Calibri" pitchFamily="34" charset="-122"/>
                <a:cs typeface="Calibri" pitchFamily="34" charset="-120"/>
              </a:rPr>
              <a:t>Horizontal stressors · transitions, events, time</a:t>
            </a:r>
            <a:endParaRPr lang="en-US" sz="740" dirty="0"/>
          </a:p>
        </p:txBody>
      </p:sp>
      <p:sp>
        <p:nvSpPr>
          <p:cNvPr id="49" name="Shape 47"/>
          <p:cNvSpPr/>
          <p:nvPr/>
        </p:nvSpPr>
        <p:spPr>
          <a:xfrm>
            <a:off x="1097280" y="2139696"/>
            <a:ext cx="457200" cy="91"/>
          </a:xfrm>
          <a:prstGeom prst="line">
            <a:avLst/>
          </a:prstGeom>
          <a:noFill/>
          <a:ln w="15240">
            <a:solidFill>
              <a:srgbClr val="A96A45"/>
            </a:solidFill>
            <a:prstDash val="solid"/>
            <a:headEnd type="none"/>
            <a:tailEnd type="none"/>
          </a:ln>
        </p:spPr>
      </p:sp>
      <p:sp>
        <p:nvSpPr>
          <p:cNvPr id="50" name="Text 48"/>
          <p:cNvSpPr txBox="1"/>
          <p:nvPr/>
        </p:nvSpPr>
        <p:spPr>
          <a:xfrm>
            <a:off x="1664208" y="2048256"/>
            <a:ext cx="8595360" cy="245364"/>
          </a:xfrm>
          <a:prstGeom prst="rect">
            <a:avLst/>
          </a:prstGeom>
          <a:noFill/>
          <a:ln/>
        </p:spPr>
        <p:txBody>
          <a:bodyPr wrap="square" lIns="0" tIns="0" rIns="0" bIns="0" rtlCol="0" anchor="t"/>
          <a:lstStyle/>
          <a:p>
            <a:pPr algn="l" indent="0" marL="0">
              <a:lnSpc>
                <a:spcPts val="1092"/>
              </a:lnSpc>
              <a:buNone/>
            </a:pPr>
            <a:r>
              <a:rPr lang="en-US" sz="840" i="1" dirty="0">
                <a:solidFill>
                  <a:srgbClr val="96733C"/>
                </a:solidFill>
                <a:latin typeface="Calibri" pitchFamily="34" charset="0"/>
                <a:ea typeface="Calibri" pitchFamily="34" charset="-122"/>
                <a:cs typeface="Calibri" pitchFamily="34" charset="-120"/>
              </a:rPr>
              <a:t>The symptom often appears at the transition, not inside the stage itself.</a:t>
            </a:r>
            <a:endParaRPr lang="en-US" sz="840" dirty="0"/>
          </a:p>
        </p:txBody>
      </p:sp>
      <p:sp>
        <p:nvSpPr>
          <p:cNvPr id="51" name="Text 49"/>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After Carter &amp; McGoldrick (1999).</a:t>
            </a:r>
            <a:endParaRPr lang="en-US" sz="74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15 · CLINICAL APPLICATION</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70</a:t>
            </a:r>
            <a:endParaRPr lang="en-US" sz="950" dirty="0"/>
          </a:p>
        </p:txBody>
      </p:sp>
      <p:sp>
        <p:nvSpPr>
          <p:cNvPr id="8" name="Text 6"/>
          <p:cNvSpPr txBox="1"/>
          <p:nvPr/>
        </p:nvSpPr>
        <p:spPr>
          <a:xfrm>
            <a:off x="822960" y="932688"/>
            <a:ext cx="9509760" cy="775970"/>
          </a:xfrm>
          <a:prstGeom prst="rect">
            <a:avLst/>
          </a:prstGeom>
          <a:noFill/>
          <a:ln/>
        </p:spPr>
        <p:txBody>
          <a:bodyPr wrap="square" lIns="0" tIns="0" rIns="0" bIns="0" rtlCol="0" anchor="t"/>
          <a:lstStyle/>
          <a:p>
            <a:pPr algn="l" indent="0" marL="0">
              <a:lnSpc>
                <a:spcPts val="3510"/>
              </a:lnSpc>
              <a:buNone/>
            </a:pPr>
            <a:r>
              <a:rPr lang="en-US" sz="2600" dirty="0">
                <a:solidFill>
                  <a:srgbClr val="1B1815"/>
                </a:solidFill>
                <a:latin typeface="Georgia" pitchFamily="34" charset="0"/>
                <a:ea typeface="Georgia" pitchFamily="34" charset="-122"/>
                <a:cs typeface="Georgia" pitchFamily="34" charset="-120"/>
              </a:rPr>
              <a:t>The transition nobody named</a:t>
            </a:r>
            <a:endParaRPr lang="en-US" sz="2600" dirty="0"/>
          </a:p>
        </p:txBody>
      </p:sp>
      <p:sp>
        <p:nvSpPr>
          <p:cNvPr id="9" name="Shape 7"/>
          <p:cNvSpPr/>
          <p:nvPr/>
        </p:nvSpPr>
        <p:spPr>
          <a:xfrm>
            <a:off x="822960" y="1463040"/>
            <a:ext cx="7059168" cy="1847088"/>
          </a:xfrm>
          <a:prstGeom prst="roundRect">
            <a:avLst>
              <a:gd name="adj" fmla="val 490"/>
            </a:avLst>
          </a:prstGeom>
          <a:solidFill>
            <a:srgbClr val="EFE5D3">
              <a:alpha val="50000"/>
            </a:srgbClr>
          </a:solidFill>
          <a:ln w="12700">
            <a:solidFill>
              <a:srgbClr val="FFFFFF">
                <a:alpha val="0"/>
              </a:srgbClr>
            </a:solidFill>
            <a:prstDash val="solid"/>
          </a:ln>
        </p:spPr>
      </p:sp>
      <p:sp>
        <p:nvSpPr>
          <p:cNvPr id="10" name="Shape 8"/>
          <p:cNvSpPr/>
          <p:nvPr/>
        </p:nvSpPr>
        <p:spPr>
          <a:xfrm>
            <a:off x="822960" y="1463040"/>
            <a:ext cx="45720" cy="1847088"/>
          </a:xfrm>
          <a:prstGeom prst="rect">
            <a:avLst/>
          </a:prstGeom>
          <a:solidFill>
            <a:srgbClr val="A96A45"/>
          </a:solidFill>
          <a:ln w="12700">
            <a:solidFill>
              <a:srgbClr val="FFFFFF">
                <a:alpha val="0"/>
              </a:srgbClr>
            </a:solidFill>
            <a:prstDash val="solid"/>
          </a:ln>
        </p:spPr>
      </p:sp>
      <p:sp>
        <p:nvSpPr>
          <p:cNvPr id="11" name="Text 9"/>
          <p:cNvSpPr txBox="1"/>
          <p:nvPr/>
        </p:nvSpPr>
        <p:spPr>
          <a:xfrm>
            <a:off x="1115568" y="1627632"/>
            <a:ext cx="2743200" cy="202946"/>
          </a:xfrm>
          <a:prstGeom prst="rect">
            <a:avLst/>
          </a:prstGeom>
          <a:noFill/>
          <a:ln/>
        </p:spPr>
        <p:txBody>
          <a:bodyPr wrap="square" lIns="0" tIns="0" rIns="0" bIns="0" rtlCol="0" anchor="t"/>
          <a:lstStyle/>
          <a:p>
            <a:pPr algn="l" indent="0" marL="0">
              <a:lnSpc>
                <a:spcPts val="918"/>
              </a:lnSpc>
              <a:buNone/>
            </a:pPr>
            <a:r>
              <a:rPr lang="en-US" sz="680" b="1" spc="200" kern="0" dirty="0">
                <a:solidFill>
                  <a:srgbClr val="A96A45"/>
                </a:solidFill>
                <a:latin typeface="Calibri" pitchFamily="34" charset="0"/>
                <a:ea typeface="Calibri" pitchFamily="34" charset="-122"/>
                <a:cs typeface="Calibri" pitchFamily="34" charset="-120"/>
              </a:rPr>
              <a:t>CLINICAL VIGNETTE</a:t>
            </a:r>
            <a:endParaRPr lang="en-US" sz="680" dirty="0"/>
          </a:p>
        </p:txBody>
      </p:sp>
      <p:sp>
        <p:nvSpPr>
          <p:cNvPr id="12" name="Text 10"/>
          <p:cNvSpPr txBox="1"/>
          <p:nvPr/>
        </p:nvSpPr>
        <p:spPr>
          <a:xfrm>
            <a:off x="1115568" y="2299818"/>
            <a:ext cx="6446520" cy="1280160"/>
          </a:xfrm>
          <a:prstGeom prst="rect">
            <a:avLst/>
          </a:prstGeom>
          <a:noFill/>
          <a:ln/>
        </p:spPr>
        <p:txBody>
          <a:bodyPr wrap="square" lIns="0" tIns="0" rIns="0" bIns="0" rtlCol="0" anchor="t"/>
          <a:lstStyle/>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A family seeks help because their 16-year-old has “become impossible”. The eldest child left for</a:t>
            </a:r>
            <a:endParaRPr lang="en-US" sz="1160" dirty="0"/>
          </a:p>
          <a:p>
            <a:pPr algn="l" indent="0" marL="0">
              <a:lnSpc>
                <a:spcPts val="1763"/>
              </a:lnSpc>
              <a:buNone/>
            </a:pPr>
            <a:r>
              <a:rPr lang="en-US" sz="1160" i="1" dirty="0">
                <a:solidFill>
                  <a:srgbClr val="1B1815"/>
                </a:solidFill>
                <a:latin typeface="Georgia" pitchFamily="34" charset="0"/>
                <a:ea typeface="Georgia" pitchFamily="34" charset="-122"/>
                <a:cs typeface="Georgia" pitchFamily="34" charset="-120"/>
              </a:rPr>
              <a:t>university last term; the grandmother moved in after a stroke three months ago.</a:t>
            </a:r>
            <a:endParaRPr lang="en-US" sz="1160" dirty="0"/>
          </a:p>
        </p:txBody>
      </p:sp>
      <p:sp>
        <p:nvSpPr>
          <p:cNvPr id="13" name="Shape 11"/>
          <p:cNvSpPr/>
          <p:nvPr/>
        </p:nvSpPr>
        <p:spPr>
          <a:xfrm>
            <a:off x="8101584" y="1463040"/>
            <a:ext cx="3264408" cy="1847088"/>
          </a:xfrm>
          <a:prstGeom prst="roundRect">
            <a:avLst>
              <a:gd name="adj" fmla="val 490"/>
            </a:avLst>
          </a:prstGeom>
          <a:solidFill>
            <a:srgbClr val="FFFFFF">
              <a:alpha val="0"/>
            </a:srgbClr>
          </a:solidFill>
          <a:ln w="7620">
            <a:solidFill>
              <a:srgbClr val="D9CDB7"/>
            </a:solidFill>
            <a:prstDash val="solid"/>
          </a:ln>
        </p:spPr>
      </p:sp>
      <p:sp>
        <p:nvSpPr>
          <p:cNvPr id="14" name="Text 12"/>
          <p:cNvSpPr txBox="1"/>
          <p:nvPr/>
        </p:nvSpPr>
        <p:spPr>
          <a:xfrm>
            <a:off x="8302752" y="1627632"/>
            <a:ext cx="2898648" cy="196977"/>
          </a:xfrm>
          <a:prstGeom prst="rect">
            <a:avLst/>
          </a:prstGeom>
          <a:noFill/>
          <a:ln/>
        </p:spPr>
        <p:txBody>
          <a:bodyPr wrap="square" lIns="0" tIns="0" rIns="0" bIns="0" rtlCol="0" anchor="t"/>
          <a:lstStyle/>
          <a:p>
            <a:pPr algn="l" indent="0" marL="0">
              <a:lnSpc>
                <a:spcPts val="891"/>
              </a:lnSpc>
              <a:buNone/>
            </a:pPr>
            <a:r>
              <a:rPr lang="en-US" sz="660" b="1" spc="180" kern="0" dirty="0">
                <a:solidFill>
                  <a:srgbClr val="6E8274"/>
                </a:solidFill>
                <a:latin typeface="Calibri" pitchFamily="34" charset="0"/>
                <a:ea typeface="Calibri" pitchFamily="34" charset="-122"/>
                <a:cs typeface="Calibri" pitchFamily="34" charset="-120"/>
              </a:rPr>
              <a:t>APPLY THIS WEEK</a:t>
            </a:r>
            <a:endParaRPr lang="en-US" sz="660" dirty="0"/>
          </a:p>
        </p:txBody>
      </p:sp>
      <p:sp>
        <p:nvSpPr>
          <p:cNvPr id="15" name="Shape 13"/>
          <p:cNvSpPr/>
          <p:nvPr/>
        </p:nvSpPr>
        <p:spPr>
          <a:xfrm>
            <a:off x="8322869" y="1967789"/>
            <a:ext cx="51206" cy="51206"/>
          </a:xfrm>
          <a:prstGeom prst="ellipse">
            <a:avLst/>
          </a:prstGeom>
          <a:solidFill>
            <a:srgbClr val="6E8274"/>
          </a:solidFill>
          <a:ln w="12700">
            <a:solidFill>
              <a:srgbClr val="FFFFFF">
                <a:alpha val="0"/>
              </a:srgbClr>
            </a:solidFill>
            <a:prstDash val="solid"/>
          </a:ln>
        </p:spPr>
      </p:sp>
      <p:sp>
        <p:nvSpPr>
          <p:cNvPr id="16" name="Text 14"/>
          <p:cNvSpPr txBox="1"/>
          <p:nvPr/>
        </p:nvSpPr>
        <p:spPr>
          <a:xfrm>
            <a:off x="8485632" y="1911096"/>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transition</a:t>
            </a:r>
            <a:endParaRPr lang="en-US" sz="830" dirty="0"/>
          </a:p>
        </p:txBody>
      </p:sp>
      <p:sp>
        <p:nvSpPr>
          <p:cNvPr id="17" name="Shape 15"/>
          <p:cNvSpPr/>
          <p:nvPr/>
        </p:nvSpPr>
        <p:spPr>
          <a:xfrm>
            <a:off x="8322869" y="2296973"/>
            <a:ext cx="51206" cy="51206"/>
          </a:xfrm>
          <a:prstGeom prst="ellipse">
            <a:avLst/>
          </a:prstGeom>
          <a:solidFill>
            <a:srgbClr val="6E8274"/>
          </a:solidFill>
          <a:ln w="12700">
            <a:solidFill>
              <a:srgbClr val="FFFFFF">
                <a:alpha val="0"/>
              </a:srgbClr>
            </a:solidFill>
            <a:prstDash val="solid"/>
          </a:ln>
        </p:spPr>
      </p:sp>
      <p:sp>
        <p:nvSpPr>
          <p:cNvPr id="18" name="Text 16"/>
          <p:cNvSpPr txBox="1"/>
          <p:nvPr/>
        </p:nvSpPr>
        <p:spPr>
          <a:xfrm>
            <a:off x="8485632" y="2240280"/>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family life cycle</a:t>
            </a:r>
            <a:endParaRPr lang="en-US" sz="830" dirty="0"/>
          </a:p>
        </p:txBody>
      </p:sp>
      <p:sp>
        <p:nvSpPr>
          <p:cNvPr id="19" name="Shape 17"/>
          <p:cNvSpPr/>
          <p:nvPr/>
        </p:nvSpPr>
        <p:spPr>
          <a:xfrm>
            <a:off x="8322869" y="2626157"/>
            <a:ext cx="51206" cy="51206"/>
          </a:xfrm>
          <a:prstGeom prst="ellipse">
            <a:avLst/>
          </a:prstGeom>
          <a:solidFill>
            <a:srgbClr val="6E8274"/>
          </a:solidFill>
          <a:ln w="12700">
            <a:solidFill>
              <a:srgbClr val="FFFFFF">
                <a:alpha val="0"/>
              </a:srgbClr>
            </a:solidFill>
            <a:prstDash val="solid"/>
          </a:ln>
        </p:spPr>
      </p:sp>
      <p:sp>
        <p:nvSpPr>
          <p:cNvPr id="20" name="Text 18"/>
          <p:cNvSpPr txBox="1"/>
          <p:nvPr/>
        </p:nvSpPr>
        <p:spPr>
          <a:xfrm>
            <a:off x="8485632" y="2569464"/>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ambiguous loss</a:t>
            </a:r>
            <a:endParaRPr lang="en-US" sz="830" dirty="0"/>
          </a:p>
        </p:txBody>
      </p:sp>
      <p:sp>
        <p:nvSpPr>
          <p:cNvPr id="21" name="Shape 19"/>
          <p:cNvSpPr/>
          <p:nvPr/>
        </p:nvSpPr>
        <p:spPr>
          <a:xfrm>
            <a:off x="8322869" y="2955341"/>
            <a:ext cx="51206" cy="51206"/>
          </a:xfrm>
          <a:prstGeom prst="ellipse">
            <a:avLst/>
          </a:prstGeom>
          <a:solidFill>
            <a:srgbClr val="6E8274"/>
          </a:solidFill>
          <a:ln w="12700">
            <a:solidFill>
              <a:srgbClr val="FFFFFF">
                <a:alpha val="0"/>
              </a:srgbClr>
            </a:solidFill>
            <a:prstDash val="solid"/>
          </a:ln>
        </p:spPr>
      </p:sp>
      <p:sp>
        <p:nvSpPr>
          <p:cNvPr id="22" name="Text 20"/>
          <p:cNvSpPr txBox="1"/>
          <p:nvPr/>
        </p:nvSpPr>
        <p:spPr>
          <a:xfrm>
            <a:off x="8485632" y="2898648"/>
            <a:ext cx="2761488" cy="237173"/>
          </a:xfrm>
          <a:prstGeom prst="rect">
            <a:avLst/>
          </a:prstGeom>
          <a:noFill/>
          <a:ln/>
        </p:spPr>
        <p:txBody>
          <a:bodyPr wrap="square" lIns="0" tIns="0" rIns="0" bIns="0" rtlCol="0" anchor="t"/>
          <a:lstStyle/>
          <a:p>
            <a:pPr algn="l" indent="0" marL="0">
              <a:lnSpc>
                <a:spcPts val="1038"/>
              </a:lnSpc>
              <a:buNone/>
            </a:pPr>
            <a:r>
              <a:rPr lang="en-US" sz="830" dirty="0">
                <a:solidFill>
                  <a:srgbClr val="3F3A33"/>
                </a:solidFill>
                <a:latin typeface="Calibri" pitchFamily="34" charset="0"/>
                <a:ea typeface="Calibri" pitchFamily="34" charset="-122"/>
                <a:cs typeface="Calibri" pitchFamily="34" charset="-120"/>
              </a:rPr>
              <a:t>coercive control</a:t>
            </a:r>
            <a:endParaRPr lang="en-US" sz="830" dirty="0"/>
          </a:p>
        </p:txBody>
      </p:sp>
      <p:sp>
        <p:nvSpPr>
          <p:cNvPr id="23" name="Text 21"/>
          <p:cNvSpPr txBox="1"/>
          <p:nvPr/>
        </p:nvSpPr>
        <p:spPr>
          <a:xfrm>
            <a:off x="822960" y="3675888"/>
            <a:ext cx="3657600" cy="214884"/>
          </a:xfrm>
          <a:prstGeom prst="rect">
            <a:avLst/>
          </a:prstGeom>
          <a:noFill/>
          <a:ln/>
        </p:spPr>
        <p:txBody>
          <a:bodyPr wrap="square" lIns="0" tIns="0" rIns="0" bIns="0" rtlCol="0" anchor="t"/>
          <a:lstStyle/>
          <a:p>
            <a:pPr algn="l" indent="0" marL="0">
              <a:lnSpc>
                <a:spcPts val="972"/>
              </a:lnSpc>
              <a:buNone/>
            </a:pPr>
            <a:r>
              <a:rPr lang="en-US" sz="720" b="1" spc="200" kern="0" dirty="0">
                <a:solidFill>
                  <a:srgbClr val="96733C"/>
                </a:solidFill>
                <a:latin typeface="Calibri" pitchFamily="34" charset="0"/>
                <a:ea typeface="Calibri" pitchFamily="34" charset="-122"/>
                <a:cs typeface="Calibri" pitchFamily="34" charset="-120"/>
              </a:rPr>
              <a:t>REFLECTION</a:t>
            </a:r>
            <a:endParaRPr lang="en-US" sz="720" dirty="0"/>
          </a:p>
        </p:txBody>
      </p:sp>
      <p:sp>
        <p:nvSpPr>
          <p:cNvPr id="24" name="Shape 22"/>
          <p:cNvSpPr/>
          <p:nvPr/>
        </p:nvSpPr>
        <p:spPr>
          <a:xfrm>
            <a:off x="1828800" y="3730752"/>
            <a:ext cx="548640" cy="91"/>
          </a:xfrm>
          <a:prstGeom prst="line">
            <a:avLst/>
          </a:prstGeom>
          <a:noFill/>
          <a:ln w="10160">
            <a:solidFill>
              <a:srgbClr val="C2A05F"/>
            </a:solidFill>
            <a:prstDash val="solid"/>
            <a:headEnd type="none"/>
            <a:tailEnd type="none"/>
          </a:ln>
        </p:spPr>
      </p:sp>
      <p:sp>
        <p:nvSpPr>
          <p:cNvPr id="25" name="Shape 23"/>
          <p:cNvSpPr/>
          <p:nvPr/>
        </p:nvSpPr>
        <p:spPr>
          <a:xfrm>
            <a:off x="822960" y="4041648"/>
            <a:ext cx="3319272" cy="1627632"/>
          </a:xfrm>
          <a:prstGeom prst="roundRect">
            <a:avLst>
              <a:gd name="adj" fmla="val 631"/>
            </a:avLst>
          </a:prstGeom>
          <a:solidFill>
            <a:srgbClr val="FCF8EF"/>
          </a:solidFill>
          <a:ln w="6350">
            <a:solidFill>
              <a:srgbClr val="D9CDB7"/>
            </a:solidFill>
            <a:prstDash val="solid"/>
          </a:ln>
        </p:spPr>
      </p:sp>
      <p:sp>
        <p:nvSpPr>
          <p:cNvPr id="26" name="Text 24"/>
          <p:cNvSpPr txBox="1"/>
          <p:nvPr/>
        </p:nvSpPr>
        <p:spPr>
          <a:xfrm>
            <a:off x="102412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27" name="Text 25"/>
          <p:cNvSpPr txBox="1"/>
          <p:nvPr/>
        </p:nvSpPr>
        <p:spPr>
          <a:xfrm>
            <a:off x="102412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Which transitions are stacking up?</a:t>
            </a:r>
            <a:endParaRPr lang="en-US" sz="920" dirty="0"/>
          </a:p>
        </p:txBody>
      </p:sp>
      <p:sp>
        <p:nvSpPr>
          <p:cNvPr id="28" name="Shape 26"/>
          <p:cNvSpPr/>
          <p:nvPr/>
        </p:nvSpPr>
        <p:spPr>
          <a:xfrm>
            <a:off x="1024128" y="5248656"/>
            <a:ext cx="2916936" cy="91"/>
          </a:xfrm>
          <a:prstGeom prst="line">
            <a:avLst/>
          </a:prstGeom>
          <a:noFill/>
          <a:ln w="3810">
            <a:solidFill>
              <a:srgbClr val="D9CDB7">
                <a:alpha val="75000"/>
              </a:srgbClr>
            </a:solidFill>
            <a:prstDash val="sysDot"/>
            <a:headEnd type="none"/>
            <a:tailEnd type="none"/>
          </a:ln>
        </p:spPr>
      </p:sp>
      <p:sp>
        <p:nvSpPr>
          <p:cNvPr id="29" name="Shape 27"/>
          <p:cNvSpPr/>
          <p:nvPr/>
        </p:nvSpPr>
        <p:spPr>
          <a:xfrm>
            <a:off x="1024128" y="5468112"/>
            <a:ext cx="2916936" cy="91"/>
          </a:xfrm>
          <a:prstGeom prst="line">
            <a:avLst/>
          </a:prstGeom>
          <a:noFill/>
          <a:ln w="3810">
            <a:solidFill>
              <a:srgbClr val="D9CDB7">
                <a:alpha val="75000"/>
              </a:srgbClr>
            </a:solidFill>
            <a:prstDash val="sysDot"/>
            <a:headEnd type="none"/>
            <a:tailEnd type="none"/>
          </a:ln>
        </p:spPr>
      </p:sp>
      <p:sp>
        <p:nvSpPr>
          <p:cNvPr id="30" name="Shape 28"/>
          <p:cNvSpPr/>
          <p:nvPr/>
        </p:nvSpPr>
        <p:spPr>
          <a:xfrm>
            <a:off x="4434840" y="4041648"/>
            <a:ext cx="3319272" cy="1627632"/>
          </a:xfrm>
          <a:prstGeom prst="roundRect">
            <a:avLst>
              <a:gd name="adj" fmla="val 631"/>
            </a:avLst>
          </a:prstGeom>
          <a:solidFill>
            <a:srgbClr val="FCF8EF"/>
          </a:solidFill>
          <a:ln w="6350">
            <a:solidFill>
              <a:srgbClr val="D9CDB7"/>
            </a:solidFill>
            <a:prstDash val="solid"/>
          </a:ln>
        </p:spPr>
      </p:sp>
      <p:sp>
        <p:nvSpPr>
          <p:cNvPr id="31" name="Text 29"/>
          <p:cNvSpPr txBox="1"/>
          <p:nvPr/>
        </p:nvSpPr>
        <p:spPr>
          <a:xfrm>
            <a:off x="463600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32" name="Text 30"/>
          <p:cNvSpPr txBox="1"/>
          <p:nvPr/>
        </p:nvSpPr>
        <p:spPr>
          <a:xfrm>
            <a:off x="463600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meaning does the adolescent’s behaviour carry?</a:t>
            </a:r>
            <a:endParaRPr lang="en-US" sz="920" dirty="0"/>
          </a:p>
        </p:txBody>
      </p:sp>
      <p:sp>
        <p:nvSpPr>
          <p:cNvPr id="33" name="Shape 31"/>
          <p:cNvSpPr/>
          <p:nvPr/>
        </p:nvSpPr>
        <p:spPr>
          <a:xfrm>
            <a:off x="4636008" y="5248656"/>
            <a:ext cx="2916936" cy="91"/>
          </a:xfrm>
          <a:prstGeom prst="line">
            <a:avLst/>
          </a:prstGeom>
          <a:noFill/>
          <a:ln w="3810">
            <a:solidFill>
              <a:srgbClr val="D9CDB7">
                <a:alpha val="75000"/>
              </a:srgbClr>
            </a:solidFill>
            <a:prstDash val="sysDot"/>
            <a:headEnd type="none"/>
            <a:tailEnd type="none"/>
          </a:ln>
        </p:spPr>
      </p:sp>
      <p:sp>
        <p:nvSpPr>
          <p:cNvPr id="34" name="Shape 32"/>
          <p:cNvSpPr/>
          <p:nvPr/>
        </p:nvSpPr>
        <p:spPr>
          <a:xfrm>
            <a:off x="4636008" y="5468112"/>
            <a:ext cx="2916936" cy="91"/>
          </a:xfrm>
          <a:prstGeom prst="line">
            <a:avLst/>
          </a:prstGeom>
          <a:noFill/>
          <a:ln w="3810">
            <a:solidFill>
              <a:srgbClr val="D9CDB7">
                <a:alpha val="75000"/>
              </a:srgbClr>
            </a:solidFill>
            <a:prstDash val="sysDot"/>
            <a:headEnd type="none"/>
            <a:tailEnd type="none"/>
          </a:ln>
        </p:spPr>
      </p:sp>
      <p:sp>
        <p:nvSpPr>
          <p:cNvPr id="35" name="Shape 33"/>
          <p:cNvSpPr/>
          <p:nvPr/>
        </p:nvSpPr>
        <p:spPr>
          <a:xfrm>
            <a:off x="8046720" y="4041648"/>
            <a:ext cx="3319272" cy="1627632"/>
          </a:xfrm>
          <a:prstGeom prst="roundRect">
            <a:avLst>
              <a:gd name="adj" fmla="val 631"/>
            </a:avLst>
          </a:prstGeom>
          <a:solidFill>
            <a:srgbClr val="FCF8EF"/>
          </a:solidFill>
          <a:ln w="6350">
            <a:solidFill>
              <a:srgbClr val="D9CDB7"/>
            </a:solidFill>
            <a:prstDash val="solid"/>
          </a:ln>
        </p:spPr>
      </p:sp>
      <p:sp>
        <p:nvSpPr>
          <p:cNvPr id="36" name="Text 34"/>
          <p:cNvSpPr txBox="1"/>
          <p:nvPr/>
        </p:nvSpPr>
        <p:spPr>
          <a:xfrm>
            <a:off x="8247888" y="4197096"/>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7" name="Text 35"/>
          <p:cNvSpPr txBox="1"/>
          <p:nvPr/>
        </p:nvSpPr>
        <p:spPr>
          <a:xfrm>
            <a:off x="8247888" y="4443984"/>
            <a:ext cx="2916936" cy="282753"/>
          </a:xfrm>
          <a:prstGeom prst="rect">
            <a:avLst/>
          </a:prstGeom>
          <a:noFill/>
          <a:ln/>
        </p:spPr>
        <p:txBody>
          <a:bodyPr wrap="square" lIns="0" tIns="0" rIns="0" bIns="0" rtlCol="0" anchor="t"/>
          <a:lstStyle/>
          <a:p>
            <a:pPr algn="l" indent="0" marL="0">
              <a:lnSpc>
                <a:spcPts val="1306"/>
              </a:lnSpc>
              <a:buNone/>
            </a:pPr>
            <a:r>
              <a:rPr lang="en-US" sz="920" dirty="0">
                <a:solidFill>
                  <a:srgbClr val="3F3A33"/>
                </a:solidFill>
                <a:latin typeface="Calibri" pitchFamily="34" charset="0"/>
                <a:ea typeface="Calibri" pitchFamily="34" charset="-122"/>
                <a:cs typeface="Calibri" pitchFamily="34" charset="-120"/>
              </a:rPr>
              <a:t>What would stabilisation look like in the first three sessions?</a:t>
            </a:r>
            <a:endParaRPr lang="en-US" sz="920" dirty="0"/>
          </a:p>
        </p:txBody>
      </p:sp>
      <p:sp>
        <p:nvSpPr>
          <p:cNvPr id="38" name="Shape 36"/>
          <p:cNvSpPr/>
          <p:nvPr/>
        </p:nvSpPr>
        <p:spPr>
          <a:xfrm>
            <a:off x="8247888" y="5248656"/>
            <a:ext cx="2916936" cy="91"/>
          </a:xfrm>
          <a:prstGeom prst="line">
            <a:avLst/>
          </a:prstGeom>
          <a:noFill/>
          <a:ln w="3810">
            <a:solidFill>
              <a:srgbClr val="D9CDB7">
                <a:alpha val="75000"/>
              </a:srgbClr>
            </a:solidFill>
            <a:prstDash val="sysDot"/>
            <a:headEnd type="none"/>
            <a:tailEnd type="none"/>
          </a:ln>
        </p:spPr>
      </p:sp>
      <p:sp>
        <p:nvSpPr>
          <p:cNvPr id="39" name="Shape 37"/>
          <p:cNvSpPr/>
          <p:nvPr/>
        </p:nvSpPr>
        <p:spPr>
          <a:xfrm>
            <a:off x="8247888" y="5468112"/>
            <a:ext cx="2916936" cy="91"/>
          </a:xfrm>
          <a:prstGeom prst="line">
            <a:avLst/>
          </a:prstGeom>
          <a:noFill/>
          <a:ln w="3810">
            <a:solidFill>
              <a:srgbClr val="D9CDB7">
                <a:alpha val="75000"/>
              </a:srgbClr>
            </a:solidFill>
            <a:prstDash val="sysDot"/>
            <a:headEnd type="none"/>
            <a:tailEnd type="none"/>
          </a:ln>
        </p:spPr>
      </p:sp>
      <p:sp>
        <p:nvSpPr>
          <p:cNvPr id="40" name="Text 38"/>
          <p:cNvSpPr txBox="1"/>
          <p:nvPr/>
        </p:nvSpPr>
        <p:spPr>
          <a:xfrm>
            <a:off x="822960" y="5742432"/>
            <a:ext cx="9875520" cy="244729"/>
          </a:xfrm>
          <a:prstGeom prst="rect">
            <a:avLst/>
          </a:prstGeom>
          <a:noFill/>
          <a:ln/>
        </p:spPr>
        <p:txBody>
          <a:bodyPr wrap="square" lIns="0" tIns="0" rIns="0" bIns="0" rtlCol="0" anchor="t"/>
          <a:lstStyle/>
          <a:p>
            <a:pPr algn="l" indent="0" marL="0">
              <a:lnSpc>
                <a:spcPts val="1107"/>
              </a:lnSpc>
              <a:buNone/>
            </a:pPr>
            <a:r>
              <a:rPr lang="en-US" sz="820" i="1" dirty="0">
                <a:solidFill>
                  <a:srgbClr val="8B8375"/>
                </a:solidFill>
                <a:latin typeface="Calibri" pitchFamily="34" charset="0"/>
                <a:ea typeface="Calibri" pitchFamily="34" charset="-122"/>
                <a:cs typeface="Calibri" pitchFamily="34" charset="-120"/>
              </a:rPr>
              <a:t>Discuss in seminar · bring one formulation to supervision.</a:t>
            </a:r>
            <a:endParaRPr lang="en-US" sz="82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30352"/>
            <a:ext cx="64008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16 · PHASE IV — INTEGRATION &amp; TRANSITION</a:t>
            </a:r>
            <a:endParaRPr lang="en-US" sz="760" dirty="0"/>
          </a:p>
        </p:txBody>
      </p:sp>
      <p:sp>
        <p:nvSpPr>
          <p:cNvPr id="3" name="Text 1"/>
          <p:cNvSpPr txBox="1"/>
          <p:nvPr/>
        </p:nvSpPr>
        <p:spPr>
          <a:xfrm>
            <a:off x="6400800" y="-384048"/>
            <a:ext cx="5486400" cy="6350000"/>
          </a:xfrm>
          <a:prstGeom prst="rect">
            <a:avLst/>
          </a:prstGeom>
          <a:noFill/>
          <a:ln/>
        </p:spPr>
        <p:txBody>
          <a:bodyPr wrap="square" lIns="0" tIns="0" rIns="0" bIns="0" rtlCol="0" anchor="t"/>
          <a:lstStyle/>
          <a:p>
            <a:pPr algn="r" indent="0" marL="0">
              <a:lnSpc>
                <a:spcPts val="25000"/>
              </a:lnSpc>
              <a:buNone/>
            </a:pPr>
            <a:r>
              <a:rPr lang="en-US" sz="25000" dirty="0">
                <a:solidFill>
                  <a:srgbClr val="191710"/>
                </a:solidFill>
                <a:latin typeface="Georgia" pitchFamily="34" charset="0"/>
                <a:ea typeface="Georgia" pitchFamily="34" charset="-122"/>
                <a:cs typeface="Georgia" pitchFamily="34" charset="-120"/>
              </a:rPr>
              <a:t>16</a:t>
            </a:r>
            <a:endParaRPr lang="en-US" sz="25000" dirty="0"/>
          </a:p>
        </p:txBody>
      </p:sp>
      <p:sp>
        <p:nvSpPr>
          <p:cNvPr id="4" name="Text 2"/>
          <p:cNvSpPr txBox="1"/>
          <p:nvPr/>
        </p:nvSpPr>
        <p:spPr>
          <a:xfrm>
            <a:off x="822960" y="1572768"/>
            <a:ext cx="7589520" cy="1584960"/>
          </a:xfrm>
          <a:prstGeom prst="rect">
            <a:avLst/>
          </a:prstGeom>
          <a:noFill/>
          <a:ln/>
        </p:spPr>
        <p:txBody>
          <a:bodyPr wrap="square" lIns="0" tIns="0" rIns="0" bIns="0" rtlCol="0" anchor="t"/>
          <a:lstStyle/>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Evidence, Outcomes and</a:t>
            </a:r>
            <a:endParaRPr lang="en-US" sz="3900" dirty="0"/>
          </a:p>
          <a:p>
            <a:pPr algn="l" indent="0" marL="0">
              <a:lnSpc>
                <a:spcPts val="4290"/>
              </a:lnSpc>
              <a:buNone/>
            </a:pPr>
            <a:r>
              <a:rPr lang="en-US" sz="3900" dirty="0">
                <a:solidFill>
                  <a:srgbClr val="F8F3E9"/>
                </a:solidFill>
                <a:latin typeface="Georgia" pitchFamily="34" charset="0"/>
                <a:ea typeface="Georgia" pitchFamily="34" charset="-122"/>
                <a:cs typeface="Georgia" pitchFamily="34" charset="-120"/>
              </a:rPr>
              <a:t>Professional Identity</a:t>
            </a:r>
            <a:endParaRPr lang="en-US" sz="3900" dirty="0"/>
          </a:p>
        </p:txBody>
      </p:sp>
      <p:sp>
        <p:nvSpPr>
          <p:cNvPr id="5" name="Shape 3"/>
          <p:cNvSpPr/>
          <p:nvPr/>
        </p:nvSpPr>
        <p:spPr>
          <a:xfrm>
            <a:off x="822960" y="2863596"/>
            <a:ext cx="1463040" cy="91"/>
          </a:xfrm>
          <a:prstGeom prst="line">
            <a:avLst/>
          </a:prstGeom>
          <a:noFill/>
          <a:ln w="11430">
            <a:solidFill>
              <a:srgbClr val="C2A05F"/>
            </a:solidFill>
            <a:prstDash val="solid"/>
            <a:headEnd type="none"/>
            <a:tailEnd type="none"/>
          </a:ln>
        </p:spPr>
      </p:sp>
      <p:sp>
        <p:nvSpPr>
          <p:cNvPr id="6" name="Text 4"/>
          <p:cNvSpPr txBox="1"/>
          <p:nvPr/>
        </p:nvSpPr>
        <p:spPr>
          <a:xfrm>
            <a:off x="822960" y="3101340"/>
            <a:ext cx="740664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ESSENTIAL QUESTION</a:t>
            </a:r>
            <a:endParaRPr lang="en-US" sz="700" dirty="0"/>
          </a:p>
        </p:txBody>
      </p:sp>
      <p:sp>
        <p:nvSpPr>
          <p:cNvPr id="7" name="Text 5"/>
          <p:cNvSpPr txBox="1"/>
          <p:nvPr/>
        </p:nvSpPr>
        <p:spPr>
          <a:xfrm>
            <a:off x="822960" y="3320796"/>
            <a:ext cx="7223760" cy="755904"/>
          </a:xfrm>
          <a:prstGeom prst="rect">
            <a:avLst/>
          </a:prstGeom>
          <a:noFill/>
          <a:ln/>
        </p:spPr>
        <p:txBody>
          <a:bodyPr wrap="square" lIns="0" tIns="0" rIns="0" bIns="0" rtlCol="0" anchor="t"/>
          <a:lstStyle/>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How will you know your work is helping — and who are you becoming as a</a:t>
            </a:r>
            <a:endParaRPr lang="en-US" sz="1550" dirty="0"/>
          </a:p>
          <a:p>
            <a:pPr algn="l" indent="0" marL="0">
              <a:lnSpc>
                <a:spcPts val="2201"/>
              </a:lnSpc>
              <a:buNone/>
            </a:pPr>
            <a:r>
              <a:rPr lang="en-US" sz="1550" i="1" dirty="0">
                <a:solidFill>
                  <a:srgbClr val="E7D3A9"/>
                </a:solidFill>
                <a:latin typeface="Georgia" pitchFamily="34" charset="0"/>
                <a:ea typeface="Georgia" pitchFamily="34" charset="-122"/>
                <a:cs typeface="Georgia" pitchFamily="34" charset="-120"/>
              </a:rPr>
              <a:t>therapist?</a:t>
            </a:r>
            <a:endParaRPr lang="en-US" sz="1550" dirty="0"/>
          </a:p>
        </p:txBody>
      </p:sp>
      <p:sp>
        <p:nvSpPr>
          <p:cNvPr id="8" name="Shape 6"/>
          <p:cNvSpPr/>
          <p:nvPr/>
        </p:nvSpPr>
        <p:spPr>
          <a:xfrm>
            <a:off x="822960" y="4190746"/>
            <a:ext cx="7223760" cy="91"/>
          </a:xfrm>
          <a:prstGeom prst="line">
            <a:avLst/>
          </a:prstGeom>
          <a:noFill/>
          <a:ln w="6350">
            <a:solidFill>
              <a:srgbClr val="3A332A"/>
            </a:solidFill>
            <a:prstDash val="solid"/>
            <a:headEnd type="none"/>
            <a:tailEnd type="none"/>
          </a:ln>
        </p:spPr>
      </p:sp>
      <p:sp>
        <p:nvSpPr>
          <p:cNvPr id="9" name="Text 7"/>
          <p:cNvSpPr txBox="1"/>
          <p:nvPr/>
        </p:nvSpPr>
        <p:spPr>
          <a:xfrm>
            <a:off x="822960"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01 · LECTURE</a:t>
            </a:r>
            <a:endParaRPr lang="en-US" sz="620" dirty="0"/>
          </a:p>
        </p:txBody>
      </p:sp>
      <p:sp>
        <p:nvSpPr>
          <p:cNvPr id="10" name="Text 8"/>
          <p:cNvSpPr txBox="1"/>
          <p:nvPr/>
        </p:nvSpPr>
        <p:spPr>
          <a:xfrm>
            <a:off x="822960"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What makes therapy work</a:t>
            </a:r>
            <a:endParaRPr lang="en-US" sz="850" dirty="0"/>
          </a:p>
        </p:txBody>
      </p:sp>
      <p:sp>
        <p:nvSpPr>
          <p:cNvPr id="11" name="Text 9"/>
          <p:cNvSpPr txBox="1"/>
          <p:nvPr/>
        </p:nvSpPr>
        <p:spPr>
          <a:xfrm>
            <a:off x="3282696"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02 · DIAGRAM</a:t>
            </a:r>
            <a:endParaRPr lang="en-US" sz="620" dirty="0"/>
          </a:p>
        </p:txBody>
      </p:sp>
      <p:sp>
        <p:nvSpPr>
          <p:cNvPr id="12" name="Text 10"/>
          <p:cNvSpPr txBox="1"/>
          <p:nvPr/>
        </p:nvSpPr>
        <p:spPr>
          <a:xfrm>
            <a:off x="3282696"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Feedback as a clinical discipline</a:t>
            </a:r>
            <a:endParaRPr lang="en-US" sz="850" dirty="0"/>
          </a:p>
        </p:txBody>
      </p:sp>
      <p:sp>
        <p:nvSpPr>
          <p:cNvPr id="13" name="Text 11"/>
          <p:cNvSpPr txBox="1"/>
          <p:nvPr/>
        </p:nvSpPr>
        <p:spPr>
          <a:xfrm>
            <a:off x="5742432" y="4337050"/>
            <a:ext cx="2331720" cy="185039"/>
          </a:xfrm>
          <a:prstGeom prst="rect">
            <a:avLst/>
          </a:prstGeom>
          <a:noFill/>
          <a:ln/>
        </p:spPr>
        <p:txBody>
          <a:bodyPr wrap="square" lIns="0" tIns="0" rIns="0" bIns="0" rtlCol="0" anchor="t"/>
          <a:lstStyle/>
          <a:p>
            <a:pPr algn="l" indent="0" marL="0">
              <a:lnSpc>
                <a:spcPts val="837"/>
              </a:lnSpc>
              <a:buNone/>
            </a:pPr>
            <a:r>
              <a:rPr lang="en-US" sz="620" spc="140" kern="0" dirty="0">
                <a:solidFill>
                  <a:srgbClr val="C2A05F"/>
                </a:solidFill>
                <a:latin typeface="Calibri" pitchFamily="34" charset="0"/>
                <a:ea typeface="Calibri" pitchFamily="34" charset="-122"/>
                <a:cs typeface="Calibri" pitchFamily="34" charset="-120"/>
              </a:rPr>
              <a:t>03 · SEMINAR</a:t>
            </a:r>
            <a:endParaRPr lang="en-US" sz="620" dirty="0"/>
          </a:p>
        </p:txBody>
      </p:sp>
      <p:sp>
        <p:nvSpPr>
          <p:cNvPr id="14" name="Text 12"/>
          <p:cNvSpPr txBox="1"/>
          <p:nvPr/>
        </p:nvSpPr>
        <p:spPr>
          <a:xfrm>
            <a:off x="5742432" y="4529074"/>
            <a:ext cx="2240280" cy="242888"/>
          </a:xfrm>
          <a:prstGeom prst="rect">
            <a:avLst/>
          </a:prstGeom>
          <a:noFill/>
          <a:ln/>
        </p:spPr>
        <p:txBody>
          <a:bodyPr wrap="square" lIns="0" tIns="0" rIns="0" bIns="0" rtlCol="0" anchor="t"/>
          <a:lstStyle/>
          <a:p>
            <a:pPr algn="l" indent="0" marL="0">
              <a:lnSpc>
                <a:spcPts val="1063"/>
              </a:lnSpc>
              <a:buNone/>
            </a:pPr>
            <a:r>
              <a:rPr lang="en-US" sz="850" dirty="0">
                <a:solidFill>
                  <a:srgbClr val="EFE5D3"/>
                </a:solidFill>
                <a:latin typeface="Calibri" pitchFamily="34" charset="0"/>
                <a:ea typeface="Calibri" pitchFamily="34" charset="-122"/>
                <a:cs typeface="Calibri" pitchFamily="34" charset="-120"/>
              </a:rPr>
              <a:t>The clinician you are becoming</a:t>
            </a:r>
            <a:endParaRPr lang="en-US" sz="850" dirty="0"/>
          </a:p>
        </p:txBody>
      </p:sp>
      <p:sp>
        <p:nvSpPr>
          <p:cNvPr id="15" name="Shape 13"/>
          <p:cNvSpPr/>
          <p:nvPr/>
        </p:nvSpPr>
        <p:spPr>
          <a:xfrm>
            <a:off x="8366760" y="1371600"/>
            <a:ext cx="91" cy="2971800"/>
          </a:xfrm>
          <a:prstGeom prst="line">
            <a:avLst/>
          </a:prstGeom>
          <a:noFill/>
          <a:ln w="6350">
            <a:solidFill>
              <a:srgbClr val="3A332A"/>
            </a:solidFill>
            <a:prstDash val="solid"/>
            <a:headEnd type="none"/>
            <a:tailEnd type="none"/>
          </a:ln>
        </p:spPr>
      </p:sp>
      <p:sp>
        <p:nvSpPr>
          <p:cNvPr id="16" name="Text 14"/>
          <p:cNvSpPr txBox="1"/>
          <p:nvPr/>
        </p:nvSpPr>
        <p:spPr>
          <a:xfrm>
            <a:off x="8732520" y="1417320"/>
            <a:ext cx="2651760" cy="208915"/>
          </a:xfrm>
          <a:prstGeom prst="rect">
            <a:avLst/>
          </a:prstGeom>
          <a:noFill/>
          <a:ln/>
        </p:spPr>
        <p:txBody>
          <a:bodyPr wrap="square" lIns="0" tIns="0" rIns="0" bIns="0" rtlCol="0" anchor="t"/>
          <a:lstStyle/>
          <a:p>
            <a:pPr algn="l" indent="0" marL="0">
              <a:lnSpc>
                <a:spcPts val="945"/>
              </a:lnSpc>
              <a:buNone/>
            </a:pPr>
            <a:r>
              <a:rPr lang="en-US" sz="700" spc="220" kern="0" dirty="0">
                <a:solidFill>
                  <a:srgbClr val="C2A05F"/>
                </a:solidFill>
                <a:latin typeface="Calibri" pitchFamily="34" charset="0"/>
                <a:ea typeface="Calibri" pitchFamily="34" charset="-122"/>
                <a:cs typeface="Calibri" pitchFamily="34" charset="-120"/>
              </a:rPr>
              <a:t>THIS WEEK</a:t>
            </a:r>
            <a:endParaRPr lang="en-US" sz="700" dirty="0"/>
          </a:p>
        </p:txBody>
      </p:sp>
      <p:sp>
        <p:nvSpPr>
          <p:cNvPr id="17" name="Text 15"/>
          <p:cNvSpPr txBox="1"/>
          <p:nvPr/>
        </p:nvSpPr>
        <p:spPr>
          <a:xfrm>
            <a:off x="8732520" y="1755648"/>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01</a:t>
            </a:r>
            <a:endParaRPr lang="en-US" sz="900" dirty="0"/>
          </a:p>
        </p:txBody>
      </p:sp>
      <p:sp>
        <p:nvSpPr>
          <p:cNvPr id="18" name="Text 16"/>
          <p:cNvSpPr txBox="1"/>
          <p:nvPr/>
        </p:nvSpPr>
        <p:spPr>
          <a:xfrm>
            <a:off x="9043416" y="1737360"/>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Explain common factors and evidence-based</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practice.</a:t>
            </a:r>
            <a:endParaRPr lang="en-US" sz="840" dirty="0"/>
          </a:p>
        </p:txBody>
      </p:sp>
      <p:sp>
        <p:nvSpPr>
          <p:cNvPr id="19" name="Text 17"/>
          <p:cNvSpPr txBox="1"/>
          <p:nvPr/>
        </p:nvSpPr>
        <p:spPr>
          <a:xfrm>
            <a:off x="8732520" y="2651760"/>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02</a:t>
            </a:r>
            <a:endParaRPr lang="en-US" sz="900" dirty="0"/>
          </a:p>
        </p:txBody>
      </p:sp>
      <p:sp>
        <p:nvSpPr>
          <p:cNvPr id="20" name="Text 18"/>
          <p:cNvSpPr txBox="1"/>
          <p:nvPr/>
        </p:nvSpPr>
        <p:spPr>
          <a:xfrm>
            <a:off x="9043416" y="2633472"/>
            <a:ext cx="2304288" cy="250698"/>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Use routine outcome monitoring in a session.</a:t>
            </a:r>
            <a:endParaRPr lang="en-US" sz="840" dirty="0"/>
          </a:p>
        </p:txBody>
      </p:sp>
      <p:sp>
        <p:nvSpPr>
          <p:cNvPr id="21" name="Text 19"/>
          <p:cNvSpPr txBox="1"/>
          <p:nvPr/>
        </p:nvSpPr>
        <p:spPr>
          <a:xfrm>
            <a:off x="8732520" y="3547872"/>
            <a:ext cx="274320" cy="268605"/>
          </a:xfrm>
          <a:prstGeom prst="rect">
            <a:avLst/>
          </a:prstGeom>
          <a:noFill/>
          <a:ln/>
        </p:spPr>
        <p:txBody>
          <a:bodyPr wrap="square" lIns="0" tIns="0" rIns="0" bIns="0" rtlCol="0" anchor="t"/>
          <a:lstStyle/>
          <a:p>
            <a:pPr algn="l" indent="0" marL="0">
              <a:lnSpc>
                <a:spcPts val="1215"/>
              </a:lnSpc>
              <a:buNone/>
            </a:pPr>
            <a:r>
              <a:rPr lang="en-US" sz="900" dirty="0">
                <a:solidFill>
                  <a:srgbClr val="C2A05F"/>
                </a:solidFill>
                <a:latin typeface="Georgia" pitchFamily="34" charset="0"/>
                <a:ea typeface="Georgia" pitchFamily="34" charset="-122"/>
                <a:cs typeface="Georgia" pitchFamily="34" charset="-120"/>
              </a:rPr>
              <a:t>03</a:t>
            </a:r>
            <a:endParaRPr lang="en-US" sz="900" dirty="0"/>
          </a:p>
        </p:txBody>
      </p:sp>
      <p:sp>
        <p:nvSpPr>
          <p:cNvPr id="22" name="Text 20"/>
          <p:cNvSpPr txBox="1"/>
          <p:nvPr/>
        </p:nvSpPr>
        <p:spPr>
          <a:xfrm>
            <a:off x="9043416" y="3529584"/>
            <a:ext cx="2304288" cy="394716"/>
          </a:xfrm>
          <a:prstGeom prst="rect">
            <a:avLst/>
          </a:prstGeom>
          <a:noFill/>
          <a:ln/>
        </p:spPr>
        <p:txBody>
          <a:bodyPr wrap="square" lIns="0" tIns="0" rIns="0" bIns="0" rtlCol="0" anchor="t"/>
          <a:lstStyle/>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Write a professional development and supervision</a:t>
            </a:r>
            <a:endParaRPr lang="en-US" sz="840" dirty="0"/>
          </a:p>
          <a:p>
            <a:pPr algn="l" indent="0" marL="0">
              <a:lnSpc>
                <a:spcPts val="1134"/>
              </a:lnSpc>
              <a:buNone/>
            </a:pPr>
            <a:r>
              <a:rPr lang="en-US" sz="840" dirty="0">
                <a:solidFill>
                  <a:srgbClr val="EFE5D3"/>
                </a:solidFill>
                <a:latin typeface="Calibri" pitchFamily="34" charset="0"/>
                <a:ea typeface="Calibri" pitchFamily="34" charset="-122"/>
                <a:cs typeface="Calibri" pitchFamily="34" charset="-120"/>
              </a:rPr>
              <a:t>plan.</a:t>
            </a:r>
            <a:endParaRPr lang="en-US" sz="840" dirty="0"/>
          </a:p>
        </p:txBody>
      </p:sp>
      <p:sp>
        <p:nvSpPr>
          <p:cNvPr id="23" name="Text 21"/>
          <p:cNvSpPr txBox="1"/>
          <p:nvPr/>
        </p:nvSpPr>
        <p:spPr>
          <a:xfrm>
            <a:off x="822960" y="4846320"/>
            <a:ext cx="2194560" cy="196977"/>
          </a:xfrm>
          <a:prstGeom prst="rect">
            <a:avLst/>
          </a:prstGeom>
          <a:noFill/>
          <a:ln/>
        </p:spPr>
        <p:txBody>
          <a:bodyPr wrap="square" lIns="0" tIns="0" rIns="0" bIns="0" rtlCol="0" anchor="t"/>
          <a:lstStyle/>
          <a:p>
            <a:pPr algn="l" indent="0" marL="0">
              <a:lnSpc>
                <a:spcPts val="891"/>
              </a:lnSpc>
              <a:buNone/>
            </a:pPr>
            <a:r>
              <a:rPr lang="en-US" sz="660" spc="180" kern="0" dirty="0">
                <a:solidFill>
                  <a:srgbClr val="C2A05F"/>
                </a:solidFill>
                <a:latin typeface="Calibri" pitchFamily="34" charset="0"/>
                <a:ea typeface="Calibri" pitchFamily="34" charset="-122"/>
                <a:cs typeface="Calibri" pitchFamily="34" charset="-120"/>
              </a:rPr>
              <a:t>KEY TERMS</a:t>
            </a:r>
            <a:endParaRPr lang="en-US" sz="660" dirty="0"/>
          </a:p>
        </p:txBody>
      </p:sp>
      <p:sp>
        <p:nvSpPr>
          <p:cNvPr id="24" name="Text 22"/>
          <p:cNvSpPr txBox="1"/>
          <p:nvPr/>
        </p:nvSpPr>
        <p:spPr>
          <a:xfrm>
            <a:off x="822960" y="5047488"/>
            <a:ext cx="6766560" cy="256667"/>
          </a:xfrm>
          <a:prstGeom prst="rect">
            <a:avLst/>
          </a:prstGeom>
          <a:noFill/>
          <a:ln/>
        </p:spPr>
        <p:txBody>
          <a:bodyPr wrap="square" lIns="0" tIns="0" rIns="0" bIns="0" rtlCol="0" anchor="t"/>
          <a:lstStyle/>
          <a:p>
            <a:pPr algn="l" indent="0" marL="0">
              <a:lnSpc>
                <a:spcPts val="1161"/>
              </a:lnSpc>
              <a:buNone/>
            </a:pPr>
            <a:r>
              <a:rPr lang="en-US" sz="860" i="1" dirty="0">
                <a:solidFill>
                  <a:srgbClr val="EFE5D3"/>
                </a:solidFill>
                <a:latin typeface="Calibri" pitchFamily="34" charset="0"/>
                <a:ea typeface="Calibri" pitchFamily="34" charset="-122"/>
                <a:cs typeface="Calibri" pitchFamily="34" charset="-120"/>
              </a:rPr>
              <a:t>common factors · evidence-based practice · routine outcome monitoring · reflective practice</a:t>
            </a:r>
            <a:endParaRPr lang="en-US" sz="860" dirty="0"/>
          </a:p>
        </p:txBody>
      </p:sp>
      <p:sp>
        <p:nvSpPr>
          <p:cNvPr id="25" name="Text 23"/>
          <p:cNvSpPr txBox="1"/>
          <p:nvPr/>
        </p:nvSpPr>
        <p:spPr>
          <a:xfrm>
            <a:off x="822960" y="5541264"/>
            <a:ext cx="7680960" cy="220853"/>
          </a:xfrm>
          <a:prstGeom prst="rect">
            <a:avLst/>
          </a:prstGeom>
          <a:noFill/>
          <a:ln/>
        </p:spPr>
        <p:txBody>
          <a:bodyPr wrap="square" lIns="0" tIns="0" rIns="0" bIns="0" rtlCol="0" anchor="t"/>
          <a:lstStyle/>
          <a:p>
            <a:pPr algn="l" indent="0" marL="0">
              <a:lnSpc>
                <a:spcPts val="999"/>
              </a:lnSpc>
              <a:buNone/>
            </a:pPr>
            <a:r>
              <a:rPr lang="en-US" sz="740" i="1" dirty="0">
                <a:solidFill>
                  <a:srgbClr val="8B8375"/>
                </a:solidFill>
                <a:latin typeface="Calibri" pitchFamily="34" charset="0"/>
                <a:ea typeface="Calibri" pitchFamily="34" charset="-122"/>
                <a:cs typeface="Calibri" pitchFamily="34" charset="-120"/>
              </a:rPr>
              <a:t>Key reading · Sprenkle, Davis &amp; Lebow (2009) · Wampold &amp; Imel (2015) · Duncan et al. (2010)</a:t>
            </a:r>
            <a:endParaRPr lang="en-US" sz="740" dirty="0"/>
          </a:p>
        </p:txBody>
      </p:sp>
      <p:sp>
        <p:nvSpPr>
          <p:cNvPr id="26" name="Shape 24"/>
          <p:cNvSpPr/>
          <p:nvPr/>
        </p:nvSpPr>
        <p:spPr>
          <a:xfrm>
            <a:off x="822960" y="5760720"/>
            <a:ext cx="10515600" cy="91"/>
          </a:xfrm>
          <a:prstGeom prst="line">
            <a:avLst/>
          </a:prstGeom>
          <a:noFill/>
          <a:ln w="10160">
            <a:solidFill>
              <a:srgbClr val="3A332A"/>
            </a:solidFill>
            <a:prstDash val="solid"/>
            <a:headEnd type="none"/>
            <a:tailEnd type="none"/>
          </a:ln>
        </p:spPr>
      </p:sp>
      <p:sp>
        <p:nvSpPr>
          <p:cNvPr id="27" name="Shape 25"/>
          <p:cNvSpPr/>
          <p:nvPr/>
        </p:nvSpPr>
        <p:spPr>
          <a:xfrm>
            <a:off x="793699" y="5731459"/>
            <a:ext cx="58522" cy="58522"/>
          </a:xfrm>
          <a:prstGeom prst="ellipse">
            <a:avLst/>
          </a:prstGeom>
          <a:solidFill>
            <a:srgbClr val="96733C"/>
          </a:solidFill>
          <a:ln w="12700">
            <a:solidFill>
              <a:srgbClr val="FFFFFF">
                <a:alpha val="0"/>
              </a:srgbClr>
            </a:solidFill>
            <a:prstDash val="solid"/>
          </a:ln>
        </p:spPr>
      </p:sp>
      <p:sp>
        <p:nvSpPr>
          <p:cNvPr id="28" name="Shape 26"/>
          <p:cNvSpPr/>
          <p:nvPr/>
        </p:nvSpPr>
        <p:spPr>
          <a:xfrm>
            <a:off x="1494739" y="5731459"/>
            <a:ext cx="58522" cy="58522"/>
          </a:xfrm>
          <a:prstGeom prst="ellipse">
            <a:avLst/>
          </a:prstGeom>
          <a:solidFill>
            <a:srgbClr val="96733C"/>
          </a:solidFill>
          <a:ln w="12700">
            <a:solidFill>
              <a:srgbClr val="FFFFFF">
                <a:alpha val="0"/>
              </a:srgbClr>
            </a:solidFill>
            <a:prstDash val="solid"/>
          </a:ln>
        </p:spPr>
      </p:sp>
      <p:sp>
        <p:nvSpPr>
          <p:cNvPr id="29" name="Shape 27"/>
          <p:cNvSpPr/>
          <p:nvPr/>
        </p:nvSpPr>
        <p:spPr>
          <a:xfrm>
            <a:off x="2195779" y="5731459"/>
            <a:ext cx="58522" cy="58522"/>
          </a:xfrm>
          <a:prstGeom prst="ellipse">
            <a:avLst/>
          </a:prstGeom>
          <a:solidFill>
            <a:srgbClr val="96733C"/>
          </a:solidFill>
          <a:ln w="12700">
            <a:solidFill>
              <a:srgbClr val="FFFFFF">
                <a:alpha val="0"/>
              </a:srgbClr>
            </a:solidFill>
            <a:prstDash val="solid"/>
          </a:ln>
        </p:spPr>
      </p:sp>
      <p:sp>
        <p:nvSpPr>
          <p:cNvPr id="30" name="Shape 28"/>
          <p:cNvSpPr/>
          <p:nvPr/>
        </p:nvSpPr>
        <p:spPr>
          <a:xfrm>
            <a:off x="2896819" y="5731459"/>
            <a:ext cx="58522" cy="58522"/>
          </a:xfrm>
          <a:prstGeom prst="ellipse">
            <a:avLst/>
          </a:prstGeom>
          <a:solidFill>
            <a:srgbClr val="96733C"/>
          </a:solidFill>
          <a:ln w="12700">
            <a:solidFill>
              <a:srgbClr val="FFFFFF">
                <a:alpha val="0"/>
              </a:srgbClr>
            </a:solidFill>
            <a:prstDash val="solid"/>
          </a:ln>
        </p:spPr>
      </p:sp>
      <p:sp>
        <p:nvSpPr>
          <p:cNvPr id="31" name="Shape 29"/>
          <p:cNvSpPr/>
          <p:nvPr/>
        </p:nvSpPr>
        <p:spPr>
          <a:xfrm>
            <a:off x="3597859" y="5731459"/>
            <a:ext cx="58522" cy="58522"/>
          </a:xfrm>
          <a:prstGeom prst="ellipse">
            <a:avLst/>
          </a:prstGeom>
          <a:solidFill>
            <a:srgbClr val="96733C"/>
          </a:solidFill>
          <a:ln w="12700">
            <a:solidFill>
              <a:srgbClr val="FFFFFF">
                <a:alpha val="0"/>
              </a:srgbClr>
            </a:solidFill>
            <a:prstDash val="solid"/>
          </a:ln>
        </p:spPr>
      </p:sp>
      <p:sp>
        <p:nvSpPr>
          <p:cNvPr id="32" name="Shape 30"/>
          <p:cNvSpPr/>
          <p:nvPr/>
        </p:nvSpPr>
        <p:spPr>
          <a:xfrm>
            <a:off x="4298899" y="5731459"/>
            <a:ext cx="58522" cy="58522"/>
          </a:xfrm>
          <a:prstGeom prst="ellipse">
            <a:avLst/>
          </a:prstGeom>
          <a:solidFill>
            <a:srgbClr val="96733C"/>
          </a:solidFill>
          <a:ln w="12700">
            <a:solidFill>
              <a:srgbClr val="FFFFFF">
                <a:alpha val="0"/>
              </a:srgbClr>
            </a:solidFill>
            <a:prstDash val="solid"/>
          </a:ln>
        </p:spPr>
      </p:sp>
      <p:sp>
        <p:nvSpPr>
          <p:cNvPr id="33" name="Shape 31"/>
          <p:cNvSpPr/>
          <p:nvPr/>
        </p:nvSpPr>
        <p:spPr>
          <a:xfrm>
            <a:off x="4999939" y="5731459"/>
            <a:ext cx="58522" cy="58522"/>
          </a:xfrm>
          <a:prstGeom prst="ellipse">
            <a:avLst/>
          </a:prstGeom>
          <a:solidFill>
            <a:srgbClr val="96733C"/>
          </a:solidFill>
          <a:ln w="12700">
            <a:solidFill>
              <a:srgbClr val="FFFFFF">
                <a:alpha val="0"/>
              </a:srgbClr>
            </a:solidFill>
            <a:prstDash val="solid"/>
          </a:ln>
        </p:spPr>
      </p:sp>
      <p:sp>
        <p:nvSpPr>
          <p:cNvPr id="34" name="Shape 32"/>
          <p:cNvSpPr/>
          <p:nvPr/>
        </p:nvSpPr>
        <p:spPr>
          <a:xfrm>
            <a:off x="5700979" y="5731459"/>
            <a:ext cx="58522" cy="58522"/>
          </a:xfrm>
          <a:prstGeom prst="ellipse">
            <a:avLst/>
          </a:prstGeom>
          <a:solidFill>
            <a:srgbClr val="96733C"/>
          </a:solidFill>
          <a:ln w="12700">
            <a:solidFill>
              <a:srgbClr val="FFFFFF">
                <a:alpha val="0"/>
              </a:srgbClr>
            </a:solidFill>
            <a:prstDash val="solid"/>
          </a:ln>
        </p:spPr>
      </p:sp>
      <p:sp>
        <p:nvSpPr>
          <p:cNvPr id="35" name="Shape 33"/>
          <p:cNvSpPr/>
          <p:nvPr/>
        </p:nvSpPr>
        <p:spPr>
          <a:xfrm>
            <a:off x="6402019" y="5731459"/>
            <a:ext cx="58522" cy="58522"/>
          </a:xfrm>
          <a:prstGeom prst="ellipse">
            <a:avLst/>
          </a:prstGeom>
          <a:solidFill>
            <a:srgbClr val="96733C"/>
          </a:solidFill>
          <a:ln w="12700">
            <a:solidFill>
              <a:srgbClr val="FFFFFF">
                <a:alpha val="0"/>
              </a:srgbClr>
            </a:solidFill>
            <a:prstDash val="solid"/>
          </a:ln>
        </p:spPr>
      </p:sp>
      <p:sp>
        <p:nvSpPr>
          <p:cNvPr id="36" name="Shape 34"/>
          <p:cNvSpPr/>
          <p:nvPr/>
        </p:nvSpPr>
        <p:spPr>
          <a:xfrm>
            <a:off x="7103059" y="5731459"/>
            <a:ext cx="58522" cy="58522"/>
          </a:xfrm>
          <a:prstGeom prst="ellipse">
            <a:avLst/>
          </a:prstGeom>
          <a:solidFill>
            <a:srgbClr val="96733C"/>
          </a:solidFill>
          <a:ln w="12700">
            <a:solidFill>
              <a:srgbClr val="FFFFFF">
                <a:alpha val="0"/>
              </a:srgbClr>
            </a:solidFill>
            <a:prstDash val="solid"/>
          </a:ln>
        </p:spPr>
      </p:sp>
      <p:sp>
        <p:nvSpPr>
          <p:cNvPr id="37" name="Shape 35"/>
          <p:cNvSpPr/>
          <p:nvPr/>
        </p:nvSpPr>
        <p:spPr>
          <a:xfrm>
            <a:off x="7804099" y="5731459"/>
            <a:ext cx="58522" cy="58522"/>
          </a:xfrm>
          <a:prstGeom prst="ellipse">
            <a:avLst/>
          </a:prstGeom>
          <a:solidFill>
            <a:srgbClr val="96733C"/>
          </a:solidFill>
          <a:ln w="12700">
            <a:solidFill>
              <a:srgbClr val="FFFFFF">
                <a:alpha val="0"/>
              </a:srgbClr>
            </a:solidFill>
            <a:prstDash val="solid"/>
          </a:ln>
        </p:spPr>
      </p:sp>
      <p:sp>
        <p:nvSpPr>
          <p:cNvPr id="38" name="Shape 36"/>
          <p:cNvSpPr/>
          <p:nvPr/>
        </p:nvSpPr>
        <p:spPr>
          <a:xfrm>
            <a:off x="8505139" y="5731459"/>
            <a:ext cx="58522" cy="58522"/>
          </a:xfrm>
          <a:prstGeom prst="ellipse">
            <a:avLst/>
          </a:prstGeom>
          <a:solidFill>
            <a:srgbClr val="96733C"/>
          </a:solidFill>
          <a:ln w="12700">
            <a:solidFill>
              <a:srgbClr val="FFFFFF">
                <a:alpha val="0"/>
              </a:srgbClr>
            </a:solidFill>
            <a:prstDash val="solid"/>
          </a:ln>
        </p:spPr>
      </p:sp>
      <p:sp>
        <p:nvSpPr>
          <p:cNvPr id="39" name="Shape 37"/>
          <p:cNvSpPr/>
          <p:nvPr/>
        </p:nvSpPr>
        <p:spPr>
          <a:xfrm>
            <a:off x="9206179" y="5731459"/>
            <a:ext cx="58522" cy="58522"/>
          </a:xfrm>
          <a:prstGeom prst="ellipse">
            <a:avLst/>
          </a:prstGeom>
          <a:solidFill>
            <a:srgbClr val="96733C"/>
          </a:solidFill>
          <a:ln w="12700">
            <a:solidFill>
              <a:srgbClr val="FFFFFF">
                <a:alpha val="0"/>
              </a:srgbClr>
            </a:solidFill>
            <a:prstDash val="solid"/>
          </a:ln>
        </p:spPr>
      </p:sp>
      <p:sp>
        <p:nvSpPr>
          <p:cNvPr id="40" name="Shape 38"/>
          <p:cNvSpPr/>
          <p:nvPr/>
        </p:nvSpPr>
        <p:spPr>
          <a:xfrm>
            <a:off x="9907219" y="5731459"/>
            <a:ext cx="58522" cy="58522"/>
          </a:xfrm>
          <a:prstGeom prst="ellipse">
            <a:avLst/>
          </a:prstGeom>
          <a:solidFill>
            <a:srgbClr val="96733C"/>
          </a:solidFill>
          <a:ln w="12700">
            <a:solidFill>
              <a:srgbClr val="FFFFFF">
                <a:alpha val="0"/>
              </a:srgbClr>
            </a:solidFill>
            <a:prstDash val="solid"/>
          </a:ln>
        </p:spPr>
      </p:sp>
      <p:sp>
        <p:nvSpPr>
          <p:cNvPr id="41" name="Shape 39"/>
          <p:cNvSpPr/>
          <p:nvPr/>
        </p:nvSpPr>
        <p:spPr>
          <a:xfrm>
            <a:off x="10608259" y="5731459"/>
            <a:ext cx="58522" cy="58522"/>
          </a:xfrm>
          <a:prstGeom prst="ellipse">
            <a:avLst/>
          </a:prstGeom>
          <a:solidFill>
            <a:srgbClr val="96733C"/>
          </a:solidFill>
          <a:ln w="12700">
            <a:solidFill>
              <a:srgbClr val="FFFFFF">
                <a:alpha val="0"/>
              </a:srgbClr>
            </a:solidFill>
            <a:prstDash val="solid"/>
          </a:ln>
        </p:spPr>
      </p:sp>
      <p:sp>
        <p:nvSpPr>
          <p:cNvPr id="42" name="Shape 40"/>
          <p:cNvSpPr/>
          <p:nvPr/>
        </p:nvSpPr>
        <p:spPr>
          <a:xfrm>
            <a:off x="11274552" y="5696712"/>
            <a:ext cx="128016" cy="128016"/>
          </a:xfrm>
          <a:prstGeom prst="ellipse">
            <a:avLst/>
          </a:prstGeom>
          <a:solidFill>
            <a:srgbClr val="C2A05F"/>
          </a:solidFill>
          <a:ln w="8890">
            <a:solidFill>
              <a:srgbClr val="E7D3A9"/>
            </a:solidFill>
            <a:prstDash val="solid"/>
          </a:ln>
        </p:spPr>
      </p:sp>
      <p:sp>
        <p:nvSpPr>
          <p:cNvPr id="43" name="Shape 41"/>
          <p:cNvSpPr/>
          <p:nvPr/>
        </p:nvSpPr>
        <p:spPr>
          <a:xfrm>
            <a:off x="822960" y="722376"/>
            <a:ext cx="10546050" cy="91"/>
          </a:xfrm>
          <a:prstGeom prst="line">
            <a:avLst/>
          </a:prstGeom>
          <a:noFill/>
          <a:ln w="6350">
            <a:solidFill>
              <a:srgbClr val="3A332A"/>
            </a:solidFill>
            <a:prstDash val="solid"/>
            <a:headEnd type="none"/>
            <a:tailEnd type="none"/>
          </a:ln>
        </p:spPr>
      </p:sp>
      <p:sp>
        <p:nvSpPr>
          <p:cNvPr id="44" name="Text 42"/>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45" name="Text 43"/>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71</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16 · LECTURE 16</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72</a:t>
            </a:r>
            <a:endParaRPr lang="en-US" sz="950" dirty="0"/>
          </a:p>
        </p:txBody>
      </p:sp>
      <p:sp>
        <p:nvSpPr>
          <p:cNvPr id="8" name="Text 6"/>
          <p:cNvSpPr txBox="1"/>
          <p:nvPr/>
        </p:nvSpPr>
        <p:spPr>
          <a:xfrm>
            <a:off x="822960" y="960120"/>
            <a:ext cx="9966960" cy="753872"/>
          </a:xfrm>
          <a:prstGeom prst="rect">
            <a:avLst/>
          </a:prstGeom>
          <a:noFill/>
          <a:ln/>
        </p:spPr>
        <p:txBody>
          <a:bodyPr wrap="square" lIns="0" tIns="0" rIns="0" bIns="0" rtlCol="0" anchor="t"/>
          <a:lstStyle/>
          <a:p>
            <a:pPr algn="l" indent="0" marL="0">
              <a:lnSpc>
                <a:spcPts val="3136"/>
              </a:lnSpc>
              <a:buNone/>
            </a:pPr>
            <a:r>
              <a:rPr lang="en-US" sz="2800" dirty="0">
                <a:solidFill>
                  <a:srgbClr val="1B1815"/>
                </a:solidFill>
                <a:latin typeface="Georgia" pitchFamily="34" charset="0"/>
                <a:ea typeface="Georgia" pitchFamily="34" charset="-122"/>
                <a:cs typeface="Georgia" pitchFamily="34" charset="-120"/>
              </a:rPr>
              <a:t>What makes therapy work</a:t>
            </a:r>
            <a:endParaRPr lang="en-US" sz="2800" dirty="0"/>
          </a:p>
        </p:txBody>
      </p:sp>
      <p:sp>
        <p:nvSpPr>
          <p:cNvPr id="9" name="Text 7"/>
          <p:cNvSpPr txBox="1"/>
          <p:nvPr/>
        </p:nvSpPr>
        <p:spPr>
          <a:xfrm>
            <a:off x="822960" y="1486408"/>
            <a:ext cx="8138160" cy="387248"/>
          </a:xfrm>
          <a:prstGeom prst="rect">
            <a:avLst/>
          </a:prstGeom>
          <a:noFill/>
          <a:ln/>
        </p:spPr>
        <p:txBody>
          <a:bodyPr wrap="square" lIns="0" tIns="0" rIns="0" bIns="0" rtlCol="0" anchor="t"/>
          <a:lstStyle/>
          <a:p>
            <a:pPr algn="l" indent="0" marL="0">
              <a:lnSpc>
                <a:spcPts val="1789"/>
              </a:lnSpc>
              <a:buNone/>
            </a:pPr>
            <a:r>
              <a:rPr lang="en-US" sz="1260" dirty="0">
                <a:solidFill>
                  <a:srgbClr val="5B544A"/>
                </a:solidFill>
                <a:latin typeface="Calibri" pitchFamily="34" charset="0"/>
                <a:ea typeface="Calibri" pitchFamily="34" charset="-122"/>
                <a:cs typeface="Calibri" pitchFamily="34" charset="-120"/>
              </a:rPr>
              <a:t>Models differ; the factors that carry change overlap. Evidence is not the enemy of relationship — it is a discipline of humility.</a:t>
            </a:r>
            <a:endParaRPr lang="en-US" sz="1260" dirty="0"/>
          </a:p>
        </p:txBody>
      </p:sp>
      <p:sp>
        <p:nvSpPr>
          <p:cNvPr id="10" name="Text 8"/>
          <p:cNvSpPr txBox="1"/>
          <p:nvPr/>
        </p:nvSpPr>
        <p:spPr>
          <a:xfrm>
            <a:off x="82296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01</a:t>
            </a:r>
            <a:endParaRPr lang="en-US" sz="1100" dirty="0"/>
          </a:p>
        </p:txBody>
      </p:sp>
      <p:sp>
        <p:nvSpPr>
          <p:cNvPr id="11" name="Shape 9"/>
          <p:cNvSpPr/>
          <p:nvPr/>
        </p:nvSpPr>
        <p:spPr>
          <a:xfrm>
            <a:off x="1188720" y="2450592"/>
            <a:ext cx="2892552" cy="91"/>
          </a:xfrm>
          <a:prstGeom prst="line">
            <a:avLst/>
          </a:prstGeom>
          <a:noFill/>
          <a:ln w="5715">
            <a:solidFill>
              <a:srgbClr val="D9CDB7"/>
            </a:solidFill>
            <a:prstDash val="solid"/>
            <a:headEnd type="none"/>
            <a:tailEnd type="none"/>
          </a:ln>
        </p:spPr>
      </p:sp>
      <p:sp>
        <p:nvSpPr>
          <p:cNvPr id="12" name="Text 10"/>
          <p:cNvSpPr txBox="1"/>
          <p:nvPr/>
        </p:nvSpPr>
        <p:spPr>
          <a:xfrm>
            <a:off x="82296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COMMON FACTORS</a:t>
            </a:r>
            <a:endParaRPr lang="en-US" sz="750" dirty="0"/>
          </a:p>
        </p:txBody>
      </p:sp>
      <p:sp>
        <p:nvSpPr>
          <p:cNvPr id="13" name="Text 11"/>
          <p:cNvSpPr txBox="1"/>
          <p:nvPr/>
        </p:nvSpPr>
        <p:spPr>
          <a:xfrm>
            <a:off x="822960" y="2834640"/>
            <a:ext cx="3258312" cy="608076"/>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Alliance, empathy, expectancy and client resources account for</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substantial variance across models — which is why the therapeutic</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relationship is a clinical variable, not a pleasant extra.</a:t>
            </a:r>
            <a:endParaRPr lang="en-US" sz="900" dirty="0"/>
          </a:p>
        </p:txBody>
      </p:sp>
      <p:sp>
        <p:nvSpPr>
          <p:cNvPr id="14" name="Shape 12"/>
          <p:cNvSpPr/>
          <p:nvPr/>
        </p:nvSpPr>
        <p:spPr>
          <a:xfrm>
            <a:off x="822960" y="3529584"/>
            <a:ext cx="118872" cy="91"/>
          </a:xfrm>
          <a:prstGeom prst="line">
            <a:avLst/>
          </a:prstGeom>
          <a:noFill/>
          <a:ln w="10160">
            <a:solidFill>
              <a:srgbClr val="C2A05F"/>
            </a:solidFill>
            <a:prstDash val="solid"/>
            <a:headEnd type="none"/>
            <a:tailEnd type="none"/>
          </a:ln>
        </p:spPr>
      </p:sp>
      <p:sp>
        <p:nvSpPr>
          <p:cNvPr id="15" name="Text 13"/>
          <p:cNvSpPr txBox="1"/>
          <p:nvPr/>
        </p:nvSpPr>
        <p:spPr>
          <a:xfrm>
            <a:off x="1033272" y="3438144"/>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Alliance as outcome predictor</a:t>
            </a:r>
            <a:endParaRPr lang="en-US" sz="880" dirty="0"/>
          </a:p>
        </p:txBody>
      </p:sp>
      <p:sp>
        <p:nvSpPr>
          <p:cNvPr id="16" name="Shape 14"/>
          <p:cNvSpPr/>
          <p:nvPr/>
        </p:nvSpPr>
        <p:spPr>
          <a:xfrm>
            <a:off x="822960" y="3775253"/>
            <a:ext cx="118872" cy="91"/>
          </a:xfrm>
          <a:prstGeom prst="line">
            <a:avLst/>
          </a:prstGeom>
          <a:noFill/>
          <a:ln w="10160">
            <a:solidFill>
              <a:srgbClr val="C2A05F"/>
            </a:solidFill>
            <a:prstDash val="solid"/>
            <a:headEnd type="none"/>
            <a:tailEnd type="none"/>
          </a:ln>
        </p:spPr>
      </p:sp>
      <p:sp>
        <p:nvSpPr>
          <p:cNvPr id="17" name="Text 15"/>
          <p:cNvSpPr txBox="1"/>
          <p:nvPr/>
        </p:nvSpPr>
        <p:spPr>
          <a:xfrm>
            <a:off x="1033272" y="3683813"/>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Therapist effects are real</a:t>
            </a:r>
            <a:endParaRPr lang="en-US" sz="880" dirty="0"/>
          </a:p>
        </p:txBody>
      </p:sp>
      <p:sp>
        <p:nvSpPr>
          <p:cNvPr id="18" name="Shape 16"/>
          <p:cNvSpPr/>
          <p:nvPr/>
        </p:nvSpPr>
        <p:spPr>
          <a:xfrm>
            <a:off x="822960" y="4020922"/>
            <a:ext cx="118872" cy="91"/>
          </a:xfrm>
          <a:prstGeom prst="line">
            <a:avLst/>
          </a:prstGeom>
          <a:noFill/>
          <a:ln w="10160">
            <a:solidFill>
              <a:srgbClr val="C2A05F"/>
            </a:solidFill>
            <a:prstDash val="solid"/>
            <a:headEnd type="none"/>
            <a:tailEnd type="none"/>
          </a:ln>
        </p:spPr>
      </p:sp>
      <p:sp>
        <p:nvSpPr>
          <p:cNvPr id="19" name="Text 17"/>
          <p:cNvSpPr txBox="1"/>
          <p:nvPr/>
        </p:nvSpPr>
        <p:spPr>
          <a:xfrm>
            <a:off x="1033272" y="392948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Fit the model to the family</a:t>
            </a:r>
            <a:endParaRPr lang="en-US" sz="880" dirty="0"/>
          </a:p>
        </p:txBody>
      </p:sp>
      <p:sp>
        <p:nvSpPr>
          <p:cNvPr id="20" name="Text 18"/>
          <p:cNvSpPr txBox="1"/>
          <p:nvPr/>
        </p:nvSpPr>
        <p:spPr>
          <a:xfrm>
            <a:off x="446532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02</a:t>
            </a:r>
            <a:endParaRPr lang="en-US" sz="1100" dirty="0"/>
          </a:p>
        </p:txBody>
      </p:sp>
      <p:sp>
        <p:nvSpPr>
          <p:cNvPr id="21" name="Shape 19"/>
          <p:cNvSpPr/>
          <p:nvPr/>
        </p:nvSpPr>
        <p:spPr>
          <a:xfrm>
            <a:off x="4831080" y="2450592"/>
            <a:ext cx="2892552" cy="91"/>
          </a:xfrm>
          <a:prstGeom prst="line">
            <a:avLst/>
          </a:prstGeom>
          <a:noFill/>
          <a:ln w="5715">
            <a:solidFill>
              <a:srgbClr val="D9CDB7"/>
            </a:solidFill>
            <a:prstDash val="solid"/>
            <a:headEnd type="none"/>
            <a:tailEnd type="none"/>
          </a:ln>
        </p:spPr>
      </p:sp>
      <p:sp>
        <p:nvSpPr>
          <p:cNvPr id="22" name="Text 20"/>
          <p:cNvSpPr txBox="1"/>
          <p:nvPr/>
        </p:nvSpPr>
        <p:spPr>
          <a:xfrm>
            <a:off x="446532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6E8274"/>
                </a:solidFill>
                <a:latin typeface="Calibri" pitchFamily="34" charset="0"/>
                <a:ea typeface="Calibri" pitchFamily="34" charset="-122"/>
                <a:cs typeface="Calibri" pitchFamily="34" charset="-120"/>
              </a:rPr>
              <a:t>EVIDENCE-BASED PRACTICE</a:t>
            </a:r>
            <a:endParaRPr lang="en-US" sz="750" dirty="0"/>
          </a:p>
        </p:txBody>
      </p:sp>
      <p:sp>
        <p:nvSpPr>
          <p:cNvPr id="23" name="Text 21"/>
          <p:cNvSpPr txBox="1"/>
          <p:nvPr/>
        </p:nvSpPr>
        <p:spPr>
          <a:xfrm>
            <a:off x="446532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EBP is the integration of best research, clinical expertise and client</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values — not the mechanical application of a manual.</a:t>
            </a:r>
            <a:endParaRPr lang="en-US" sz="900" dirty="0"/>
          </a:p>
        </p:txBody>
      </p:sp>
      <p:sp>
        <p:nvSpPr>
          <p:cNvPr id="24" name="Shape 22"/>
          <p:cNvSpPr/>
          <p:nvPr/>
        </p:nvSpPr>
        <p:spPr>
          <a:xfrm>
            <a:off x="4465320" y="3364992"/>
            <a:ext cx="118872" cy="91"/>
          </a:xfrm>
          <a:prstGeom prst="line">
            <a:avLst/>
          </a:prstGeom>
          <a:noFill/>
          <a:ln w="10160">
            <a:solidFill>
              <a:srgbClr val="C2A05F"/>
            </a:solidFill>
            <a:prstDash val="solid"/>
            <a:headEnd type="none"/>
            <a:tailEnd type="none"/>
          </a:ln>
        </p:spPr>
      </p:sp>
      <p:sp>
        <p:nvSpPr>
          <p:cNvPr id="25" name="Text 23"/>
          <p:cNvSpPr txBox="1"/>
          <p:nvPr/>
        </p:nvSpPr>
        <p:spPr>
          <a:xfrm>
            <a:off x="467563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Know the evidence base for your model</a:t>
            </a:r>
            <a:endParaRPr lang="en-US" sz="880" dirty="0"/>
          </a:p>
        </p:txBody>
      </p:sp>
      <p:sp>
        <p:nvSpPr>
          <p:cNvPr id="26" name="Shape 24"/>
          <p:cNvSpPr/>
          <p:nvPr/>
        </p:nvSpPr>
        <p:spPr>
          <a:xfrm>
            <a:off x="4465320" y="3610661"/>
            <a:ext cx="118872" cy="91"/>
          </a:xfrm>
          <a:prstGeom prst="line">
            <a:avLst/>
          </a:prstGeom>
          <a:noFill/>
          <a:ln w="10160">
            <a:solidFill>
              <a:srgbClr val="C2A05F"/>
            </a:solidFill>
            <a:prstDash val="solid"/>
            <a:headEnd type="none"/>
            <a:tailEnd type="none"/>
          </a:ln>
        </p:spPr>
      </p:sp>
      <p:sp>
        <p:nvSpPr>
          <p:cNvPr id="27" name="Text 25"/>
          <p:cNvSpPr txBox="1"/>
          <p:nvPr/>
        </p:nvSpPr>
        <p:spPr>
          <a:xfrm>
            <a:off x="467563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Adapt without abandoning fidelity</a:t>
            </a:r>
            <a:endParaRPr lang="en-US" sz="880" dirty="0"/>
          </a:p>
        </p:txBody>
      </p:sp>
      <p:sp>
        <p:nvSpPr>
          <p:cNvPr id="28" name="Shape 26"/>
          <p:cNvSpPr/>
          <p:nvPr/>
        </p:nvSpPr>
        <p:spPr>
          <a:xfrm>
            <a:off x="4465320" y="3856330"/>
            <a:ext cx="118872" cy="91"/>
          </a:xfrm>
          <a:prstGeom prst="line">
            <a:avLst/>
          </a:prstGeom>
          <a:noFill/>
          <a:ln w="10160">
            <a:solidFill>
              <a:srgbClr val="C2A05F"/>
            </a:solidFill>
            <a:prstDash val="solid"/>
            <a:headEnd type="none"/>
            <a:tailEnd type="none"/>
          </a:ln>
        </p:spPr>
      </p:sp>
      <p:sp>
        <p:nvSpPr>
          <p:cNvPr id="29" name="Text 27"/>
          <p:cNvSpPr txBox="1"/>
          <p:nvPr/>
        </p:nvSpPr>
        <p:spPr>
          <a:xfrm>
            <a:off x="467563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Name uncertainty honestly</a:t>
            </a:r>
            <a:endParaRPr lang="en-US" sz="880" dirty="0"/>
          </a:p>
        </p:txBody>
      </p:sp>
      <p:sp>
        <p:nvSpPr>
          <p:cNvPr id="30" name="Text 28"/>
          <p:cNvSpPr txBox="1"/>
          <p:nvPr/>
        </p:nvSpPr>
        <p:spPr>
          <a:xfrm>
            <a:off x="8107680" y="2377440"/>
            <a:ext cx="45720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03</a:t>
            </a:r>
            <a:endParaRPr lang="en-US" sz="1100" dirty="0"/>
          </a:p>
        </p:txBody>
      </p:sp>
      <p:sp>
        <p:nvSpPr>
          <p:cNvPr id="31" name="Shape 29"/>
          <p:cNvSpPr/>
          <p:nvPr/>
        </p:nvSpPr>
        <p:spPr>
          <a:xfrm>
            <a:off x="8473440" y="2450592"/>
            <a:ext cx="2892552" cy="91"/>
          </a:xfrm>
          <a:prstGeom prst="line">
            <a:avLst/>
          </a:prstGeom>
          <a:noFill/>
          <a:ln w="5715">
            <a:solidFill>
              <a:srgbClr val="D9CDB7"/>
            </a:solidFill>
            <a:prstDash val="solid"/>
            <a:headEnd type="none"/>
            <a:tailEnd type="none"/>
          </a:ln>
        </p:spPr>
      </p:sp>
      <p:sp>
        <p:nvSpPr>
          <p:cNvPr id="32" name="Text 30"/>
          <p:cNvSpPr txBox="1"/>
          <p:nvPr/>
        </p:nvSpPr>
        <p:spPr>
          <a:xfrm>
            <a:off x="8107680" y="2587752"/>
            <a:ext cx="3258312" cy="223838"/>
          </a:xfrm>
          <a:prstGeom prst="rect">
            <a:avLst/>
          </a:prstGeom>
          <a:noFill/>
          <a:ln/>
        </p:spPr>
        <p:txBody>
          <a:bodyPr wrap="square" lIns="0" tIns="0" rIns="0" bIns="0" rtlCol="0" anchor="t"/>
          <a:lstStyle/>
          <a:p>
            <a:pPr algn="l" indent="0" marL="0">
              <a:lnSpc>
                <a:spcPts val="1013"/>
              </a:lnSpc>
              <a:buNone/>
            </a:pPr>
            <a:r>
              <a:rPr lang="en-US" sz="750" b="1" spc="170" kern="0" dirty="0">
                <a:solidFill>
                  <a:srgbClr val="96733C"/>
                </a:solidFill>
                <a:latin typeface="Calibri" pitchFamily="34" charset="0"/>
                <a:ea typeface="Calibri" pitchFamily="34" charset="-122"/>
                <a:cs typeface="Calibri" pitchFamily="34" charset="-120"/>
              </a:rPr>
              <a:t>ROUTINE OUTCOME MONITORING</a:t>
            </a:r>
            <a:endParaRPr lang="en-US" sz="750" dirty="0"/>
          </a:p>
        </p:txBody>
      </p:sp>
      <p:sp>
        <p:nvSpPr>
          <p:cNvPr id="33" name="Text 31"/>
          <p:cNvSpPr txBox="1"/>
          <p:nvPr/>
        </p:nvSpPr>
        <p:spPr>
          <a:xfrm>
            <a:off x="8107680" y="2834640"/>
            <a:ext cx="3258312" cy="443484"/>
          </a:xfrm>
          <a:prstGeom prst="rect">
            <a:avLst/>
          </a:prstGeom>
          <a:noFill/>
          <a:ln/>
        </p:spPr>
        <p:txBody>
          <a:bodyPr wrap="square" lIns="0" tIns="0" rIns="0" bIns="0" rtlCol="0" anchor="t"/>
          <a:lstStyle/>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Measure each session; review with the client; act early on</a:t>
            </a:r>
            <a:endParaRPr lang="en-US" sz="900" dirty="0"/>
          </a:p>
          <a:p>
            <a:pPr algn="l" indent="0" marL="0">
              <a:lnSpc>
                <a:spcPts val="1296"/>
              </a:lnSpc>
              <a:buNone/>
            </a:pPr>
            <a:r>
              <a:rPr lang="en-US" sz="900" dirty="0">
                <a:solidFill>
                  <a:srgbClr val="3F3A33"/>
                </a:solidFill>
                <a:latin typeface="Calibri" pitchFamily="34" charset="0"/>
                <a:ea typeface="Calibri" pitchFamily="34" charset="-122"/>
                <a:cs typeface="Calibri" pitchFamily="34" charset="-120"/>
              </a:rPr>
              <a:t>deterioration. Feedback turns the client’s view into clinical data.</a:t>
            </a:r>
            <a:endParaRPr lang="en-US" sz="900" dirty="0"/>
          </a:p>
        </p:txBody>
      </p:sp>
      <p:sp>
        <p:nvSpPr>
          <p:cNvPr id="34" name="Shape 32"/>
          <p:cNvSpPr/>
          <p:nvPr/>
        </p:nvSpPr>
        <p:spPr>
          <a:xfrm>
            <a:off x="8107680" y="3364992"/>
            <a:ext cx="118872" cy="91"/>
          </a:xfrm>
          <a:prstGeom prst="line">
            <a:avLst/>
          </a:prstGeom>
          <a:noFill/>
          <a:ln w="10160">
            <a:solidFill>
              <a:srgbClr val="C2A05F"/>
            </a:solidFill>
            <a:prstDash val="solid"/>
            <a:headEnd type="none"/>
            <a:tailEnd type="none"/>
          </a:ln>
        </p:spPr>
      </p:sp>
      <p:sp>
        <p:nvSpPr>
          <p:cNvPr id="35" name="Text 33"/>
          <p:cNvSpPr txBox="1"/>
          <p:nvPr/>
        </p:nvSpPr>
        <p:spPr>
          <a:xfrm>
            <a:off x="8317992" y="3273552"/>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ORS and SRS</a:t>
            </a:r>
            <a:endParaRPr lang="en-US" sz="880" dirty="0"/>
          </a:p>
        </p:txBody>
      </p:sp>
      <p:sp>
        <p:nvSpPr>
          <p:cNvPr id="36" name="Shape 34"/>
          <p:cNvSpPr/>
          <p:nvPr/>
        </p:nvSpPr>
        <p:spPr>
          <a:xfrm>
            <a:off x="8107680" y="3610661"/>
            <a:ext cx="118872" cy="91"/>
          </a:xfrm>
          <a:prstGeom prst="line">
            <a:avLst/>
          </a:prstGeom>
          <a:noFill/>
          <a:ln w="10160">
            <a:solidFill>
              <a:srgbClr val="C2A05F"/>
            </a:solidFill>
            <a:prstDash val="solid"/>
            <a:headEnd type="none"/>
            <a:tailEnd type="none"/>
          </a:ln>
        </p:spPr>
      </p:sp>
      <p:sp>
        <p:nvSpPr>
          <p:cNvPr id="37" name="Text 35"/>
          <p:cNvSpPr txBox="1"/>
          <p:nvPr/>
        </p:nvSpPr>
        <p:spPr>
          <a:xfrm>
            <a:off x="8317992" y="3519221"/>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Review the score together</a:t>
            </a:r>
            <a:endParaRPr lang="en-US" sz="880" dirty="0"/>
          </a:p>
        </p:txBody>
      </p:sp>
      <p:sp>
        <p:nvSpPr>
          <p:cNvPr id="38" name="Shape 36"/>
          <p:cNvSpPr/>
          <p:nvPr/>
        </p:nvSpPr>
        <p:spPr>
          <a:xfrm>
            <a:off x="8107680" y="3856330"/>
            <a:ext cx="118872" cy="91"/>
          </a:xfrm>
          <a:prstGeom prst="line">
            <a:avLst/>
          </a:prstGeom>
          <a:noFill/>
          <a:ln w="10160">
            <a:solidFill>
              <a:srgbClr val="C2A05F"/>
            </a:solidFill>
            <a:prstDash val="solid"/>
            <a:headEnd type="none"/>
            <a:tailEnd type="none"/>
          </a:ln>
        </p:spPr>
      </p:sp>
      <p:sp>
        <p:nvSpPr>
          <p:cNvPr id="39" name="Text 37"/>
          <p:cNvSpPr txBox="1"/>
          <p:nvPr/>
        </p:nvSpPr>
        <p:spPr>
          <a:xfrm>
            <a:off x="8317992" y="3764890"/>
            <a:ext cx="3048000" cy="265989"/>
          </a:xfrm>
          <a:prstGeom prst="rect">
            <a:avLst/>
          </a:prstGeom>
          <a:noFill/>
          <a:ln/>
        </p:spPr>
        <p:txBody>
          <a:bodyPr wrap="square" lIns="0" tIns="0" rIns="0" bIns="0" rtlCol="0" anchor="t"/>
          <a:lstStyle/>
          <a:p>
            <a:pPr algn="l" indent="0" marL="0">
              <a:lnSpc>
                <a:spcPts val="1214"/>
              </a:lnSpc>
              <a:buNone/>
            </a:pPr>
            <a:r>
              <a:rPr lang="en-US" sz="880" dirty="0">
                <a:solidFill>
                  <a:srgbClr val="3F3A33"/>
                </a:solidFill>
                <a:latin typeface="Calibri" pitchFamily="34" charset="0"/>
                <a:ea typeface="Calibri" pitchFamily="34" charset="-122"/>
                <a:cs typeface="Calibri" pitchFamily="34" charset="-120"/>
              </a:rPr>
              <a:t>Escalate, consult, or change method</a:t>
            </a:r>
            <a:endParaRPr lang="en-US" sz="880" dirty="0"/>
          </a:p>
        </p:txBody>
      </p:sp>
      <p:sp>
        <p:nvSpPr>
          <p:cNvPr id="40" name="Shape 38"/>
          <p:cNvSpPr/>
          <p:nvPr/>
        </p:nvSpPr>
        <p:spPr>
          <a:xfrm>
            <a:off x="822960" y="5285232"/>
            <a:ext cx="10543032" cy="896112"/>
          </a:xfrm>
          <a:prstGeom prst="roundRect">
            <a:avLst>
              <a:gd name="adj" fmla="val 2082"/>
            </a:avLst>
          </a:prstGeom>
          <a:solidFill>
            <a:srgbClr val="1B1815"/>
          </a:solidFill>
          <a:ln w="12700">
            <a:solidFill>
              <a:srgbClr val="FFFFFF">
                <a:alpha val="0"/>
              </a:srgbClr>
            </a:solidFill>
            <a:prstDash val="solid"/>
          </a:ln>
        </p:spPr>
      </p:sp>
      <p:sp>
        <p:nvSpPr>
          <p:cNvPr id="41" name="Shape 39"/>
          <p:cNvSpPr/>
          <p:nvPr/>
        </p:nvSpPr>
        <p:spPr>
          <a:xfrm>
            <a:off x="841248" y="5285232"/>
            <a:ext cx="45720" cy="896112"/>
          </a:xfrm>
          <a:prstGeom prst="rect">
            <a:avLst/>
          </a:prstGeom>
          <a:solidFill>
            <a:srgbClr val="C2A05F"/>
          </a:solidFill>
          <a:ln w="12700">
            <a:solidFill>
              <a:srgbClr val="FFFFFF">
                <a:alpha val="0"/>
              </a:srgbClr>
            </a:solidFill>
            <a:prstDash val="solid"/>
          </a:ln>
        </p:spPr>
      </p:sp>
      <p:sp>
        <p:nvSpPr>
          <p:cNvPr id="42" name="Text 40"/>
          <p:cNvSpPr txBox="1"/>
          <p:nvPr/>
        </p:nvSpPr>
        <p:spPr>
          <a:xfrm>
            <a:off x="1097280" y="5422392"/>
            <a:ext cx="2468880" cy="191008"/>
          </a:xfrm>
          <a:prstGeom prst="rect">
            <a:avLst/>
          </a:prstGeom>
          <a:noFill/>
          <a:ln/>
        </p:spPr>
        <p:txBody>
          <a:bodyPr wrap="square" lIns="0" tIns="0" rIns="0" bIns="0" rtlCol="0" anchor="t"/>
          <a:lstStyle/>
          <a:p>
            <a:pPr algn="l" indent="0" marL="0">
              <a:lnSpc>
                <a:spcPts val="864"/>
              </a:lnSpc>
              <a:buNone/>
            </a:pPr>
            <a:r>
              <a:rPr lang="en-US" sz="640" spc="170" kern="0" dirty="0">
                <a:solidFill>
                  <a:srgbClr val="C2A05F"/>
                </a:solidFill>
                <a:latin typeface="Calibri" pitchFamily="34" charset="0"/>
                <a:ea typeface="Calibri" pitchFamily="34" charset="-122"/>
                <a:cs typeface="Calibri" pitchFamily="34" charset="-120"/>
              </a:rPr>
              <a:t>FEEDBACK-INFORMED</a:t>
            </a:r>
            <a:endParaRPr lang="en-US" sz="640" dirty="0"/>
          </a:p>
        </p:txBody>
      </p:sp>
      <p:sp>
        <p:nvSpPr>
          <p:cNvPr id="43" name="Text 41"/>
          <p:cNvSpPr txBox="1"/>
          <p:nvPr/>
        </p:nvSpPr>
        <p:spPr>
          <a:xfrm>
            <a:off x="1097280" y="5586984"/>
            <a:ext cx="3017520" cy="354965"/>
          </a:xfrm>
          <a:prstGeom prst="rect">
            <a:avLst/>
          </a:prstGeom>
          <a:noFill/>
          <a:ln/>
        </p:spPr>
        <p:txBody>
          <a:bodyPr wrap="square" lIns="0" tIns="0" rIns="0" bIns="0" rtlCol="0" anchor="t"/>
          <a:lstStyle/>
          <a:p>
            <a:pPr algn="l" indent="0" marL="0">
              <a:lnSpc>
                <a:spcPts val="1495"/>
              </a:lnSpc>
              <a:buNone/>
            </a:pPr>
            <a:r>
              <a:rPr lang="en-US" sz="1300" dirty="0">
                <a:solidFill>
                  <a:srgbClr val="F8F3E9"/>
                </a:solidFill>
                <a:latin typeface="Georgia" pitchFamily="34" charset="0"/>
                <a:ea typeface="Georgia" pitchFamily="34" charset="-122"/>
                <a:cs typeface="Georgia" pitchFamily="34" charset="-120"/>
              </a:rPr>
              <a:t>The client’s view</a:t>
            </a:r>
            <a:endParaRPr lang="en-US" sz="1300" dirty="0"/>
          </a:p>
        </p:txBody>
      </p:sp>
      <p:sp>
        <p:nvSpPr>
          <p:cNvPr id="44" name="Text 42"/>
          <p:cNvSpPr txBox="1"/>
          <p:nvPr/>
        </p:nvSpPr>
        <p:spPr>
          <a:xfrm>
            <a:off x="4434840" y="5431536"/>
            <a:ext cx="4983480" cy="425958"/>
          </a:xfrm>
          <a:prstGeom prst="rect">
            <a:avLst/>
          </a:prstGeom>
          <a:noFill/>
          <a:ln/>
        </p:spPr>
        <p:txBody>
          <a:bodyPr wrap="square" lIns="0" tIns="0" rIns="0" bIns="0" rtlCol="0" anchor="t"/>
          <a:lstStyle/>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The most predictive feedback is not the therapist’s evaluation of the session, but the client’s experience of</a:t>
            </a:r>
            <a:endParaRPr lang="en-US" sz="860" dirty="0"/>
          </a:p>
          <a:p>
            <a:pPr algn="l" indent="0" marL="0">
              <a:lnSpc>
                <a:spcPts val="1247"/>
              </a:lnSpc>
              <a:buNone/>
            </a:pPr>
            <a:r>
              <a:rPr lang="en-US" sz="860" dirty="0">
                <a:solidFill>
                  <a:srgbClr val="EFE5D3"/>
                </a:solidFill>
                <a:latin typeface="Calibri" pitchFamily="34" charset="0"/>
                <a:ea typeface="Calibri" pitchFamily="34" charset="-122"/>
                <a:cs typeface="Calibri" pitchFamily="34" charset="-120"/>
              </a:rPr>
              <a:t>alliance and outcome.</a:t>
            </a:r>
            <a:endParaRPr lang="en-US" sz="860" dirty="0"/>
          </a:p>
        </p:txBody>
      </p:sp>
      <p:sp>
        <p:nvSpPr>
          <p:cNvPr id="45" name="Shape 43"/>
          <p:cNvSpPr/>
          <p:nvPr/>
        </p:nvSpPr>
        <p:spPr>
          <a:xfrm>
            <a:off x="9601200" y="5431536"/>
            <a:ext cx="91" cy="603504"/>
          </a:xfrm>
          <a:prstGeom prst="line">
            <a:avLst/>
          </a:prstGeom>
          <a:noFill/>
          <a:ln w="6350">
            <a:solidFill>
              <a:srgbClr val="3A332A"/>
            </a:solidFill>
            <a:prstDash val="solid"/>
            <a:headEnd type="none"/>
            <a:tailEnd type="none"/>
          </a:ln>
        </p:spPr>
      </p:sp>
      <p:sp>
        <p:nvSpPr>
          <p:cNvPr id="46" name="Text 44"/>
          <p:cNvSpPr txBox="1"/>
          <p:nvPr/>
        </p:nvSpPr>
        <p:spPr>
          <a:xfrm>
            <a:off x="9765792" y="5413248"/>
            <a:ext cx="1463040" cy="291338"/>
          </a:xfrm>
          <a:prstGeom prst="rect">
            <a:avLst/>
          </a:prstGeom>
          <a:noFill/>
          <a:ln/>
        </p:spPr>
        <p:txBody>
          <a:bodyPr wrap="square" lIns="0" tIns="0" rIns="0" bIns="0" rtlCol="0" anchor="t"/>
          <a:lstStyle/>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Sprenkle, Davis &amp; Lebow (2009); Wampold &amp;</a:t>
            </a:r>
            <a:endParaRPr lang="en-US" sz="620" dirty="0"/>
          </a:p>
          <a:p>
            <a:pPr algn="l" indent="0" marL="0">
              <a:lnSpc>
                <a:spcPts val="837"/>
              </a:lnSpc>
              <a:buNone/>
            </a:pPr>
            <a:r>
              <a:rPr lang="en-US" sz="620" i="1" dirty="0">
                <a:solidFill>
                  <a:srgbClr val="B9AE9C"/>
                </a:solidFill>
                <a:latin typeface="Calibri" pitchFamily="34" charset="0"/>
                <a:ea typeface="Calibri" pitchFamily="34" charset="-122"/>
                <a:cs typeface="Calibri" pitchFamily="34" charset="-120"/>
              </a:rPr>
              <a:t>Imel (2015); Duncan et al. (2010).</a:t>
            </a:r>
            <a:endParaRPr lang="en-US" sz="62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WEEK 16 · DIAGRAM</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73</a:t>
            </a:r>
            <a:endParaRPr lang="en-US" sz="950" dirty="0"/>
          </a:p>
        </p:txBody>
      </p:sp>
      <p:sp>
        <p:nvSpPr>
          <p:cNvPr id="8" name="Text 6"/>
          <p:cNvSpPr txBox="1"/>
          <p:nvPr/>
        </p:nvSpPr>
        <p:spPr>
          <a:xfrm>
            <a:off x="822960" y="932688"/>
            <a:ext cx="9966960" cy="726948"/>
          </a:xfrm>
          <a:prstGeom prst="rect">
            <a:avLst/>
          </a:prstGeom>
          <a:noFill/>
          <a:ln/>
        </p:spPr>
        <p:txBody>
          <a:bodyPr wrap="square" lIns="0" tIns="0" rIns="0" bIns="0" rtlCol="0" anchor="t"/>
          <a:lstStyle/>
          <a:p>
            <a:pPr algn="l" indent="0" marL="0">
              <a:lnSpc>
                <a:spcPts val="3024"/>
              </a:lnSpc>
              <a:buNone/>
            </a:pPr>
            <a:r>
              <a:rPr lang="en-US" sz="2700" dirty="0">
                <a:solidFill>
                  <a:srgbClr val="1B1815"/>
                </a:solidFill>
                <a:latin typeface="Georgia" pitchFamily="34" charset="0"/>
                <a:ea typeface="Georgia" pitchFamily="34" charset="-122"/>
                <a:cs typeface="Georgia" pitchFamily="34" charset="-120"/>
              </a:rPr>
              <a:t>Feedback as a clinical discipline</a:t>
            </a:r>
            <a:endParaRPr lang="en-US" sz="2700" dirty="0"/>
          </a:p>
        </p:txBody>
      </p:sp>
      <p:sp>
        <p:nvSpPr>
          <p:cNvPr id="9" name="Text 7"/>
          <p:cNvSpPr txBox="1"/>
          <p:nvPr/>
        </p:nvSpPr>
        <p:spPr>
          <a:xfrm>
            <a:off x="822960" y="1417320"/>
            <a:ext cx="9144000" cy="323088"/>
          </a:xfrm>
          <a:prstGeom prst="rect">
            <a:avLst/>
          </a:prstGeom>
          <a:noFill/>
          <a:ln/>
        </p:spPr>
        <p:txBody>
          <a:bodyPr wrap="square" lIns="0" tIns="0" rIns="0" bIns="0" rtlCol="0" anchor="t"/>
          <a:lstStyle/>
          <a:p>
            <a:pPr algn="l" indent="0" marL="0">
              <a:lnSpc>
                <a:spcPts val="1484"/>
              </a:lnSpc>
              <a:buNone/>
            </a:pPr>
            <a:r>
              <a:rPr lang="en-US" sz="1060" dirty="0">
                <a:solidFill>
                  <a:srgbClr val="5B544A"/>
                </a:solidFill>
                <a:latin typeface="Calibri" pitchFamily="34" charset="0"/>
                <a:ea typeface="Calibri" pitchFamily="34" charset="-122"/>
                <a:cs typeface="Calibri" pitchFamily="34" charset="-120"/>
              </a:rPr>
              <a:t>Measurement is not surveillance. Done well, it is a structured conversation about whether this work is helping this family.</a:t>
            </a:r>
            <a:endParaRPr lang="en-US" sz="1060" dirty="0"/>
          </a:p>
        </p:txBody>
      </p:sp>
      <p:sp>
        <p:nvSpPr>
          <p:cNvPr id="10" name="Shape 8"/>
          <p:cNvSpPr/>
          <p:nvPr/>
        </p:nvSpPr>
        <p:spPr>
          <a:xfrm>
            <a:off x="3876934" y="3008376"/>
            <a:ext cx="398009" cy="237744"/>
          </a:xfrm>
          <a:prstGeom prst="line">
            <a:avLst/>
          </a:prstGeom>
          <a:noFill/>
          <a:ln w="11430">
            <a:solidFill>
              <a:srgbClr val="96733C"/>
            </a:solidFill>
            <a:prstDash val="solid"/>
            <a:headEnd type="none"/>
            <a:tailEnd type="triangle"/>
          </a:ln>
        </p:spPr>
      </p:sp>
      <p:sp>
        <p:nvSpPr>
          <p:cNvPr id="11" name="Shape 9"/>
          <p:cNvSpPr/>
          <p:nvPr/>
        </p:nvSpPr>
        <p:spPr>
          <a:xfrm flipH="1">
            <a:off x="3876934" y="4032504"/>
            <a:ext cx="398009" cy="237744"/>
          </a:xfrm>
          <a:prstGeom prst="line">
            <a:avLst/>
          </a:prstGeom>
          <a:noFill/>
          <a:ln w="11430">
            <a:solidFill>
              <a:srgbClr val="96733C"/>
            </a:solidFill>
            <a:prstDash val="solid"/>
            <a:headEnd type="none"/>
            <a:tailEnd type="triangle"/>
          </a:ln>
        </p:spPr>
      </p:sp>
      <p:sp>
        <p:nvSpPr>
          <p:cNvPr id="12" name="Shape 10"/>
          <p:cNvSpPr/>
          <p:nvPr/>
        </p:nvSpPr>
        <p:spPr>
          <a:xfrm flipH="1" flipV="1">
            <a:off x="2697602" y="4032504"/>
            <a:ext cx="196351" cy="237744"/>
          </a:xfrm>
          <a:prstGeom prst="line">
            <a:avLst/>
          </a:prstGeom>
          <a:noFill/>
          <a:ln w="11430">
            <a:solidFill>
              <a:srgbClr val="96733C"/>
            </a:solidFill>
            <a:prstDash val="solid"/>
            <a:headEnd type="none"/>
            <a:tailEnd type="triangle"/>
          </a:ln>
        </p:spPr>
      </p:sp>
      <p:sp>
        <p:nvSpPr>
          <p:cNvPr id="13" name="Shape 11"/>
          <p:cNvSpPr/>
          <p:nvPr/>
        </p:nvSpPr>
        <p:spPr>
          <a:xfrm flipV="1">
            <a:off x="2697602" y="3008376"/>
            <a:ext cx="196351" cy="237744"/>
          </a:xfrm>
          <a:prstGeom prst="line">
            <a:avLst/>
          </a:prstGeom>
          <a:noFill/>
          <a:ln w="11430">
            <a:solidFill>
              <a:srgbClr val="96733C"/>
            </a:solidFill>
            <a:prstDash val="solid"/>
            <a:headEnd type="none"/>
            <a:tailEnd type="triangle"/>
          </a:ln>
        </p:spPr>
      </p:sp>
      <p:sp>
        <p:nvSpPr>
          <p:cNvPr id="14" name="Shape 12"/>
          <p:cNvSpPr/>
          <p:nvPr/>
        </p:nvSpPr>
        <p:spPr>
          <a:xfrm>
            <a:off x="2281428" y="2221992"/>
            <a:ext cx="1874520" cy="786384"/>
          </a:xfrm>
          <a:prstGeom prst="roundRect">
            <a:avLst>
              <a:gd name="adj" fmla="val 6084"/>
            </a:avLst>
          </a:prstGeom>
          <a:solidFill>
            <a:srgbClr val="FBF7EF"/>
          </a:solidFill>
          <a:ln w="8890">
            <a:solidFill>
              <a:srgbClr val="D9CDB7"/>
            </a:solidFill>
            <a:prstDash val="solid"/>
          </a:ln>
        </p:spPr>
      </p:sp>
      <p:sp>
        <p:nvSpPr>
          <p:cNvPr id="15" name="Text 13"/>
          <p:cNvSpPr txBox="1"/>
          <p:nvPr/>
        </p:nvSpPr>
        <p:spPr>
          <a:xfrm>
            <a:off x="2354580" y="2350008"/>
            <a:ext cx="1728216" cy="343218"/>
          </a:xfrm>
          <a:prstGeom prst="rect">
            <a:avLst/>
          </a:prstGeom>
          <a:noFill/>
          <a:ln/>
        </p:spPr>
        <p:txBody>
          <a:bodyPr wrap="square" lIns="0" tIns="0" rIns="0" bIns="0" rtlCol="0" anchor="t"/>
          <a:lstStyle/>
          <a:p>
            <a:pPr algn="ctr" indent="0" marL="0">
              <a:lnSpc>
                <a:spcPts val="1553"/>
              </a:lnSpc>
              <a:buNone/>
            </a:pPr>
            <a:r>
              <a:rPr lang="en-US" sz="1150" dirty="0">
                <a:solidFill>
                  <a:srgbClr val="1B1815"/>
                </a:solidFill>
                <a:latin typeface="Georgia" pitchFamily="34" charset="0"/>
                <a:ea typeface="Georgia" pitchFamily="34" charset="-122"/>
                <a:cs typeface="Georgia" pitchFamily="34" charset="-120"/>
              </a:rPr>
              <a:t>Engage</a:t>
            </a:r>
            <a:endParaRPr lang="en-US" sz="1150" dirty="0"/>
          </a:p>
        </p:txBody>
      </p:sp>
      <p:sp>
        <p:nvSpPr>
          <p:cNvPr id="16" name="Text 14"/>
          <p:cNvSpPr txBox="1"/>
          <p:nvPr/>
        </p:nvSpPr>
        <p:spPr>
          <a:xfrm>
            <a:off x="2354580" y="2660904"/>
            <a:ext cx="1728216" cy="201168"/>
          </a:xfrm>
          <a:prstGeom prst="rect">
            <a:avLst/>
          </a:prstGeom>
          <a:noFill/>
          <a:ln/>
        </p:spPr>
        <p:txBody>
          <a:bodyPr wrap="square" lIns="0" tIns="0" rIns="0" bIns="0" rtlCol="0" anchor="t"/>
          <a:lstStyle/>
          <a:p>
            <a:pPr algn="ctr" indent="0" marL="0">
              <a:lnSpc>
                <a:spcPts val="864"/>
              </a:lnSpc>
              <a:buNone/>
            </a:pPr>
            <a:r>
              <a:rPr lang="en-US" sz="720" dirty="0">
                <a:solidFill>
                  <a:srgbClr val="5B544A"/>
                </a:solidFill>
                <a:latin typeface="Calibri" pitchFamily="34" charset="0"/>
                <a:ea typeface="Calibri" pitchFamily="34" charset="-122"/>
                <a:cs typeface="Calibri" pitchFamily="34" charset="-120"/>
              </a:rPr>
              <a:t>alliance &amp; goals</a:t>
            </a:r>
            <a:endParaRPr lang="en-US" sz="720" dirty="0"/>
          </a:p>
        </p:txBody>
      </p:sp>
      <p:sp>
        <p:nvSpPr>
          <p:cNvPr id="17" name="Shape 15"/>
          <p:cNvSpPr/>
          <p:nvPr/>
        </p:nvSpPr>
        <p:spPr>
          <a:xfrm>
            <a:off x="3995928" y="3246120"/>
            <a:ext cx="1874520" cy="786384"/>
          </a:xfrm>
          <a:prstGeom prst="roundRect">
            <a:avLst>
              <a:gd name="adj" fmla="val 6084"/>
            </a:avLst>
          </a:prstGeom>
          <a:solidFill>
            <a:srgbClr val="FBF7EF"/>
          </a:solidFill>
          <a:ln w="8890">
            <a:solidFill>
              <a:srgbClr val="D9CDB7"/>
            </a:solidFill>
            <a:prstDash val="solid"/>
          </a:ln>
        </p:spPr>
      </p:sp>
      <p:sp>
        <p:nvSpPr>
          <p:cNvPr id="18" name="Text 16"/>
          <p:cNvSpPr txBox="1"/>
          <p:nvPr/>
        </p:nvSpPr>
        <p:spPr>
          <a:xfrm>
            <a:off x="4069080" y="3374136"/>
            <a:ext cx="1728216" cy="343218"/>
          </a:xfrm>
          <a:prstGeom prst="rect">
            <a:avLst/>
          </a:prstGeom>
          <a:noFill/>
          <a:ln/>
        </p:spPr>
        <p:txBody>
          <a:bodyPr wrap="square" lIns="0" tIns="0" rIns="0" bIns="0" rtlCol="0" anchor="t"/>
          <a:lstStyle/>
          <a:p>
            <a:pPr algn="ctr" indent="0" marL="0">
              <a:lnSpc>
                <a:spcPts val="1553"/>
              </a:lnSpc>
              <a:buNone/>
            </a:pPr>
            <a:r>
              <a:rPr lang="en-US" sz="1150" dirty="0">
                <a:solidFill>
                  <a:srgbClr val="1B1815"/>
                </a:solidFill>
                <a:latin typeface="Georgia" pitchFamily="34" charset="0"/>
                <a:ea typeface="Georgia" pitchFamily="34" charset="-122"/>
                <a:cs typeface="Georgia" pitchFamily="34" charset="-120"/>
              </a:rPr>
              <a:t>Measure</a:t>
            </a:r>
            <a:endParaRPr lang="en-US" sz="1150" dirty="0"/>
          </a:p>
        </p:txBody>
      </p:sp>
      <p:sp>
        <p:nvSpPr>
          <p:cNvPr id="19" name="Text 17"/>
          <p:cNvSpPr txBox="1"/>
          <p:nvPr/>
        </p:nvSpPr>
        <p:spPr>
          <a:xfrm>
            <a:off x="4069080" y="3685032"/>
            <a:ext cx="1728216" cy="201168"/>
          </a:xfrm>
          <a:prstGeom prst="rect">
            <a:avLst/>
          </a:prstGeom>
          <a:noFill/>
          <a:ln/>
        </p:spPr>
        <p:txBody>
          <a:bodyPr wrap="square" lIns="0" tIns="0" rIns="0" bIns="0" rtlCol="0" anchor="t"/>
          <a:lstStyle/>
          <a:p>
            <a:pPr algn="ctr" indent="0" marL="0">
              <a:lnSpc>
                <a:spcPts val="864"/>
              </a:lnSpc>
              <a:buNone/>
            </a:pPr>
            <a:r>
              <a:rPr lang="en-US" sz="720" dirty="0">
                <a:solidFill>
                  <a:srgbClr val="5B544A"/>
                </a:solidFill>
                <a:latin typeface="Calibri" pitchFamily="34" charset="0"/>
                <a:ea typeface="Calibri" pitchFamily="34" charset="-122"/>
                <a:cs typeface="Calibri" pitchFamily="34" charset="-120"/>
              </a:rPr>
              <a:t>ORS / SRS each session</a:t>
            </a:r>
            <a:endParaRPr lang="en-US" sz="720" dirty="0"/>
          </a:p>
        </p:txBody>
      </p:sp>
      <p:sp>
        <p:nvSpPr>
          <p:cNvPr id="20" name="Shape 18"/>
          <p:cNvSpPr/>
          <p:nvPr/>
        </p:nvSpPr>
        <p:spPr>
          <a:xfrm>
            <a:off x="2281428" y="4270248"/>
            <a:ext cx="1874520" cy="786384"/>
          </a:xfrm>
          <a:prstGeom prst="roundRect">
            <a:avLst>
              <a:gd name="adj" fmla="val 6084"/>
            </a:avLst>
          </a:prstGeom>
          <a:solidFill>
            <a:srgbClr val="FBF7EF"/>
          </a:solidFill>
          <a:ln w="8890">
            <a:solidFill>
              <a:srgbClr val="D9CDB7"/>
            </a:solidFill>
            <a:prstDash val="solid"/>
          </a:ln>
        </p:spPr>
      </p:sp>
      <p:sp>
        <p:nvSpPr>
          <p:cNvPr id="21" name="Text 19"/>
          <p:cNvSpPr txBox="1"/>
          <p:nvPr/>
        </p:nvSpPr>
        <p:spPr>
          <a:xfrm>
            <a:off x="2354580" y="4398264"/>
            <a:ext cx="1728216" cy="343218"/>
          </a:xfrm>
          <a:prstGeom prst="rect">
            <a:avLst/>
          </a:prstGeom>
          <a:noFill/>
          <a:ln/>
        </p:spPr>
        <p:txBody>
          <a:bodyPr wrap="square" lIns="0" tIns="0" rIns="0" bIns="0" rtlCol="0" anchor="t"/>
          <a:lstStyle/>
          <a:p>
            <a:pPr algn="ctr" indent="0" marL="0">
              <a:lnSpc>
                <a:spcPts val="1553"/>
              </a:lnSpc>
              <a:buNone/>
            </a:pPr>
            <a:r>
              <a:rPr lang="en-US" sz="1150" dirty="0">
                <a:solidFill>
                  <a:srgbClr val="1B1815"/>
                </a:solidFill>
                <a:latin typeface="Georgia" pitchFamily="34" charset="0"/>
                <a:ea typeface="Georgia" pitchFamily="34" charset="-122"/>
                <a:cs typeface="Georgia" pitchFamily="34" charset="-120"/>
              </a:rPr>
              <a:t>Review</a:t>
            </a:r>
            <a:endParaRPr lang="en-US" sz="1150" dirty="0"/>
          </a:p>
        </p:txBody>
      </p:sp>
      <p:sp>
        <p:nvSpPr>
          <p:cNvPr id="22" name="Text 20"/>
          <p:cNvSpPr txBox="1"/>
          <p:nvPr/>
        </p:nvSpPr>
        <p:spPr>
          <a:xfrm>
            <a:off x="2354580" y="4709160"/>
            <a:ext cx="1728216" cy="201168"/>
          </a:xfrm>
          <a:prstGeom prst="rect">
            <a:avLst/>
          </a:prstGeom>
          <a:noFill/>
          <a:ln/>
        </p:spPr>
        <p:txBody>
          <a:bodyPr wrap="square" lIns="0" tIns="0" rIns="0" bIns="0" rtlCol="0" anchor="t"/>
          <a:lstStyle/>
          <a:p>
            <a:pPr algn="ctr" indent="0" marL="0">
              <a:lnSpc>
                <a:spcPts val="864"/>
              </a:lnSpc>
              <a:buNone/>
            </a:pPr>
            <a:r>
              <a:rPr lang="en-US" sz="720" dirty="0">
                <a:solidFill>
                  <a:srgbClr val="5B544A"/>
                </a:solidFill>
                <a:latin typeface="Calibri" pitchFamily="34" charset="0"/>
                <a:ea typeface="Calibri" pitchFamily="34" charset="-122"/>
                <a:cs typeface="Calibri" pitchFamily="34" charset="-120"/>
              </a:rPr>
              <a:t>with the client, openly</a:t>
            </a:r>
            <a:endParaRPr lang="en-US" sz="720" dirty="0"/>
          </a:p>
        </p:txBody>
      </p:sp>
      <p:sp>
        <p:nvSpPr>
          <p:cNvPr id="23" name="Shape 21"/>
          <p:cNvSpPr/>
          <p:nvPr/>
        </p:nvSpPr>
        <p:spPr>
          <a:xfrm>
            <a:off x="1435608" y="3246120"/>
            <a:ext cx="1874520" cy="786384"/>
          </a:xfrm>
          <a:prstGeom prst="roundRect">
            <a:avLst>
              <a:gd name="adj" fmla="val 6084"/>
            </a:avLst>
          </a:prstGeom>
          <a:solidFill>
            <a:srgbClr val="FBF7EF"/>
          </a:solidFill>
          <a:ln w="8890">
            <a:solidFill>
              <a:srgbClr val="D9CDB7"/>
            </a:solidFill>
            <a:prstDash val="solid"/>
          </a:ln>
        </p:spPr>
      </p:sp>
      <p:sp>
        <p:nvSpPr>
          <p:cNvPr id="24" name="Text 22"/>
          <p:cNvSpPr txBox="1"/>
          <p:nvPr/>
        </p:nvSpPr>
        <p:spPr>
          <a:xfrm>
            <a:off x="1508760" y="3374136"/>
            <a:ext cx="1728216" cy="343218"/>
          </a:xfrm>
          <a:prstGeom prst="rect">
            <a:avLst/>
          </a:prstGeom>
          <a:noFill/>
          <a:ln/>
        </p:spPr>
        <p:txBody>
          <a:bodyPr wrap="square" lIns="0" tIns="0" rIns="0" bIns="0" rtlCol="0" anchor="t"/>
          <a:lstStyle/>
          <a:p>
            <a:pPr algn="ctr" indent="0" marL="0">
              <a:lnSpc>
                <a:spcPts val="1553"/>
              </a:lnSpc>
              <a:buNone/>
            </a:pPr>
            <a:r>
              <a:rPr lang="en-US" sz="1150" dirty="0">
                <a:solidFill>
                  <a:srgbClr val="1B1815"/>
                </a:solidFill>
                <a:latin typeface="Georgia" pitchFamily="34" charset="0"/>
                <a:ea typeface="Georgia" pitchFamily="34" charset="-122"/>
                <a:cs typeface="Georgia" pitchFamily="34" charset="-120"/>
              </a:rPr>
              <a:t>Adapt</a:t>
            </a:r>
            <a:endParaRPr lang="en-US" sz="1150" dirty="0"/>
          </a:p>
        </p:txBody>
      </p:sp>
      <p:sp>
        <p:nvSpPr>
          <p:cNvPr id="25" name="Text 23"/>
          <p:cNvSpPr txBox="1"/>
          <p:nvPr/>
        </p:nvSpPr>
        <p:spPr>
          <a:xfrm>
            <a:off x="1508760" y="3685032"/>
            <a:ext cx="1728216" cy="201168"/>
          </a:xfrm>
          <a:prstGeom prst="rect">
            <a:avLst/>
          </a:prstGeom>
          <a:noFill/>
          <a:ln/>
        </p:spPr>
        <p:txBody>
          <a:bodyPr wrap="square" lIns="0" tIns="0" rIns="0" bIns="0" rtlCol="0" anchor="t"/>
          <a:lstStyle/>
          <a:p>
            <a:pPr algn="ctr" indent="0" marL="0">
              <a:lnSpc>
                <a:spcPts val="864"/>
              </a:lnSpc>
              <a:buNone/>
            </a:pPr>
            <a:r>
              <a:rPr lang="en-US" sz="720" dirty="0">
                <a:solidFill>
                  <a:srgbClr val="5B544A"/>
                </a:solidFill>
                <a:latin typeface="Calibri" pitchFamily="34" charset="0"/>
                <a:ea typeface="Calibri" pitchFamily="34" charset="-122"/>
                <a:cs typeface="Calibri" pitchFamily="34" charset="-120"/>
              </a:rPr>
              <a:t>plan, method, or therapist</a:t>
            </a:r>
            <a:endParaRPr lang="en-US" sz="720" dirty="0"/>
          </a:p>
        </p:txBody>
      </p:sp>
      <p:sp>
        <p:nvSpPr>
          <p:cNvPr id="26" name="Text 24"/>
          <p:cNvSpPr txBox="1"/>
          <p:nvPr/>
        </p:nvSpPr>
        <p:spPr>
          <a:xfrm>
            <a:off x="1801368" y="5120640"/>
            <a:ext cx="2834640" cy="196977"/>
          </a:xfrm>
          <a:prstGeom prst="rect">
            <a:avLst/>
          </a:prstGeom>
          <a:noFill/>
          <a:ln/>
        </p:spPr>
        <p:txBody>
          <a:bodyPr wrap="square" lIns="0" tIns="0" rIns="0" bIns="0" rtlCol="0" anchor="t"/>
          <a:lstStyle/>
          <a:p>
            <a:pPr algn="ctr" indent="0" marL="0">
              <a:lnSpc>
                <a:spcPts val="891"/>
              </a:lnSpc>
              <a:buNone/>
            </a:pPr>
            <a:r>
              <a:rPr lang="en-US" sz="660" b="1" spc="140" kern="0" dirty="0">
                <a:solidFill>
                  <a:srgbClr val="96733C"/>
                </a:solidFill>
                <a:latin typeface="Calibri" pitchFamily="34" charset="0"/>
                <a:ea typeface="Calibri" pitchFamily="34" charset="-122"/>
                <a:cs typeface="Calibri" pitchFamily="34" charset="-120"/>
              </a:rPr>
              <a:t>FEEDBACK-INFORMED</a:t>
            </a:r>
            <a:endParaRPr lang="en-US" sz="660" dirty="0"/>
          </a:p>
        </p:txBody>
      </p:sp>
      <p:sp>
        <p:nvSpPr>
          <p:cNvPr id="27" name="Text 25"/>
          <p:cNvSpPr txBox="1"/>
          <p:nvPr/>
        </p:nvSpPr>
        <p:spPr>
          <a:xfrm>
            <a:off x="1801368" y="5285232"/>
            <a:ext cx="2834640" cy="192786"/>
          </a:xfrm>
          <a:prstGeom prst="rect">
            <a:avLst/>
          </a:prstGeom>
          <a:noFill/>
          <a:ln/>
        </p:spPr>
        <p:txBody>
          <a:bodyPr wrap="square" lIns="0" tIns="0" rIns="0" bIns="0" rtlCol="0" anchor="t"/>
          <a:lstStyle/>
          <a:p>
            <a:pPr algn="ctr" indent="0" marL="0">
              <a:lnSpc>
                <a:spcPts val="858"/>
              </a:lnSpc>
              <a:buNone/>
            </a:pPr>
            <a:r>
              <a:rPr lang="en-US" sz="660" i="1" dirty="0">
                <a:solidFill>
                  <a:srgbClr val="5B544A"/>
                </a:solidFill>
                <a:latin typeface="Calibri" pitchFamily="34" charset="0"/>
                <a:ea typeface="Calibri" pitchFamily="34" charset="-122"/>
                <a:cs typeface="Calibri" pitchFamily="34" charset="-120"/>
              </a:rPr>
              <a:t>each session, not each discharge</a:t>
            </a:r>
            <a:endParaRPr lang="en-US" sz="660" dirty="0"/>
          </a:p>
        </p:txBody>
      </p:sp>
      <p:sp>
        <p:nvSpPr>
          <p:cNvPr id="28" name="Shape 26"/>
          <p:cNvSpPr/>
          <p:nvPr/>
        </p:nvSpPr>
        <p:spPr>
          <a:xfrm>
            <a:off x="6858000" y="2221992"/>
            <a:ext cx="91" cy="2514600"/>
          </a:xfrm>
          <a:prstGeom prst="line">
            <a:avLst/>
          </a:prstGeom>
          <a:noFill/>
          <a:ln w="10160">
            <a:solidFill>
              <a:srgbClr val="D9CDB7"/>
            </a:solidFill>
            <a:prstDash val="solid"/>
            <a:headEnd type="none"/>
            <a:tailEnd type="none"/>
          </a:ln>
        </p:spPr>
      </p:sp>
      <p:sp>
        <p:nvSpPr>
          <p:cNvPr id="29" name="Shape 27"/>
          <p:cNvSpPr/>
          <p:nvPr/>
        </p:nvSpPr>
        <p:spPr>
          <a:xfrm>
            <a:off x="6858000" y="4736592"/>
            <a:ext cx="4206240" cy="91"/>
          </a:xfrm>
          <a:prstGeom prst="line">
            <a:avLst/>
          </a:prstGeom>
          <a:noFill/>
          <a:ln w="10160">
            <a:solidFill>
              <a:srgbClr val="D9CDB7"/>
            </a:solidFill>
            <a:prstDash val="solid"/>
            <a:headEnd type="none"/>
            <a:tailEnd type="none"/>
          </a:ln>
        </p:spPr>
      </p:sp>
      <p:sp>
        <p:nvSpPr>
          <p:cNvPr id="30" name="Shape 28"/>
          <p:cNvSpPr/>
          <p:nvPr/>
        </p:nvSpPr>
        <p:spPr>
          <a:xfrm>
            <a:off x="6858000" y="3102102"/>
            <a:ext cx="4206240" cy="553212"/>
          </a:xfrm>
          <a:prstGeom prst="rect">
            <a:avLst/>
          </a:prstGeom>
          <a:solidFill>
            <a:srgbClr val="6E8274">
              <a:alpha val="10000"/>
            </a:srgbClr>
          </a:solidFill>
          <a:ln w="12700">
            <a:solidFill>
              <a:srgbClr val="FFFFFF">
                <a:alpha val="0"/>
              </a:srgbClr>
            </a:solidFill>
            <a:prstDash val="solid"/>
          </a:ln>
        </p:spPr>
      </p:sp>
      <p:sp>
        <p:nvSpPr>
          <p:cNvPr id="31" name="Text 29"/>
          <p:cNvSpPr txBox="1"/>
          <p:nvPr/>
        </p:nvSpPr>
        <p:spPr>
          <a:xfrm>
            <a:off x="6949440" y="3152394"/>
            <a:ext cx="2011680" cy="192786"/>
          </a:xfrm>
          <a:prstGeom prst="rect">
            <a:avLst/>
          </a:prstGeom>
          <a:noFill/>
          <a:ln/>
        </p:spPr>
        <p:txBody>
          <a:bodyPr wrap="square" lIns="0" tIns="0" rIns="0" bIns="0" rtlCol="0" anchor="t"/>
          <a:lstStyle/>
          <a:p>
            <a:pPr algn="l" indent="0" marL="0">
              <a:lnSpc>
                <a:spcPts val="858"/>
              </a:lnSpc>
              <a:buNone/>
            </a:pPr>
            <a:r>
              <a:rPr lang="en-US" sz="660" dirty="0">
                <a:solidFill>
                  <a:srgbClr val="6E8274"/>
                </a:solidFill>
                <a:latin typeface="Calibri" pitchFamily="34" charset="0"/>
                <a:ea typeface="Calibri" pitchFamily="34" charset="-122"/>
                <a:cs typeface="Calibri" pitchFamily="34" charset="-120"/>
              </a:rPr>
              <a:t>expected change band</a:t>
            </a:r>
            <a:endParaRPr lang="en-US" sz="660" dirty="0"/>
          </a:p>
        </p:txBody>
      </p:sp>
      <p:sp>
        <p:nvSpPr>
          <p:cNvPr id="32" name="Shape 30"/>
          <p:cNvSpPr/>
          <p:nvPr/>
        </p:nvSpPr>
        <p:spPr>
          <a:xfrm>
            <a:off x="7040880" y="2555748"/>
            <a:ext cx="699516" cy="210312"/>
          </a:xfrm>
          <a:prstGeom prst="line">
            <a:avLst/>
          </a:prstGeom>
          <a:noFill/>
          <a:ln w="20320">
            <a:solidFill>
              <a:srgbClr val="96733C"/>
            </a:solidFill>
            <a:prstDash val="solid"/>
            <a:headEnd type="none"/>
            <a:tailEnd type="none"/>
          </a:ln>
        </p:spPr>
      </p:sp>
      <p:sp>
        <p:nvSpPr>
          <p:cNvPr id="33" name="Shape 31"/>
          <p:cNvSpPr/>
          <p:nvPr/>
        </p:nvSpPr>
        <p:spPr>
          <a:xfrm>
            <a:off x="7740396" y="2766060"/>
            <a:ext cx="699516" cy="105156"/>
          </a:xfrm>
          <a:prstGeom prst="line">
            <a:avLst/>
          </a:prstGeom>
          <a:noFill/>
          <a:ln w="20320">
            <a:solidFill>
              <a:srgbClr val="96733C"/>
            </a:solidFill>
            <a:prstDash val="solid"/>
            <a:headEnd type="none"/>
            <a:tailEnd type="none"/>
          </a:ln>
        </p:spPr>
      </p:sp>
      <p:sp>
        <p:nvSpPr>
          <p:cNvPr id="34" name="Shape 32"/>
          <p:cNvSpPr/>
          <p:nvPr/>
        </p:nvSpPr>
        <p:spPr>
          <a:xfrm>
            <a:off x="8439912" y="2871216"/>
            <a:ext cx="699516" cy="378562"/>
          </a:xfrm>
          <a:prstGeom prst="line">
            <a:avLst/>
          </a:prstGeom>
          <a:noFill/>
          <a:ln w="20320">
            <a:solidFill>
              <a:srgbClr val="96733C"/>
            </a:solidFill>
            <a:prstDash val="solid"/>
            <a:headEnd type="none"/>
            <a:tailEnd type="none"/>
          </a:ln>
        </p:spPr>
      </p:sp>
      <p:sp>
        <p:nvSpPr>
          <p:cNvPr id="35" name="Shape 33"/>
          <p:cNvSpPr/>
          <p:nvPr/>
        </p:nvSpPr>
        <p:spPr>
          <a:xfrm>
            <a:off x="9139428" y="3249778"/>
            <a:ext cx="699516" cy="147218"/>
          </a:xfrm>
          <a:prstGeom prst="line">
            <a:avLst/>
          </a:prstGeom>
          <a:noFill/>
          <a:ln w="20320">
            <a:solidFill>
              <a:srgbClr val="96733C"/>
            </a:solidFill>
            <a:prstDash val="solid"/>
            <a:headEnd type="none"/>
            <a:tailEnd type="none"/>
          </a:ln>
        </p:spPr>
      </p:sp>
      <p:sp>
        <p:nvSpPr>
          <p:cNvPr id="36" name="Shape 34"/>
          <p:cNvSpPr/>
          <p:nvPr/>
        </p:nvSpPr>
        <p:spPr>
          <a:xfrm>
            <a:off x="9838944" y="3396996"/>
            <a:ext cx="699516" cy="483718"/>
          </a:xfrm>
          <a:prstGeom prst="line">
            <a:avLst/>
          </a:prstGeom>
          <a:noFill/>
          <a:ln w="20320">
            <a:solidFill>
              <a:srgbClr val="96733C"/>
            </a:solidFill>
            <a:prstDash val="solid"/>
            <a:headEnd type="none"/>
            <a:tailEnd type="none"/>
          </a:ln>
        </p:spPr>
      </p:sp>
      <p:sp>
        <p:nvSpPr>
          <p:cNvPr id="37" name="Shape 35"/>
          <p:cNvSpPr/>
          <p:nvPr/>
        </p:nvSpPr>
        <p:spPr>
          <a:xfrm>
            <a:off x="7040880" y="2555748"/>
            <a:ext cx="699516" cy="105156"/>
          </a:xfrm>
          <a:prstGeom prst="line">
            <a:avLst/>
          </a:prstGeom>
          <a:noFill/>
          <a:ln w="17780">
            <a:solidFill>
              <a:srgbClr val="A96A45"/>
            </a:solidFill>
            <a:prstDash val="dash"/>
            <a:headEnd type="none"/>
            <a:tailEnd type="none"/>
          </a:ln>
        </p:spPr>
      </p:sp>
      <p:sp>
        <p:nvSpPr>
          <p:cNvPr id="38" name="Shape 36"/>
          <p:cNvSpPr/>
          <p:nvPr/>
        </p:nvSpPr>
        <p:spPr>
          <a:xfrm>
            <a:off x="7740396" y="2660904"/>
            <a:ext cx="699516" cy="42062"/>
          </a:xfrm>
          <a:prstGeom prst="line">
            <a:avLst/>
          </a:prstGeom>
          <a:noFill/>
          <a:ln w="17780">
            <a:solidFill>
              <a:srgbClr val="A96A45"/>
            </a:solidFill>
            <a:prstDash val="dash"/>
            <a:headEnd type="none"/>
            <a:tailEnd type="none"/>
          </a:ln>
        </p:spPr>
      </p:sp>
      <p:sp>
        <p:nvSpPr>
          <p:cNvPr id="39" name="Shape 37"/>
          <p:cNvSpPr/>
          <p:nvPr/>
        </p:nvSpPr>
        <p:spPr>
          <a:xfrm>
            <a:off x="8439912" y="2702966"/>
            <a:ext cx="699516" cy="84125"/>
          </a:xfrm>
          <a:prstGeom prst="line">
            <a:avLst/>
          </a:prstGeom>
          <a:noFill/>
          <a:ln w="17780">
            <a:solidFill>
              <a:srgbClr val="A96A45"/>
            </a:solidFill>
            <a:prstDash val="dash"/>
            <a:headEnd type="none"/>
            <a:tailEnd type="none"/>
          </a:ln>
        </p:spPr>
      </p:sp>
      <p:sp>
        <p:nvSpPr>
          <p:cNvPr id="40" name="Shape 38"/>
          <p:cNvSpPr/>
          <p:nvPr/>
        </p:nvSpPr>
        <p:spPr>
          <a:xfrm>
            <a:off x="9139428" y="2787091"/>
            <a:ext cx="699516" cy="84125"/>
          </a:xfrm>
          <a:prstGeom prst="line">
            <a:avLst/>
          </a:prstGeom>
          <a:noFill/>
          <a:ln w="17780">
            <a:solidFill>
              <a:srgbClr val="A96A45"/>
            </a:solidFill>
            <a:prstDash val="dash"/>
            <a:headEnd type="none"/>
            <a:tailEnd type="none"/>
          </a:ln>
        </p:spPr>
      </p:sp>
      <p:sp>
        <p:nvSpPr>
          <p:cNvPr id="41" name="Shape 39"/>
          <p:cNvSpPr/>
          <p:nvPr/>
        </p:nvSpPr>
        <p:spPr>
          <a:xfrm>
            <a:off x="9838944" y="2871216"/>
            <a:ext cx="699516" cy="84125"/>
          </a:xfrm>
          <a:prstGeom prst="line">
            <a:avLst/>
          </a:prstGeom>
          <a:noFill/>
          <a:ln w="17780">
            <a:solidFill>
              <a:srgbClr val="A96A45"/>
            </a:solidFill>
            <a:prstDash val="dash"/>
            <a:headEnd type="none"/>
            <a:tailEnd type="none"/>
          </a:ln>
        </p:spPr>
      </p:sp>
      <p:sp>
        <p:nvSpPr>
          <p:cNvPr id="42" name="Text 40"/>
          <p:cNvSpPr txBox="1"/>
          <p:nvPr/>
        </p:nvSpPr>
        <p:spPr>
          <a:xfrm>
            <a:off x="6766560" y="2020824"/>
            <a:ext cx="4023360" cy="321310"/>
          </a:xfrm>
          <a:prstGeom prst="rect">
            <a:avLst/>
          </a:prstGeom>
          <a:noFill/>
          <a:ln/>
        </p:spPr>
        <p:txBody>
          <a:bodyPr wrap="square" lIns="0" tIns="0" rIns="0" bIns="0" rtlCol="0" anchor="t"/>
          <a:lstStyle/>
          <a:p>
            <a:pPr algn="l" indent="0" marL="0">
              <a:lnSpc>
                <a:spcPts val="1430"/>
              </a:lnSpc>
              <a:buNone/>
            </a:pPr>
            <a:r>
              <a:rPr lang="en-US" sz="1100" dirty="0">
                <a:solidFill>
                  <a:srgbClr val="1B1815"/>
                </a:solidFill>
                <a:latin typeface="Georgia" pitchFamily="34" charset="0"/>
                <a:ea typeface="Georgia" pitchFamily="34" charset="-122"/>
                <a:cs typeface="Georgia" pitchFamily="34" charset="-120"/>
              </a:rPr>
              <a:t>Session-by-session change</a:t>
            </a:r>
            <a:endParaRPr lang="en-US" sz="1100" dirty="0"/>
          </a:p>
        </p:txBody>
      </p:sp>
      <p:sp>
        <p:nvSpPr>
          <p:cNvPr id="43" name="Shape 41"/>
          <p:cNvSpPr/>
          <p:nvPr/>
        </p:nvSpPr>
        <p:spPr>
          <a:xfrm>
            <a:off x="9646920" y="2112264"/>
            <a:ext cx="320040" cy="91"/>
          </a:xfrm>
          <a:prstGeom prst="line">
            <a:avLst/>
          </a:prstGeom>
          <a:noFill/>
          <a:ln w="20320">
            <a:solidFill>
              <a:srgbClr val="96733C"/>
            </a:solidFill>
            <a:prstDash val="solid"/>
            <a:headEnd type="none"/>
            <a:tailEnd type="none"/>
          </a:ln>
        </p:spPr>
      </p:sp>
      <p:sp>
        <p:nvSpPr>
          <p:cNvPr id="44" name="Text 42"/>
          <p:cNvSpPr txBox="1"/>
          <p:nvPr/>
        </p:nvSpPr>
        <p:spPr>
          <a:xfrm>
            <a:off x="10058400" y="2020824"/>
            <a:ext cx="1097280" cy="192786"/>
          </a:xfrm>
          <a:prstGeom prst="rect">
            <a:avLst/>
          </a:prstGeom>
          <a:noFill/>
          <a:ln/>
        </p:spPr>
        <p:txBody>
          <a:bodyPr wrap="square" lIns="0" tIns="0" rIns="0" bIns="0" rtlCol="0" anchor="t"/>
          <a:lstStyle/>
          <a:p>
            <a:pPr algn="l" indent="0" marL="0">
              <a:lnSpc>
                <a:spcPts val="858"/>
              </a:lnSpc>
              <a:buNone/>
            </a:pPr>
            <a:r>
              <a:rPr lang="en-US" sz="660" dirty="0">
                <a:solidFill>
                  <a:srgbClr val="5B544A"/>
                </a:solidFill>
                <a:latin typeface="Calibri" pitchFamily="34" charset="0"/>
                <a:ea typeface="Calibri" pitchFamily="34" charset="-122"/>
                <a:cs typeface="Calibri" pitchFamily="34" charset="-120"/>
              </a:rPr>
              <a:t>actual</a:t>
            </a:r>
            <a:endParaRPr lang="en-US" sz="660" dirty="0"/>
          </a:p>
        </p:txBody>
      </p:sp>
      <p:sp>
        <p:nvSpPr>
          <p:cNvPr id="45" name="Shape 43"/>
          <p:cNvSpPr/>
          <p:nvPr/>
        </p:nvSpPr>
        <p:spPr>
          <a:xfrm>
            <a:off x="9646920" y="2240280"/>
            <a:ext cx="320040" cy="91"/>
          </a:xfrm>
          <a:prstGeom prst="line">
            <a:avLst/>
          </a:prstGeom>
          <a:noFill/>
          <a:ln w="17780">
            <a:solidFill>
              <a:srgbClr val="A96A45"/>
            </a:solidFill>
            <a:prstDash val="dash"/>
            <a:headEnd type="none"/>
            <a:tailEnd type="none"/>
          </a:ln>
        </p:spPr>
      </p:sp>
      <p:sp>
        <p:nvSpPr>
          <p:cNvPr id="46" name="Text 44"/>
          <p:cNvSpPr txBox="1"/>
          <p:nvPr/>
        </p:nvSpPr>
        <p:spPr>
          <a:xfrm>
            <a:off x="10058400" y="2167128"/>
            <a:ext cx="1280160" cy="192786"/>
          </a:xfrm>
          <a:prstGeom prst="rect">
            <a:avLst/>
          </a:prstGeom>
          <a:noFill/>
          <a:ln/>
        </p:spPr>
        <p:txBody>
          <a:bodyPr wrap="square" lIns="0" tIns="0" rIns="0" bIns="0" rtlCol="0" anchor="t"/>
          <a:lstStyle/>
          <a:p>
            <a:pPr algn="l" indent="0" marL="0">
              <a:lnSpc>
                <a:spcPts val="858"/>
              </a:lnSpc>
              <a:buNone/>
            </a:pPr>
            <a:r>
              <a:rPr lang="en-US" sz="660" dirty="0">
                <a:solidFill>
                  <a:srgbClr val="5B544A"/>
                </a:solidFill>
                <a:latin typeface="Calibri" pitchFamily="34" charset="0"/>
                <a:ea typeface="Calibri" pitchFamily="34" charset="-122"/>
                <a:cs typeface="Calibri" pitchFamily="34" charset="-120"/>
              </a:rPr>
              <a:t>expected</a:t>
            </a:r>
            <a:endParaRPr lang="en-US" sz="660" dirty="0"/>
          </a:p>
        </p:txBody>
      </p:sp>
      <p:sp>
        <p:nvSpPr>
          <p:cNvPr id="47" name="Text 45"/>
          <p:cNvSpPr txBox="1"/>
          <p:nvPr/>
        </p:nvSpPr>
        <p:spPr>
          <a:xfrm>
            <a:off x="6858000" y="4846320"/>
            <a:ext cx="4206240" cy="192786"/>
          </a:xfrm>
          <a:prstGeom prst="rect">
            <a:avLst/>
          </a:prstGeom>
          <a:noFill/>
          <a:ln/>
        </p:spPr>
        <p:txBody>
          <a:bodyPr wrap="square" lIns="0" tIns="0" rIns="0" bIns="0" rtlCol="0" anchor="t"/>
          <a:lstStyle/>
          <a:p>
            <a:pPr algn="r" indent="0" marL="0">
              <a:lnSpc>
                <a:spcPts val="858"/>
              </a:lnSpc>
              <a:buNone/>
            </a:pPr>
            <a:r>
              <a:rPr lang="en-US" sz="660" dirty="0">
                <a:solidFill>
                  <a:srgbClr val="5B544A"/>
                </a:solidFill>
                <a:latin typeface="Calibri" pitchFamily="34" charset="0"/>
                <a:ea typeface="Calibri" pitchFamily="34" charset="-122"/>
                <a:cs typeface="Calibri" pitchFamily="34" charset="-120"/>
              </a:rPr>
              <a:t>Sessions →</a:t>
            </a:r>
            <a:endParaRPr lang="en-US" sz="660" dirty="0"/>
          </a:p>
        </p:txBody>
      </p:sp>
      <p:sp>
        <p:nvSpPr>
          <p:cNvPr id="48" name="Text 46"/>
          <p:cNvSpPr txBox="1"/>
          <p:nvPr/>
        </p:nvSpPr>
        <p:spPr>
          <a:xfrm>
            <a:off x="6995160" y="2423160"/>
            <a:ext cx="2194560" cy="211455"/>
          </a:xfrm>
          <a:prstGeom prst="rect">
            <a:avLst/>
          </a:prstGeom>
          <a:noFill/>
          <a:ln/>
        </p:spPr>
        <p:txBody>
          <a:bodyPr wrap="square" lIns="0" tIns="0" rIns="0" bIns="0" rtlCol="0" anchor="t"/>
          <a:lstStyle/>
          <a:p>
            <a:pPr algn="l" indent="0" marL="0">
              <a:lnSpc>
                <a:spcPts val="925"/>
              </a:lnSpc>
              <a:buNone/>
            </a:pPr>
            <a:r>
              <a:rPr lang="en-US" sz="740" i="1" dirty="0">
                <a:solidFill>
                  <a:srgbClr val="96733C"/>
                </a:solidFill>
                <a:latin typeface="Calibri" pitchFamily="34" charset="0"/>
                <a:ea typeface="Calibri" pitchFamily="34" charset="-122"/>
                <a:cs typeface="Calibri" pitchFamily="34" charset="-120"/>
              </a:rPr>
              <a:t>Deterioration is visible early — and actionable.</a:t>
            </a:r>
            <a:endParaRPr lang="en-US" sz="740" dirty="0"/>
          </a:p>
        </p:txBody>
      </p:sp>
      <p:sp>
        <p:nvSpPr>
          <p:cNvPr id="49" name="Text 47"/>
          <p:cNvSpPr txBox="1"/>
          <p:nvPr/>
        </p:nvSpPr>
        <p:spPr>
          <a:xfrm>
            <a:off x="822960" y="5852160"/>
            <a:ext cx="9692640" cy="216154"/>
          </a:xfrm>
          <a:prstGeom prst="rect">
            <a:avLst/>
          </a:prstGeom>
          <a:noFill/>
          <a:ln/>
        </p:spPr>
        <p:txBody>
          <a:bodyPr wrap="square" lIns="0" tIns="0" rIns="0" bIns="0" rtlCol="0" anchor="t"/>
          <a:lstStyle/>
          <a:p>
            <a:pPr algn="l" indent="0" marL="0">
              <a:lnSpc>
                <a:spcPts val="962"/>
              </a:lnSpc>
              <a:buNone/>
            </a:pPr>
            <a:r>
              <a:rPr lang="en-US" sz="740" i="1" dirty="0">
                <a:solidFill>
                  <a:srgbClr val="8B8375"/>
                </a:solidFill>
                <a:latin typeface="Calibri" pitchFamily="34" charset="0"/>
                <a:ea typeface="Calibri" pitchFamily="34" charset="-122"/>
                <a:cs typeface="Calibri" pitchFamily="34" charset="-120"/>
              </a:rPr>
              <a:t>ORS — Outcome Rating Scale; SRS — Session Rating Scale.</a:t>
            </a:r>
            <a:endParaRPr lang="en-US" sz="74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548640"/>
            <a:ext cx="8229600" cy="226822"/>
          </a:xfrm>
          <a:prstGeom prst="rect">
            <a:avLst/>
          </a:prstGeom>
          <a:noFill/>
          <a:ln/>
        </p:spPr>
        <p:txBody>
          <a:bodyPr wrap="square" lIns="0" tIns="0" rIns="0" bIns="0" rtlCol="0" anchor="t"/>
          <a:lstStyle/>
          <a:p>
            <a:pPr algn="l" indent="0" marL="0">
              <a:lnSpc>
                <a:spcPts val="1026"/>
              </a:lnSpc>
              <a:buNone/>
            </a:pPr>
            <a:r>
              <a:rPr lang="en-US" sz="760" spc="240" kern="0" dirty="0">
                <a:solidFill>
                  <a:srgbClr val="C2A05F"/>
                </a:solidFill>
                <a:latin typeface="Calibri" pitchFamily="34" charset="0"/>
                <a:ea typeface="Calibri" pitchFamily="34" charset="-122"/>
                <a:cs typeface="Calibri" pitchFamily="34" charset="-120"/>
              </a:rPr>
              <a:t>WEEK 16 · SEMINAR</a:t>
            </a:r>
            <a:endParaRPr lang="en-US" sz="760" dirty="0"/>
          </a:p>
        </p:txBody>
      </p:sp>
      <p:sp>
        <p:nvSpPr>
          <p:cNvPr id="3" name="Text 1"/>
          <p:cNvSpPr txBox="1"/>
          <p:nvPr/>
        </p:nvSpPr>
        <p:spPr>
          <a:xfrm>
            <a:off x="822960" y="1417320"/>
            <a:ext cx="7863840" cy="915416"/>
          </a:xfrm>
          <a:prstGeom prst="rect">
            <a:avLst/>
          </a:prstGeom>
          <a:noFill/>
          <a:ln/>
        </p:spPr>
        <p:txBody>
          <a:bodyPr wrap="square" lIns="0" tIns="0" rIns="0" bIns="0" rtlCol="0" anchor="t"/>
          <a:lstStyle/>
          <a:p>
            <a:pPr algn="l" indent="0" marL="0">
              <a:lnSpc>
                <a:spcPts val="3808"/>
              </a:lnSpc>
              <a:buNone/>
            </a:pPr>
            <a:r>
              <a:rPr lang="en-US" sz="3400" dirty="0">
                <a:solidFill>
                  <a:srgbClr val="F8F3E9"/>
                </a:solidFill>
                <a:latin typeface="Georgia" pitchFamily="34" charset="0"/>
                <a:ea typeface="Georgia" pitchFamily="34" charset="-122"/>
                <a:cs typeface="Georgia" pitchFamily="34" charset="-120"/>
              </a:rPr>
              <a:t>The clinician you are becoming</a:t>
            </a:r>
            <a:endParaRPr lang="en-US" sz="3400" dirty="0"/>
          </a:p>
        </p:txBody>
      </p:sp>
      <p:sp>
        <p:nvSpPr>
          <p:cNvPr id="4" name="Shape 2"/>
          <p:cNvSpPr/>
          <p:nvPr/>
        </p:nvSpPr>
        <p:spPr>
          <a:xfrm>
            <a:off x="822960" y="2395728"/>
            <a:ext cx="1280160" cy="91"/>
          </a:xfrm>
          <a:prstGeom prst="line">
            <a:avLst/>
          </a:prstGeom>
          <a:noFill/>
          <a:ln w="11430">
            <a:solidFill>
              <a:srgbClr val="C2A05F"/>
            </a:solidFill>
            <a:prstDash val="solid"/>
            <a:headEnd type="none"/>
            <a:tailEnd type="none"/>
          </a:ln>
        </p:spPr>
      </p:sp>
      <p:sp>
        <p:nvSpPr>
          <p:cNvPr id="5" name="Text 3"/>
          <p:cNvSpPr txBox="1"/>
          <p:nvPr/>
        </p:nvSpPr>
        <p:spPr>
          <a:xfrm>
            <a:off x="822960" y="2651760"/>
            <a:ext cx="6949440" cy="404495"/>
          </a:xfrm>
          <a:prstGeom prst="rect">
            <a:avLst/>
          </a:prstGeom>
          <a:noFill/>
          <a:ln/>
        </p:spPr>
        <p:txBody>
          <a:bodyPr wrap="square" lIns="0" tIns="0" rIns="0" bIns="0" rtlCol="0" anchor="t"/>
          <a:lstStyle/>
          <a:p>
            <a:pPr algn="l" indent="0" marL="0">
              <a:lnSpc>
                <a:spcPts val="1885"/>
              </a:lnSpc>
              <a:buNone/>
            </a:pPr>
            <a:r>
              <a:rPr lang="en-US" sz="1300" i="1" dirty="0">
                <a:solidFill>
                  <a:srgbClr val="E7D3A9"/>
                </a:solidFill>
                <a:latin typeface="Georgia" pitchFamily="34" charset="0"/>
                <a:ea typeface="Georgia" pitchFamily="34" charset="-122"/>
                <a:cs typeface="Georgia" pitchFamily="34" charset="-120"/>
              </a:rPr>
              <a:t>A closing seminar. Speak from your own experience; listen without advising.</a:t>
            </a:r>
            <a:endParaRPr lang="en-US" sz="1300" dirty="0"/>
          </a:p>
        </p:txBody>
      </p:sp>
      <p:sp>
        <p:nvSpPr>
          <p:cNvPr id="6" name="Text 4"/>
          <p:cNvSpPr txBox="1"/>
          <p:nvPr/>
        </p:nvSpPr>
        <p:spPr>
          <a:xfrm>
            <a:off x="82296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8016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Which model feels most like you — and what does that reveal?</a:t>
            </a:r>
            <a:endParaRPr lang="en-US" sz="980" dirty="0"/>
          </a:p>
        </p:txBody>
      </p:sp>
      <p:sp>
        <p:nvSpPr>
          <p:cNvPr id="8" name="Text 6"/>
          <p:cNvSpPr txBox="1"/>
          <p:nvPr/>
        </p:nvSpPr>
        <p:spPr>
          <a:xfrm>
            <a:off x="6400800" y="374904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02</a:t>
            </a:r>
            <a:endParaRPr lang="en-US" sz="1500" dirty="0"/>
          </a:p>
        </p:txBody>
      </p:sp>
      <p:sp>
        <p:nvSpPr>
          <p:cNvPr id="9" name="Text 7"/>
          <p:cNvSpPr txBox="1"/>
          <p:nvPr/>
        </p:nvSpPr>
        <p:spPr>
          <a:xfrm>
            <a:off x="6858000" y="374904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Where are you most likely to lose your curiosity?</a:t>
            </a:r>
            <a:endParaRPr lang="en-US" sz="980" dirty="0"/>
          </a:p>
        </p:txBody>
      </p:sp>
      <p:sp>
        <p:nvSpPr>
          <p:cNvPr id="10" name="Text 8"/>
          <p:cNvSpPr txBox="1"/>
          <p:nvPr/>
        </p:nvSpPr>
        <p:spPr>
          <a:xfrm>
            <a:off x="82296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03</a:t>
            </a:r>
            <a:endParaRPr lang="en-US" sz="1500" dirty="0"/>
          </a:p>
        </p:txBody>
      </p:sp>
      <p:sp>
        <p:nvSpPr>
          <p:cNvPr id="11" name="Text 9"/>
          <p:cNvSpPr txBox="1"/>
          <p:nvPr/>
        </p:nvSpPr>
        <p:spPr>
          <a:xfrm>
            <a:off x="128016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would you want a supervisor to notice about you?</a:t>
            </a:r>
            <a:endParaRPr lang="en-US" sz="980" dirty="0"/>
          </a:p>
        </p:txBody>
      </p:sp>
      <p:sp>
        <p:nvSpPr>
          <p:cNvPr id="12" name="Text 10"/>
          <p:cNvSpPr txBox="1"/>
          <p:nvPr/>
        </p:nvSpPr>
        <p:spPr>
          <a:xfrm>
            <a:off x="6400800" y="4800600"/>
            <a:ext cx="457200" cy="447675"/>
          </a:xfrm>
          <a:prstGeom prst="rect">
            <a:avLst/>
          </a:prstGeom>
          <a:noFill/>
          <a:ln/>
        </p:spPr>
        <p:txBody>
          <a:bodyPr wrap="square" lIns="0" tIns="0" rIns="0" bIns="0" rtlCol="0" anchor="t"/>
          <a:lstStyle/>
          <a:p>
            <a:pPr algn="l" indent="0" marL="0">
              <a:lnSpc>
                <a:spcPts val="2025"/>
              </a:lnSpc>
              <a:buNone/>
            </a:pPr>
            <a:r>
              <a:rPr lang="en-US" sz="1500" dirty="0">
                <a:solidFill>
                  <a:srgbClr val="C2A05F"/>
                </a:solidFill>
                <a:latin typeface="Georgia" pitchFamily="34" charset="0"/>
                <a:ea typeface="Georgia" pitchFamily="34" charset="-122"/>
                <a:cs typeface="Georgia" pitchFamily="34" charset="-120"/>
              </a:rPr>
              <a:t>04</a:t>
            </a:r>
            <a:endParaRPr lang="en-US" sz="1500" dirty="0"/>
          </a:p>
        </p:txBody>
      </p:sp>
      <p:sp>
        <p:nvSpPr>
          <p:cNvPr id="13" name="Text 11"/>
          <p:cNvSpPr txBox="1"/>
          <p:nvPr/>
        </p:nvSpPr>
        <p:spPr>
          <a:xfrm>
            <a:off x="6858000" y="4800600"/>
            <a:ext cx="4526280" cy="298704"/>
          </a:xfrm>
          <a:prstGeom prst="rect">
            <a:avLst/>
          </a:prstGeom>
          <a:noFill/>
          <a:ln/>
        </p:spPr>
        <p:txBody>
          <a:bodyPr wrap="square" lIns="0" tIns="0" rIns="0" bIns="0" rtlCol="0" anchor="t"/>
          <a:lstStyle/>
          <a:p>
            <a:pPr algn="l" indent="0" marL="0">
              <a:lnSpc>
                <a:spcPts val="1372"/>
              </a:lnSpc>
              <a:buNone/>
            </a:pPr>
            <a:r>
              <a:rPr lang="en-US" sz="980" dirty="0">
                <a:solidFill>
                  <a:srgbClr val="EFE5D3"/>
                </a:solidFill>
                <a:latin typeface="Calibri" pitchFamily="34" charset="0"/>
                <a:ea typeface="Calibri" pitchFamily="34" charset="-122"/>
                <a:cs typeface="Calibri" pitchFamily="34" charset="-120"/>
              </a:rPr>
              <a:t>What is one commitment you will carry into practicum?</a:t>
            </a:r>
            <a:endParaRPr lang="en-US" sz="980" dirty="0"/>
          </a:p>
        </p:txBody>
      </p:sp>
      <p:sp>
        <p:nvSpPr>
          <p:cNvPr id="14" name="Shape 12"/>
          <p:cNvSpPr/>
          <p:nvPr/>
        </p:nvSpPr>
        <p:spPr>
          <a:xfrm>
            <a:off x="822960" y="5340096"/>
            <a:ext cx="10546050" cy="91"/>
          </a:xfrm>
          <a:prstGeom prst="line">
            <a:avLst/>
          </a:prstGeom>
          <a:noFill/>
          <a:ln w="6350">
            <a:solidFill>
              <a:srgbClr val="3A332A"/>
            </a:solidFill>
            <a:prstDash val="solid"/>
            <a:headEnd type="none"/>
            <a:tailEnd type="none"/>
          </a:ln>
        </p:spPr>
      </p:sp>
      <p:sp>
        <p:nvSpPr>
          <p:cNvPr id="15" name="Text 13"/>
          <p:cNvSpPr txBox="1"/>
          <p:nvPr/>
        </p:nvSpPr>
        <p:spPr>
          <a:xfrm>
            <a:off x="82296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16" name="Text 14"/>
          <p:cNvSpPr txBox="1"/>
          <p:nvPr/>
        </p:nvSpPr>
        <p:spPr>
          <a:xfrm>
            <a:off x="120700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SILENT WRITING</a:t>
            </a:r>
            <a:endParaRPr lang="en-US" sz="680" dirty="0"/>
          </a:p>
        </p:txBody>
      </p:sp>
      <p:sp>
        <p:nvSpPr>
          <p:cNvPr id="17" name="Text 15"/>
          <p:cNvSpPr txBox="1"/>
          <p:nvPr/>
        </p:nvSpPr>
        <p:spPr>
          <a:xfrm>
            <a:off x="352044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10</a:t>
            </a:r>
            <a:endParaRPr lang="en-US" sz="1100" dirty="0"/>
          </a:p>
        </p:txBody>
      </p:sp>
      <p:sp>
        <p:nvSpPr>
          <p:cNvPr id="18" name="Text 16"/>
          <p:cNvSpPr txBox="1"/>
          <p:nvPr/>
        </p:nvSpPr>
        <p:spPr>
          <a:xfrm>
            <a:off x="390448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PAIRS</a:t>
            </a:r>
            <a:endParaRPr lang="en-US" sz="680" dirty="0"/>
          </a:p>
        </p:txBody>
      </p:sp>
      <p:sp>
        <p:nvSpPr>
          <p:cNvPr id="19" name="Text 17"/>
          <p:cNvSpPr txBox="1"/>
          <p:nvPr/>
        </p:nvSpPr>
        <p:spPr>
          <a:xfrm>
            <a:off x="621792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20</a:t>
            </a:r>
            <a:endParaRPr lang="en-US" sz="1100" dirty="0"/>
          </a:p>
        </p:txBody>
      </p:sp>
      <p:sp>
        <p:nvSpPr>
          <p:cNvPr id="20" name="Text 18"/>
          <p:cNvSpPr txBox="1"/>
          <p:nvPr/>
        </p:nvSpPr>
        <p:spPr>
          <a:xfrm>
            <a:off x="660196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PLENARY</a:t>
            </a:r>
            <a:endParaRPr lang="en-US" sz="680" dirty="0"/>
          </a:p>
        </p:txBody>
      </p:sp>
      <p:sp>
        <p:nvSpPr>
          <p:cNvPr id="21" name="Text 19"/>
          <p:cNvSpPr txBox="1"/>
          <p:nvPr/>
        </p:nvSpPr>
        <p:spPr>
          <a:xfrm>
            <a:off x="8915400" y="5504688"/>
            <a:ext cx="548640" cy="328295"/>
          </a:xfrm>
          <a:prstGeom prst="rect">
            <a:avLst/>
          </a:prstGeom>
          <a:noFill/>
          <a:ln/>
        </p:spPr>
        <p:txBody>
          <a:bodyPr wrap="square" lIns="0" tIns="0" rIns="0" bIns="0" rtlCol="0" anchor="t"/>
          <a:lstStyle/>
          <a:p>
            <a:pPr algn="l" indent="0" marL="0">
              <a:lnSpc>
                <a:spcPts val="1485"/>
              </a:lnSpc>
              <a:buNone/>
            </a:pPr>
            <a:r>
              <a:rPr lang="en-US" sz="1100" dirty="0">
                <a:solidFill>
                  <a:srgbClr val="C2A05F"/>
                </a:solidFill>
                <a:latin typeface="Georgia" pitchFamily="34" charset="0"/>
                <a:ea typeface="Georgia" pitchFamily="34" charset="-122"/>
                <a:cs typeface="Georgia" pitchFamily="34" charset="-120"/>
              </a:rPr>
              <a:t>05</a:t>
            </a:r>
            <a:endParaRPr lang="en-US" sz="1100" dirty="0"/>
          </a:p>
        </p:txBody>
      </p:sp>
      <p:sp>
        <p:nvSpPr>
          <p:cNvPr id="22" name="Text 20"/>
          <p:cNvSpPr txBox="1"/>
          <p:nvPr/>
        </p:nvSpPr>
        <p:spPr>
          <a:xfrm>
            <a:off x="9299448" y="5522976"/>
            <a:ext cx="2011680" cy="202946"/>
          </a:xfrm>
          <a:prstGeom prst="rect">
            <a:avLst/>
          </a:prstGeom>
          <a:noFill/>
          <a:ln/>
        </p:spPr>
        <p:txBody>
          <a:bodyPr wrap="square" lIns="0" tIns="0" rIns="0" bIns="0" rtlCol="0" anchor="t"/>
          <a:lstStyle/>
          <a:p>
            <a:pPr algn="l" indent="0" marL="0">
              <a:lnSpc>
                <a:spcPts val="918"/>
              </a:lnSpc>
              <a:buNone/>
            </a:pPr>
            <a:r>
              <a:rPr lang="en-US" sz="680" spc="120" kern="0" dirty="0">
                <a:solidFill>
                  <a:srgbClr val="8B8375"/>
                </a:solidFill>
                <a:latin typeface="Calibri" pitchFamily="34" charset="0"/>
                <a:ea typeface="Calibri" pitchFamily="34" charset="-122"/>
                <a:cs typeface="Calibri" pitchFamily="34" charset="-120"/>
              </a:rPr>
              <a:t>CLOSE</a:t>
            </a:r>
            <a:endParaRPr lang="en-US" sz="680" dirty="0"/>
          </a:p>
        </p:txBody>
      </p:sp>
      <p:sp>
        <p:nvSpPr>
          <p:cNvPr id="23" name="Text 21"/>
          <p:cNvSpPr txBox="1"/>
          <p:nvPr/>
        </p:nvSpPr>
        <p:spPr>
          <a:xfrm>
            <a:off x="8442930" y="5522976"/>
            <a:ext cx="2926080" cy="191008"/>
          </a:xfrm>
          <a:prstGeom prst="rect">
            <a:avLst/>
          </a:prstGeom>
          <a:noFill/>
          <a:ln/>
        </p:spPr>
        <p:txBody>
          <a:bodyPr wrap="square" lIns="0" tIns="0" rIns="0" bIns="0" rtlCol="0" anchor="t"/>
          <a:lstStyle/>
          <a:p>
            <a:pPr algn="r" indent="0" marL="0">
              <a:lnSpc>
                <a:spcPts val="864"/>
              </a:lnSpc>
              <a:buNone/>
            </a:pPr>
            <a:r>
              <a:rPr lang="en-US" sz="640" spc="160" kern="0" dirty="0">
                <a:solidFill>
                  <a:srgbClr val="8B8375"/>
                </a:solidFill>
                <a:latin typeface="Calibri" pitchFamily="34" charset="0"/>
                <a:ea typeface="Calibri" pitchFamily="34" charset="-122"/>
                <a:cs typeface="Calibri" pitchFamily="34" charset="-120"/>
              </a:rPr>
              <a:t>MINUTES</a:t>
            </a:r>
            <a:endParaRPr lang="en-US" sz="640" dirty="0"/>
          </a:p>
        </p:txBody>
      </p:sp>
      <p:sp>
        <p:nvSpPr>
          <p:cNvPr id="24" name="Shape 22"/>
          <p:cNvSpPr/>
          <p:nvPr/>
        </p:nvSpPr>
        <p:spPr>
          <a:xfrm>
            <a:off x="822960" y="722376"/>
            <a:ext cx="10546050" cy="91"/>
          </a:xfrm>
          <a:prstGeom prst="line">
            <a:avLst/>
          </a:prstGeom>
          <a:noFill/>
          <a:ln w="6350">
            <a:solidFill>
              <a:srgbClr val="3A332A"/>
            </a:solidFill>
            <a:prstDash val="solid"/>
            <a:headEnd type="none"/>
            <a:tailEnd type="none"/>
          </a:ln>
        </p:spPr>
      </p:sp>
      <p:sp>
        <p:nvSpPr>
          <p:cNvPr id="25" name="Text 23"/>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26" name="Text 24"/>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74</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GLOSSARY OF CORE TERMS</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75</a:t>
            </a:r>
            <a:endParaRPr lang="en-US" sz="950" dirty="0"/>
          </a:p>
        </p:txBody>
      </p:sp>
      <p:sp>
        <p:nvSpPr>
          <p:cNvPr id="8" name="Text 6"/>
          <p:cNvSpPr txBox="1"/>
          <p:nvPr/>
        </p:nvSpPr>
        <p:spPr>
          <a:xfrm>
            <a:off x="822960" y="914400"/>
            <a:ext cx="9692640" cy="835660"/>
          </a:xfrm>
          <a:prstGeom prst="rect">
            <a:avLst/>
          </a:prstGeom>
          <a:noFill/>
          <a:ln/>
        </p:spPr>
        <p:txBody>
          <a:bodyPr wrap="square" lIns="0" tIns="0" rIns="0" bIns="0" rtlCol="0" anchor="t"/>
          <a:lstStyle/>
          <a:p>
            <a:pPr algn="l" indent="0" marL="0">
              <a:lnSpc>
                <a:spcPts val="3780"/>
              </a:lnSpc>
              <a:buNone/>
            </a:pPr>
            <a:r>
              <a:rPr lang="en-US" sz="2800" dirty="0">
                <a:solidFill>
                  <a:srgbClr val="1B1815"/>
                </a:solidFill>
                <a:latin typeface="Georgia" pitchFamily="34" charset="0"/>
                <a:ea typeface="Georgia" pitchFamily="34" charset="-122"/>
                <a:cs typeface="Georgia" pitchFamily="34" charset="-120"/>
              </a:rPr>
              <a:t>A working vocabulary</a:t>
            </a:r>
            <a:endParaRPr lang="en-US" sz="2800" dirty="0"/>
          </a:p>
        </p:txBody>
      </p:sp>
      <p:sp>
        <p:nvSpPr>
          <p:cNvPr id="9" name="Text 7"/>
          <p:cNvSpPr txBox="1"/>
          <p:nvPr/>
        </p:nvSpPr>
        <p:spPr>
          <a:xfrm>
            <a:off x="822960" y="1371600"/>
            <a:ext cx="8778240" cy="316357"/>
          </a:xfrm>
          <a:prstGeom prst="rect">
            <a:avLst/>
          </a:prstGeom>
          <a:noFill/>
          <a:ln/>
        </p:spPr>
        <p:txBody>
          <a:bodyPr wrap="square" lIns="0" tIns="0" rIns="0" bIns="0" rtlCol="0" anchor="t"/>
          <a:lstStyle/>
          <a:p>
            <a:pPr algn="l" indent="0" marL="0">
              <a:lnSpc>
                <a:spcPts val="1431"/>
              </a:lnSpc>
              <a:buNone/>
            </a:pPr>
            <a:r>
              <a:rPr lang="en-US" sz="1060" dirty="0">
                <a:solidFill>
                  <a:srgbClr val="5B544A"/>
                </a:solidFill>
                <a:latin typeface="Calibri" pitchFamily="34" charset="0"/>
                <a:ea typeface="Calibri" pitchFamily="34" charset="-122"/>
                <a:cs typeface="Calibri" pitchFamily="34" charset="-120"/>
              </a:rPr>
              <a:t>Terms you should be able to use precisely, in writing and in supervision.</a:t>
            </a:r>
            <a:endParaRPr lang="en-US" sz="1060" dirty="0"/>
          </a:p>
        </p:txBody>
      </p:sp>
      <p:sp>
        <p:nvSpPr>
          <p:cNvPr id="10" name="Text 8"/>
          <p:cNvSpPr txBox="1"/>
          <p:nvPr/>
        </p:nvSpPr>
        <p:spPr>
          <a:xfrm>
            <a:off x="822960" y="193852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Circular causality</a:t>
            </a:r>
            <a:endParaRPr lang="en-US" sz="960" dirty="0"/>
          </a:p>
        </p:txBody>
      </p:sp>
      <p:sp>
        <p:nvSpPr>
          <p:cNvPr id="11" name="Text 9"/>
          <p:cNvSpPr txBox="1"/>
          <p:nvPr/>
        </p:nvSpPr>
        <p:spPr>
          <a:xfrm>
            <a:off x="822960" y="213055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A sequence in which each response becomes the stimulus for the next.</a:t>
            </a:r>
            <a:endParaRPr lang="en-US" sz="730" dirty="0"/>
          </a:p>
        </p:txBody>
      </p:sp>
      <p:sp>
        <p:nvSpPr>
          <p:cNvPr id="12" name="Shape 10"/>
          <p:cNvSpPr/>
          <p:nvPr/>
        </p:nvSpPr>
        <p:spPr>
          <a:xfrm>
            <a:off x="822960" y="2514600"/>
            <a:ext cx="3291840" cy="91"/>
          </a:xfrm>
          <a:prstGeom prst="line">
            <a:avLst/>
          </a:prstGeom>
          <a:noFill/>
          <a:ln w="4445">
            <a:solidFill>
              <a:srgbClr val="D9CDB7">
                <a:alpha val="70000"/>
              </a:srgbClr>
            </a:solidFill>
            <a:prstDash val="solid"/>
            <a:headEnd type="none"/>
            <a:tailEnd type="none"/>
          </a:ln>
        </p:spPr>
      </p:sp>
      <p:sp>
        <p:nvSpPr>
          <p:cNvPr id="13" name="Text 11"/>
          <p:cNvSpPr txBox="1"/>
          <p:nvPr/>
        </p:nvSpPr>
        <p:spPr>
          <a:xfrm>
            <a:off x="822960" y="2633472"/>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Punctuation</a:t>
            </a:r>
            <a:endParaRPr lang="en-US" sz="960" dirty="0"/>
          </a:p>
        </p:txBody>
      </p:sp>
      <p:sp>
        <p:nvSpPr>
          <p:cNvPr id="14" name="Text 12"/>
          <p:cNvSpPr txBox="1"/>
          <p:nvPr/>
        </p:nvSpPr>
        <p:spPr>
          <a:xfrm>
            <a:off x="822960" y="2825496"/>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arbitrary point at which a member says a circular sequence begins.</a:t>
            </a:r>
            <a:endParaRPr lang="en-US" sz="730" dirty="0"/>
          </a:p>
        </p:txBody>
      </p:sp>
      <p:sp>
        <p:nvSpPr>
          <p:cNvPr id="15" name="Shape 13"/>
          <p:cNvSpPr/>
          <p:nvPr/>
        </p:nvSpPr>
        <p:spPr>
          <a:xfrm>
            <a:off x="822960" y="3209544"/>
            <a:ext cx="3291840" cy="91"/>
          </a:xfrm>
          <a:prstGeom prst="line">
            <a:avLst/>
          </a:prstGeom>
          <a:noFill/>
          <a:ln w="4445">
            <a:solidFill>
              <a:srgbClr val="D9CDB7">
                <a:alpha val="70000"/>
              </a:srgbClr>
            </a:solidFill>
            <a:prstDash val="solid"/>
            <a:headEnd type="none"/>
            <a:tailEnd type="none"/>
          </a:ln>
        </p:spPr>
      </p:sp>
      <p:sp>
        <p:nvSpPr>
          <p:cNvPr id="16" name="Text 14"/>
          <p:cNvSpPr txBox="1"/>
          <p:nvPr/>
        </p:nvSpPr>
        <p:spPr>
          <a:xfrm>
            <a:off x="822960" y="3328416"/>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Homeostasis</a:t>
            </a:r>
            <a:endParaRPr lang="en-US" sz="960" dirty="0"/>
          </a:p>
        </p:txBody>
      </p:sp>
      <p:sp>
        <p:nvSpPr>
          <p:cNvPr id="17" name="Text 15"/>
          <p:cNvSpPr txBox="1"/>
          <p:nvPr/>
        </p:nvSpPr>
        <p:spPr>
          <a:xfrm>
            <a:off x="822960" y="3520440"/>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system’s tendency to maintain a familiar set point.</a:t>
            </a:r>
            <a:endParaRPr lang="en-US" sz="730" dirty="0"/>
          </a:p>
        </p:txBody>
      </p:sp>
      <p:sp>
        <p:nvSpPr>
          <p:cNvPr id="18" name="Shape 16"/>
          <p:cNvSpPr/>
          <p:nvPr/>
        </p:nvSpPr>
        <p:spPr>
          <a:xfrm>
            <a:off x="822960" y="3904488"/>
            <a:ext cx="3291840" cy="91"/>
          </a:xfrm>
          <a:prstGeom prst="line">
            <a:avLst/>
          </a:prstGeom>
          <a:noFill/>
          <a:ln w="4445">
            <a:solidFill>
              <a:srgbClr val="D9CDB7">
                <a:alpha val="70000"/>
              </a:srgbClr>
            </a:solidFill>
            <a:prstDash val="solid"/>
            <a:headEnd type="none"/>
            <a:tailEnd type="none"/>
          </a:ln>
        </p:spPr>
      </p:sp>
      <p:sp>
        <p:nvSpPr>
          <p:cNvPr id="19" name="Text 17"/>
          <p:cNvSpPr txBox="1"/>
          <p:nvPr/>
        </p:nvSpPr>
        <p:spPr>
          <a:xfrm>
            <a:off x="822960" y="4023360"/>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Feedback</a:t>
            </a:r>
            <a:endParaRPr lang="en-US" sz="960" dirty="0"/>
          </a:p>
        </p:txBody>
      </p:sp>
      <p:sp>
        <p:nvSpPr>
          <p:cNvPr id="20" name="Text 18"/>
          <p:cNvSpPr txBox="1"/>
          <p:nvPr/>
        </p:nvSpPr>
        <p:spPr>
          <a:xfrm>
            <a:off x="822960" y="4215384"/>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Information about the effect of an action that modifies subsequent action.</a:t>
            </a:r>
            <a:endParaRPr lang="en-US" sz="730" dirty="0"/>
          </a:p>
        </p:txBody>
      </p:sp>
      <p:sp>
        <p:nvSpPr>
          <p:cNvPr id="21" name="Shape 19"/>
          <p:cNvSpPr/>
          <p:nvPr/>
        </p:nvSpPr>
        <p:spPr>
          <a:xfrm>
            <a:off x="822960" y="4599432"/>
            <a:ext cx="3291840" cy="91"/>
          </a:xfrm>
          <a:prstGeom prst="line">
            <a:avLst/>
          </a:prstGeom>
          <a:noFill/>
          <a:ln w="4445">
            <a:solidFill>
              <a:srgbClr val="D9CDB7">
                <a:alpha val="70000"/>
              </a:srgbClr>
            </a:solidFill>
            <a:prstDash val="solid"/>
            <a:headEnd type="none"/>
            <a:tailEnd type="none"/>
          </a:ln>
        </p:spPr>
      </p:sp>
      <p:sp>
        <p:nvSpPr>
          <p:cNvPr id="22" name="Text 20"/>
          <p:cNvSpPr txBox="1"/>
          <p:nvPr/>
        </p:nvSpPr>
        <p:spPr>
          <a:xfrm>
            <a:off x="822960" y="4718304"/>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Boundary</a:t>
            </a:r>
            <a:endParaRPr lang="en-US" sz="960" dirty="0"/>
          </a:p>
        </p:txBody>
      </p:sp>
      <p:sp>
        <p:nvSpPr>
          <p:cNvPr id="23" name="Text 21"/>
          <p:cNvSpPr txBox="1"/>
          <p:nvPr/>
        </p:nvSpPr>
        <p:spPr>
          <a:xfrm>
            <a:off x="822960" y="4910328"/>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invisible rule regulating closeness and distance between subsystems.</a:t>
            </a:r>
            <a:endParaRPr lang="en-US" sz="730" dirty="0"/>
          </a:p>
        </p:txBody>
      </p:sp>
      <p:sp>
        <p:nvSpPr>
          <p:cNvPr id="24" name="Shape 22"/>
          <p:cNvSpPr/>
          <p:nvPr/>
        </p:nvSpPr>
        <p:spPr>
          <a:xfrm>
            <a:off x="822960" y="5294376"/>
            <a:ext cx="3291840" cy="91"/>
          </a:xfrm>
          <a:prstGeom prst="line">
            <a:avLst/>
          </a:prstGeom>
          <a:noFill/>
          <a:ln w="4445">
            <a:solidFill>
              <a:srgbClr val="D9CDB7">
                <a:alpha val="70000"/>
              </a:srgbClr>
            </a:solidFill>
            <a:prstDash val="solid"/>
            <a:headEnd type="none"/>
            <a:tailEnd type="none"/>
          </a:ln>
        </p:spPr>
      </p:sp>
      <p:sp>
        <p:nvSpPr>
          <p:cNvPr id="25" name="Text 23"/>
          <p:cNvSpPr txBox="1"/>
          <p:nvPr/>
        </p:nvSpPr>
        <p:spPr>
          <a:xfrm>
            <a:off x="822960" y="541324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Triangulation</a:t>
            </a:r>
            <a:endParaRPr lang="en-US" sz="960" dirty="0"/>
          </a:p>
        </p:txBody>
      </p:sp>
      <p:sp>
        <p:nvSpPr>
          <p:cNvPr id="26" name="Text 24"/>
          <p:cNvSpPr txBox="1"/>
          <p:nvPr/>
        </p:nvSpPr>
        <p:spPr>
          <a:xfrm>
            <a:off x="822960" y="560527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Recruiting a third person to manage tension between two.</a:t>
            </a:r>
            <a:endParaRPr lang="en-US" sz="730" dirty="0"/>
          </a:p>
        </p:txBody>
      </p:sp>
      <p:sp>
        <p:nvSpPr>
          <p:cNvPr id="27" name="Text 25"/>
          <p:cNvSpPr txBox="1"/>
          <p:nvPr/>
        </p:nvSpPr>
        <p:spPr>
          <a:xfrm>
            <a:off x="4443984" y="193852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Differentiation of self</a:t>
            </a:r>
            <a:endParaRPr lang="en-US" sz="960" dirty="0"/>
          </a:p>
        </p:txBody>
      </p:sp>
      <p:sp>
        <p:nvSpPr>
          <p:cNvPr id="28" name="Text 26"/>
          <p:cNvSpPr txBox="1"/>
          <p:nvPr/>
        </p:nvSpPr>
        <p:spPr>
          <a:xfrm>
            <a:off x="4443984" y="213055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Staying connected while maintaining one’s own thinking.</a:t>
            </a:r>
            <a:endParaRPr lang="en-US" sz="730" dirty="0"/>
          </a:p>
        </p:txBody>
      </p:sp>
      <p:sp>
        <p:nvSpPr>
          <p:cNvPr id="29" name="Shape 27"/>
          <p:cNvSpPr/>
          <p:nvPr/>
        </p:nvSpPr>
        <p:spPr>
          <a:xfrm>
            <a:off x="4443984" y="2514600"/>
            <a:ext cx="3291840" cy="91"/>
          </a:xfrm>
          <a:prstGeom prst="line">
            <a:avLst/>
          </a:prstGeom>
          <a:noFill/>
          <a:ln w="4445">
            <a:solidFill>
              <a:srgbClr val="D9CDB7">
                <a:alpha val="70000"/>
              </a:srgbClr>
            </a:solidFill>
            <a:prstDash val="solid"/>
            <a:headEnd type="none"/>
            <a:tailEnd type="none"/>
          </a:ln>
        </p:spPr>
      </p:sp>
      <p:sp>
        <p:nvSpPr>
          <p:cNvPr id="30" name="Text 28"/>
          <p:cNvSpPr txBox="1"/>
          <p:nvPr/>
        </p:nvSpPr>
        <p:spPr>
          <a:xfrm>
            <a:off x="4443984" y="2633472"/>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Enactment</a:t>
            </a:r>
            <a:endParaRPr lang="en-US" sz="960" dirty="0"/>
          </a:p>
        </p:txBody>
      </p:sp>
      <p:sp>
        <p:nvSpPr>
          <p:cNvPr id="31" name="Text 29"/>
          <p:cNvSpPr txBox="1"/>
          <p:nvPr/>
        </p:nvSpPr>
        <p:spPr>
          <a:xfrm>
            <a:off x="4443984" y="2825496"/>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Inviting the family to re-enact a problematic interaction in session.</a:t>
            </a:r>
            <a:endParaRPr lang="en-US" sz="730" dirty="0"/>
          </a:p>
        </p:txBody>
      </p:sp>
      <p:sp>
        <p:nvSpPr>
          <p:cNvPr id="32" name="Shape 30"/>
          <p:cNvSpPr/>
          <p:nvPr/>
        </p:nvSpPr>
        <p:spPr>
          <a:xfrm>
            <a:off x="4443984" y="3209544"/>
            <a:ext cx="3291840" cy="91"/>
          </a:xfrm>
          <a:prstGeom prst="line">
            <a:avLst/>
          </a:prstGeom>
          <a:noFill/>
          <a:ln w="4445">
            <a:solidFill>
              <a:srgbClr val="D9CDB7">
                <a:alpha val="70000"/>
              </a:srgbClr>
            </a:solidFill>
            <a:prstDash val="solid"/>
            <a:headEnd type="none"/>
            <a:tailEnd type="none"/>
          </a:ln>
        </p:spPr>
      </p:sp>
      <p:sp>
        <p:nvSpPr>
          <p:cNvPr id="33" name="Text 31"/>
          <p:cNvSpPr txBox="1"/>
          <p:nvPr/>
        </p:nvSpPr>
        <p:spPr>
          <a:xfrm>
            <a:off x="4443984" y="3328416"/>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Genogram</a:t>
            </a:r>
            <a:endParaRPr lang="en-US" sz="960" dirty="0"/>
          </a:p>
        </p:txBody>
      </p:sp>
      <p:sp>
        <p:nvSpPr>
          <p:cNvPr id="34" name="Text 32"/>
          <p:cNvSpPr txBox="1"/>
          <p:nvPr/>
        </p:nvSpPr>
        <p:spPr>
          <a:xfrm>
            <a:off x="4443984" y="3520440"/>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A multigenerational diagram of structure, relationships and patterns.</a:t>
            </a:r>
            <a:endParaRPr lang="en-US" sz="730" dirty="0"/>
          </a:p>
        </p:txBody>
      </p:sp>
      <p:sp>
        <p:nvSpPr>
          <p:cNvPr id="35" name="Shape 33"/>
          <p:cNvSpPr/>
          <p:nvPr/>
        </p:nvSpPr>
        <p:spPr>
          <a:xfrm>
            <a:off x="4443984" y="3904488"/>
            <a:ext cx="3291840" cy="91"/>
          </a:xfrm>
          <a:prstGeom prst="line">
            <a:avLst/>
          </a:prstGeom>
          <a:noFill/>
          <a:ln w="4445">
            <a:solidFill>
              <a:srgbClr val="D9CDB7">
                <a:alpha val="70000"/>
              </a:srgbClr>
            </a:solidFill>
            <a:prstDash val="solid"/>
            <a:headEnd type="none"/>
            <a:tailEnd type="none"/>
          </a:ln>
        </p:spPr>
      </p:sp>
      <p:sp>
        <p:nvSpPr>
          <p:cNvPr id="36" name="Text 34"/>
          <p:cNvSpPr txBox="1"/>
          <p:nvPr/>
        </p:nvSpPr>
        <p:spPr>
          <a:xfrm>
            <a:off x="4443984" y="4023360"/>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Joining</a:t>
            </a:r>
            <a:endParaRPr lang="en-US" sz="960" dirty="0"/>
          </a:p>
        </p:txBody>
      </p:sp>
      <p:sp>
        <p:nvSpPr>
          <p:cNvPr id="37" name="Text 35"/>
          <p:cNvSpPr txBox="1"/>
          <p:nvPr/>
        </p:nvSpPr>
        <p:spPr>
          <a:xfrm>
            <a:off x="4443984" y="4215384"/>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therapist’s active accommodation to the family’s style and language.</a:t>
            </a:r>
            <a:endParaRPr lang="en-US" sz="730" dirty="0"/>
          </a:p>
        </p:txBody>
      </p:sp>
      <p:sp>
        <p:nvSpPr>
          <p:cNvPr id="38" name="Shape 36"/>
          <p:cNvSpPr/>
          <p:nvPr/>
        </p:nvSpPr>
        <p:spPr>
          <a:xfrm>
            <a:off x="4443984" y="4599432"/>
            <a:ext cx="3291840" cy="91"/>
          </a:xfrm>
          <a:prstGeom prst="line">
            <a:avLst/>
          </a:prstGeom>
          <a:noFill/>
          <a:ln w="4445">
            <a:solidFill>
              <a:srgbClr val="D9CDB7">
                <a:alpha val="70000"/>
              </a:srgbClr>
            </a:solidFill>
            <a:prstDash val="solid"/>
            <a:headEnd type="none"/>
            <a:tailEnd type="none"/>
          </a:ln>
        </p:spPr>
      </p:sp>
      <p:sp>
        <p:nvSpPr>
          <p:cNvPr id="39" name="Text 37"/>
          <p:cNvSpPr txBox="1"/>
          <p:nvPr/>
        </p:nvSpPr>
        <p:spPr>
          <a:xfrm>
            <a:off x="4443984" y="4718304"/>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Alliance</a:t>
            </a:r>
            <a:endParaRPr lang="en-US" sz="960" dirty="0"/>
          </a:p>
        </p:txBody>
      </p:sp>
      <p:sp>
        <p:nvSpPr>
          <p:cNvPr id="40" name="Text 38"/>
          <p:cNvSpPr txBox="1"/>
          <p:nvPr/>
        </p:nvSpPr>
        <p:spPr>
          <a:xfrm>
            <a:off x="4443984" y="4910328"/>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collaborative bond and agreement on goals and tasks.</a:t>
            </a:r>
            <a:endParaRPr lang="en-US" sz="730" dirty="0"/>
          </a:p>
        </p:txBody>
      </p:sp>
      <p:sp>
        <p:nvSpPr>
          <p:cNvPr id="41" name="Shape 39"/>
          <p:cNvSpPr/>
          <p:nvPr/>
        </p:nvSpPr>
        <p:spPr>
          <a:xfrm>
            <a:off x="4443984" y="5294376"/>
            <a:ext cx="3291840" cy="91"/>
          </a:xfrm>
          <a:prstGeom prst="line">
            <a:avLst/>
          </a:prstGeom>
          <a:noFill/>
          <a:ln w="4445">
            <a:solidFill>
              <a:srgbClr val="D9CDB7">
                <a:alpha val="70000"/>
              </a:srgbClr>
            </a:solidFill>
            <a:prstDash val="solid"/>
            <a:headEnd type="none"/>
            <a:tailEnd type="none"/>
          </a:ln>
        </p:spPr>
      </p:sp>
      <p:sp>
        <p:nvSpPr>
          <p:cNvPr id="42" name="Text 40"/>
          <p:cNvSpPr txBox="1"/>
          <p:nvPr/>
        </p:nvSpPr>
        <p:spPr>
          <a:xfrm>
            <a:off x="4443984" y="541324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Externalising</a:t>
            </a:r>
            <a:endParaRPr lang="en-US" sz="960" dirty="0"/>
          </a:p>
        </p:txBody>
      </p:sp>
      <p:sp>
        <p:nvSpPr>
          <p:cNvPr id="43" name="Text 41"/>
          <p:cNvSpPr txBox="1"/>
          <p:nvPr/>
        </p:nvSpPr>
        <p:spPr>
          <a:xfrm>
            <a:off x="4443984" y="560527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Treating the problem as separate from the person.</a:t>
            </a:r>
            <a:endParaRPr lang="en-US" sz="730" dirty="0"/>
          </a:p>
        </p:txBody>
      </p:sp>
      <p:sp>
        <p:nvSpPr>
          <p:cNvPr id="44" name="Text 42"/>
          <p:cNvSpPr txBox="1"/>
          <p:nvPr/>
        </p:nvSpPr>
        <p:spPr>
          <a:xfrm>
            <a:off x="8065008" y="193852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Circular questioning</a:t>
            </a:r>
            <a:endParaRPr lang="en-US" sz="960" dirty="0"/>
          </a:p>
        </p:txBody>
      </p:sp>
      <p:sp>
        <p:nvSpPr>
          <p:cNvPr id="45" name="Text 43"/>
          <p:cNvSpPr txBox="1"/>
          <p:nvPr/>
        </p:nvSpPr>
        <p:spPr>
          <a:xfrm>
            <a:off x="8065008" y="213055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Questions that elicit differences and connections within the system.</a:t>
            </a:r>
            <a:endParaRPr lang="en-US" sz="730" dirty="0"/>
          </a:p>
        </p:txBody>
      </p:sp>
      <p:sp>
        <p:nvSpPr>
          <p:cNvPr id="46" name="Shape 44"/>
          <p:cNvSpPr/>
          <p:nvPr/>
        </p:nvSpPr>
        <p:spPr>
          <a:xfrm>
            <a:off x="8065008" y="2514600"/>
            <a:ext cx="3291840" cy="91"/>
          </a:xfrm>
          <a:prstGeom prst="line">
            <a:avLst/>
          </a:prstGeom>
          <a:noFill/>
          <a:ln w="4445">
            <a:solidFill>
              <a:srgbClr val="D9CDB7">
                <a:alpha val="70000"/>
              </a:srgbClr>
            </a:solidFill>
            <a:prstDash val="solid"/>
            <a:headEnd type="none"/>
            <a:tailEnd type="none"/>
          </a:ln>
        </p:spPr>
      </p:sp>
      <p:sp>
        <p:nvSpPr>
          <p:cNvPr id="47" name="Text 45"/>
          <p:cNvSpPr txBox="1"/>
          <p:nvPr/>
        </p:nvSpPr>
        <p:spPr>
          <a:xfrm>
            <a:off x="8065008" y="2633472"/>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Neutrality</a:t>
            </a:r>
            <a:endParaRPr lang="en-US" sz="960" dirty="0"/>
          </a:p>
        </p:txBody>
      </p:sp>
      <p:sp>
        <p:nvSpPr>
          <p:cNvPr id="48" name="Text 46"/>
          <p:cNvSpPr txBox="1"/>
          <p:nvPr/>
        </p:nvSpPr>
        <p:spPr>
          <a:xfrm>
            <a:off x="8065008" y="2825496"/>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A commitment not to align with any one member’s account.</a:t>
            </a:r>
            <a:endParaRPr lang="en-US" sz="730" dirty="0"/>
          </a:p>
        </p:txBody>
      </p:sp>
      <p:sp>
        <p:nvSpPr>
          <p:cNvPr id="49" name="Shape 47"/>
          <p:cNvSpPr/>
          <p:nvPr/>
        </p:nvSpPr>
        <p:spPr>
          <a:xfrm>
            <a:off x="8065008" y="3209544"/>
            <a:ext cx="3291840" cy="91"/>
          </a:xfrm>
          <a:prstGeom prst="line">
            <a:avLst/>
          </a:prstGeom>
          <a:noFill/>
          <a:ln w="4445">
            <a:solidFill>
              <a:srgbClr val="D9CDB7">
                <a:alpha val="70000"/>
              </a:srgbClr>
            </a:solidFill>
            <a:prstDash val="solid"/>
            <a:headEnd type="none"/>
            <a:tailEnd type="none"/>
          </a:ln>
        </p:spPr>
      </p:sp>
      <p:sp>
        <p:nvSpPr>
          <p:cNvPr id="50" name="Text 48"/>
          <p:cNvSpPr txBox="1"/>
          <p:nvPr/>
        </p:nvSpPr>
        <p:spPr>
          <a:xfrm>
            <a:off x="8065008" y="3328416"/>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Cultural humility</a:t>
            </a:r>
            <a:endParaRPr lang="en-US" sz="960" dirty="0"/>
          </a:p>
        </p:txBody>
      </p:sp>
      <p:sp>
        <p:nvSpPr>
          <p:cNvPr id="51" name="Text 49"/>
          <p:cNvSpPr txBox="1"/>
          <p:nvPr/>
        </p:nvSpPr>
        <p:spPr>
          <a:xfrm>
            <a:off x="8065008" y="3520440"/>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A reflexive, lifelong stance toward one’s own cultural location.</a:t>
            </a:r>
            <a:endParaRPr lang="en-US" sz="730" dirty="0"/>
          </a:p>
        </p:txBody>
      </p:sp>
      <p:sp>
        <p:nvSpPr>
          <p:cNvPr id="52" name="Shape 50"/>
          <p:cNvSpPr/>
          <p:nvPr/>
        </p:nvSpPr>
        <p:spPr>
          <a:xfrm>
            <a:off x="8065008" y="3904488"/>
            <a:ext cx="3291840" cy="91"/>
          </a:xfrm>
          <a:prstGeom prst="line">
            <a:avLst/>
          </a:prstGeom>
          <a:noFill/>
          <a:ln w="4445">
            <a:solidFill>
              <a:srgbClr val="D9CDB7">
                <a:alpha val="70000"/>
              </a:srgbClr>
            </a:solidFill>
            <a:prstDash val="solid"/>
            <a:headEnd type="none"/>
            <a:tailEnd type="none"/>
          </a:ln>
        </p:spPr>
      </p:sp>
      <p:sp>
        <p:nvSpPr>
          <p:cNvPr id="53" name="Text 51"/>
          <p:cNvSpPr txBox="1"/>
          <p:nvPr/>
        </p:nvSpPr>
        <p:spPr>
          <a:xfrm>
            <a:off x="8065008" y="4023360"/>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Common factors</a:t>
            </a:r>
            <a:endParaRPr lang="en-US" sz="960" dirty="0"/>
          </a:p>
        </p:txBody>
      </p:sp>
      <p:sp>
        <p:nvSpPr>
          <p:cNvPr id="54" name="Text 52"/>
          <p:cNvSpPr txBox="1"/>
          <p:nvPr/>
        </p:nvSpPr>
        <p:spPr>
          <a:xfrm>
            <a:off x="8065008" y="4215384"/>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Change processes shared across therapeutic models.</a:t>
            </a:r>
            <a:endParaRPr lang="en-US" sz="730" dirty="0"/>
          </a:p>
        </p:txBody>
      </p:sp>
      <p:sp>
        <p:nvSpPr>
          <p:cNvPr id="55" name="Shape 53"/>
          <p:cNvSpPr/>
          <p:nvPr/>
        </p:nvSpPr>
        <p:spPr>
          <a:xfrm>
            <a:off x="8065008" y="4599432"/>
            <a:ext cx="3291840" cy="91"/>
          </a:xfrm>
          <a:prstGeom prst="line">
            <a:avLst/>
          </a:prstGeom>
          <a:noFill/>
          <a:ln w="4445">
            <a:solidFill>
              <a:srgbClr val="D9CDB7">
                <a:alpha val="70000"/>
              </a:srgbClr>
            </a:solidFill>
            <a:prstDash val="solid"/>
            <a:headEnd type="none"/>
            <a:tailEnd type="none"/>
          </a:ln>
        </p:spPr>
      </p:sp>
      <p:sp>
        <p:nvSpPr>
          <p:cNvPr id="56" name="Text 54"/>
          <p:cNvSpPr txBox="1"/>
          <p:nvPr/>
        </p:nvSpPr>
        <p:spPr>
          <a:xfrm>
            <a:off x="8065008" y="4718304"/>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Reflecting team</a:t>
            </a:r>
            <a:endParaRPr lang="en-US" sz="960" dirty="0"/>
          </a:p>
        </p:txBody>
      </p:sp>
      <p:sp>
        <p:nvSpPr>
          <p:cNvPr id="57" name="Text 55"/>
          <p:cNvSpPr txBox="1"/>
          <p:nvPr/>
        </p:nvSpPr>
        <p:spPr>
          <a:xfrm>
            <a:off x="8065008" y="4910328"/>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A team whose conversation is observed by the family.</a:t>
            </a:r>
            <a:endParaRPr lang="en-US" sz="730" dirty="0"/>
          </a:p>
        </p:txBody>
      </p:sp>
      <p:sp>
        <p:nvSpPr>
          <p:cNvPr id="58" name="Shape 56"/>
          <p:cNvSpPr/>
          <p:nvPr/>
        </p:nvSpPr>
        <p:spPr>
          <a:xfrm>
            <a:off x="8065008" y="5294376"/>
            <a:ext cx="3291840" cy="91"/>
          </a:xfrm>
          <a:prstGeom prst="line">
            <a:avLst/>
          </a:prstGeom>
          <a:noFill/>
          <a:ln w="4445">
            <a:solidFill>
              <a:srgbClr val="D9CDB7">
                <a:alpha val="70000"/>
              </a:srgbClr>
            </a:solidFill>
            <a:prstDash val="solid"/>
            <a:headEnd type="none"/>
            <a:tailEnd type="none"/>
          </a:ln>
        </p:spPr>
      </p:sp>
      <p:sp>
        <p:nvSpPr>
          <p:cNvPr id="59" name="Text 57"/>
          <p:cNvSpPr txBox="1"/>
          <p:nvPr/>
        </p:nvSpPr>
        <p:spPr>
          <a:xfrm>
            <a:off x="8065008" y="5413248"/>
            <a:ext cx="3291840" cy="286512"/>
          </a:xfrm>
          <a:prstGeom prst="rect">
            <a:avLst/>
          </a:prstGeom>
          <a:noFill/>
          <a:ln/>
        </p:spPr>
        <p:txBody>
          <a:bodyPr wrap="square" lIns="0" tIns="0" rIns="0" bIns="0" rtlCol="0" anchor="t"/>
          <a:lstStyle/>
          <a:p>
            <a:pPr algn="l" indent="0" marL="0">
              <a:lnSpc>
                <a:spcPts val="1296"/>
              </a:lnSpc>
              <a:buNone/>
            </a:pPr>
            <a:r>
              <a:rPr lang="en-US" sz="960" dirty="0">
                <a:solidFill>
                  <a:srgbClr val="1B1815"/>
                </a:solidFill>
                <a:latin typeface="Georgia" pitchFamily="34" charset="0"/>
                <a:ea typeface="Georgia" pitchFamily="34" charset="-122"/>
                <a:cs typeface="Georgia" pitchFamily="34" charset="-120"/>
              </a:rPr>
              <a:t>Self-of-the-therapist</a:t>
            </a:r>
            <a:endParaRPr lang="en-US" sz="960" dirty="0"/>
          </a:p>
        </p:txBody>
      </p:sp>
      <p:sp>
        <p:nvSpPr>
          <p:cNvPr id="60" name="Text 58"/>
          <p:cNvSpPr txBox="1"/>
          <p:nvPr/>
        </p:nvSpPr>
        <p:spPr>
          <a:xfrm>
            <a:off x="8065008" y="5605272"/>
            <a:ext cx="3291840" cy="213233"/>
          </a:xfrm>
          <a:prstGeom prst="rect">
            <a:avLst/>
          </a:prstGeom>
          <a:noFill/>
          <a:ln/>
        </p:spPr>
        <p:txBody>
          <a:bodyPr wrap="square" lIns="0" tIns="0" rIns="0" bIns="0" rtlCol="0" anchor="t"/>
          <a:lstStyle/>
          <a:p>
            <a:pPr algn="l" indent="0" marL="0">
              <a:lnSpc>
                <a:spcPts val="949"/>
              </a:lnSpc>
              <a:buNone/>
            </a:pPr>
            <a:r>
              <a:rPr lang="en-US" sz="730" dirty="0">
                <a:solidFill>
                  <a:srgbClr val="8B8375"/>
                </a:solidFill>
                <a:latin typeface="Calibri" pitchFamily="34" charset="0"/>
                <a:ea typeface="Calibri" pitchFamily="34" charset="-122"/>
                <a:cs typeface="Calibri" pitchFamily="34" charset="-120"/>
              </a:rPr>
              <a:t>The clinician’s own relational history and reactivity as clinical material.</a:t>
            </a:r>
            <a:endParaRPr lang="en-US" sz="73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420624"/>
            <a:ext cx="8412480" cy="205931"/>
          </a:xfrm>
          <a:prstGeom prst="rect">
            <a:avLst/>
          </a:prstGeom>
          <a:noFill/>
          <a:ln/>
        </p:spPr>
        <p:txBody>
          <a:bodyPr wrap="square" lIns="0" tIns="0" rIns="0" bIns="0" rtlCol="0" anchor="t"/>
          <a:lstStyle/>
          <a:p>
            <a:pPr algn="l" indent="0" marL="0">
              <a:lnSpc>
                <a:spcPts val="932"/>
              </a:lnSpc>
              <a:buNone/>
            </a:pPr>
            <a:r>
              <a:rPr lang="en-US" sz="690" spc="150" kern="0" dirty="0">
                <a:solidFill>
                  <a:srgbClr val="96733C"/>
                </a:solidFill>
                <a:latin typeface="Calibri" pitchFamily="34" charset="0"/>
                <a:ea typeface="Calibri" pitchFamily="34" charset="-122"/>
                <a:cs typeface="Calibri" pitchFamily="34" charset="-120"/>
              </a:rPr>
              <a:t>MFT 701 · FUNDAMENTALS OF MARRIAGE AND FAMILY THERAPY</a:t>
            </a:r>
            <a:endParaRPr lang="en-US" sz="690" dirty="0"/>
          </a:p>
        </p:txBody>
      </p:sp>
      <p:sp>
        <p:nvSpPr>
          <p:cNvPr id="3" name="Text 1"/>
          <p:cNvSpPr txBox="1"/>
          <p:nvPr/>
        </p:nvSpPr>
        <p:spPr>
          <a:xfrm>
            <a:off x="8077170" y="420624"/>
            <a:ext cx="3291840" cy="205931"/>
          </a:xfrm>
          <a:prstGeom prst="rect">
            <a:avLst/>
          </a:prstGeom>
          <a:noFill/>
          <a:ln/>
        </p:spPr>
        <p:txBody>
          <a:bodyPr wrap="square" lIns="0" tIns="0" rIns="0" bIns="0" rtlCol="0" anchor="t"/>
          <a:lstStyle/>
          <a:p>
            <a:pPr algn="r" indent="0" marL="0">
              <a:lnSpc>
                <a:spcPts val="932"/>
              </a:lnSpc>
              <a:buNone/>
            </a:pPr>
            <a:r>
              <a:rPr lang="en-US" sz="690" spc="150" kern="0" dirty="0">
                <a:solidFill>
                  <a:srgbClr val="8B8375"/>
                </a:solidFill>
                <a:latin typeface="Calibri" pitchFamily="34" charset="0"/>
                <a:ea typeface="Calibri" pitchFamily="34" charset="-122"/>
                <a:cs typeface="Calibri" pitchFamily="34" charset="-120"/>
              </a:rPr>
              <a:t>REFERENCES</a:t>
            </a:r>
            <a:endParaRPr lang="en-US" sz="690" dirty="0"/>
          </a:p>
        </p:txBody>
      </p:sp>
      <p:sp>
        <p:nvSpPr>
          <p:cNvPr id="4" name="Shape 2"/>
          <p:cNvSpPr/>
          <p:nvPr/>
        </p:nvSpPr>
        <p:spPr>
          <a:xfrm>
            <a:off x="822960" y="722376"/>
            <a:ext cx="10546050" cy="91"/>
          </a:xfrm>
          <a:prstGeom prst="line">
            <a:avLst/>
          </a:prstGeom>
          <a:noFill/>
          <a:ln w="5715">
            <a:solidFill>
              <a:srgbClr val="D9CDB7">
                <a:alpha val="90000"/>
              </a:srgbClr>
            </a:solidFill>
            <a:prstDash val="solid"/>
            <a:headEnd type="none"/>
            <a:tailEnd type="none"/>
          </a:ln>
        </p:spPr>
      </p:sp>
      <p:sp>
        <p:nvSpPr>
          <p:cNvPr id="5" name="Shape 3"/>
          <p:cNvSpPr/>
          <p:nvPr/>
        </p:nvSpPr>
        <p:spPr>
          <a:xfrm>
            <a:off x="822960" y="6181344"/>
            <a:ext cx="10546050" cy="91"/>
          </a:xfrm>
          <a:prstGeom prst="line">
            <a:avLst/>
          </a:prstGeom>
          <a:noFill/>
          <a:ln w="5715">
            <a:solidFill>
              <a:srgbClr val="D9CDB7">
                <a:alpha val="75000"/>
              </a:srgbClr>
            </a:solidFill>
            <a:prstDash val="solid"/>
            <a:headEnd type="none"/>
            <a:tailEnd type="none"/>
          </a:ln>
        </p:spPr>
      </p:sp>
      <p:sp>
        <p:nvSpPr>
          <p:cNvPr id="6" name="Text 4"/>
          <p:cNvSpPr txBox="1"/>
          <p:nvPr/>
        </p:nvSpPr>
        <p:spPr>
          <a:xfrm>
            <a:off x="822960" y="6281928"/>
            <a:ext cx="6400800" cy="193993"/>
          </a:xfrm>
          <a:prstGeom prst="rect">
            <a:avLst/>
          </a:prstGeom>
          <a:noFill/>
          <a:ln/>
        </p:spPr>
        <p:txBody>
          <a:bodyPr wrap="square" lIns="0" tIns="0" rIns="0" bIns="0" rtlCol="0" anchor="t"/>
          <a:lstStyle/>
          <a:p>
            <a:pPr algn="l" indent="0" marL="0">
              <a:lnSpc>
                <a:spcPts val="878"/>
              </a:lnSpc>
              <a:buNone/>
            </a:pPr>
            <a:r>
              <a:rPr lang="en-US" sz="650" spc="50" kern="0" dirty="0">
                <a:solidFill>
                  <a:srgbClr val="8B8375"/>
                </a:solidFill>
                <a:latin typeface="Calibri" pitchFamily="34" charset="0"/>
                <a:ea typeface="Calibri" pitchFamily="34" charset="-122"/>
                <a:cs typeface="Calibri" pitchFamily="34" charset="-120"/>
              </a:rPr>
              <a:t>Master of Marriage and Family Therapy · 16-Week Seminar</a:t>
            </a:r>
            <a:endParaRPr lang="en-US" sz="650" dirty="0"/>
          </a:p>
        </p:txBody>
      </p:sp>
      <p:sp>
        <p:nvSpPr>
          <p:cNvPr id="7" name="Text 5"/>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3F3A33"/>
                </a:solidFill>
                <a:latin typeface="Georgia" pitchFamily="34" charset="0"/>
                <a:ea typeface="Georgia" pitchFamily="34" charset="-122"/>
                <a:cs typeface="Georgia" pitchFamily="34" charset="-120"/>
              </a:rPr>
              <a:t>76</a:t>
            </a:r>
            <a:endParaRPr lang="en-US" sz="950" dirty="0"/>
          </a:p>
        </p:txBody>
      </p:sp>
      <p:sp>
        <p:nvSpPr>
          <p:cNvPr id="8" name="Text 6"/>
          <p:cNvSpPr txBox="1"/>
          <p:nvPr/>
        </p:nvSpPr>
        <p:spPr>
          <a:xfrm>
            <a:off x="822960" y="914400"/>
            <a:ext cx="9692640" cy="835660"/>
          </a:xfrm>
          <a:prstGeom prst="rect">
            <a:avLst/>
          </a:prstGeom>
          <a:noFill/>
          <a:ln/>
        </p:spPr>
        <p:txBody>
          <a:bodyPr wrap="square" lIns="0" tIns="0" rIns="0" bIns="0" rtlCol="0" anchor="t"/>
          <a:lstStyle/>
          <a:p>
            <a:pPr algn="l" indent="0" marL="0">
              <a:lnSpc>
                <a:spcPts val="3780"/>
              </a:lnSpc>
              <a:buNone/>
            </a:pPr>
            <a:r>
              <a:rPr lang="en-US" sz="2800" dirty="0">
                <a:solidFill>
                  <a:srgbClr val="1B1815"/>
                </a:solidFill>
                <a:latin typeface="Georgia" pitchFamily="34" charset="0"/>
                <a:ea typeface="Georgia" pitchFamily="34" charset="-122"/>
                <a:cs typeface="Georgia" pitchFamily="34" charset="-120"/>
              </a:rPr>
              <a:t>Core readings</a:t>
            </a:r>
            <a:endParaRPr lang="en-US" sz="2800" dirty="0"/>
          </a:p>
        </p:txBody>
      </p:sp>
      <p:sp>
        <p:nvSpPr>
          <p:cNvPr id="9" name="Text 7"/>
          <p:cNvSpPr txBox="1"/>
          <p:nvPr/>
        </p:nvSpPr>
        <p:spPr>
          <a:xfrm>
            <a:off x="822960" y="1371600"/>
            <a:ext cx="8961120" cy="304419"/>
          </a:xfrm>
          <a:prstGeom prst="rect">
            <a:avLst/>
          </a:prstGeom>
          <a:noFill/>
          <a:ln/>
        </p:spPr>
        <p:txBody>
          <a:bodyPr wrap="square" lIns="0" tIns="0" rIns="0" bIns="0" rtlCol="0" anchor="t"/>
          <a:lstStyle/>
          <a:p>
            <a:pPr algn="l" indent="0" marL="0">
              <a:lnSpc>
                <a:spcPts val="1377"/>
              </a:lnSpc>
              <a:buNone/>
            </a:pPr>
            <a:r>
              <a:rPr lang="en-US" sz="1020" dirty="0">
                <a:solidFill>
                  <a:srgbClr val="5B544A"/>
                </a:solidFill>
                <a:latin typeface="Calibri" pitchFamily="34" charset="0"/>
                <a:ea typeface="Calibri" pitchFamily="34" charset="-122"/>
                <a:cs typeface="Calibri" pitchFamily="34" charset="-120"/>
              </a:rPr>
              <a:t>Students are expected to engage the primary texts, not only the summaries in this deck.</a:t>
            </a:r>
            <a:endParaRPr lang="en-US" sz="1020" dirty="0"/>
          </a:p>
        </p:txBody>
      </p:sp>
      <p:sp>
        <p:nvSpPr>
          <p:cNvPr id="10" name="Text 8"/>
          <p:cNvSpPr txBox="1"/>
          <p:nvPr/>
        </p:nvSpPr>
        <p:spPr>
          <a:xfrm>
            <a:off x="822960" y="193852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01</a:t>
            </a:r>
            <a:endParaRPr lang="en-US" sz="660" dirty="0"/>
          </a:p>
        </p:txBody>
      </p:sp>
      <p:sp>
        <p:nvSpPr>
          <p:cNvPr id="11" name="Text 9"/>
          <p:cNvSpPr txBox="1"/>
          <p:nvPr/>
        </p:nvSpPr>
        <p:spPr>
          <a:xfrm>
            <a:off x="1152144" y="192024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AAMFT (2015). Code of Ethics. American Association for Marriage and Family Therapy.</a:t>
            </a:r>
            <a:endParaRPr lang="en-US" sz="735" dirty="0"/>
          </a:p>
        </p:txBody>
      </p:sp>
      <p:sp>
        <p:nvSpPr>
          <p:cNvPr id="12" name="Text 10"/>
          <p:cNvSpPr txBox="1"/>
          <p:nvPr/>
        </p:nvSpPr>
        <p:spPr>
          <a:xfrm>
            <a:off x="822960" y="248716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02</a:t>
            </a:r>
            <a:endParaRPr lang="en-US" sz="660" dirty="0"/>
          </a:p>
        </p:txBody>
      </p:sp>
      <p:sp>
        <p:nvSpPr>
          <p:cNvPr id="13" name="Text 11"/>
          <p:cNvSpPr txBox="1"/>
          <p:nvPr/>
        </p:nvSpPr>
        <p:spPr>
          <a:xfrm>
            <a:off x="1152144" y="246888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Bateson, G. (1972). Steps to an Ecology of Mind. Chandler.</a:t>
            </a:r>
            <a:endParaRPr lang="en-US" sz="735" dirty="0"/>
          </a:p>
        </p:txBody>
      </p:sp>
      <p:sp>
        <p:nvSpPr>
          <p:cNvPr id="14" name="Text 12"/>
          <p:cNvSpPr txBox="1"/>
          <p:nvPr/>
        </p:nvSpPr>
        <p:spPr>
          <a:xfrm>
            <a:off x="822960" y="303580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03</a:t>
            </a:r>
            <a:endParaRPr lang="en-US" sz="660" dirty="0"/>
          </a:p>
        </p:txBody>
      </p:sp>
      <p:sp>
        <p:nvSpPr>
          <p:cNvPr id="15" name="Text 13"/>
          <p:cNvSpPr txBox="1"/>
          <p:nvPr/>
        </p:nvSpPr>
        <p:spPr>
          <a:xfrm>
            <a:off x="1152144" y="301752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Becvar, R. J., &amp; Becvar, D. S. (2018). Systems Theory and Family Therapy: A Primer (3rd ed.). Hamilton.</a:t>
            </a:r>
            <a:endParaRPr lang="en-US" sz="735" dirty="0"/>
          </a:p>
        </p:txBody>
      </p:sp>
      <p:sp>
        <p:nvSpPr>
          <p:cNvPr id="16" name="Text 14"/>
          <p:cNvSpPr txBox="1"/>
          <p:nvPr/>
        </p:nvSpPr>
        <p:spPr>
          <a:xfrm>
            <a:off x="822960" y="358444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04</a:t>
            </a:r>
            <a:endParaRPr lang="en-US" sz="660" dirty="0"/>
          </a:p>
        </p:txBody>
      </p:sp>
      <p:sp>
        <p:nvSpPr>
          <p:cNvPr id="17" name="Text 15"/>
          <p:cNvSpPr txBox="1"/>
          <p:nvPr/>
        </p:nvSpPr>
        <p:spPr>
          <a:xfrm>
            <a:off x="1152144" y="356616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Bowen, M. (1978). Family Therapy in Clinical Practice. Jason Aronson.</a:t>
            </a:r>
            <a:endParaRPr lang="en-US" sz="735" dirty="0"/>
          </a:p>
        </p:txBody>
      </p:sp>
      <p:sp>
        <p:nvSpPr>
          <p:cNvPr id="18" name="Text 16"/>
          <p:cNvSpPr txBox="1"/>
          <p:nvPr/>
        </p:nvSpPr>
        <p:spPr>
          <a:xfrm>
            <a:off x="822960" y="413308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05</a:t>
            </a:r>
            <a:endParaRPr lang="en-US" sz="660" dirty="0"/>
          </a:p>
        </p:txBody>
      </p:sp>
      <p:sp>
        <p:nvSpPr>
          <p:cNvPr id="19" name="Text 17"/>
          <p:cNvSpPr txBox="1"/>
          <p:nvPr/>
        </p:nvSpPr>
        <p:spPr>
          <a:xfrm>
            <a:off x="1152144" y="411480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Carr, A. (2019). Family Therapy: Concepts, Process and Practice (3rd ed.). Wiley.</a:t>
            </a:r>
            <a:endParaRPr lang="en-US" sz="735" dirty="0"/>
          </a:p>
        </p:txBody>
      </p:sp>
      <p:sp>
        <p:nvSpPr>
          <p:cNvPr id="20" name="Text 18"/>
          <p:cNvSpPr txBox="1"/>
          <p:nvPr/>
        </p:nvSpPr>
        <p:spPr>
          <a:xfrm>
            <a:off x="822960" y="468172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06</a:t>
            </a:r>
            <a:endParaRPr lang="en-US" sz="660" dirty="0"/>
          </a:p>
        </p:txBody>
      </p:sp>
      <p:sp>
        <p:nvSpPr>
          <p:cNvPr id="21" name="Text 19"/>
          <p:cNvSpPr txBox="1"/>
          <p:nvPr/>
        </p:nvSpPr>
        <p:spPr>
          <a:xfrm>
            <a:off x="1152144" y="466344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de Shazer, S. (1985). Keys to Solution in Brief Therapy. Norton.</a:t>
            </a:r>
            <a:endParaRPr lang="en-US" sz="735" dirty="0"/>
          </a:p>
        </p:txBody>
      </p:sp>
      <p:sp>
        <p:nvSpPr>
          <p:cNvPr id="22" name="Text 20"/>
          <p:cNvSpPr txBox="1"/>
          <p:nvPr/>
        </p:nvSpPr>
        <p:spPr>
          <a:xfrm>
            <a:off x="822960" y="523036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07</a:t>
            </a:r>
            <a:endParaRPr lang="en-US" sz="660" dirty="0"/>
          </a:p>
        </p:txBody>
      </p:sp>
      <p:sp>
        <p:nvSpPr>
          <p:cNvPr id="23" name="Text 21"/>
          <p:cNvSpPr txBox="1"/>
          <p:nvPr/>
        </p:nvSpPr>
        <p:spPr>
          <a:xfrm>
            <a:off x="1152144" y="521208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Duncan, B. L., Miller, S. D., Wampold, B. E., &amp; Hubble, M. A. (Eds.). (2010). The Heart and Soul of Change (2nd ed.). APA.</a:t>
            </a:r>
            <a:endParaRPr lang="en-US" sz="735" dirty="0"/>
          </a:p>
        </p:txBody>
      </p:sp>
      <p:sp>
        <p:nvSpPr>
          <p:cNvPr id="24" name="Text 22"/>
          <p:cNvSpPr txBox="1"/>
          <p:nvPr/>
        </p:nvSpPr>
        <p:spPr>
          <a:xfrm>
            <a:off x="822960" y="577900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08</a:t>
            </a:r>
            <a:endParaRPr lang="en-US" sz="660" dirty="0"/>
          </a:p>
        </p:txBody>
      </p:sp>
      <p:sp>
        <p:nvSpPr>
          <p:cNvPr id="25" name="Text 23"/>
          <p:cNvSpPr txBox="1"/>
          <p:nvPr/>
        </p:nvSpPr>
        <p:spPr>
          <a:xfrm>
            <a:off x="1152144" y="576072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Haley, J. (1976). Problem-Solving Therapy. Jossey-Bass.</a:t>
            </a:r>
            <a:endParaRPr lang="en-US" sz="735" dirty="0"/>
          </a:p>
        </p:txBody>
      </p:sp>
      <p:sp>
        <p:nvSpPr>
          <p:cNvPr id="26" name="Text 24"/>
          <p:cNvSpPr txBox="1"/>
          <p:nvPr/>
        </p:nvSpPr>
        <p:spPr>
          <a:xfrm>
            <a:off x="6355080" y="193852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09</a:t>
            </a:r>
            <a:endParaRPr lang="en-US" sz="660" dirty="0"/>
          </a:p>
        </p:txBody>
      </p:sp>
      <p:sp>
        <p:nvSpPr>
          <p:cNvPr id="27" name="Text 25"/>
          <p:cNvSpPr txBox="1"/>
          <p:nvPr/>
        </p:nvSpPr>
        <p:spPr>
          <a:xfrm>
            <a:off x="6684264" y="192024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Johnson, S. M. (2019). Attachment Theory in Practice. Guilford.</a:t>
            </a:r>
            <a:endParaRPr lang="en-US" sz="735" dirty="0"/>
          </a:p>
        </p:txBody>
      </p:sp>
      <p:sp>
        <p:nvSpPr>
          <p:cNvPr id="28" name="Text 26"/>
          <p:cNvSpPr txBox="1"/>
          <p:nvPr/>
        </p:nvSpPr>
        <p:spPr>
          <a:xfrm>
            <a:off x="6355080" y="248716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10</a:t>
            </a:r>
            <a:endParaRPr lang="en-US" sz="660" dirty="0"/>
          </a:p>
        </p:txBody>
      </p:sp>
      <p:sp>
        <p:nvSpPr>
          <p:cNvPr id="29" name="Text 27"/>
          <p:cNvSpPr txBox="1"/>
          <p:nvPr/>
        </p:nvSpPr>
        <p:spPr>
          <a:xfrm>
            <a:off x="6684264" y="246888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McGoldrick, M., Gerson, R., &amp; Petry, S. (2008). Genograms: Assessment and Intervention (3rd ed.). Norton.</a:t>
            </a:r>
            <a:endParaRPr lang="en-US" sz="735" dirty="0"/>
          </a:p>
        </p:txBody>
      </p:sp>
      <p:sp>
        <p:nvSpPr>
          <p:cNvPr id="30" name="Text 28"/>
          <p:cNvSpPr txBox="1"/>
          <p:nvPr/>
        </p:nvSpPr>
        <p:spPr>
          <a:xfrm>
            <a:off x="6355080" y="303580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11</a:t>
            </a:r>
            <a:endParaRPr lang="en-US" sz="660" dirty="0"/>
          </a:p>
        </p:txBody>
      </p:sp>
      <p:sp>
        <p:nvSpPr>
          <p:cNvPr id="31" name="Text 29"/>
          <p:cNvSpPr txBox="1"/>
          <p:nvPr/>
        </p:nvSpPr>
        <p:spPr>
          <a:xfrm>
            <a:off x="6684264" y="301752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Minuchin, S. (1974). Families and Family Therapy. Harvard University Press.</a:t>
            </a:r>
            <a:endParaRPr lang="en-US" sz="735" dirty="0"/>
          </a:p>
        </p:txBody>
      </p:sp>
      <p:sp>
        <p:nvSpPr>
          <p:cNvPr id="32" name="Text 30"/>
          <p:cNvSpPr txBox="1"/>
          <p:nvPr/>
        </p:nvSpPr>
        <p:spPr>
          <a:xfrm>
            <a:off x="6355080" y="358444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12</a:t>
            </a:r>
            <a:endParaRPr lang="en-US" sz="660" dirty="0"/>
          </a:p>
        </p:txBody>
      </p:sp>
      <p:sp>
        <p:nvSpPr>
          <p:cNvPr id="33" name="Text 31"/>
          <p:cNvSpPr txBox="1"/>
          <p:nvPr/>
        </p:nvSpPr>
        <p:spPr>
          <a:xfrm>
            <a:off x="6684264" y="356616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Nichols, M. P., &amp; Davis, S. D. (2020). Family Therapy: Concepts and Methods (12th ed.). Pearson.</a:t>
            </a:r>
            <a:endParaRPr lang="en-US" sz="735" dirty="0"/>
          </a:p>
        </p:txBody>
      </p:sp>
      <p:sp>
        <p:nvSpPr>
          <p:cNvPr id="34" name="Text 32"/>
          <p:cNvSpPr txBox="1"/>
          <p:nvPr/>
        </p:nvSpPr>
        <p:spPr>
          <a:xfrm>
            <a:off x="6355080" y="413308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13</a:t>
            </a:r>
            <a:endParaRPr lang="en-US" sz="660" dirty="0"/>
          </a:p>
        </p:txBody>
      </p:sp>
      <p:sp>
        <p:nvSpPr>
          <p:cNvPr id="35" name="Text 33"/>
          <p:cNvSpPr txBox="1"/>
          <p:nvPr/>
        </p:nvSpPr>
        <p:spPr>
          <a:xfrm>
            <a:off x="6684264" y="411480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Satir, V. (1967). Conjoint Family Therapy. Science and Behavior Books.</a:t>
            </a:r>
            <a:endParaRPr lang="en-US" sz="735" dirty="0"/>
          </a:p>
        </p:txBody>
      </p:sp>
      <p:sp>
        <p:nvSpPr>
          <p:cNvPr id="36" name="Text 34"/>
          <p:cNvSpPr txBox="1"/>
          <p:nvPr/>
        </p:nvSpPr>
        <p:spPr>
          <a:xfrm>
            <a:off x="6355080" y="468172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14</a:t>
            </a:r>
            <a:endParaRPr lang="en-US" sz="660" dirty="0"/>
          </a:p>
        </p:txBody>
      </p:sp>
      <p:sp>
        <p:nvSpPr>
          <p:cNvPr id="37" name="Text 35"/>
          <p:cNvSpPr txBox="1"/>
          <p:nvPr/>
        </p:nvSpPr>
        <p:spPr>
          <a:xfrm>
            <a:off x="6684264" y="466344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Watzlawick, P., Beavin, J. H., &amp; Jackson, D. D. (1967). Pragmatics of Human Communication. Norton.</a:t>
            </a:r>
            <a:endParaRPr lang="en-US" sz="735" dirty="0"/>
          </a:p>
        </p:txBody>
      </p:sp>
      <p:sp>
        <p:nvSpPr>
          <p:cNvPr id="38" name="Text 36"/>
          <p:cNvSpPr txBox="1"/>
          <p:nvPr/>
        </p:nvSpPr>
        <p:spPr>
          <a:xfrm>
            <a:off x="6355080" y="523036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15</a:t>
            </a:r>
            <a:endParaRPr lang="en-US" sz="660" dirty="0"/>
          </a:p>
        </p:txBody>
      </p:sp>
      <p:sp>
        <p:nvSpPr>
          <p:cNvPr id="39" name="Text 37"/>
          <p:cNvSpPr txBox="1"/>
          <p:nvPr/>
        </p:nvSpPr>
        <p:spPr>
          <a:xfrm>
            <a:off x="6684264" y="521208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White, M., &amp; Epston, D. (1990). Narrative Means to Therapeutic Ends. Norton.</a:t>
            </a:r>
            <a:endParaRPr lang="en-US" sz="735" dirty="0"/>
          </a:p>
        </p:txBody>
      </p:sp>
      <p:sp>
        <p:nvSpPr>
          <p:cNvPr id="40" name="Text 38"/>
          <p:cNvSpPr txBox="1"/>
          <p:nvPr/>
        </p:nvSpPr>
        <p:spPr>
          <a:xfrm>
            <a:off x="6355080" y="5779008"/>
            <a:ext cx="274320" cy="196977"/>
          </a:xfrm>
          <a:prstGeom prst="rect">
            <a:avLst/>
          </a:prstGeom>
          <a:noFill/>
          <a:ln/>
        </p:spPr>
        <p:txBody>
          <a:bodyPr wrap="square" lIns="0" tIns="0" rIns="0" bIns="0" rtlCol="0" anchor="t"/>
          <a:lstStyle/>
          <a:p>
            <a:pPr algn="l" indent="0" marL="0">
              <a:lnSpc>
                <a:spcPts val="891"/>
              </a:lnSpc>
              <a:buNone/>
            </a:pPr>
            <a:r>
              <a:rPr lang="en-US" sz="660" b="1" dirty="0">
                <a:solidFill>
                  <a:srgbClr val="96733C"/>
                </a:solidFill>
                <a:latin typeface="Calibri" pitchFamily="34" charset="0"/>
                <a:ea typeface="Calibri" pitchFamily="34" charset="-122"/>
                <a:cs typeface="Calibri" pitchFamily="34" charset="-120"/>
              </a:rPr>
              <a:t>16</a:t>
            </a:r>
            <a:endParaRPr lang="en-US" sz="660" dirty="0"/>
          </a:p>
        </p:txBody>
      </p:sp>
      <p:sp>
        <p:nvSpPr>
          <p:cNvPr id="41" name="Text 39"/>
          <p:cNvSpPr txBox="1"/>
          <p:nvPr/>
        </p:nvSpPr>
        <p:spPr>
          <a:xfrm>
            <a:off x="6684264" y="5760720"/>
            <a:ext cx="4800600" cy="214693"/>
          </a:xfrm>
          <a:prstGeom prst="rect">
            <a:avLst/>
          </a:prstGeom>
          <a:noFill/>
          <a:ln/>
        </p:spPr>
        <p:txBody>
          <a:bodyPr wrap="square" lIns="0" tIns="0" rIns="0" bIns="0" rtlCol="0" anchor="t"/>
          <a:lstStyle/>
          <a:p>
            <a:pPr algn="l" indent="0" marL="0">
              <a:lnSpc>
                <a:spcPts val="955"/>
              </a:lnSpc>
              <a:buNone/>
            </a:pPr>
            <a:r>
              <a:rPr lang="en-US" sz="735" dirty="0">
                <a:solidFill>
                  <a:srgbClr val="3F3A33"/>
                </a:solidFill>
                <a:latin typeface="Calibri" pitchFamily="34" charset="0"/>
                <a:ea typeface="Calibri" pitchFamily="34" charset="-122"/>
                <a:cs typeface="Calibri" pitchFamily="34" charset="-120"/>
              </a:rPr>
              <a:t>Wampold, B. E., &amp; Imel, Z. E. (2015). The Great Psychotherapy Debate (2nd ed.). Routledge.</a:t>
            </a:r>
            <a:endParaRPr lang="en-US" sz="735"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365760"/>
            <a:ext cx="11460450" cy="6126480"/>
          </a:xfrm>
          <a:prstGeom prst="rect">
            <a:avLst/>
          </a:prstGeom>
          <a:solidFill>
            <a:srgbClr val="FFFFFF">
              <a:alpha val="0"/>
            </a:srgbClr>
          </a:solidFill>
          <a:ln w="6350">
            <a:solidFill>
              <a:srgbClr val="C2A05F"/>
            </a:solidFill>
            <a:prstDash val="solid"/>
          </a:ln>
        </p:spPr>
      </p:sp>
      <p:sp>
        <p:nvSpPr>
          <p:cNvPr id="3" name="Text 1"/>
          <p:cNvSpPr txBox="1"/>
          <p:nvPr/>
        </p:nvSpPr>
        <p:spPr>
          <a:xfrm>
            <a:off x="1234440" y="1417320"/>
            <a:ext cx="9692640" cy="232791"/>
          </a:xfrm>
          <a:prstGeom prst="rect">
            <a:avLst/>
          </a:prstGeom>
          <a:noFill/>
          <a:ln/>
        </p:spPr>
        <p:txBody>
          <a:bodyPr wrap="square" lIns="0" tIns="0" rIns="0" bIns="0" rtlCol="0" anchor="t"/>
          <a:lstStyle/>
          <a:p>
            <a:pPr algn="ctr" indent="0" marL="0">
              <a:lnSpc>
                <a:spcPts val="1053"/>
              </a:lnSpc>
              <a:buNone/>
            </a:pPr>
            <a:r>
              <a:rPr lang="en-US" sz="780" spc="340" kern="0" dirty="0">
                <a:solidFill>
                  <a:srgbClr val="C2A05F"/>
                </a:solidFill>
                <a:latin typeface="Calibri" pitchFamily="34" charset="0"/>
                <a:ea typeface="Calibri" pitchFamily="34" charset="-122"/>
                <a:cs typeface="Calibri" pitchFamily="34" charset="-120"/>
              </a:rPr>
              <a:t>END OF COURSE</a:t>
            </a:r>
            <a:endParaRPr lang="en-US" sz="780" dirty="0"/>
          </a:p>
        </p:txBody>
      </p:sp>
      <p:sp>
        <p:nvSpPr>
          <p:cNvPr id="4" name="Text 2"/>
          <p:cNvSpPr txBox="1"/>
          <p:nvPr/>
        </p:nvSpPr>
        <p:spPr>
          <a:xfrm>
            <a:off x="1234440" y="1965960"/>
            <a:ext cx="9692640" cy="1037590"/>
          </a:xfrm>
          <a:prstGeom prst="rect">
            <a:avLst/>
          </a:prstGeom>
          <a:noFill/>
          <a:ln/>
        </p:spPr>
        <p:txBody>
          <a:bodyPr wrap="square" lIns="0" tIns="0" rIns="0" bIns="0" rtlCol="0" anchor="t"/>
          <a:lstStyle/>
          <a:p>
            <a:pPr algn="ctr" indent="0" marL="0">
              <a:lnSpc>
                <a:spcPts val="4370"/>
              </a:lnSpc>
              <a:buNone/>
            </a:pPr>
            <a:r>
              <a:rPr lang="en-US" sz="3800" dirty="0">
                <a:solidFill>
                  <a:srgbClr val="F8F3E9"/>
                </a:solidFill>
                <a:latin typeface="Georgia" pitchFamily="34" charset="0"/>
                <a:ea typeface="Georgia" pitchFamily="34" charset="-122"/>
                <a:cs typeface="Georgia" pitchFamily="34" charset="-120"/>
              </a:rPr>
              <a:t>The family is not the context of the problem.</a:t>
            </a:r>
            <a:endParaRPr lang="en-US" sz="3800" dirty="0"/>
          </a:p>
        </p:txBody>
      </p:sp>
      <p:sp>
        <p:nvSpPr>
          <p:cNvPr id="5" name="Shape 3"/>
          <p:cNvSpPr/>
          <p:nvPr/>
        </p:nvSpPr>
        <p:spPr>
          <a:xfrm>
            <a:off x="5074920" y="3794760"/>
            <a:ext cx="2011680" cy="91"/>
          </a:xfrm>
          <a:prstGeom prst="line">
            <a:avLst/>
          </a:prstGeom>
          <a:noFill/>
          <a:ln w="10160">
            <a:solidFill>
              <a:srgbClr val="C2A05F"/>
            </a:solidFill>
            <a:prstDash val="solid"/>
            <a:headEnd type="none"/>
            <a:tailEnd type="none"/>
          </a:ln>
        </p:spPr>
      </p:sp>
      <p:sp>
        <p:nvSpPr>
          <p:cNvPr id="6" name="Text 4"/>
          <p:cNvSpPr txBox="1"/>
          <p:nvPr/>
        </p:nvSpPr>
        <p:spPr>
          <a:xfrm>
            <a:off x="2194560" y="4023360"/>
            <a:ext cx="7772400" cy="437198"/>
          </a:xfrm>
          <a:prstGeom prst="rect">
            <a:avLst/>
          </a:prstGeom>
          <a:noFill/>
          <a:ln/>
        </p:spPr>
        <p:txBody>
          <a:bodyPr wrap="square" lIns="0" tIns="0" rIns="0" bIns="0" rtlCol="0" anchor="t"/>
          <a:lstStyle/>
          <a:p>
            <a:pPr algn="ctr" indent="0" marL="0">
              <a:lnSpc>
                <a:spcPts val="2093"/>
              </a:lnSpc>
              <a:buNone/>
            </a:pPr>
            <a:r>
              <a:rPr lang="en-US" sz="1350" i="1" dirty="0">
                <a:solidFill>
                  <a:srgbClr val="E7D3A9"/>
                </a:solidFill>
                <a:latin typeface="Georgia" pitchFamily="34" charset="0"/>
                <a:ea typeface="Georgia" pitchFamily="34" charset="-122"/>
                <a:cs typeface="Georgia" pitchFamily="34" charset="-120"/>
              </a:rPr>
              <a:t>It is the context of the solution — and the place where a therapist learns to be useful.</a:t>
            </a:r>
            <a:endParaRPr lang="en-US" sz="1350" dirty="0"/>
          </a:p>
        </p:txBody>
      </p:sp>
      <p:sp>
        <p:nvSpPr>
          <p:cNvPr id="7" name="Text 5"/>
          <p:cNvSpPr txBox="1"/>
          <p:nvPr/>
        </p:nvSpPr>
        <p:spPr>
          <a:xfrm>
            <a:off x="1234440" y="5349240"/>
            <a:ext cx="9692640" cy="250698"/>
          </a:xfrm>
          <a:prstGeom prst="rect">
            <a:avLst/>
          </a:prstGeom>
          <a:noFill/>
          <a:ln/>
        </p:spPr>
        <p:txBody>
          <a:bodyPr wrap="square" lIns="0" tIns="0" rIns="0" bIns="0" rtlCol="0" anchor="t"/>
          <a:lstStyle/>
          <a:p>
            <a:pPr algn="ctr" indent="0" marL="0">
              <a:lnSpc>
                <a:spcPts val="1134"/>
              </a:lnSpc>
              <a:buNone/>
            </a:pPr>
            <a:r>
              <a:rPr lang="en-US" sz="840" spc="160" kern="0" dirty="0">
                <a:solidFill>
                  <a:srgbClr val="EFE5D3"/>
                </a:solidFill>
                <a:latin typeface="Calibri" pitchFamily="34" charset="0"/>
                <a:ea typeface="Calibri" pitchFamily="34" charset="-122"/>
                <a:cs typeface="Calibri" pitchFamily="34" charset="-120"/>
              </a:rPr>
              <a:t>NEXT IN THE PROGRAMME · MFT 702 — THEORIES OF FAMILY THERAPY</a:t>
            </a:r>
            <a:endParaRPr lang="en-US" sz="840" dirty="0"/>
          </a:p>
        </p:txBody>
      </p:sp>
      <p:sp>
        <p:nvSpPr>
          <p:cNvPr id="8" name="Text 6"/>
          <p:cNvSpPr txBox="1"/>
          <p:nvPr/>
        </p:nvSpPr>
        <p:spPr>
          <a:xfrm>
            <a:off x="1234440" y="6035040"/>
            <a:ext cx="9692640" cy="220853"/>
          </a:xfrm>
          <a:prstGeom prst="rect">
            <a:avLst/>
          </a:prstGeom>
          <a:noFill/>
          <a:ln/>
        </p:spPr>
        <p:txBody>
          <a:bodyPr wrap="square" lIns="0" tIns="0" rIns="0" bIns="0" rtlCol="0" anchor="t"/>
          <a:lstStyle/>
          <a:p>
            <a:pPr algn="ctr" indent="0" marL="0">
              <a:lnSpc>
                <a:spcPts val="999"/>
              </a:lnSpc>
              <a:buNone/>
            </a:pPr>
            <a:r>
              <a:rPr lang="en-US" sz="740" spc="180" kern="0" dirty="0">
                <a:solidFill>
                  <a:srgbClr val="8B8375"/>
                </a:solidFill>
                <a:latin typeface="Calibri" pitchFamily="34" charset="0"/>
                <a:ea typeface="Calibri" pitchFamily="34" charset="-122"/>
                <a:cs typeface="Calibri" pitchFamily="34" charset="-120"/>
              </a:rPr>
              <a:t>MFT 701 · MASTER OF MARRIAGE AND FAMILY THERAPY</a:t>
            </a:r>
            <a:endParaRPr lang="en-US" sz="740" dirty="0"/>
          </a:p>
        </p:txBody>
      </p:sp>
      <p:sp>
        <p:nvSpPr>
          <p:cNvPr id="9" name="Text 7"/>
          <p:cNvSpPr txBox="1"/>
          <p:nvPr/>
        </p:nvSpPr>
        <p:spPr>
          <a:xfrm>
            <a:off x="10546050" y="6254496"/>
            <a:ext cx="822960" cy="283528"/>
          </a:xfrm>
          <a:prstGeom prst="rect">
            <a:avLst/>
          </a:prstGeom>
          <a:noFill/>
          <a:ln/>
        </p:spPr>
        <p:txBody>
          <a:bodyPr wrap="square" lIns="0" tIns="0" rIns="0" bIns="0" rtlCol="0" anchor="t"/>
          <a:lstStyle/>
          <a:p>
            <a:pPr algn="r" indent="0" marL="0">
              <a:lnSpc>
                <a:spcPts val="1283"/>
              </a:lnSpc>
              <a:buNone/>
            </a:pPr>
            <a:r>
              <a:rPr lang="en-US" sz="950" dirty="0">
                <a:solidFill>
                  <a:srgbClr val="E7D3A9"/>
                </a:solidFill>
                <a:latin typeface="Georgia" pitchFamily="34" charset="0"/>
                <a:ea typeface="Georgia" pitchFamily="34" charset="-122"/>
                <a:cs typeface="Georgia" pitchFamily="34" charset="-120"/>
              </a:rPr>
              <a:t>77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MFT Programme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MFT 701 — Fundamentals of Marriage and Family Therapy</dc:title>
  <dc:subject>Sixteen-week graduate seminar deck</dc:subject>
  <dc:creator>Master of Marriage and Family Therapy</dc:creator>
  <cp:lastModifiedBy>Master of Marriage and Family Therapy</cp:lastModifiedBy>
  <cp:revision>1</cp:revision>
  <dcterms:created xsi:type="dcterms:W3CDTF">2026-10-19T13:40:55Z</dcterms:created>
  <dcterms:modified xsi:type="dcterms:W3CDTF">2026-10-19T13:40:55Z</dcterms:modified>
</cp:coreProperties>
</file>