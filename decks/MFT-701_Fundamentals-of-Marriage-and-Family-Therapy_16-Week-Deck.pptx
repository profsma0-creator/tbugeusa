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Lst>
  <p:notesMasterIdLst>
    <p:notesMasterId r:id="rId79"/>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notesMaster" Target="notesMasters/notesMaster1.xml"/><Relationship Id="rId80" Type="http://schemas.openxmlformats.org/officeDocument/2006/relationships/presProps" Target="presProps.xml"/><Relationship Id="rId81" Type="http://schemas.openxmlformats.org/officeDocument/2006/relationships/viewProps" Target="viewProps.xml"/><Relationship Id="rId82" Type="http://schemas.openxmlformats.org/officeDocument/2006/relationships/theme" Target="theme/theme1.xml"/><Relationship Id="rId8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MFT 701. Introduce the course as an invitation to see relationships rather than individuals as the unit of clinical work. Name the four phases and the assessment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course description slowly. Invite students to say, in one sentence, what they hope this course will change about how they listen.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outcomes are the contract for the semester. Point out that the final portfolio asks for evidence of all six, not a grade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 the class in time. Note that theory is front-loaded so that clinical work in the second half can be comparative rather than descriptive.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weekly rhythm and the preparation expected before each lecture. The seminar is where the learning happens; the lecture only sets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assessment. Emphasise that the case formulation is formative — feedback in Week 9 is meant to feed the final examination.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I: Foundations. Read the phase description and name the four weeks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1. Begin from the essential question: “When the unit of treatment is a relationship, what exactly is it that changes?”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vignette aloud, then give pairs three minutes on the first prompt. Take responses without correcting them. Use the second prompt to surface what is absent from the room, and the third to move toward a testable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2.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2. Begin from the essential question: “What kind of explanation does a system require — and what kind of cause is a pattern?”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Seminar protocol: five minutes of silent writing, then pairs, then plenary. Protect the reflective frame — this is not a debate. Draw out two or three contributions and connect them back to the week’s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3.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3. Begin from the essential question: “How did a profession learn to see relationships — and what did it cost to learn?”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vignette aloud, then give pairs three minutes on the first prompt. Take responses without correcting them. Use the second prompt to surface what is absent from the room, and the third to move toward a testable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4.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4. Begin from the essential question: “If the problem lives in the organisation of the family, what exactly do we change?”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vignette aloud, then give pairs three minutes on the first prompt. Take responses without correcting them. Use the second prompt to surface what is absent from the room, and the third to move toward a testable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II: Theoretical Cartography. Read the phase description and name the four weeks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5.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5. Begin from the essential question: “How does the past continue to speak in the present — and who is loyal to whom?”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Seminar protocol: five minutes of silent writing, then pairs, then plenary. Protect the reflective frame — this is not a debate. Draw out two or three contributions and connect them back to the week’s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6.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6. Begin from the essential question: “What happens when the therapist stops explaining and starts experiencing?”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vignette aloud, then give pairs three minutes on the first prompt. Take responses without correcting them. Use the second prompt to surface what is absent from the room, and the third to move toward a testable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7.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7. Begin from the essential question: “If meaning is made in language, what is therapy making?”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vignette aloud, then give pairs three minutes on the first prompt. Take responses without correcting them. Use the second prompt to surface what is absent from the room, and the third to move toward a testable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8.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8. Begin from the essential question: “How does a therapist choose a theory — and then hold it lightly?”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Seminar protocol: five minutes of silent writing, then pairs, then plenary. Protect the reflective frame — this is not a debate. Draw out two or three contributions and connect them back to the week’s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III: The Clinical Encounter. Read the phase description and name the four weeks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9.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9. Begin from the essential question: “How do you join a system without joining its triangles?”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vignette aloud, then give pairs three minutes on the first prompt. Take responses without correcting them. Use the second prompt to surface what is absent from the room, and the third to move toward a testable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10.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10. Begin from the essential question: “What must a therapist know before intervening — and what does the asking itself do?”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vignette aloud, then give pairs three minutes on the first prompt. Take responses without correcting them. Use the second prompt to surface what is absent from the room, and the third to move toward a testable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11.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11. Begin from the essential question: “Whose confidence is it, when the client is a family?”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Seminar protocol: five minutes of silent writing, then pairs, then plenary. Protect the reflective frame — this is not a debate. Draw out two or three contributions and connect them back to the week’s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12.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12. Begin from the essential question: “Whose normal is the therapy measuring against?”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vignette aloud, then give pairs three minutes on the first prompt. Take responses without correcting them. Use the second prompt to surface what is absent from the room, and the third to move toward a testable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IV: Integration &amp; Transition. Read the phase description and name the four weeks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13.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13. Begin from the essential question: “How does a child’s symptom speak for the family — and to it?”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vignette aloud, then give pairs three minutes on the first prompt. Take responses without correcting them. Use the second prompt to surface what is absent from the room, and the third to move toward a testable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14.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14. Begin from the essential question: “What if the problem is not the argument, but the cycle beneath it?”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Seminar protocol: five minutes of silent writing, then pairs, then plenary. Protect the reflective frame — this is not a debate. Draw out two or three contributions and connect them back to the week’s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15.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15. Begin from the essential question: “When the family changes shape, what holds it together — and what must be made safe first?”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vignette aloud, then give pairs three minutes on the first prompt. Take responses without correcting them. Use the second prompt to surface what is absent from the room, and the third to move toward a testable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16. Ask the essential question and let it sit. Preview the three outcomes; do not read the key terms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16. Begin from the essential question: “How will you know your work is helping — and who are you becoming as a therapist?” Do not resolve it for the class. Work through the three blocks, using a clinical example for each. Close by naming the one idea students must be able to use in supervision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slowly, one element at a time. Ask a student to narrate it back to you in their own words, then ask what the diagram leaves out. The caption is part of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Seminar protocol: five minutes of silent writing, then pairs, then plenary. Protect the reflective frame — this is not a debate. Draw out two or three contributions and connect them back to the week’s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working vocabulary. Ask each student to choose one term they could not yet define precisely, and to write a definition in their journal.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students to the primary texts. The deck is a map; the reading is the territory.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returning to the opening claim: the family is the context of the solution. Invite one sentence from each student about what they will carry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jpe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jpe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jpe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jpe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jpe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jpe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jpe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jpe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jpe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jpe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jpe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jpe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jpe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jpe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jpe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jpe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jpe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Slide-77-image-1.jpe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365760"/>
            <a:ext cx="11460450" cy="6126480"/>
          </a:xfrm>
          <a:prstGeom prst="rect">
            <a:avLst/>
          </a:prstGeom>
          <a:solidFill>
            <a:srgbClr val="FFFFFF">
              <a:alpha val="0"/>
            </a:srgbClr>
          </a:solidFill>
          <a:ln w="6350">
            <a:solidFill>
              <a:srgbClr val="C2A05F"/>
            </a:solidFill>
            <a:prstDash val="solid"/>
          </a:ln>
        </p:spPr>
      </p:sp>
      <p:sp>
        <p:nvSpPr>
          <p:cNvPr id="3" name="Shape 1"/>
          <p:cNvSpPr/>
          <p:nvPr/>
        </p:nvSpPr>
        <p:spPr>
          <a:xfrm>
            <a:off x="493776" y="493776"/>
            <a:ext cx="438912" cy="91"/>
          </a:xfrm>
          <a:prstGeom prst="line">
            <a:avLst/>
          </a:prstGeom>
          <a:noFill/>
          <a:ln w="10160">
            <a:solidFill>
              <a:srgbClr val="E7D3A9">
                <a:alpha val="70000"/>
              </a:srgbClr>
            </a:solidFill>
            <a:prstDash val="solid"/>
            <a:headEnd type="none"/>
            <a:tailEnd type="none"/>
          </a:ln>
        </p:spPr>
      </p:sp>
      <p:sp>
        <p:nvSpPr>
          <p:cNvPr id="4" name="Shape 2"/>
          <p:cNvSpPr/>
          <p:nvPr/>
        </p:nvSpPr>
        <p:spPr>
          <a:xfrm>
            <a:off x="493776" y="493776"/>
            <a:ext cx="91" cy="438912"/>
          </a:xfrm>
          <a:prstGeom prst="line">
            <a:avLst/>
          </a:prstGeom>
          <a:noFill/>
          <a:ln w="10160">
            <a:solidFill>
              <a:srgbClr val="E7D3A9">
                <a:alpha val="70000"/>
              </a:srgbClr>
            </a:solidFill>
            <a:prstDash val="solid"/>
            <a:headEnd type="none"/>
            <a:tailEnd type="none"/>
          </a:ln>
        </p:spPr>
      </p:sp>
      <p:sp>
        <p:nvSpPr>
          <p:cNvPr id="5" name="Text 3"/>
          <p:cNvSpPr txBox="1"/>
          <p:nvPr/>
        </p:nvSpPr>
        <p:spPr>
          <a:xfrm>
            <a:off x="914400" y="960120"/>
            <a:ext cx="7498080" cy="262636"/>
          </a:xfrm>
          <a:prstGeom prst="rect">
            <a:avLst/>
          </a:prstGeom>
          <a:noFill/>
          <a:ln/>
        </p:spPr>
        <p:txBody>
          <a:bodyPr wrap="square" lIns="0" tIns="0" rIns="0" bIns="0" rtlCol="0" anchor="t"/>
          <a:lstStyle/>
          <a:p>
            <a:pPr algn="l" indent="0" marL="0">
              <a:lnSpc>
                <a:spcPts val="1188"/>
              </a:lnSpc>
              <a:buNone/>
            </a:pPr>
            <a:r>
              <a:rPr lang="en-US" sz="880" spc="320" kern="0" dirty="0">
                <a:solidFill>
                  <a:srgbClr val="E7D3A9"/>
                </a:solidFill>
                <a:latin typeface="Calibri" pitchFamily="34" charset="0"/>
                <a:ea typeface="Calibri" pitchFamily="34" charset="-122"/>
                <a:cs typeface="Calibri" pitchFamily="34" charset="-120"/>
              </a:rPr>
              <a:t>MASTER OF MARRIAGE AND FAMILY THERAPY</a:t>
            </a:r>
            <a:endParaRPr lang="en-US" sz="880" dirty="0"/>
          </a:p>
        </p:txBody>
      </p:sp>
      <p:sp>
        <p:nvSpPr>
          <p:cNvPr id="6" name="Shape 4"/>
          <p:cNvSpPr/>
          <p:nvPr/>
        </p:nvSpPr>
        <p:spPr>
          <a:xfrm>
            <a:off x="932688" y="1298448"/>
            <a:ext cx="987552" cy="91"/>
          </a:xfrm>
          <a:prstGeom prst="line">
            <a:avLst/>
          </a:prstGeom>
          <a:noFill/>
          <a:ln w="10160">
            <a:solidFill>
              <a:srgbClr val="C2A05F">
                <a:alpha val="80000"/>
              </a:srgbClr>
            </a:solidFill>
            <a:prstDash val="solid"/>
            <a:headEnd type="none"/>
            <a:tailEnd type="none"/>
          </a:ln>
        </p:spPr>
      </p:sp>
      <p:sp>
        <p:nvSpPr>
          <p:cNvPr id="7" name="Text 5"/>
          <p:cNvSpPr txBox="1"/>
          <p:nvPr/>
        </p:nvSpPr>
        <p:spPr>
          <a:xfrm>
            <a:off x="896112" y="1883664"/>
            <a:ext cx="8138160" cy="2139696"/>
          </a:xfrm>
          <a:prstGeom prst="rect">
            <a:avLst/>
          </a:prstGeom>
          <a:noFill/>
          <a:ln/>
        </p:spPr>
        <p:txBody>
          <a:bodyPr wrap="square" lIns="0" tIns="0" rIns="0" bIns="0" rtlCol="0" anchor="t"/>
          <a:lstStyle/>
          <a:p>
            <a:pPr algn="l" indent="0" marL="0">
              <a:lnSpc>
                <a:spcPts val="5724"/>
              </a:lnSpc>
              <a:buNone/>
            </a:pPr>
            <a:r>
              <a:rPr lang="en-US" sz="5400" dirty="0">
                <a:solidFill>
                  <a:srgbClr val="F8F3E9"/>
                </a:solidFill>
                <a:latin typeface="Georgia" pitchFamily="34" charset="0"/>
                <a:ea typeface="Georgia" pitchFamily="34" charset="-122"/>
                <a:cs typeface="Georgia" pitchFamily="34" charset="-120"/>
              </a:rPr>
              <a:t>Fundamentals of Marriage</a:t>
            </a:r>
            <a:endParaRPr lang="en-US" sz="5400" dirty="0"/>
          </a:p>
          <a:p>
            <a:pPr algn="l" indent="0" marL="0">
              <a:lnSpc>
                <a:spcPts val="5724"/>
              </a:lnSpc>
              <a:buNone/>
            </a:pPr>
            <a:r>
              <a:rPr lang="en-US" sz="5400" dirty="0">
                <a:solidFill>
                  <a:srgbClr val="F8F3E9"/>
                </a:solidFill>
                <a:latin typeface="Georgia" pitchFamily="34" charset="0"/>
                <a:ea typeface="Georgia" pitchFamily="34" charset="-122"/>
                <a:cs typeface="Georgia" pitchFamily="34" charset="-120"/>
              </a:rPr>
              <a:t>and Family Therapy</a:t>
            </a:r>
            <a:endParaRPr lang="en-US" sz="5400" dirty="0"/>
          </a:p>
        </p:txBody>
      </p:sp>
      <p:sp>
        <p:nvSpPr>
          <p:cNvPr id="8" name="Shape 6"/>
          <p:cNvSpPr/>
          <p:nvPr/>
        </p:nvSpPr>
        <p:spPr>
          <a:xfrm>
            <a:off x="932688" y="3648456"/>
            <a:ext cx="2084832" cy="91"/>
          </a:xfrm>
          <a:prstGeom prst="line">
            <a:avLst/>
          </a:prstGeom>
          <a:noFill/>
          <a:ln w="11430">
            <a:solidFill>
              <a:srgbClr val="C2A05F"/>
            </a:solidFill>
            <a:prstDash val="solid"/>
            <a:headEnd type="none"/>
            <a:tailEnd type="none"/>
          </a:ln>
        </p:spPr>
      </p:sp>
      <p:sp>
        <p:nvSpPr>
          <p:cNvPr id="9" name="Text 7"/>
          <p:cNvSpPr txBox="1"/>
          <p:nvPr/>
        </p:nvSpPr>
        <p:spPr>
          <a:xfrm>
            <a:off x="914400" y="3813048"/>
            <a:ext cx="7680960" cy="487680"/>
          </a:xfrm>
          <a:prstGeom prst="rect">
            <a:avLst/>
          </a:prstGeom>
          <a:noFill/>
          <a:ln/>
        </p:spPr>
        <p:txBody>
          <a:bodyPr wrap="square" lIns="0" tIns="0" rIns="0" bIns="0" rtlCol="0" anchor="t"/>
          <a:lstStyle/>
          <a:p>
            <a:pPr algn="l" indent="0" marL="0">
              <a:lnSpc>
                <a:spcPts val="2240"/>
              </a:lnSpc>
              <a:buNone/>
            </a:pPr>
            <a:r>
              <a:rPr lang="en-US" sz="1600" i="1" dirty="0">
                <a:solidFill>
                  <a:srgbClr val="E7D3A9"/>
                </a:solidFill>
                <a:latin typeface="Georgia" pitchFamily="34" charset="0"/>
                <a:ea typeface="Georgia" pitchFamily="34" charset="-122"/>
                <a:cs typeface="Georgia" pitchFamily="34" charset="-120"/>
              </a:rPr>
              <a:t>A Sixteen-Week Graduate Seminar</a:t>
            </a:r>
            <a:endParaRPr lang="en-US" sz="1600" dirty="0"/>
          </a:p>
        </p:txBody>
      </p:sp>
      <p:sp>
        <p:nvSpPr>
          <p:cNvPr id="10" name="Text 8"/>
          <p:cNvSpPr txBox="1"/>
          <p:nvPr/>
        </p:nvSpPr>
        <p:spPr>
          <a:xfrm>
            <a:off x="914400" y="4361688"/>
            <a:ext cx="7315200" cy="274574"/>
          </a:xfrm>
          <a:prstGeom prst="rect">
            <a:avLst/>
          </a:prstGeom>
          <a:noFill/>
          <a:ln/>
        </p:spPr>
        <p:txBody>
          <a:bodyPr wrap="square" lIns="0" tIns="0" rIns="0" bIns="0" rtlCol="0" anchor="t"/>
          <a:lstStyle/>
          <a:p>
            <a:pPr algn="l" indent="0" marL="0">
              <a:lnSpc>
                <a:spcPts val="1242"/>
              </a:lnSpc>
              <a:buNone/>
            </a:pPr>
            <a:r>
              <a:rPr lang="en-US" sz="920" spc="120" kern="0" dirty="0">
                <a:solidFill>
                  <a:srgbClr val="EFE5D3"/>
                </a:solidFill>
                <a:latin typeface="Calibri" pitchFamily="34" charset="0"/>
                <a:ea typeface="Calibri" pitchFamily="34" charset="-122"/>
                <a:cs typeface="Calibri" pitchFamily="34" charset="-120"/>
              </a:rPr>
              <a:t>THEORY · PRACTICE · SUPERVISION · PROFESSIONAL IDENTITY</a:t>
            </a:r>
            <a:endParaRPr lang="en-US" sz="920" dirty="0"/>
          </a:p>
        </p:txBody>
      </p:sp>
      <p:sp>
        <p:nvSpPr>
          <p:cNvPr id="11" name="Text 9"/>
          <p:cNvSpPr txBox="1"/>
          <p:nvPr/>
        </p:nvSpPr>
        <p:spPr>
          <a:xfrm>
            <a:off x="8732520" y="1847088"/>
            <a:ext cx="2834640" cy="328295"/>
          </a:xfrm>
          <a:prstGeom prst="rect">
            <a:avLst/>
          </a:prstGeom>
          <a:noFill/>
          <a:ln/>
        </p:spPr>
        <p:txBody>
          <a:bodyPr wrap="square" lIns="0" tIns="0" rIns="0" bIns="0" rtlCol="0" anchor="t"/>
          <a:lstStyle/>
          <a:p>
            <a:pPr algn="r" indent="0" marL="0">
              <a:lnSpc>
                <a:spcPts val="1485"/>
              </a:lnSpc>
              <a:buNone/>
            </a:pPr>
            <a:r>
              <a:rPr lang="en-US" sz="1100" spc="800" kern="0" dirty="0">
                <a:solidFill>
                  <a:srgbClr val="C2A05F"/>
                </a:solidFill>
                <a:latin typeface="Calibri" pitchFamily="34" charset="0"/>
                <a:ea typeface="Calibri" pitchFamily="34" charset="-122"/>
                <a:cs typeface="Calibri" pitchFamily="34" charset="-120"/>
              </a:rPr>
              <a:t>MFT</a:t>
            </a:r>
            <a:endParaRPr lang="en-US" sz="1100" dirty="0"/>
          </a:p>
        </p:txBody>
      </p:sp>
      <p:sp>
        <p:nvSpPr>
          <p:cNvPr id="12" name="Shape 10"/>
          <p:cNvSpPr/>
          <p:nvPr/>
        </p:nvSpPr>
        <p:spPr>
          <a:xfrm>
            <a:off x="9802368" y="2139696"/>
            <a:ext cx="1444752" cy="91"/>
          </a:xfrm>
          <a:prstGeom prst="line">
            <a:avLst/>
          </a:prstGeom>
          <a:noFill/>
          <a:ln w="7620">
            <a:solidFill>
              <a:srgbClr val="C2A05F">
                <a:alpha val="70000"/>
              </a:srgbClr>
            </a:solidFill>
            <a:prstDash val="solid"/>
            <a:headEnd type="none"/>
            <a:tailEnd type="none"/>
          </a:ln>
        </p:spPr>
      </p:sp>
      <p:sp>
        <p:nvSpPr>
          <p:cNvPr id="13" name="Text 11"/>
          <p:cNvSpPr txBox="1"/>
          <p:nvPr/>
        </p:nvSpPr>
        <p:spPr>
          <a:xfrm>
            <a:off x="8549640" y="2212848"/>
            <a:ext cx="2788920" cy="2336800"/>
          </a:xfrm>
          <a:prstGeom prst="rect">
            <a:avLst/>
          </a:prstGeom>
          <a:noFill/>
          <a:ln/>
        </p:spPr>
        <p:txBody>
          <a:bodyPr wrap="square" lIns="0" tIns="0" rIns="0" bIns="0" rtlCol="0" anchor="t"/>
          <a:lstStyle/>
          <a:p>
            <a:pPr algn="r" indent="0" marL="0">
              <a:lnSpc>
                <a:spcPts val="9200"/>
              </a:lnSpc>
              <a:buNone/>
            </a:pPr>
            <a:r>
              <a:rPr lang="en-US" sz="9200" dirty="0">
                <a:solidFill>
                  <a:srgbClr val="E7D3A9"/>
                </a:solidFill>
                <a:latin typeface="Georgia" pitchFamily="34" charset="0"/>
                <a:ea typeface="Georgia" pitchFamily="34" charset="-122"/>
                <a:cs typeface="Georgia" pitchFamily="34" charset="-120"/>
              </a:rPr>
              <a:t>701</a:t>
            </a:r>
            <a:endParaRPr lang="en-US" sz="9200" dirty="0"/>
          </a:p>
        </p:txBody>
      </p:sp>
      <p:sp>
        <p:nvSpPr>
          <p:cNvPr id="14" name="Text 12"/>
          <p:cNvSpPr txBox="1"/>
          <p:nvPr/>
        </p:nvSpPr>
        <p:spPr>
          <a:xfrm>
            <a:off x="8595360" y="3703320"/>
            <a:ext cx="2743200" cy="238760"/>
          </a:xfrm>
          <a:prstGeom prst="rect">
            <a:avLst/>
          </a:prstGeom>
          <a:noFill/>
          <a:ln/>
        </p:spPr>
        <p:txBody>
          <a:bodyPr wrap="square" lIns="0" tIns="0" rIns="0" bIns="0" rtlCol="0" anchor="t"/>
          <a:lstStyle/>
          <a:p>
            <a:pPr algn="r" indent="0" marL="0">
              <a:lnSpc>
                <a:spcPts val="1080"/>
              </a:lnSpc>
              <a:buNone/>
            </a:pPr>
            <a:r>
              <a:rPr lang="en-US" sz="800" spc="320" kern="0" dirty="0">
                <a:solidFill>
                  <a:srgbClr val="EFE5D3"/>
                </a:solidFill>
                <a:latin typeface="Calibri" pitchFamily="34" charset="0"/>
                <a:ea typeface="Calibri" pitchFamily="34" charset="-122"/>
                <a:cs typeface="Calibri" pitchFamily="34" charset="-120"/>
              </a:rPr>
              <a:t>COURSE DECK</a:t>
            </a:r>
            <a:endParaRPr lang="en-US" sz="800" dirty="0"/>
          </a:p>
        </p:txBody>
      </p:sp>
      <p:sp>
        <p:nvSpPr>
          <p:cNvPr id="15" name="Text 13"/>
          <p:cNvSpPr txBox="1"/>
          <p:nvPr/>
        </p:nvSpPr>
        <p:spPr>
          <a:xfrm>
            <a:off x="8595360" y="3950208"/>
            <a:ext cx="2743200" cy="387985"/>
          </a:xfrm>
          <a:prstGeom prst="rect">
            <a:avLst/>
          </a:prstGeom>
          <a:noFill/>
          <a:ln/>
        </p:spPr>
        <p:txBody>
          <a:bodyPr wrap="square" lIns="0" tIns="0" rIns="0" bIns="0" rtlCol="0" anchor="t"/>
          <a:lstStyle/>
          <a:p>
            <a:pPr algn="r" indent="0" marL="0">
              <a:lnSpc>
                <a:spcPts val="1755"/>
              </a:lnSpc>
              <a:buNone/>
            </a:pPr>
            <a:r>
              <a:rPr lang="en-US" sz="1300" i="1" dirty="0">
                <a:solidFill>
                  <a:srgbClr val="EFE5D3"/>
                </a:solidFill>
                <a:latin typeface="Georgia" pitchFamily="34" charset="0"/>
                <a:ea typeface="Georgia" pitchFamily="34" charset="-122"/>
                <a:cs typeface="Georgia" pitchFamily="34" charset="-120"/>
              </a:rPr>
              <a:t>Weeks 1 – 16</a:t>
            </a:r>
            <a:endParaRPr lang="en-US" sz="1300" dirty="0"/>
          </a:p>
        </p:txBody>
      </p:sp>
      <p:sp>
        <p:nvSpPr>
          <p:cNvPr id="16" name="Shape 14"/>
          <p:cNvSpPr/>
          <p:nvPr/>
        </p:nvSpPr>
        <p:spPr>
          <a:xfrm>
            <a:off x="914400" y="5358384"/>
            <a:ext cx="6949440" cy="91"/>
          </a:xfrm>
          <a:prstGeom prst="line">
            <a:avLst/>
          </a:prstGeom>
          <a:noFill/>
          <a:ln w="6350">
            <a:solidFill>
              <a:srgbClr val="C2A05F">
                <a:alpha val="35000"/>
              </a:srgbClr>
            </a:solidFill>
            <a:prstDash val="solid"/>
            <a:headEnd type="none"/>
            <a:tailEnd type="none"/>
          </a:ln>
        </p:spPr>
      </p:sp>
      <p:sp>
        <p:nvSpPr>
          <p:cNvPr id="17" name="Text 15"/>
          <p:cNvSpPr txBox="1"/>
          <p:nvPr/>
        </p:nvSpPr>
        <p:spPr>
          <a:xfrm>
            <a:off x="914400" y="5486400"/>
            <a:ext cx="4937760" cy="238760"/>
          </a:xfrm>
          <a:prstGeom prst="rect">
            <a:avLst/>
          </a:prstGeom>
          <a:noFill/>
          <a:ln/>
        </p:spPr>
        <p:txBody>
          <a:bodyPr wrap="square" lIns="0" tIns="0" rIns="0" bIns="0" rtlCol="0" anchor="t"/>
          <a:lstStyle/>
          <a:p>
            <a:pPr algn="l" indent="0" marL="0">
              <a:lnSpc>
                <a:spcPts val="1080"/>
              </a:lnSpc>
              <a:buNone/>
            </a:pPr>
            <a:r>
              <a:rPr lang="en-US" sz="800" spc="180" kern="0" dirty="0">
                <a:solidFill>
                  <a:srgbClr val="EFE5D3"/>
                </a:solidFill>
                <a:latin typeface="Calibri" pitchFamily="34" charset="0"/>
                <a:ea typeface="Calibri" pitchFamily="34" charset="-122"/>
                <a:cs typeface="Calibri" pitchFamily="34" charset="-120"/>
              </a:rPr>
              <a:t>FIRST SEMESTER</a:t>
            </a:r>
            <a:endParaRPr lang="en-US" sz="800" dirty="0"/>
          </a:p>
        </p:txBody>
      </p:sp>
      <p:sp>
        <p:nvSpPr>
          <p:cNvPr id="18" name="Text 16"/>
          <p:cNvSpPr txBox="1"/>
          <p:nvPr/>
        </p:nvSpPr>
        <p:spPr>
          <a:xfrm>
            <a:off x="6035040" y="5486400"/>
            <a:ext cx="2377440" cy="238760"/>
          </a:xfrm>
          <a:prstGeom prst="rect">
            <a:avLst/>
          </a:prstGeom>
          <a:noFill/>
          <a:ln/>
        </p:spPr>
        <p:txBody>
          <a:bodyPr wrap="square" lIns="0" tIns="0" rIns="0" bIns="0" rtlCol="0" anchor="t"/>
          <a:lstStyle/>
          <a:p>
            <a:pPr algn="l" indent="0" marL="0">
              <a:lnSpc>
                <a:spcPts val="1080"/>
              </a:lnSpc>
              <a:buNone/>
            </a:pPr>
            <a:r>
              <a:rPr lang="en-US" sz="800" spc="180" kern="0" dirty="0">
                <a:solidFill>
                  <a:srgbClr val="EFE5D3"/>
                </a:solidFill>
                <a:latin typeface="Calibri" pitchFamily="34" charset="0"/>
                <a:ea typeface="Calibri" pitchFamily="34" charset="-122"/>
                <a:cs typeface="Calibri" pitchFamily="34" charset="-120"/>
              </a:rPr>
              <a:t>1.71 UNITS</a:t>
            </a:r>
            <a:endParaRPr lang="en-US" sz="800" dirty="0"/>
          </a:p>
        </p:txBody>
      </p:sp>
      <p:sp>
        <p:nvSpPr>
          <p:cNvPr id="19" name="Text 17"/>
          <p:cNvSpPr txBox="1"/>
          <p:nvPr/>
        </p:nvSpPr>
        <p:spPr>
          <a:xfrm>
            <a:off x="8595360" y="5486400"/>
            <a:ext cx="2743200" cy="238760"/>
          </a:xfrm>
          <a:prstGeom prst="rect">
            <a:avLst/>
          </a:prstGeom>
          <a:noFill/>
          <a:ln/>
        </p:spPr>
        <p:txBody>
          <a:bodyPr wrap="square" lIns="0" tIns="0" rIns="0" bIns="0" rtlCol="0" anchor="t"/>
          <a:lstStyle/>
          <a:p>
            <a:pPr algn="r" indent="0" marL="0">
              <a:lnSpc>
                <a:spcPts val="1080"/>
              </a:lnSpc>
              <a:buNone/>
            </a:pPr>
            <a:r>
              <a:rPr lang="en-US" sz="800" spc="180" kern="0" dirty="0">
                <a:solidFill>
                  <a:srgbClr val="8B8375"/>
                </a:solidFill>
                <a:latin typeface="Calibri" pitchFamily="34" charset="0"/>
                <a:ea typeface="Calibri" pitchFamily="34" charset="-122"/>
                <a:cs typeface="Calibri" pitchFamily="34" charset="-120"/>
              </a:rPr>
              <a:t>16 WEEKS · 77 SLIDES</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COURSE DESCRIPTION</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02</a:t>
            </a:r>
            <a:endParaRPr lang="en-US" sz="950" dirty="0"/>
          </a:p>
        </p:txBody>
      </p:sp>
      <p:sp>
        <p:nvSpPr>
          <p:cNvPr id="8" name="Text 6"/>
          <p:cNvSpPr txBox="1"/>
          <p:nvPr/>
        </p:nvSpPr>
        <p:spPr>
          <a:xfrm>
            <a:off x="822960" y="960120"/>
            <a:ext cx="6812280" cy="1028700"/>
          </a:xfrm>
          <a:prstGeom prst="rect">
            <a:avLst/>
          </a:prstGeom>
          <a:noFill/>
          <a:ln/>
        </p:spPr>
        <p:txBody>
          <a:bodyPr wrap="square" lIns="0" tIns="0" rIns="0" bIns="0" rtlCol="0" anchor="t"/>
          <a:lstStyle/>
          <a:p>
            <a:pPr algn="l" indent="0" marL="0">
              <a:lnSpc>
                <a:spcPts val="2800"/>
              </a:lnSpc>
              <a:buNone/>
            </a:pPr>
            <a:r>
              <a:rPr lang="en-US" sz="2500" dirty="0">
                <a:solidFill>
                  <a:srgbClr val="1B1815"/>
                </a:solidFill>
                <a:latin typeface="Georgia" pitchFamily="34" charset="0"/>
                <a:ea typeface="Georgia" pitchFamily="34" charset="-122"/>
                <a:cs typeface="Georgia" pitchFamily="34" charset="-120"/>
              </a:rPr>
              <a:t>A discipline of relationship, not a technique of</a:t>
            </a:r>
            <a:endParaRPr lang="en-US" sz="2500" dirty="0"/>
          </a:p>
          <a:p>
            <a:pPr algn="l" indent="0" marL="0">
              <a:lnSpc>
                <a:spcPts val="2800"/>
              </a:lnSpc>
              <a:buNone/>
            </a:pPr>
            <a:r>
              <a:rPr lang="en-US" sz="2500" dirty="0">
                <a:solidFill>
                  <a:srgbClr val="1B1815"/>
                </a:solidFill>
                <a:latin typeface="Georgia" pitchFamily="34" charset="0"/>
                <a:ea typeface="Georgia" pitchFamily="34" charset="-122"/>
                <a:cs typeface="Georgia" pitchFamily="34" charset="-120"/>
              </a:rPr>
              <a:t>repair</a:t>
            </a:r>
            <a:endParaRPr lang="en-US" sz="2500" dirty="0"/>
          </a:p>
        </p:txBody>
      </p:sp>
      <p:sp>
        <p:nvSpPr>
          <p:cNvPr id="9" name="Text 7"/>
          <p:cNvSpPr txBox="1"/>
          <p:nvPr/>
        </p:nvSpPr>
        <p:spPr>
          <a:xfrm>
            <a:off x="822960" y="1817624"/>
            <a:ext cx="6675120" cy="942340"/>
          </a:xfrm>
          <a:prstGeom prst="rect">
            <a:avLst/>
          </a:prstGeom>
          <a:noFill/>
          <a:ln/>
        </p:spPr>
        <p:txBody>
          <a:bodyPr wrap="square" lIns="0" tIns="0" rIns="0" bIns="0" rtlCol="0" anchor="t"/>
          <a:lstStyle/>
          <a:p>
            <a:pPr algn="l" indent="0" marL="0">
              <a:lnSpc>
                <a:spcPts val="1590"/>
              </a:lnSpc>
              <a:buNone/>
            </a:pPr>
            <a:r>
              <a:rPr lang="en-US" sz="1060" dirty="0">
                <a:solidFill>
                  <a:srgbClr val="5B544A"/>
                </a:solidFill>
                <a:latin typeface="Calibri" pitchFamily="34" charset="0"/>
                <a:ea typeface="Calibri" pitchFamily="34" charset="-122"/>
                <a:cs typeface="Calibri" pitchFamily="34" charset="-120"/>
              </a:rPr>
              <a:t>This course introduces marriage and family therapy as a distinctive discipline: a way of understanding distress as it is</a:t>
            </a:r>
            <a:endParaRPr lang="en-US" sz="1060" dirty="0"/>
          </a:p>
          <a:p>
            <a:pPr algn="l" indent="0" marL="0">
              <a:lnSpc>
                <a:spcPts val="1590"/>
              </a:lnSpc>
              <a:buNone/>
            </a:pPr>
            <a:r>
              <a:rPr lang="en-US" sz="1060" dirty="0">
                <a:solidFill>
                  <a:srgbClr val="5B544A"/>
                </a:solidFill>
                <a:latin typeface="Calibri" pitchFamily="34" charset="0"/>
                <a:ea typeface="Calibri" pitchFamily="34" charset="-122"/>
                <a:cs typeface="Calibri" pitchFamily="34" charset="-120"/>
              </a:rPr>
              <a:t>produced, maintained and transformed in relationships. Students encounter the field’s intellectual history, its major</a:t>
            </a:r>
            <a:endParaRPr lang="en-US" sz="1060" dirty="0"/>
          </a:p>
          <a:p>
            <a:pPr algn="l" indent="0" marL="0">
              <a:lnSpc>
                <a:spcPts val="1590"/>
              </a:lnSpc>
              <a:buNone/>
            </a:pPr>
            <a:r>
              <a:rPr lang="en-US" sz="1060" dirty="0">
                <a:solidFill>
                  <a:srgbClr val="5B544A"/>
                </a:solidFill>
                <a:latin typeface="Calibri" pitchFamily="34" charset="0"/>
                <a:ea typeface="Calibri" pitchFamily="34" charset="-122"/>
                <a:cs typeface="Calibri" pitchFamily="34" charset="-120"/>
              </a:rPr>
              <a:t>theoretical traditions, and the practical and ethical demands of clinical work with couples and families. The emphasis</a:t>
            </a:r>
            <a:endParaRPr lang="en-US" sz="1060" dirty="0"/>
          </a:p>
          <a:p>
            <a:pPr algn="l" indent="0" marL="0">
              <a:lnSpc>
                <a:spcPts val="1590"/>
              </a:lnSpc>
              <a:buNone/>
            </a:pPr>
            <a:r>
              <a:rPr lang="en-US" sz="1060" dirty="0">
                <a:solidFill>
                  <a:srgbClr val="5B544A"/>
                </a:solidFill>
                <a:latin typeface="Calibri" pitchFamily="34" charset="0"/>
                <a:ea typeface="Calibri" pitchFamily="34" charset="-122"/>
                <a:cs typeface="Calibri" pitchFamily="34" charset="-120"/>
              </a:rPr>
              <a:t>throughout is on systemic thinking — learning to see patterns, contexts and meanings rather than isolated symptoms.</a:t>
            </a:r>
            <a:endParaRPr lang="en-US" sz="1060" dirty="0"/>
          </a:p>
        </p:txBody>
      </p:sp>
      <p:sp>
        <p:nvSpPr>
          <p:cNvPr id="10" name="Shape 8"/>
          <p:cNvSpPr/>
          <p:nvPr/>
        </p:nvSpPr>
        <p:spPr>
          <a:xfrm>
            <a:off x="7882128" y="1097280"/>
            <a:ext cx="3483864" cy="3054096"/>
          </a:xfrm>
          <a:prstGeom prst="roundRect">
            <a:avLst>
              <a:gd name="adj" fmla="val 179"/>
            </a:avLst>
          </a:prstGeom>
          <a:solidFill>
            <a:srgbClr val="EFE5D3">
              <a:alpha val="50000"/>
            </a:srgbClr>
          </a:solidFill>
          <a:ln w="12700">
            <a:solidFill>
              <a:srgbClr val="FFFFFF">
                <a:alpha val="0"/>
              </a:srgbClr>
            </a:solidFill>
            <a:prstDash val="solid"/>
          </a:ln>
        </p:spPr>
      </p:sp>
      <p:sp>
        <p:nvSpPr>
          <p:cNvPr id="11" name="Text 9"/>
          <p:cNvSpPr txBox="1"/>
          <p:nvPr/>
        </p:nvSpPr>
        <p:spPr>
          <a:xfrm>
            <a:off x="8138160" y="1298448"/>
            <a:ext cx="3026664" cy="196977"/>
          </a:xfrm>
          <a:prstGeom prst="rect">
            <a:avLst/>
          </a:prstGeom>
          <a:noFill/>
          <a:ln/>
        </p:spPr>
        <p:txBody>
          <a:bodyPr wrap="square" lIns="0" tIns="0" rIns="0" bIns="0" rtlCol="0" anchor="t"/>
          <a:lstStyle/>
          <a:p>
            <a:pPr algn="l" indent="0" marL="0">
              <a:lnSpc>
                <a:spcPts val="891"/>
              </a:lnSpc>
              <a:buNone/>
            </a:pPr>
            <a:r>
              <a:rPr lang="en-US" sz="660" b="1" spc="190" kern="0" dirty="0">
                <a:solidFill>
                  <a:srgbClr val="96733C"/>
                </a:solidFill>
                <a:latin typeface="Calibri" pitchFamily="34" charset="0"/>
                <a:ea typeface="Calibri" pitchFamily="34" charset="-122"/>
                <a:cs typeface="Calibri" pitchFamily="34" charset="-120"/>
              </a:rPr>
              <a:t>AT A GLANCE</a:t>
            </a:r>
            <a:endParaRPr lang="en-US" sz="660" dirty="0"/>
          </a:p>
        </p:txBody>
      </p:sp>
      <p:sp>
        <p:nvSpPr>
          <p:cNvPr id="12" name="Text 10"/>
          <p:cNvSpPr txBox="1"/>
          <p:nvPr/>
        </p:nvSpPr>
        <p:spPr>
          <a:xfrm>
            <a:off x="8138160" y="1627632"/>
            <a:ext cx="960120" cy="208915"/>
          </a:xfrm>
          <a:prstGeom prst="rect">
            <a:avLst/>
          </a:prstGeom>
          <a:noFill/>
          <a:ln/>
        </p:spPr>
        <p:txBody>
          <a:bodyPr wrap="square" lIns="0" tIns="0" rIns="0" bIns="0" rtlCol="0" anchor="t"/>
          <a:lstStyle/>
          <a:p>
            <a:pPr algn="l" indent="0" marL="0">
              <a:lnSpc>
                <a:spcPts val="945"/>
              </a:lnSpc>
              <a:buNone/>
            </a:pPr>
            <a:r>
              <a:rPr lang="en-US" sz="700" spc="110" kern="0" dirty="0">
                <a:solidFill>
                  <a:srgbClr val="8B8375"/>
                </a:solidFill>
                <a:latin typeface="Calibri" pitchFamily="34" charset="0"/>
                <a:ea typeface="Calibri" pitchFamily="34" charset="-122"/>
                <a:cs typeface="Calibri" pitchFamily="34" charset="-120"/>
              </a:rPr>
              <a:t>SEMESTER</a:t>
            </a:r>
            <a:endParaRPr lang="en-US" sz="700" dirty="0"/>
          </a:p>
        </p:txBody>
      </p:sp>
      <p:sp>
        <p:nvSpPr>
          <p:cNvPr id="13" name="Text 11"/>
          <p:cNvSpPr txBox="1"/>
          <p:nvPr/>
        </p:nvSpPr>
        <p:spPr>
          <a:xfrm>
            <a:off x="9125712" y="1600200"/>
            <a:ext cx="2020824" cy="240030"/>
          </a:xfrm>
          <a:prstGeom prst="rect">
            <a:avLst/>
          </a:prstGeom>
          <a:noFill/>
          <a:ln/>
        </p:spPr>
        <p:txBody>
          <a:bodyPr wrap="square" lIns="0" tIns="0" rIns="0" bIns="0" rtlCol="0" anchor="t"/>
          <a:lstStyle/>
          <a:p>
            <a:pPr algn="l" indent="0" marL="0">
              <a:lnSpc>
                <a:spcPts val="1050"/>
              </a:lnSpc>
              <a:buNone/>
            </a:pPr>
            <a:r>
              <a:rPr lang="en-US" sz="840" dirty="0">
                <a:solidFill>
                  <a:srgbClr val="3F3A33"/>
                </a:solidFill>
                <a:latin typeface="Calibri" pitchFamily="34" charset="0"/>
                <a:ea typeface="Calibri" pitchFamily="34" charset="-122"/>
                <a:cs typeface="Calibri" pitchFamily="34" charset="-120"/>
              </a:rPr>
              <a:t>First Semester</a:t>
            </a:r>
            <a:endParaRPr lang="en-US" sz="840" dirty="0"/>
          </a:p>
        </p:txBody>
      </p:sp>
      <p:sp>
        <p:nvSpPr>
          <p:cNvPr id="14" name="Shape 12"/>
          <p:cNvSpPr/>
          <p:nvPr/>
        </p:nvSpPr>
        <p:spPr>
          <a:xfrm>
            <a:off x="8138160" y="1975104"/>
            <a:ext cx="2990088" cy="91"/>
          </a:xfrm>
          <a:prstGeom prst="line">
            <a:avLst/>
          </a:prstGeom>
          <a:noFill/>
          <a:ln w="4445">
            <a:solidFill>
              <a:srgbClr val="D9CDB7"/>
            </a:solidFill>
            <a:prstDash val="solid"/>
            <a:headEnd type="none"/>
            <a:tailEnd type="none"/>
          </a:ln>
        </p:spPr>
      </p:sp>
      <p:sp>
        <p:nvSpPr>
          <p:cNvPr id="15" name="Text 13"/>
          <p:cNvSpPr txBox="1"/>
          <p:nvPr/>
        </p:nvSpPr>
        <p:spPr>
          <a:xfrm>
            <a:off x="8138160" y="2084832"/>
            <a:ext cx="960120" cy="208915"/>
          </a:xfrm>
          <a:prstGeom prst="rect">
            <a:avLst/>
          </a:prstGeom>
          <a:noFill/>
          <a:ln/>
        </p:spPr>
        <p:txBody>
          <a:bodyPr wrap="square" lIns="0" tIns="0" rIns="0" bIns="0" rtlCol="0" anchor="t"/>
          <a:lstStyle/>
          <a:p>
            <a:pPr algn="l" indent="0" marL="0">
              <a:lnSpc>
                <a:spcPts val="945"/>
              </a:lnSpc>
              <a:buNone/>
            </a:pPr>
            <a:r>
              <a:rPr lang="en-US" sz="700" spc="110" kern="0" dirty="0">
                <a:solidFill>
                  <a:srgbClr val="8B8375"/>
                </a:solidFill>
                <a:latin typeface="Calibri" pitchFamily="34" charset="0"/>
                <a:ea typeface="Calibri" pitchFamily="34" charset="-122"/>
                <a:cs typeface="Calibri" pitchFamily="34" charset="-120"/>
              </a:rPr>
              <a:t>CREDIT</a:t>
            </a:r>
            <a:endParaRPr lang="en-US" sz="700" dirty="0"/>
          </a:p>
        </p:txBody>
      </p:sp>
      <p:sp>
        <p:nvSpPr>
          <p:cNvPr id="16" name="Text 14"/>
          <p:cNvSpPr txBox="1"/>
          <p:nvPr/>
        </p:nvSpPr>
        <p:spPr>
          <a:xfrm>
            <a:off x="9125712" y="2057400"/>
            <a:ext cx="2020824" cy="240030"/>
          </a:xfrm>
          <a:prstGeom prst="rect">
            <a:avLst/>
          </a:prstGeom>
          <a:noFill/>
          <a:ln/>
        </p:spPr>
        <p:txBody>
          <a:bodyPr wrap="square" lIns="0" tIns="0" rIns="0" bIns="0" rtlCol="0" anchor="t"/>
          <a:lstStyle/>
          <a:p>
            <a:pPr algn="l" indent="0" marL="0">
              <a:lnSpc>
                <a:spcPts val="1050"/>
              </a:lnSpc>
              <a:buNone/>
            </a:pPr>
            <a:r>
              <a:rPr lang="en-US" sz="840" dirty="0">
                <a:solidFill>
                  <a:srgbClr val="3F3A33"/>
                </a:solidFill>
                <a:latin typeface="Calibri" pitchFamily="34" charset="0"/>
                <a:ea typeface="Calibri" pitchFamily="34" charset="-122"/>
                <a:cs typeface="Calibri" pitchFamily="34" charset="-120"/>
              </a:rPr>
              <a:t>1.71 units</a:t>
            </a:r>
            <a:endParaRPr lang="en-US" sz="840" dirty="0"/>
          </a:p>
        </p:txBody>
      </p:sp>
      <p:sp>
        <p:nvSpPr>
          <p:cNvPr id="17" name="Shape 15"/>
          <p:cNvSpPr/>
          <p:nvPr/>
        </p:nvSpPr>
        <p:spPr>
          <a:xfrm>
            <a:off x="8138160" y="2432304"/>
            <a:ext cx="2990088" cy="91"/>
          </a:xfrm>
          <a:prstGeom prst="line">
            <a:avLst/>
          </a:prstGeom>
          <a:noFill/>
          <a:ln w="4445">
            <a:solidFill>
              <a:srgbClr val="D9CDB7"/>
            </a:solidFill>
            <a:prstDash val="solid"/>
            <a:headEnd type="none"/>
            <a:tailEnd type="none"/>
          </a:ln>
        </p:spPr>
      </p:sp>
      <p:sp>
        <p:nvSpPr>
          <p:cNvPr id="18" name="Text 16"/>
          <p:cNvSpPr txBox="1"/>
          <p:nvPr/>
        </p:nvSpPr>
        <p:spPr>
          <a:xfrm>
            <a:off x="8138160" y="2542032"/>
            <a:ext cx="960120" cy="208915"/>
          </a:xfrm>
          <a:prstGeom prst="rect">
            <a:avLst/>
          </a:prstGeom>
          <a:noFill/>
          <a:ln/>
        </p:spPr>
        <p:txBody>
          <a:bodyPr wrap="square" lIns="0" tIns="0" rIns="0" bIns="0" rtlCol="0" anchor="t"/>
          <a:lstStyle/>
          <a:p>
            <a:pPr algn="l" indent="0" marL="0">
              <a:lnSpc>
                <a:spcPts val="945"/>
              </a:lnSpc>
              <a:buNone/>
            </a:pPr>
            <a:r>
              <a:rPr lang="en-US" sz="700" spc="110" kern="0" dirty="0">
                <a:solidFill>
                  <a:srgbClr val="8B8375"/>
                </a:solidFill>
                <a:latin typeface="Calibri" pitchFamily="34" charset="0"/>
                <a:ea typeface="Calibri" pitchFamily="34" charset="-122"/>
                <a:cs typeface="Calibri" pitchFamily="34" charset="-120"/>
              </a:rPr>
              <a:t>DURATION</a:t>
            </a:r>
            <a:endParaRPr lang="en-US" sz="700" dirty="0"/>
          </a:p>
        </p:txBody>
      </p:sp>
      <p:sp>
        <p:nvSpPr>
          <p:cNvPr id="19" name="Text 17"/>
          <p:cNvSpPr txBox="1"/>
          <p:nvPr/>
        </p:nvSpPr>
        <p:spPr>
          <a:xfrm>
            <a:off x="9125712" y="2514600"/>
            <a:ext cx="2020824" cy="240030"/>
          </a:xfrm>
          <a:prstGeom prst="rect">
            <a:avLst/>
          </a:prstGeom>
          <a:noFill/>
          <a:ln/>
        </p:spPr>
        <p:txBody>
          <a:bodyPr wrap="square" lIns="0" tIns="0" rIns="0" bIns="0" rtlCol="0" anchor="t"/>
          <a:lstStyle/>
          <a:p>
            <a:pPr algn="l" indent="0" marL="0">
              <a:lnSpc>
                <a:spcPts val="1050"/>
              </a:lnSpc>
              <a:buNone/>
            </a:pPr>
            <a:r>
              <a:rPr lang="en-US" sz="840" dirty="0">
                <a:solidFill>
                  <a:srgbClr val="3F3A33"/>
                </a:solidFill>
                <a:latin typeface="Calibri" pitchFamily="34" charset="0"/>
                <a:ea typeface="Calibri" pitchFamily="34" charset="-122"/>
                <a:cs typeface="Calibri" pitchFamily="34" charset="-120"/>
              </a:rPr>
              <a:t>16 weeks · 4 phases</a:t>
            </a:r>
            <a:endParaRPr lang="en-US" sz="840" dirty="0"/>
          </a:p>
        </p:txBody>
      </p:sp>
      <p:sp>
        <p:nvSpPr>
          <p:cNvPr id="20" name="Shape 18"/>
          <p:cNvSpPr/>
          <p:nvPr/>
        </p:nvSpPr>
        <p:spPr>
          <a:xfrm>
            <a:off x="8138160" y="2889504"/>
            <a:ext cx="2990088" cy="91"/>
          </a:xfrm>
          <a:prstGeom prst="line">
            <a:avLst/>
          </a:prstGeom>
          <a:noFill/>
          <a:ln w="4445">
            <a:solidFill>
              <a:srgbClr val="D9CDB7"/>
            </a:solidFill>
            <a:prstDash val="solid"/>
            <a:headEnd type="none"/>
            <a:tailEnd type="none"/>
          </a:ln>
        </p:spPr>
      </p:sp>
      <p:sp>
        <p:nvSpPr>
          <p:cNvPr id="21" name="Text 19"/>
          <p:cNvSpPr txBox="1"/>
          <p:nvPr/>
        </p:nvSpPr>
        <p:spPr>
          <a:xfrm>
            <a:off x="8138160" y="2999232"/>
            <a:ext cx="960120" cy="208915"/>
          </a:xfrm>
          <a:prstGeom prst="rect">
            <a:avLst/>
          </a:prstGeom>
          <a:noFill/>
          <a:ln/>
        </p:spPr>
        <p:txBody>
          <a:bodyPr wrap="square" lIns="0" tIns="0" rIns="0" bIns="0" rtlCol="0" anchor="t"/>
          <a:lstStyle/>
          <a:p>
            <a:pPr algn="l" indent="0" marL="0">
              <a:lnSpc>
                <a:spcPts val="945"/>
              </a:lnSpc>
              <a:buNone/>
            </a:pPr>
            <a:r>
              <a:rPr lang="en-US" sz="700" spc="110" kern="0" dirty="0">
                <a:solidFill>
                  <a:srgbClr val="8B8375"/>
                </a:solidFill>
                <a:latin typeface="Calibri" pitchFamily="34" charset="0"/>
                <a:ea typeface="Calibri" pitchFamily="34" charset="-122"/>
                <a:cs typeface="Calibri" pitchFamily="34" charset="-120"/>
              </a:rPr>
              <a:t>STRUCTURE</a:t>
            </a:r>
            <a:endParaRPr lang="en-US" sz="700" dirty="0"/>
          </a:p>
        </p:txBody>
      </p:sp>
      <p:sp>
        <p:nvSpPr>
          <p:cNvPr id="22" name="Text 20"/>
          <p:cNvSpPr txBox="1"/>
          <p:nvPr/>
        </p:nvSpPr>
        <p:spPr>
          <a:xfrm>
            <a:off x="9125712" y="2971800"/>
            <a:ext cx="2020824" cy="240030"/>
          </a:xfrm>
          <a:prstGeom prst="rect">
            <a:avLst/>
          </a:prstGeom>
          <a:noFill/>
          <a:ln/>
        </p:spPr>
        <p:txBody>
          <a:bodyPr wrap="square" lIns="0" tIns="0" rIns="0" bIns="0" rtlCol="0" anchor="t"/>
          <a:lstStyle/>
          <a:p>
            <a:pPr algn="l" indent="0" marL="0">
              <a:lnSpc>
                <a:spcPts val="1050"/>
              </a:lnSpc>
              <a:buNone/>
            </a:pPr>
            <a:r>
              <a:rPr lang="en-US" sz="840" dirty="0">
                <a:solidFill>
                  <a:srgbClr val="3F3A33"/>
                </a:solidFill>
                <a:latin typeface="Calibri" pitchFamily="34" charset="0"/>
                <a:ea typeface="Calibri" pitchFamily="34" charset="-122"/>
                <a:cs typeface="Calibri" pitchFamily="34" charset="-120"/>
              </a:rPr>
              <a:t>Lecture · seminar · skills lab</a:t>
            </a:r>
            <a:endParaRPr lang="en-US" sz="840" dirty="0"/>
          </a:p>
        </p:txBody>
      </p:sp>
      <p:sp>
        <p:nvSpPr>
          <p:cNvPr id="23" name="Shape 21"/>
          <p:cNvSpPr/>
          <p:nvPr/>
        </p:nvSpPr>
        <p:spPr>
          <a:xfrm>
            <a:off x="8138160" y="3346704"/>
            <a:ext cx="2990088" cy="91"/>
          </a:xfrm>
          <a:prstGeom prst="line">
            <a:avLst/>
          </a:prstGeom>
          <a:noFill/>
          <a:ln w="4445">
            <a:solidFill>
              <a:srgbClr val="D9CDB7"/>
            </a:solidFill>
            <a:prstDash val="solid"/>
            <a:headEnd type="none"/>
            <a:tailEnd type="none"/>
          </a:ln>
        </p:spPr>
      </p:sp>
      <p:sp>
        <p:nvSpPr>
          <p:cNvPr id="24" name="Text 22"/>
          <p:cNvSpPr txBox="1"/>
          <p:nvPr/>
        </p:nvSpPr>
        <p:spPr>
          <a:xfrm>
            <a:off x="8138160" y="3456432"/>
            <a:ext cx="960120" cy="208915"/>
          </a:xfrm>
          <a:prstGeom prst="rect">
            <a:avLst/>
          </a:prstGeom>
          <a:noFill/>
          <a:ln/>
        </p:spPr>
        <p:txBody>
          <a:bodyPr wrap="square" lIns="0" tIns="0" rIns="0" bIns="0" rtlCol="0" anchor="t"/>
          <a:lstStyle/>
          <a:p>
            <a:pPr algn="l" indent="0" marL="0">
              <a:lnSpc>
                <a:spcPts val="945"/>
              </a:lnSpc>
              <a:buNone/>
            </a:pPr>
            <a:r>
              <a:rPr lang="en-US" sz="700" spc="110" kern="0" dirty="0">
                <a:solidFill>
                  <a:srgbClr val="8B8375"/>
                </a:solidFill>
                <a:latin typeface="Calibri" pitchFamily="34" charset="0"/>
                <a:ea typeface="Calibri" pitchFamily="34" charset="-122"/>
                <a:cs typeface="Calibri" pitchFamily="34" charset="-120"/>
              </a:rPr>
              <a:t>ASSESSMENT</a:t>
            </a:r>
            <a:endParaRPr lang="en-US" sz="700" dirty="0"/>
          </a:p>
        </p:txBody>
      </p:sp>
      <p:sp>
        <p:nvSpPr>
          <p:cNvPr id="25" name="Text 23"/>
          <p:cNvSpPr txBox="1"/>
          <p:nvPr/>
        </p:nvSpPr>
        <p:spPr>
          <a:xfrm>
            <a:off x="9125712" y="3429000"/>
            <a:ext cx="2020824" cy="240030"/>
          </a:xfrm>
          <a:prstGeom prst="rect">
            <a:avLst/>
          </a:prstGeom>
          <a:noFill/>
          <a:ln/>
        </p:spPr>
        <p:txBody>
          <a:bodyPr wrap="square" lIns="0" tIns="0" rIns="0" bIns="0" rtlCol="0" anchor="t"/>
          <a:lstStyle/>
          <a:p>
            <a:pPr algn="l" indent="0" marL="0">
              <a:lnSpc>
                <a:spcPts val="1050"/>
              </a:lnSpc>
              <a:buNone/>
            </a:pPr>
            <a:r>
              <a:rPr lang="en-US" sz="840" dirty="0">
                <a:solidFill>
                  <a:srgbClr val="3F3A33"/>
                </a:solidFill>
                <a:latin typeface="Calibri" pitchFamily="34" charset="0"/>
                <a:ea typeface="Calibri" pitchFamily="34" charset="-122"/>
                <a:cs typeface="Calibri" pitchFamily="34" charset="-120"/>
              </a:rPr>
              <a:t>Formulation · exam · participation</a:t>
            </a:r>
            <a:endParaRPr lang="en-US" sz="840" dirty="0"/>
          </a:p>
        </p:txBody>
      </p:sp>
      <p:sp>
        <p:nvSpPr>
          <p:cNvPr id="26" name="Text 24"/>
          <p:cNvSpPr txBox="1"/>
          <p:nvPr/>
        </p:nvSpPr>
        <p:spPr>
          <a:xfrm>
            <a:off x="822960" y="4407408"/>
            <a:ext cx="4846320"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AIM OF THE COURSE</a:t>
            </a:r>
            <a:endParaRPr lang="en-US" sz="750" dirty="0"/>
          </a:p>
        </p:txBody>
      </p:sp>
      <p:sp>
        <p:nvSpPr>
          <p:cNvPr id="27" name="Shape 25"/>
          <p:cNvSpPr/>
          <p:nvPr/>
        </p:nvSpPr>
        <p:spPr>
          <a:xfrm>
            <a:off x="822960" y="4608576"/>
            <a:ext cx="310896" cy="91"/>
          </a:xfrm>
          <a:prstGeom prst="line">
            <a:avLst/>
          </a:prstGeom>
          <a:noFill/>
          <a:ln w="10160">
            <a:solidFill>
              <a:srgbClr val="96733C"/>
            </a:solidFill>
            <a:prstDash val="solid"/>
            <a:headEnd type="none"/>
            <a:tailEnd type="none"/>
          </a:ln>
        </p:spPr>
      </p:sp>
      <p:sp>
        <p:nvSpPr>
          <p:cNvPr id="28" name="Shape 26"/>
          <p:cNvSpPr/>
          <p:nvPr/>
        </p:nvSpPr>
        <p:spPr>
          <a:xfrm>
            <a:off x="822960" y="4869180"/>
            <a:ext cx="128016" cy="91"/>
          </a:xfrm>
          <a:prstGeom prst="line">
            <a:avLst/>
          </a:prstGeom>
          <a:noFill/>
          <a:ln w="11430">
            <a:solidFill>
              <a:srgbClr val="C2A05F"/>
            </a:solidFill>
            <a:prstDash val="solid"/>
            <a:headEnd type="none"/>
            <a:tailEnd type="none"/>
          </a:ln>
        </p:spPr>
      </p:sp>
      <p:sp>
        <p:nvSpPr>
          <p:cNvPr id="29" name="Text 27"/>
          <p:cNvSpPr txBox="1"/>
          <p:nvPr/>
        </p:nvSpPr>
        <p:spPr>
          <a:xfrm>
            <a:off x="1042416" y="4773168"/>
            <a:ext cx="4672584" cy="259944"/>
          </a:xfrm>
          <a:prstGeom prst="rect">
            <a:avLst/>
          </a:prstGeom>
          <a:noFill/>
          <a:ln/>
        </p:spPr>
        <p:txBody>
          <a:bodyPr wrap="square" lIns="0" tIns="0" rIns="0" bIns="0" rtlCol="0" anchor="t"/>
          <a:lstStyle/>
          <a:p>
            <a:pPr algn="l" indent="0" marL="0">
              <a:lnSpc>
                <a:spcPts val="1187"/>
              </a:lnSpc>
              <a:buNone/>
            </a:pPr>
            <a:r>
              <a:rPr lang="en-US" sz="860" dirty="0">
                <a:solidFill>
                  <a:srgbClr val="3F3A33"/>
                </a:solidFill>
                <a:latin typeface="Calibri" pitchFamily="34" charset="0"/>
                <a:ea typeface="Calibri" pitchFamily="34" charset="-122"/>
                <a:cs typeface="Calibri" pitchFamily="34" charset="-120"/>
              </a:rPr>
              <a:t>Establish a systemic vocabulary for describing relational problems.</a:t>
            </a:r>
            <a:endParaRPr lang="en-US" sz="860" dirty="0"/>
          </a:p>
        </p:txBody>
      </p:sp>
      <p:sp>
        <p:nvSpPr>
          <p:cNvPr id="30" name="Shape 28"/>
          <p:cNvSpPr/>
          <p:nvPr/>
        </p:nvSpPr>
        <p:spPr>
          <a:xfrm>
            <a:off x="822960" y="5074768"/>
            <a:ext cx="128016" cy="91"/>
          </a:xfrm>
          <a:prstGeom prst="line">
            <a:avLst/>
          </a:prstGeom>
          <a:noFill/>
          <a:ln w="11430">
            <a:solidFill>
              <a:srgbClr val="C2A05F"/>
            </a:solidFill>
            <a:prstDash val="solid"/>
            <a:headEnd type="none"/>
            <a:tailEnd type="none"/>
          </a:ln>
        </p:spPr>
      </p:sp>
      <p:sp>
        <p:nvSpPr>
          <p:cNvPr id="31" name="Text 29"/>
          <p:cNvSpPr txBox="1"/>
          <p:nvPr/>
        </p:nvSpPr>
        <p:spPr>
          <a:xfrm>
            <a:off x="1042416" y="4978756"/>
            <a:ext cx="4672584" cy="259944"/>
          </a:xfrm>
          <a:prstGeom prst="rect">
            <a:avLst/>
          </a:prstGeom>
          <a:noFill/>
          <a:ln/>
        </p:spPr>
        <p:txBody>
          <a:bodyPr wrap="square" lIns="0" tIns="0" rIns="0" bIns="0" rtlCol="0" anchor="t"/>
          <a:lstStyle/>
          <a:p>
            <a:pPr algn="l" indent="0" marL="0">
              <a:lnSpc>
                <a:spcPts val="1187"/>
              </a:lnSpc>
              <a:buNone/>
            </a:pPr>
            <a:r>
              <a:rPr lang="en-US" sz="860" dirty="0">
                <a:solidFill>
                  <a:srgbClr val="3F3A33"/>
                </a:solidFill>
                <a:latin typeface="Calibri" pitchFamily="34" charset="0"/>
                <a:ea typeface="Calibri" pitchFamily="34" charset="-122"/>
                <a:cs typeface="Calibri" pitchFamily="34" charset="-120"/>
              </a:rPr>
              <a:t>Map the major models of family therapy and their points of divergence.</a:t>
            </a:r>
            <a:endParaRPr lang="en-US" sz="860" dirty="0"/>
          </a:p>
        </p:txBody>
      </p:sp>
      <p:sp>
        <p:nvSpPr>
          <p:cNvPr id="32" name="Shape 30"/>
          <p:cNvSpPr/>
          <p:nvPr/>
        </p:nvSpPr>
        <p:spPr>
          <a:xfrm>
            <a:off x="822960" y="5280355"/>
            <a:ext cx="128016" cy="91"/>
          </a:xfrm>
          <a:prstGeom prst="line">
            <a:avLst/>
          </a:prstGeom>
          <a:noFill/>
          <a:ln w="11430">
            <a:solidFill>
              <a:srgbClr val="C2A05F"/>
            </a:solidFill>
            <a:prstDash val="solid"/>
            <a:headEnd type="none"/>
            <a:tailEnd type="none"/>
          </a:ln>
        </p:spPr>
      </p:sp>
      <p:sp>
        <p:nvSpPr>
          <p:cNvPr id="33" name="Text 31"/>
          <p:cNvSpPr txBox="1"/>
          <p:nvPr/>
        </p:nvSpPr>
        <p:spPr>
          <a:xfrm>
            <a:off x="1042416" y="5184343"/>
            <a:ext cx="4672584" cy="259944"/>
          </a:xfrm>
          <a:prstGeom prst="rect">
            <a:avLst/>
          </a:prstGeom>
          <a:noFill/>
          <a:ln/>
        </p:spPr>
        <p:txBody>
          <a:bodyPr wrap="square" lIns="0" tIns="0" rIns="0" bIns="0" rtlCol="0" anchor="t"/>
          <a:lstStyle/>
          <a:p>
            <a:pPr algn="l" indent="0" marL="0">
              <a:lnSpc>
                <a:spcPts val="1187"/>
              </a:lnSpc>
              <a:buNone/>
            </a:pPr>
            <a:r>
              <a:rPr lang="en-US" sz="860" dirty="0">
                <a:solidFill>
                  <a:srgbClr val="3F3A33"/>
                </a:solidFill>
                <a:latin typeface="Calibri" pitchFamily="34" charset="0"/>
                <a:ea typeface="Calibri" pitchFamily="34" charset="-122"/>
                <a:cs typeface="Calibri" pitchFamily="34" charset="-120"/>
              </a:rPr>
              <a:t>Practise core clinical skills: joining, assessment, formulation, intervention.</a:t>
            </a:r>
            <a:endParaRPr lang="en-US" sz="860" dirty="0"/>
          </a:p>
        </p:txBody>
      </p:sp>
      <p:sp>
        <p:nvSpPr>
          <p:cNvPr id="34" name="Shape 32"/>
          <p:cNvSpPr/>
          <p:nvPr/>
        </p:nvSpPr>
        <p:spPr>
          <a:xfrm>
            <a:off x="822960" y="5485943"/>
            <a:ext cx="128016" cy="91"/>
          </a:xfrm>
          <a:prstGeom prst="line">
            <a:avLst/>
          </a:prstGeom>
          <a:noFill/>
          <a:ln w="11430">
            <a:solidFill>
              <a:srgbClr val="C2A05F"/>
            </a:solidFill>
            <a:prstDash val="solid"/>
            <a:headEnd type="none"/>
            <a:tailEnd type="none"/>
          </a:ln>
        </p:spPr>
      </p:sp>
      <p:sp>
        <p:nvSpPr>
          <p:cNvPr id="35" name="Text 33"/>
          <p:cNvSpPr txBox="1"/>
          <p:nvPr/>
        </p:nvSpPr>
        <p:spPr>
          <a:xfrm>
            <a:off x="1042416" y="5389931"/>
            <a:ext cx="4672584" cy="259944"/>
          </a:xfrm>
          <a:prstGeom prst="rect">
            <a:avLst/>
          </a:prstGeom>
          <a:noFill/>
          <a:ln/>
        </p:spPr>
        <p:txBody>
          <a:bodyPr wrap="square" lIns="0" tIns="0" rIns="0" bIns="0" rtlCol="0" anchor="t"/>
          <a:lstStyle/>
          <a:p>
            <a:pPr algn="l" indent="0" marL="0">
              <a:lnSpc>
                <a:spcPts val="1187"/>
              </a:lnSpc>
              <a:buNone/>
            </a:pPr>
            <a:r>
              <a:rPr lang="en-US" sz="860" dirty="0">
                <a:solidFill>
                  <a:srgbClr val="3F3A33"/>
                </a:solidFill>
                <a:latin typeface="Calibri" pitchFamily="34" charset="0"/>
                <a:ea typeface="Calibri" pitchFamily="34" charset="-122"/>
                <a:cs typeface="Calibri" pitchFamily="34" charset="-120"/>
              </a:rPr>
              <a:t>Locate practice within ethical, cultural and legal frameworks.</a:t>
            </a:r>
            <a:endParaRPr lang="en-US" sz="860" dirty="0"/>
          </a:p>
        </p:txBody>
      </p:sp>
      <p:sp>
        <p:nvSpPr>
          <p:cNvPr id="36" name="Shape 34"/>
          <p:cNvSpPr/>
          <p:nvPr/>
        </p:nvSpPr>
        <p:spPr>
          <a:xfrm>
            <a:off x="822960" y="5691530"/>
            <a:ext cx="128016" cy="91"/>
          </a:xfrm>
          <a:prstGeom prst="line">
            <a:avLst/>
          </a:prstGeom>
          <a:noFill/>
          <a:ln w="11430">
            <a:solidFill>
              <a:srgbClr val="C2A05F"/>
            </a:solidFill>
            <a:prstDash val="solid"/>
            <a:headEnd type="none"/>
            <a:tailEnd type="none"/>
          </a:ln>
        </p:spPr>
      </p:sp>
      <p:sp>
        <p:nvSpPr>
          <p:cNvPr id="37" name="Text 35"/>
          <p:cNvSpPr txBox="1"/>
          <p:nvPr/>
        </p:nvSpPr>
        <p:spPr>
          <a:xfrm>
            <a:off x="1042416" y="5595518"/>
            <a:ext cx="4672584" cy="259944"/>
          </a:xfrm>
          <a:prstGeom prst="rect">
            <a:avLst/>
          </a:prstGeom>
          <a:noFill/>
          <a:ln/>
        </p:spPr>
        <p:txBody>
          <a:bodyPr wrap="square" lIns="0" tIns="0" rIns="0" bIns="0" rtlCol="0" anchor="t"/>
          <a:lstStyle/>
          <a:p>
            <a:pPr algn="l" indent="0" marL="0">
              <a:lnSpc>
                <a:spcPts val="1187"/>
              </a:lnSpc>
              <a:buNone/>
            </a:pPr>
            <a:r>
              <a:rPr lang="en-US" sz="860" dirty="0">
                <a:solidFill>
                  <a:srgbClr val="3F3A33"/>
                </a:solidFill>
                <a:latin typeface="Calibri" pitchFamily="34" charset="0"/>
                <a:ea typeface="Calibri" pitchFamily="34" charset="-122"/>
                <a:cs typeface="Calibri" pitchFamily="34" charset="-120"/>
              </a:rPr>
              <a:t>Begin a reflective professional identity grounded in evidence and supervision.</a:t>
            </a:r>
            <a:endParaRPr lang="en-US" sz="860" dirty="0"/>
          </a:p>
        </p:txBody>
      </p:sp>
      <p:sp>
        <p:nvSpPr>
          <p:cNvPr id="38" name="Text 36"/>
          <p:cNvSpPr txBox="1"/>
          <p:nvPr/>
        </p:nvSpPr>
        <p:spPr>
          <a:xfrm>
            <a:off x="6263640" y="4407408"/>
            <a:ext cx="4846320"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WHAT MAKES MFT DISTINCT</a:t>
            </a:r>
            <a:endParaRPr lang="en-US" sz="750" dirty="0"/>
          </a:p>
        </p:txBody>
      </p:sp>
      <p:sp>
        <p:nvSpPr>
          <p:cNvPr id="39" name="Shape 37"/>
          <p:cNvSpPr/>
          <p:nvPr/>
        </p:nvSpPr>
        <p:spPr>
          <a:xfrm>
            <a:off x="6263640" y="4608576"/>
            <a:ext cx="310896" cy="91"/>
          </a:xfrm>
          <a:prstGeom prst="line">
            <a:avLst/>
          </a:prstGeom>
          <a:noFill/>
          <a:ln w="10160">
            <a:solidFill>
              <a:srgbClr val="6E8274"/>
            </a:solidFill>
            <a:prstDash val="solid"/>
            <a:headEnd type="none"/>
            <a:tailEnd type="none"/>
          </a:ln>
        </p:spPr>
      </p:sp>
      <p:sp>
        <p:nvSpPr>
          <p:cNvPr id="40" name="Shape 38"/>
          <p:cNvSpPr/>
          <p:nvPr/>
        </p:nvSpPr>
        <p:spPr>
          <a:xfrm>
            <a:off x="6263640" y="4869180"/>
            <a:ext cx="128016" cy="91"/>
          </a:xfrm>
          <a:prstGeom prst="line">
            <a:avLst/>
          </a:prstGeom>
          <a:noFill/>
          <a:ln w="11430">
            <a:solidFill>
              <a:srgbClr val="C2A05F"/>
            </a:solidFill>
            <a:prstDash val="solid"/>
            <a:headEnd type="none"/>
            <a:tailEnd type="none"/>
          </a:ln>
        </p:spPr>
      </p:sp>
      <p:sp>
        <p:nvSpPr>
          <p:cNvPr id="41" name="Text 39"/>
          <p:cNvSpPr txBox="1"/>
          <p:nvPr/>
        </p:nvSpPr>
        <p:spPr>
          <a:xfrm>
            <a:off x="6483096" y="4773168"/>
            <a:ext cx="4672584" cy="259944"/>
          </a:xfrm>
          <a:prstGeom prst="rect">
            <a:avLst/>
          </a:prstGeom>
          <a:noFill/>
          <a:ln/>
        </p:spPr>
        <p:txBody>
          <a:bodyPr wrap="square" lIns="0" tIns="0" rIns="0" bIns="0" rtlCol="0" anchor="t"/>
          <a:lstStyle/>
          <a:p>
            <a:pPr algn="l" indent="0" marL="0">
              <a:lnSpc>
                <a:spcPts val="1187"/>
              </a:lnSpc>
              <a:buNone/>
            </a:pPr>
            <a:r>
              <a:rPr lang="en-US" sz="860" dirty="0">
                <a:solidFill>
                  <a:srgbClr val="3F3A33"/>
                </a:solidFill>
                <a:latin typeface="Calibri" pitchFamily="34" charset="0"/>
                <a:ea typeface="Calibri" pitchFamily="34" charset="-122"/>
                <a:cs typeface="Calibri" pitchFamily="34" charset="-120"/>
              </a:rPr>
              <a:t>The relational system, not the individual, is the unit of assessment.</a:t>
            </a:r>
            <a:endParaRPr lang="en-US" sz="860" dirty="0"/>
          </a:p>
        </p:txBody>
      </p:sp>
      <p:sp>
        <p:nvSpPr>
          <p:cNvPr id="42" name="Shape 40"/>
          <p:cNvSpPr/>
          <p:nvPr/>
        </p:nvSpPr>
        <p:spPr>
          <a:xfrm>
            <a:off x="6263640" y="5074768"/>
            <a:ext cx="128016" cy="91"/>
          </a:xfrm>
          <a:prstGeom prst="line">
            <a:avLst/>
          </a:prstGeom>
          <a:noFill/>
          <a:ln w="11430">
            <a:solidFill>
              <a:srgbClr val="C2A05F"/>
            </a:solidFill>
            <a:prstDash val="solid"/>
            <a:headEnd type="none"/>
            <a:tailEnd type="none"/>
          </a:ln>
        </p:spPr>
      </p:sp>
      <p:sp>
        <p:nvSpPr>
          <p:cNvPr id="43" name="Text 41"/>
          <p:cNvSpPr txBox="1"/>
          <p:nvPr/>
        </p:nvSpPr>
        <p:spPr>
          <a:xfrm>
            <a:off x="6483096" y="4978756"/>
            <a:ext cx="4672584" cy="259944"/>
          </a:xfrm>
          <a:prstGeom prst="rect">
            <a:avLst/>
          </a:prstGeom>
          <a:noFill/>
          <a:ln/>
        </p:spPr>
        <p:txBody>
          <a:bodyPr wrap="square" lIns="0" tIns="0" rIns="0" bIns="0" rtlCol="0" anchor="t"/>
          <a:lstStyle/>
          <a:p>
            <a:pPr algn="l" indent="0" marL="0">
              <a:lnSpc>
                <a:spcPts val="1187"/>
              </a:lnSpc>
              <a:buNone/>
            </a:pPr>
            <a:r>
              <a:rPr lang="en-US" sz="860" dirty="0">
                <a:solidFill>
                  <a:srgbClr val="3F3A33"/>
                </a:solidFill>
                <a:latin typeface="Calibri" pitchFamily="34" charset="0"/>
                <a:ea typeface="Calibri" pitchFamily="34" charset="-122"/>
                <a:cs typeface="Calibri" pitchFamily="34" charset="-120"/>
              </a:rPr>
              <a:t>Symptoms are understood as maintained by current interaction, not only by history.</a:t>
            </a:r>
            <a:endParaRPr lang="en-US" sz="860" dirty="0"/>
          </a:p>
        </p:txBody>
      </p:sp>
      <p:sp>
        <p:nvSpPr>
          <p:cNvPr id="44" name="Shape 42"/>
          <p:cNvSpPr/>
          <p:nvPr/>
        </p:nvSpPr>
        <p:spPr>
          <a:xfrm>
            <a:off x="6263640" y="5280355"/>
            <a:ext cx="128016" cy="91"/>
          </a:xfrm>
          <a:prstGeom prst="line">
            <a:avLst/>
          </a:prstGeom>
          <a:noFill/>
          <a:ln w="11430">
            <a:solidFill>
              <a:srgbClr val="C2A05F"/>
            </a:solidFill>
            <a:prstDash val="solid"/>
            <a:headEnd type="none"/>
            <a:tailEnd type="none"/>
          </a:ln>
        </p:spPr>
      </p:sp>
      <p:sp>
        <p:nvSpPr>
          <p:cNvPr id="45" name="Text 43"/>
          <p:cNvSpPr txBox="1"/>
          <p:nvPr/>
        </p:nvSpPr>
        <p:spPr>
          <a:xfrm>
            <a:off x="6483096" y="5184343"/>
            <a:ext cx="4672584" cy="259944"/>
          </a:xfrm>
          <a:prstGeom prst="rect">
            <a:avLst/>
          </a:prstGeom>
          <a:noFill/>
          <a:ln/>
        </p:spPr>
        <p:txBody>
          <a:bodyPr wrap="square" lIns="0" tIns="0" rIns="0" bIns="0" rtlCol="0" anchor="t"/>
          <a:lstStyle/>
          <a:p>
            <a:pPr algn="l" indent="0" marL="0">
              <a:lnSpc>
                <a:spcPts val="1187"/>
              </a:lnSpc>
              <a:buNone/>
            </a:pPr>
            <a:r>
              <a:rPr lang="en-US" sz="860" dirty="0">
                <a:solidFill>
                  <a:srgbClr val="3F3A33"/>
                </a:solidFill>
                <a:latin typeface="Calibri" pitchFamily="34" charset="0"/>
                <a:ea typeface="Calibri" pitchFamily="34" charset="-122"/>
                <a:cs typeface="Calibri" pitchFamily="34" charset="-120"/>
              </a:rPr>
              <a:t>The therapist is a participant in the system, not an external observer.</a:t>
            </a:r>
            <a:endParaRPr lang="en-US" sz="860" dirty="0"/>
          </a:p>
        </p:txBody>
      </p:sp>
      <p:sp>
        <p:nvSpPr>
          <p:cNvPr id="46" name="Shape 44"/>
          <p:cNvSpPr/>
          <p:nvPr/>
        </p:nvSpPr>
        <p:spPr>
          <a:xfrm>
            <a:off x="6263640" y="5485943"/>
            <a:ext cx="128016" cy="91"/>
          </a:xfrm>
          <a:prstGeom prst="line">
            <a:avLst/>
          </a:prstGeom>
          <a:noFill/>
          <a:ln w="11430">
            <a:solidFill>
              <a:srgbClr val="C2A05F"/>
            </a:solidFill>
            <a:prstDash val="solid"/>
            <a:headEnd type="none"/>
            <a:tailEnd type="none"/>
          </a:ln>
        </p:spPr>
      </p:sp>
      <p:sp>
        <p:nvSpPr>
          <p:cNvPr id="47" name="Text 45"/>
          <p:cNvSpPr txBox="1"/>
          <p:nvPr/>
        </p:nvSpPr>
        <p:spPr>
          <a:xfrm>
            <a:off x="6483096" y="5389931"/>
            <a:ext cx="4672584" cy="259944"/>
          </a:xfrm>
          <a:prstGeom prst="rect">
            <a:avLst/>
          </a:prstGeom>
          <a:noFill/>
          <a:ln/>
        </p:spPr>
        <p:txBody>
          <a:bodyPr wrap="square" lIns="0" tIns="0" rIns="0" bIns="0" rtlCol="0" anchor="t"/>
          <a:lstStyle/>
          <a:p>
            <a:pPr algn="l" indent="0" marL="0">
              <a:lnSpc>
                <a:spcPts val="1187"/>
              </a:lnSpc>
              <a:buNone/>
            </a:pPr>
            <a:r>
              <a:rPr lang="en-US" sz="860" dirty="0">
                <a:solidFill>
                  <a:srgbClr val="3F3A33"/>
                </a:solidFill>
                <a:latin typeface="Calibri" pitchFamily="34" charset="0"/>
                <a:ea typeface="Calibri" pitchFamily="34" charset="-122"/>
                <a:cs typeface="Calibri" pitchFamily="34" charset="-120"/>
              </a:rPr>
              <a:t>Change is evaluated in relationships — and through the client’s own feedback.</a:t>
            </a:r>
            <a:endParaRPr lang="en-US" sz="8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LEARNING OUTCOMES</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03</a:t>
            </a:r>
            <a:endParaRPr lang="en-US" sz="950" dirty="0"/>
          </a:p>
        </p:txBody>
      </p:sp>
      <p:sp>
        <p:nvSpPr>
          <p:cNvPr id="8" name="Text 6"/>
          <p:cNvSpPr txBox="1"/>
          <p:nvPr/>
        </p:nvSpPr>
        <p:spPr>
          <a:xfrm>
            <a:off x="822960" y="932688"/>
            <a:ext cx="8595360" cy="220853"/>
          </a:xfrm>
          <a:prstGeom prst="rect">
            <a:avLst/>
          </a:prstGeom>
          <a:noFill/>
          <a:ln/>
        </p:spPr>
        <p:txBody>
          <a:bodyPr wrap="square" lIns="0" tIns="0" rIns="0" bIns="0" rtlCol="0" anchor="t"/>
          <a:lstStyle/>
          <a:p>
            <a:pPr algn="l" indent="0" marL="0">
              <a:lnSpc>
                <a:spcPts val="999"/>
              </a:lnSpc>
              <a:buNone/>
            </a:pPr>
            <a:r>
              <a:rPr lang="en-US" sz="740" b="1" spc="200" kern="0" dirty="0">
                <a:solidFill>
                  <a:srgbClr val="96733C"/>
                </a:solidFill>
                <a:latin typeface="Calibri" pitchFamily="34" charset="0"/>
                <a:ea typeface="Calibri" pitchFamily="34" charset="-122"/>
                <a:cs typeface="Calibri" pitchFamily="34" charset="-120"/>
              </a:rPr>
              <a:t>ON COMPLETION</a:t>
            </a:r>
            <a:endParaRPr lang="en-US" sz="740" dirty="0"/>
          </a:p>
        </p:txBody>
      </p:sp>
      <p:sp>
        <p:nvSpPr>
          <p:cNvPr id="9" name="Text 7"/>
          <p:cNvSpPr txBox="1"/>
          <p:nvPr/>
        </p:nvSpPr>
        <p:spPr>
          <a:xfrm>
            <a:off x="822960" y="1207008"/>
            <a:ext cx="85953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What you will be able to do</a:t>
            </a:r>
            <a:endParaRPr lang="en-US" sz="2700" dirty="0"/>
          </a:p>
        </p:txBody>
      </p:sp>
      <p:sp>
        <p:nvSpPr>
          <p:cNvPr id="10" name="Text 8"/>
          <p:cNvSpPr txBox="1"/>
          <p:nvPr/>
        </p:nvSpPr>
        <p:spPr>
          <a:xfrm>
            <a:off x="822960" y="1719072"/>
            <a:ext cx="8138160" cy="387248"/>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Six outcomes frame the course. Each week names the subset it develops; the final portfolio invites you to evidence all six.</a:t>
            </a:r>
            <a:endParaRPr lang="en-US" sz="1260" dirty="0"/>
          </a:p>
        </p:txBody>
      </p:sp>
      <p:sp>
        <p:nvSpPr>
          <p:cNvPr id="11" name="Text 9"/>
          <p:cNvSpPr txBox="1"/>
          <p:nvPr/>
        </p:nvSpPr>
        <p:spPr>
          <a:xfrm>
            <a:off x="822960" y="2011680"/>
            <a:ext cx="54864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01</a:t>
            </a:r>
            <a:endParaRPr lang="en-US" sz="1000" dirty="0"/>
          </a:p>
        </p:txBody>
      </p:sp>
      <p:sp>
        <p:nvSpPr>
          <p:cNvPr id="12" name="Shape 10"/>
          <p:cNvSpPr/>
          <p:nvPr/>
        </p:nvSpPr>
        <p:spPr>
          <a:xfrm>
            <a:off x="1207008" y="2103120"/>
            <a:ext cx="4754880" cy="91"/>
          </a:xfrm>
          <a:prstGeom prst="line">
            <a:avLst/>
          </a:prstGeom>
          <a:noFill/>
          <a:ln w="5715">
            <a:solidFill>
              <a:srgbClr val="D9CDB7"/>
            </a:solidFill>
            <a:prstDash val="solid"/>
            <a:headEnd type="none"/>
            <a:tailEnd type="none"/>
          </a:ln>
        </p:spPr>
      </p:sp>
      <p:sp>
        <p:nvSpPr>
          <p:cNvPr id="13" name="Text 11"/>
          <p:cNvSpPr txBox="1"/>
          <p:nvPr/>
        </p:nvSpPr>
        <p:spPr>
          <a:xfrm>
            <a:off x="822960" y="2304288"/>
            <a:ext cx="5047488" cy="501904"/>
          </a:xfrm>
          <a:prstGeom prst="rect">
            <a:avLst/>
          </a:prstGeom>
          <a:noFill/>
          <a:ln/>
        </p:spPr>
        <p:txBody>
          <a:bodyPr wrap="square" lIns="0" tIns="0" rIns="0" bIns="0" rtlCol="0" anchor="t"/>
          <a:lstStyle/>
          <a:p>
            <a:pPr algn="l" indent="0" marL="0">
              <a:lnSpc>
                <a:spcPts val="1456"/>
              </a:lnSpc>
              <a:buNone/>
            </a:pPr>
            <a:r>
              <a:rPr lang="en-US" sz="1040" dirty="0">
                <a:solidFill>
                  <a:srgbClr val="3F3A33"/>
                </a:solidFill>
                <a:latin typeface="Calibri" pitchFamily="34" charset="0"/>
                <a:ea typeface="Calibri" pitchFamily="34" charset="-122"/>
                <a:cs typeface="Calibri" pitchFamily="34" charset="-120"/>
              </a:rPr>
              <a:t>Explain the systemic epistemology that distinguishes MFT from individually oriented</a:t>
            </a:r>
            <a:endParaRPr lang="en-US" sz="1040" dirty="0"/>
          </a:p>
          <a:p>
            <a:pPr algn="l" indent="0" marL="0">
              <a:lnSpc>
                <a:spcPts val="1456"/>
              </a:lnSpc>
              <a:buNone/>
            </a:pPr>
            <a:r>
              <a:rPr lang="en-US" sz="1040" dirty="0">
                <a:solidFill>
                  <a:srgbClr val="3F3A33"/>
                </a:solidFill>
                <a:latin typeface="Calibri" pitchFamily="34" charset="0"/>
                <a:ea typeface="Calibri" pitchFamily="34" charset="-122"/>
                <a:cs typeface="Calibri" pitchFamily="34" charset="-120"/>
              </a:rPr>
              <a:t>psychotherapy.</a:t>
            </a:r>
            <a:endParaRPr lang="en-US" sz="1040" dirty="0"/>
          </a:p>
        </p:txBody>
      </p:sp>
      <p:sp>
        <p:nvSpPr>
          <p:cNvPr id="14" name="Text 12"/>
          <p:cNvSpPr txBox="1"/>
          <p:nvPr/>
        </p:nvSpPr>
        <p:spPr>
          <a:xfrm>
            <a:off x="6355080" y="2011680"/>
            <a:ext cx="54864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02</a:t>
            </a:r>
            <a:endParaRPr lang="en-US" sz="1000" dirty="0"/>
          </a:p>
        </p:txBody>
      </p:sp>
      <p:sp>
        <p:nvSpPr>
          <p:cNvPr id="15" name="Shape 13"/>
          <p:cNvSpPr/>
          <p:nvPr/>
        </p:nvSpPr>
        <p:spPr>
          <a:xfrm>
            <a:off x="6739128" y="2103120"/>
            <a:ext cx="4754880" cy="91"/>
          </a:xfrm>
          <a:prstGeom prst="line">
            <a:avLst/>
          </a:prstGeom>
          <a:noFill/>
          <a:ln w="5715">
            <a:solidFill>
              <a:srgbClr val="D9CDB7"/>
            </a:solidFill>
            <a:prstDash val="solid"/>
            <a:headEnd type="none"/>
            <a:tailEnd type="none"/>
          </a:ln>
        </p:spPr>
      </p:sp>
      <p:sp>
        <p:nvSpPr>
          <p:cNvPr id="16" name="Text 14"/>
          <p:cNvSpPr txBox="1"/>
          <p:nvPr/>
        </p:nvSpPr>
        <p:spPr>
          <a:xfrm>
            <a:off x="6355080" y="2304288"/>
            <a:ext cx="5047488" cy="501904"/>
          </a:xfrm>
          <a:prstGeom prst="rect">
            <a:avLst/>
          </a:prstGeom>
          <a:noFill/>
          <a:ln/>
        </p:spPr>
        <p:txBody>
          <a:bodyPr wrap="square" lIns="0" tIns="0" rIns="0" bIns="0" rtlCol="0" anchor="t"/>
          <a:lstStyle/>
          <a:p>
            <a:pPr algn="l" indent="0" marL="0">
              <a:lnSpc>
                <a:spcPts val="1456"/>
              </a:lnSpc>
              <a:buNone/>
            </a:pPr>
            <a:r>
              <a:rPr lang="en-US" sz="1040" dirty="0">
                <a:solidFill>
                  <a:srgbClr val="3F3A33"/>
                </a:solidFill>
                <a:latin typeface="Calibri" pitchFamily="34" charset="0"/>
                <a:ea typeface="Calibri" pitchFamily="34" charset="-122"/>
                <a:cs typeface="Calibri" pitchFamily="34" charset="-120"/>
              </a:rPr>
              <a:t>Compare the major models of family therapy — structural, strategic, intergenerational,</a:t>
            </a:r>
            <a:endParaRPr lang="en-US" sz="1040" dirty="0"/>
          </a:p>
          <a:p>
            <a:pPr algn="l" indent="0" marL="0">
              <a:lnSpc>
                <a:spcPts val="1456"/>
              </a:lnSpc>
              <a:buNone/>
            </a:pPr>
            <a:r>
              <a:rPr lang="en-US" sz="1040" dirty="0">
                <a:solidFill>
                  <a:srgbClr val="3F3A33"/>
                </a:solidFill>
                <a:latin typeface="Calibri" pitchFamily="34" charset="0"/>
                <a:ea typeface="Calibri" pitchFamily="34" charset="-122"/>
                <a:cs typeface="Calibri" pitchFamily="34" charset="-120"/>
              </a:rPr>
              <a:t>experiential, cognitive-behavioural, solution-focused and narrative.</a:t>
            </a:r>
            <a:endParaRPr lang="en-US" sz="1040" dirty="0"/>
          </a:p>
        </p:txBody>
      </p:sp>
      <p:sp>
        <p:nvSpPr>
          <p:cNvPr id="17" name="Text 15"/>
          <p:cNvSpPr txBox="1"/>
          <p:nvPr/>
        </p:nvSpPr>
        <p:spPr>
          <a:xfrm>
            <a:off x="822960" y="3127248"/>
            <a:ext cx="54864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03</a:t>
            </a:r>
            <a:endParaRPr lang="en-US" sz="1000" dirty="0"/>
          </a:p>
        </p:txBody>
      </p:sp>
      <p:sp>
        <p:nvSpPr>
          <p:cNvPr id="18" name="Shape 16"/>
          <p:cNvSpPr/>
          <p:nvPr/>
        </p:nvSpPr>
        <p:spPr>
          <a:xfrm>
            <a:off x="1207008" y="3218688"/>
            <a:ext cx="4754880" cy="91"/>
          </a:xfrm>
          <a:prstGeom prst="line">
            <a:avLst/>
          </a:prstGeom>
          <a:noFill/>
          <a:ln w="5715">
            <a:solidFill>
              <a:srgbClr val="D9CDB7"/>
            </a:solidFill>
            <a:prstDash val="solid"/>
            <a:headEnd type="none"/>
            <a:tailEnd type="none"/>
          </a:ln>
        </p:spPr>
      </p:sp>
      <p:sp>
        <p:nvSpPr>
          <p:cNvPr id="19" name="Text 17"/>
          <p:cNvSpPr txBox="1"/>
          <p:nvPr/>
        </p:nvSpPr>
        <p:spPr>
          <a:xfrm>
            <a:off x="822960" y="3419856"/>
            <a:ext cx="5047488" cy="501904"/>
          </a:xfrm>
          <a:prstGeom prst="rect">
            <a:avLst/>
          </a:prstGeom>
          <a:noFill/>
          <a:ln/>
        </p:spPr>
        <p:txBody>
          <a:bodyPr wrap="square" lIns="0" tIns="0" rIns="0" bIns="0" rtlCol="0" anchor="t"/>
          <a:lstStyle/>
          <a:p>
            <a:pPr algn="l" indent="0" marL="0">
              <a:lnSpc>
                <a:spcPts val="1456"/>
              </a:lnSpc>
              <a:buNone/>
            </a:pPr>
            <a:r>
              <a:rPr lang="en-US" sz="1040" dirty="0">
                <a:solidFill>
                  <a:srgbClr val="3F3A33"/>
                </a:solidFill>
                <a:latin typeface="Calibri" pitchFamily="34" charset="0"/>
                <a:ea typeface="Calibri" pitchFamily="34" charset="-122"/>
                <a:cs typeface="Calibri" pitchFamily="34" charset="-120"/>
              </a:rPr>
              <a:t>Conduct a first session: join a multi-person system, negotiate consent, and elicit each</a:t>
            </a:r>
            <a:endParaRPr lang="en-US" sz="1040" dirty="0"/>
          </a:p>
          <a:p>
            <a:pPr algn="l" indent="0" marL="0">
              <a:lnSpc>
                <a:spcPts val="1456"/>
              </a:lnSpc>
              <a:buNone/>
            </a:pPr>
            <a:r>
              <a:rPr lang="en-US" sz="1040" dirty="0">
                <a:solidFill>
                  <a:srgbClr val="3F3A33"/>
                </a:solidFill>
                <a:latin typeface="Calibri" pitchFamily="34" charset="0"/>
                <a:ea typeface="Calibri" pitchFamily="34" charset="-122"/>
                <a:cs typeface="Calibri" pitchFamily="34" charset="-120"/>
              </a:rPr>
              <a:t>member’s description of the problem.</a:t>
            </a:r>
            <a:endParaRPr lang="en-US" sz="1040" dirty="0"/>
          </a:p>
        </p:txBody>
      </p:sp>
      <p:sp>
        <p:nvSpPr>
          <p:cNvPr id="20" name="Text 18"/>
          <p:cNvSpPr txBox="1"/>
          <p:nvPr/>
        </p:nvSpPr>
        <p:spPr>
          <a:xfrm>
            <a:off x="6355080" y="3127248"/>
            <a:ext cx="54864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04</a:t>
            </a:r>
            <a:endParaRPr lang="en-US" sz="1000" dirty="0"/>
          </a:p>
        </p:txBody>
      </p:sp>
      <p:sp>
        <p:nvSpPr>
          <p:cNvPr id="21" name="Shape 19"/>
          <p:cNvSpPr/>
          <p:nvPr/>
        </p:nvSpPr>
        <p:spPr>
          <a:xfrm>
            <a:off x="6739128" y="3218688"/>
            <a:ext cx="4754880" cy="91"/>
          </a:xfrm>
          <a:prstGeom prst="line">
            <a:avLst/>
          </a:prstGeom>
          <a:noFill/>
          <a:ln w="5715">
            <a:solidFill>
              <a:srgbClr val="D9CDB7"/>
            </a:solidFill>
            <a:prstDash val="solid"/>
            <a:headEnd type="none"/>
            <a:tailEnd type="none"/>
          </a:ln>
        </p:spPr>
      </p:sp>
      <p:sp>
        <p:nvSpPr>
          <p:cNvPr id="22" name="Text 20"/>
          <p:cNvSpPr txBox="1"/>
          <p:nvPr/>
        </p:nvSpPr>
        <p:spPr>
          <a:xfrm>
            <a:off x="6355080" y="3419856"/>
            <a:ext cx="5047488" cy="501904"/>
          </a:xfrm>
          <a:prstGeom prst="rect">
            <a:avLst/>
          </a:prstGeom>
          <a:noFill/>
          <a:ln/>
        </p:spPr>
        <p:txBody>
          <a:bodyPr wrap="square" lIns="0" tIns="0" rIns="0" bIns="0" rtlCol="0" anchor="t"/>
          <a:lstStyle/>
          <a:p>
            <a:pPr algn="l" indent="0" marL="0">
              <a:lnSpc>
                <a:spcPts val="1456"/>
              </a:lnSpc>
              <a:buNone/>
            </a:pPr>
            <a:r>
              <a:rPr lang="en-US" sz="1040" dirty="0">
                <a:solidFill>
                  <a:srgbClr val="3F3A33"/>
                </a:solidFill>
                <a:latin typeface="Calibri" pitchFamily="34" charset="0"/>
                <a:ea typeface="Calibri" pitchFamily="34" charset="-122"/>
                <a:cs typeface="Calibri" pitchFamily="34" charset="-120"/>
              </a:rPr>
              <a:t>Construct a three-generation genogram and use circular questioning to assess relational</a:t>
            </a:r>
            <a:endParaRPr lang="en-US" sz="1040" dirty="0"/>
          </a:p>
          <a:p>
            <a:pPr algn="l" indent="0" marL="0">
              <a:lnSpc>
                <a:spcPts val="1456"/>
              </a:lnSpc>
              <a:buNone/>
            </a:pPr>
            <a:r>
              <a:rPr lang="en-US" sz="1040" dirty="0">
                <a:solidFill>
                  <a:srgbClr val="3F3A33"/>
                </a:solidFill>
                <a:latin typeface="Calibri" pitchFamily="34" charset="0"/>
                <a:ea typeface="Calibri" pitchFamily="34" charset="-122"/>
                <a:cs typeface="Calibri" pitchFamily="34" charset="-120"/>
              </a:rPr>
              <a:t>patterns.</a:t>
            </a:r>
            <a:endParaRPr lang="en-US" sz="1040" dirty="0"/>
          </a:p>
        </p:txBody>
      </p:sp>
      <p:sp>
        <p:nvSpPr>
          <p:cNvPr id="23" name="Text 21"/>
          <p:cNvSpPr txBox="1"/>
          <p:nvPr/>
        </p:nvSpPr>
        <p:spPr>
          <a:xfrm>
            <a:off x="822960" y="4242816"/>
            <a:ext cx="54864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05</a:t>
            </a:r>
            <a:endParaRPr lang="en-US" sz="1000" dirty="0"/>
          </a:p>
        </p:txBody>
      </p:sp>
      <p:sp>
        <p:nvSpPr>
          <p:cNvPr id="24" name="Shape 22"/>
          <p:cNvSpPr/>
          <p:nvPr/>
        </p:nvSpPr>
        <p:spPr>
          <a:xfrm>
            <a:off x="1207008" y="4334256"/>
            <a:ext cx="4754880" cy="91"/>
          </a:xfrm>
          <a:prstGeom prst="line">
            <a:avLst/>
          </a:prstGeom>
          <a:noFill/>
          <a:ln w="5715">
            <a:solidFill>
              <a:srgbClr val="D9CDB7"/>
            </a:solidFill>
            <a:prstDash val="solid"/>
            <a:headEnd type="none"/>
            <a:tailEnd type="none"/>
          </a:ln>
        </p:spPr>
      </p:sp>
      <p:sp>
        <p:nvSpPr>
          <p:cNvPr id="25" name="Text 23"/>
          <p:cNvSpPr txBox="1"/>
          <p:nvPr/>
        </p:nvSpPr>
        <p:spPr>
          <a:xfrm>
            <a:off x="822960" y="4535424"/>
            <a:ext cx="5047488" cy="501904"/>
          </a:xfrm>
          <a:prstGeom prst="rect">
            <a:avLst/>
          </a:prstGeom>
          <a:noFill/>
          <a:ln/>
        </p:spPr>
        <p:txBody>
          <a:bodyPr wrap="square" lIns="0" tIns="0" rIns="0" bIns="0" rtlCol="0" anchor="t"/>
          <a:lstStyle/>
          <a:p>
            <a:pPr algn="l" indent="0" marL="0">
              <a:lnSpc>
                <a:spcPts val="1456"/>
              </a:lnSpc>
              <a:buNone/>
            </a:pPr>
            <a:r>
              <a:rPr lang="en-US" sz="1040" dirty="0">
                <a:solidFill>
                  <a:srgbClr val="3F3A33"/>
                </a:solidFill>
                <a:latin typeface="Calibri" pitchFamily="34" charset="0"/>
                <a:ea typeface="Calibri" pitchFamily="34" charset="-122"/>
                <a:cs typeface="Calibri" pitchFamily="34" charset="-120"/>
              </a:rPr>
              <a:t>Formulate a case systemically, integrating developmental, cultural, ethical and risk</a:t>
            </a:r>
            <a:endParaRPr lang="en-US" sz="1040" dirty="0"/>
          </a:p>
          <a:p>
            <a:pPr algn="l" indent="0" marL="0">
              <a:lnSpc>
                <a:spcPts val="1456"/>
              </a:lnSpc>
              <a:buNone/>
            </a:pPr>
            <a:r>
              <a:rPr lang="en-US" sz="1040" dirty="0">
                <a:solidFill>
                  <a:srgbClr val="3F3A33"/>
                </a:solidFill>
                <a:latin typeface="Calibri" pitchFamily="34" charset="0"/>
                <a:ea typeface="Calibri" pitchFamily="34" charset="-122"/>
                <a:cs typeface="Calibri" pitchFamily="34" charset="-120"/>
              </a:rPr>
              <a:t>considerations.</a:t>
            </a:r>
            <a:endParaRPr lang="en-US" sz="1040" dirty="0"/>
          </a:p>
        </p:txBody>
      </p:sp>
      <p:sp>
        <p:nvSpPr>
          <p:cNvPr id="26" name="Text 24"/>
          <p:cNvSpPr txBox="1"/>
          <p:nvPr/>
        </p:nvSpPr>
        <p:spPr>
          <a:xfrm>
            <a:off x="6355080" y="4242816"/>
            <a:ext cx="54864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06</a:t>
            </a:r>
            <a:endParaRPr lang="en-US" sz="1000" dirty="0"/>
          </a:p>
        </p:txBody>
      </p:sp>
      <p:sp>
        <p:nvSpPr>
          <p:cNvPr id="27" name="Shape 25"/>
          <p:cNvSpPr/>
          <p:nvPr/>
        </p:nvSpPr>
        <p:spPr>
          <a:xfrm>
            <a:off x="6739128" y="4334256"/>
            <a:ext cx="4754880" cy="91"/>
          </a:xfrm>
          <a:prstGeom prst="line">
            <a:avLst/>
          </a:prstGeom>
          <a:noFill/>
          <a:ln w="5715">
            <a:solidFill>
              <a:srgbClr val="D9CDB7"/>
            </a:solidFill>
            <a:prstDash val="solid"/>
            <a:headEnd type="none"/>
            <a:tailEnd type="none"/>
          </a:ln>
        </p:spPr>
      </p:sp>
      <p:sp>
        <p:nvSpPr>
          <p:cNvPr id="28" name="Text 26"/>
          <p:cNvSpPr txBox="1"/>
          <p:nvPr/>
        </p:nvSpPr>
        <p:spPr>
          <a:xfrm>
            <a:off x="6355080" y="4535424"/>
            <a:ext cx="5047488" cy="501904"/>
          </a:xfrm>
          <a:prstGeom prst="rect">
            <a:avLst/>
          </a:prstGeom>
          <a:noFill/>
          <a:ln/>
        </p:spPr>
        <p:txBody>
          <a:bodyPr wrap="square" lIns="0" tIns="0" rIns="0" bIns="0" rtlCol="0" anchor="t"/>
          <a:lstStyle/>
          <a:p>
            <a:pPr algn="l" indent="0" marL="0">
              <a:lnSpc>
                <a:spcPts val="1456"/>
              </a:lnSpc>
              <a:buNone/>
            </a:pPr>
            <a:r>
              <a:rPr lang="en-US" sz="1040" dirty="0">
                <a:solidFill>
                  <a:srgbClr val="3F3A33"/>
                </a:solidFill>
                <a:latin typeface="Calibri" pitchFamily="34" charset="0"/>
                <a:ea typeface="Calibri" pitchFamily="34" charset="-122"/>
                <a:cs typeface="Calibri" pitchFamily="34" charset="-120"/>
              </a:rPr>
              <a:t>Use routine outcome monitoring and reflective practice to evaluate and improve your own</a:t>
            </a:r>
            <a:endParaRPr lang="en-US" sz="1040" dirty="0"/>
          </a:p>
          <a:p>
            <a:pPr algn="l" indent="0" marL="0">
              <a:lnSpc>
                <a:spcPts val="1456"/>
              </a:lnSpc>
              <a:buNone/>
            </a:pPr>
            <a:r>
              <a:rPr lang="en-US" sz="1040" dirty="0">
                <a:solidFill>
                  <a:srgbClr val="3F3A33"/>
                </a:solidFill>
                <a:latin typeface="Calibri" pitchFamily="34" charset="0"/>
                <a:ea typeface="Calibri" pitchFamily="34" charset="-122"/>
                <a:cs typeface="Calibri" pitchFamily="34" charset="-120"/>
              </a:rPr>
              <a:t>clinical work.</a:t>
            </a:r>
            <a:endParaRPr lang="en-US" sz="1040" dirty="0"/>
          </a:p>
        </p:txBody>
      </p:sp>
      <p:sp>
        <p:nvSpPr>
          <p:cNvPr id="29" name="Shape 27"/>
          <p:cNvSpPr/>
          <p:nvPr/>
        </p:nvSpPr>
        <p:spPr>
          <a:xfrm>
            <a:off x="822960" y="5541264"/>
            <a:ext cx="10546050" cy="91"/>
          </a:xfrm>
          <a:prstGeom prst="line">
            <a:avLst/>
          </a:prstGeom>
          <a:noFill/>
          <a:ln w="6350">
            <a:solidFill>
              <a:srgbClr val="D9CDB7"/>
            </a:solidFill>
            <a:prstDash val="solid"/>
            <a:headEnd type="none"/>
            <a:tailEnd type="none"/>
          </a:ln>
        </p:spPr>
      </p:sp>
      <p:sp>
        <p:nvSpPr>
          <p:cNvPr id="30" name="Text 28"/>
          <p:cNvSpPr txBox="1"/>
          <p:nvPr/>
        </p:nvSpPr>
        <p:spPr>
          <a:xfrm>
            <a:off x="822960" y="5650992"/>
            <a:ext cx="10515600" cy="244729"/>
          </a:xfrm>
          <a:prstGeom prst="rect">
            <a:avLst/>
          </a:prstGeom>
          <a:noFill/>
          <a:ln/>
        </p:spPr>
        <p:txBody>
          <a:bodyPr wrap="square" lIns="0" tIns="0" rIns="0" bIns="0" rtlCol="0" anchor="t"/>
          <a:lstStyle/>
          <a:p>
            <a:pPr algn="l" indent="0" marL="0">
              <a:lnSpc>
                <a:spcPts val="1107"/>
              </a:lnSpc>
              <a:buNone/>
            </a:pPr>
            <a:r>
              <a:rPr lang="en-US" sz="820" i="1" dirty="0">
                <a:solidFill>
                  <a:srgbClr val="8B8375"/>
                </a:solidFill>
                <a:latin typeface="Calibri" pitchFamily="34" charset="0"/>
                <a:ea typeface="Calibri" pitchFamily="34" charset="-122"/>
                <a:cs typeface="Calibri" pitchFamily="34" charset="-120"/>
              </a:rPr>
              <a:t>Mapping · each week names the outcomes it develops, so you can trace your own progress across the sixteen weeks.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THE SIXTEEN-WEEK ARC</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04</a:t>
            </a:r>
            <a:endParaRPr lang="en-US" sz="950" dirty="0"/>
          </a:p>
        </p:txBody>
      </p:sp>
      <p:sp>
        <p:nvSpPr>
          <p:cNvPr id="8" name="Text 6"/>
          <p:cNvSpPr txBox="1"/>
          <p:nvPr/>
        </p:nvSpPr>
        <p:spPr>
          <a:xfrm>
            <a:off x="822960" y="914400"/>
            <a:ext cx="9601200" cy="835660"/>
          </a:xfrm>
          <a:prstGeom prst="rect">
            <a:avLst/>
          </a:prstGeom>
          <a:noFill/>
          <a:ln/>
        </p:spPr>
        <p:txBody>
          <a:bodyPr wrap="square" lIns="0" tIns="0" rIns="0" bIns="0" rtlCol="0" anchor="t"/>
          <a:lstStyle/>
          <a:p>
            <a:pPr algn="l" indent="0" marL="0">
              <a:lnSpc>
                <a:spcPts val="3780"/>
              </a:lnSpc>
              <a:buNone/>
            </a:pPr>
            <a:r>
              <a:rPr lang="en-US" sz="2800" dirty="0">
                <a:solidFill>
                  <a:srgbClr val="1B1815"/>
                </a:solidFill>
                <a:latin typeface="Georgia" pitchFamily="34" charset="0"/>
                <a:ea typeface="Georgia" pitchFamily="34" charset="-122"/>
                <a:cs typeface="Georgia" pitchFamily="34" charset="-120"/>
              </a:rPr>
              <a:t>The shape of the semester</a:t>
            </a:r>
            <a:endParaRPr lang="en-US" sz="2800" dirty="0"/>
          </a:p>
        </p:txBody>
      </p:sp>
      <p:sp>
        <p:nvSpPr>
          <p:cNvPr id="9" name="Text 7"/>
          <p:cNvSpPr txBox="1"/>
          <p:nvPr/>
        </p:nvSpPr>
        <p:spPr>
          <a:xfrm>
            <a:off x="822960" y="1371600"/>
            <a:ext cx="8778240" cy="353568"/>
          </a:xfrm>
          <a:prstGeom prst="rect">
            <a:avLst/>
          </a:prstGeom>
          <a:noFill/>
          <a:ln/>
        </p:spPr>
        <p:txBody>
          <a:bodyPr wrap="square" lIns="0" tIns="0" rIns="0" bIns="0" rtlCol="0" anchor="t"/>
          <a:lstStyle/>
          <a:p>
            <a:pPr algn="l" indent="0" marL="0">
              <a:lnSpc>
                <a:spcPts val="1624"/>
              </a:lnSpc>
              <a:buNone/>
            </a:pPr>
            <a:r>
              <a:rPr lang="en-US" sz="1160" dirty="0">
                <a:solidFill>
                  <a:srgbClr val="5B544A"/>
                </a:solidFill>
                <a:latin typeface="Calibri" pitchFamily="34" charset="0"/>
                <a:ea typeface="Calibri" pitchFamily="34" charset="-122"/>
                <a:cs typeface="Calibri" pitchFamily="34" charset="-120"/>
              </a:rPr>
              <a:t>Four phases, each a distinct mode of learning: foundations, theoretical cartography, clinical encounter, then integration.</a:t>
            </a:r>
            <a:endParaRPr lang="en-US" sz="1160" dirty="0"/>
          </a:p>
        </p:txBody>
      </p:sp>
      <p:sp>
        <p:nvSpPr>
          <p:cNvPr id="10" name="Shape 8"/>
          <p:cNvSpPr/>
          <p:nvPr/>
        </p:nvSpPr>
        <p:spPr>
          <a:xfrm>
            <a:off x="822960" y="2258568"/>
            <a:ext cx="2457450" cy="3319272"/>
          </a:xfrm>
          <a:prstGeom prst="roundRect">
            <a:avLst>
              <a:gd name="adj" fmla="val 623"/>
            </a:avLst>
          </a:prstGeom>
          <a:solidFill>
            <a:srgbClr val="FDFAF3"/>
          </a:solidFill>
          <a:ln w="8890">
            <a:solidFill>
              <a:srgbClr val="D9CDB7"/>
            </a:solidFill>
            <a:prstDash val="solid"/>
          </a:ln>
        </p:spPr>
      </p:sp>
      <p:sp>
        <p:nvSpPr>
          <p:cNvPr id="11" name="Shape 9"/>
          <p:cNvSpPr/>
          <p:nvPr/>
        </p:nvSpPr>
        <p:spPr>
          <a:xfrm>
            <a:off x="822960" y="2258568"/>
            <a:ext cx="2457450" cy="50292"/>
          </a:xfrm>
          <a:prstGeom prst="rect">
            <a:avLst/>
          </a:prstGeom>
          <a:solidFill>
            <a:srgbClr val="C2A05F"/>
          </a:solidFill>
          <a:ln w="12700">
            <a:solidFill>
              <a:srgbClr val="FFFFFF">
                <a:alpha val="0"/>
              </a:srgbClr>
            </a:solidFill>
            <a:prstDash val="solid"/>
          </a:ln>
        </p:spPr>
      </p:sp>
      <p:sp>
        <p:nvSpPr>
          <p:cNvPr id="12" name="Text 10"/>
          <p:cNvSpPr txBox="1"/>
          <p:nvPr/>
        </p:nvSpPr>
        <p:spPr>
          <a:xfrm>
            <a:off x="987552" y="2441448"/>
            <a:ext cx="2128266" cy="226822"/>
          </a:xfrm>
          <a:prstGeom prst="rect">
            <a:avLst/>
          </a:prstGeom>
          <a:noFill/>
          <a:ln/>
        </p:spPr>
        <p:txBody>
          <a:bodyPr wrap="square" lIns="0" tIns="0" rIns="0" bIns="0" rtlCol="0" anchor="t"/>
          <a:lstStyle/>
          <a:p>
            <a:pPr algn="l" indent="0" marL="0">
              <a:lnSpc>
                <a:spcPts val="1026"/>
              </a:lnSpc>
              <a:buNone/>
            </a:pPr>
            <a:r>
              <a:rPr lang="en-US" sz="760" b="1" spc="180" kern="0" dirty="0">
                <a:solidFill>
                  <a:srgbClr val="96733C"/>
                </a:solidFill>
                <a:latin typeface="Calibri" pitchFamily="34" charset="0"/>
                <a:ea typeface="Calibri" pitchFamily="34" charset="-122"/>
                <a:cs typeface="Calibri" pitchFamily="34" charset="-120"/>
              </a:rPr>
              <a:t>PHASE I</a:t>
            </a:r>
            <a:endParaRPr lang="en-US" sz="760" dirty="0"/>
          </a:p>
        </p:txBody>
      </p:sp>
      <p:sp>
        <p:nvSpPr>
          <p:cNvPr id="13" name="Text 11"/>
          <p:cNvSpPr txBox="1"/>
          <p:nvPr/>
        </p:nvSpPr>
        <p:spPr>
          <a:xfrm>
            <a:off x="987552" y="2660904"/>
            <a:ext cx="2128266" cy="421259"/>
          </a:xfrm>
          <a:prstGeom prst="rect">
            <a:avLst/>
          </a:prstGeom>
          <a:noFill/>
          <a:ln/>
        </p:spPr>
        <p:txBody>
          <a:bodyPr wrap="square" lIns="0" tIns="0" rIns="0" bIns="0" rtlCol="0" anchor="t"/>
          <a:lstStyle/>
          <a:p>
            <a:pPr algn="l" indent="0" marL="0">
              <a:lnSpc>
                <a:spcPts val="1767"/>
              </a:lnSpc>
              <a:buNone/>
            </a:pPr>
            <a:r>
              <a:rPr lang="en-US" sz="1550" dirty="0">
                <a:solidFill>
                  <a:srgbClr val="1B1815"/>
                </a:solidFill>
                <a:latin typeface="Georgia" pitchFamily="34" charset="0"/>
                <a:ea typeface="Georgia" pitchFamily="34" charset="-122"/>
                <a:cs typeface="Georgia" pitchFamily="34" charset="-120"/>
              </a:rPr>
              <a:t>Foundations</a:t>
            </a:r>
            <a:endParaRPr lang="en-US" sz="1550" dirty="0"/>
          </a:p>
        </p:txBody>
      </p:sp>
      <p:sp>
        <p:nvSpPr>
          <p:cNvPr id="14" name="Text 12"/>
          <p:cNvSpPr txBox="1"/>
          <p:nvPr/>
        </p:nvSpPr>
        <p:spPr>
          <a:xfrm>
            <a:off x="987552" y="3374136"/>
            <a:ext cx="2128266" cy="239522"/>
          </a:xfrm>
          <a:prstGeom prst="rect">
            <a:avLst/>
          </a:prstGeom>
          <a:noFill/>
          <a:ln/>
        </p:spPr>
        <p:txBody>
          <a:bodyPr wrap="square" lIns="0" tIns="0" rIns="0" bIns="0" rtlCol="0" anchor="t"/>
          <a:lstStyle/>
          <a:p>
            <a:pPr algn="l" indent="0" marL="0">
              <a:lnSpc>
                <a:spcPts val="1066"/>
              </a:lnSpc>
              <a:buNone/>
            </a:pPr>
            <a:r>
              <a:rPr lang="en-US" sz="820" spc="60" kern="0" dirty="0">
                <a:solidFill>
                  <a:srgbClr val="5B544A"/>
                </a:solidFill>
                <a:latin typeface="Calibri" pitchFamily="34" charset="0"/>
                <a:ea typeface="Calibri" pitchFamily="34" charset="-122"/>
                <a:cs typeface="Calibri" pitchFamily="34" charset="-120"/>
              </a:rPr>
              <a:t>Weeks 1–4</a:t>
            </a:r>
            <a:endParaRPr lang="en-US" sz="820" dirty="0"/>
          </a:p>
        </p:txBody>
      </p:sp>
      <p:sp>
        <p:nvSpPr>
          <p:cNvPr id="15" name="Shape 13"/>
          <p:cNvSpPr/>
          <p:nvPr/>
        </p:nvSpPr>
        <p:spPr>
          <a:xfrm>
            <a:off x="987552" y="3575304"/>
            <a:ext cx="493776" cy="91"/>
          </a:xfrm>
          <a:prstGeom prst="line">
            <a:avLst/>
          </a:prstGeom>
          <a:noFill/>
          <a:ln w="7620">
            <a:solidFill>
              <a:srgbClr val="D9CDB7"/>
            </a:solidFill>
            <a:prstDash val="solid"/>
            <a:headEnd type="none"/>
            <a:tailEnd type="none"/>
          </a:ln>
        </p:spPr>
      </p:sp>
      <p:sp>
        <p:nvSpPr>
          <p:cNvPr id="16" name="Shape 14"/>
          <p:cNvSpPr/>
          <p:nvPr/>
        </p:nvSpPr>
        <p:spPr>
          <a:xfrm>
            <a:off x="960120" y="3689604"/>
            <a:ext cx="192024" cy="192024"/>
          </a:xfrm>
          <a:prstGeom prst="ellipse">
            <a:avLst/>
          </a:prstGeom>
          <a:solidFill>
            <a:srgbClr val="FFFFFF">
              <a:alpha val="0"/>
            </a:srgbClr>
          </a:solidFill>
          <a:ln w="7620">
            <a:solidFill>
              <a:srgbClr val="C2A05F"/>
            </a:solidFill>
            <a:prstDash val="solid"/>
          </a:ln>
        </p:spPr>
      </p:sp>
      <p:sp>
        <p:nvSpPr>
          <p:cNvPr id="17" name="Text 15"/>
          <p:cNvSpPr txBox="1"/>
          <p:nvPr/>
        </p:nvSpPr>
        <p:spPr>
          <a:xfrm>
            <a:off x="960120" y="3743706"/>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1</a:t>
            </a:r>
            <a:endParaRPr lang="en-US" sz="660" dirty="0"/>
          </a:p>
        </p:txBody>
      </p:sp>
      <p:sp>
        <p:nvSpPr>
          <p:cNvPr id="18" name="Text 16"/>
          <p:cNvSpPr txBox="1"/>
          <p:nvPr/>
        </p:nvSpPr>
        <p:spPr>
          <a:xfrm>
            <a:off x="1225296" y="3675888"/>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What is MFT?</a:t>
            </a:r>
            <a:endParaRPr lang="en-US" sz="840" dirty="0"/>
          </a:p>
        </p:txBody>
      </p:sp>
      <p:sp>
        <p:nvSpPr>
          <p:cNvPr id="19" name="Shape 17"/>
          <p:cNvSpPr/>
          <p:nvPr/>
        </p:nvSpPr>
        <p:spPr>
          <a:xfrm>
            <a:off x="960120" y="4091940"/>
            <a:ext cx="192024" cy="192024"/>
          </a:xfrm>
          <a:prstGeom prst="ellipse">
            <a:avLst/>
          </a:prstGeom>
          <a:solidFill>
            <a:srgbClr val="FFFFFF">
              <a:alpha val="0"/>
            </a:srgbClr>
          </a:solidFill>
          <a:ln w="7620">
            <a:solidFill>
              <a:srgbClr val="C2A05F"/>
            </a:solidFill>
            <a:prstDash val="solid"/>
          </a:ln>
        </p:spPr>
      </p:sp>
      <p:sp>
        <p:nvSpPr>
          <p:cNvPr id="20" name="Text 18"/>
          <p:cNvSpPr txBox="1"/>
          <p:nvPr/>
        </p:nvSpPr>
        <p:spPr>
          <a:xfrm>
            <a:off x="960120" y="4146042"/>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2</a:t>
            </a:r>
            <a:endParaRPr lang="en-US" sz="660" dirty="0"/>
          </a:p>
        </p:txBody>
      </p:sp>
      <p:sp>
        <p:nvSpPr>
          <p:cNvPr id="21" name="Text 19"/>
          <p:cNvSpPr txBox="1"/>
          <p:nvPr/>
        </p:nvSpPr>
        <p:spPr>
          <a:xfrm>
            <a:off x="1225296" y="4078224"/>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Cybernetics &amp; the systemic lens</a:t>
            </a:r>
            <a:endParaRPr lang="en-US" sz="840" dirty="0"/>
          </a:p>
        </p:txBody>
      </p:sp>
      <p:sp>
        <p:nvSpPr>
          <p:cNvPr id="22" name="Shape 20"/>
          <p:cNvSpPr/>
          <p:nvPr/>
        </p:nvSpPr>
        <p:spPr>
          <a:xfrm>
            <a:off x="960120" y="4494276"/>
            <a:ext cx="192024" cy="192024"/>
          </a:xfrm>
          <a:prstGeom prst="ellipse">
            <a:avLst/>
          </a:prstGeom>
          <a:solidFill>
            <a:srgbClr val="FFFFFF">
              <a:alpha val="0"/>
            </a:srgbClr>
          </a:solidFill>
          <a:ln w="7620">
            <a:solidFill>
              <a:srgbClr val="C2A05F"/>
            </a:solidFill>
            <a:prstDash val="solid"/>
          </a:ln>
        </p:spPr>
      </p:sp>
      <p:sp>
        <p:nvSpPr>
          <p:cNvPr id="23" name="Text 21"/>
          <p:cNvSpPr txBox="1"/>
          <p:nvPr/>
        </p:nvSpPr>
        <p:spPr>
          <a:xfrm>
            <a:off x="960120" y="4548378"/>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3</a:t>
            </a:r>
            <a:endParaRPr lang="en-US" sz="660" dirty="0"/>
          </a:p>
        </p:txBody>
      </p:sp>
      <p:sp>
        <p:nvSpPr>
          <p:cNvPr id="24" name="Text 22"/>
          <p:cNvSpPr txBox="1"/>
          <p:nvPr/>
        </p:nvSpPr>
        <p:spPr>
          <a:xfrm>
            <a:off x="1225296" y="4480560"/>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A short history of the field</a:t>
            </a:r>
            <a:endParaRPr lang="en-US" sz="840" dirty="0"/>
          </a:p>
        </p:txBody>
      </p:sp>
      <p:sp>
        <p:nvSpPr>
          <p:cNvPr id="25" name="Shape 23"/>
          <p:cNvSpPr/>
          <p:nvPr/>
        </p:nvSpPr>
        <p:spPr>
          <a:xfrm>
            <a:off x="960120" y="4896612"/>
            <a:ext cx="192024" cy="192024"/>
          </a:xfrm>
          <a:prstGeom prst="ellipse">
            <a:avLst/>
          </a:prstGeom>
          <a:solidFill>
            <a:srgbClr val="FFFFFF">
              <a:alpha val="0"/>
            </a:srgbClr>
          </a:solidFill>
          <a:ln w="7620">
            <a:solidFill>
              <a:srgbClr val="C2A05F"/>
            </a:solidFill>
            <a:prstDash val="solid"/>
          </a:ln>
        </p:spPr>
      </p:sp>
      <p:sp>
        <p:nvSpPr>
          <p:cNvPr id="26" name="Text 24"/>
          <p:cNvSpPr txBox="1"/>
          <p:nvPr/>
        </p:nvSpPr>
        <p:spPr>
          <a:xfrm>
            <a:off x="960120" y="4950714"/>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4</a:t>
            </a:r>
            <a:endParaRPr lang="en-US" sz="660" dirty="0"/>
          </a:p>
        </p:txBody>
      </p:sp>
      <p:sp>
        <p:nvSpPr>
          <p:cNvPr id="27" name="Text 25"/>
          <p:cNvSpPr txBox="1"/>
          <p:nvPr/>
        </p:nvSpPr>
        <p:spPr>
          <a:xfrm>
            <a:off x="1225296" y="4882896"/>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Structural &amp; strategic foundations</a:t>
            </a:r>
            <a:endParaRPr lang="en-US" sz="840" dirty="0"/>
          </a:p>
        </p:txBody>
      </p:sp>
      <p:sp>
        <p:nvSpPr>
          <p:cNvPr id="28" name="Shape 26"/>
          <p:cNvSpPr/>
          <p:nvPr/>
        </p:nvSpPr>
        <p:spPr>
          <a:xfrm>
            <a:off x="3518154" y="2258568"/>
            <a:ext cx="2457450" cy="3319272"/>
          </a:xfrm>
          <a:prstGeom prst="roundRect">
            <a:avLst>
              <a:gd name="adj" fmla="val 623"/>
            </a:avLst>
          </a:prstGeom>
          <a:solidFill>
            <a:srgbClr val="FBF7EF"/>
          </a:solidFill>
          <a:ln w="8890">
            <a:solidFill>
              <a:srgbClr val="D9CDB7"/>
            </a:solidFill>
            <a:prstDash val="solid"/>
          </a:ln>
        </p:spPr>
      </p:sp>
      <p:sp>
        <p:nvSpPr>
          <p:cNvPr id="29" name="Shape 27"/>
          <p:cNvSpPr/>
          <p:nvPr/>
        </p:nvSpPr>
        <p:spPr>
          <a:xfrm>
            <a:off x="3518154" y="2258568"/>
            <a:ext cx="2457450" cy="50292"/>
          </a:xfrm>
          <a:prstGeom prst="rect">
            <a:avLst/>
          </a:prstGeom>
          <a:solidFill>
            <a:srgbClr val="6E8274"/>
          </a:solidFill>
          <a:ln w="12700">
            <a:solidFill>
              <a:srgbClr val="FFFFFF">
                <a:alpha val="0"/>
              </a:srgbClr>
            </a:solidFill>
            <a:prstDash val="solid"/>
          </a:ln>
        </p:spPr>
      </p:sp>
      <p:sp>
        <p:nvSpPr>
          <p:cNvPr id="30" name="Text 28"/>
          <p:cNvSpPr txBox="1"/>
          <p:nvPr/>
        </p:nvSpPr>
        <p:spPr>
          <a:xfrm>
            <a:off x="3682746" y="2441448"/>
            <a:ext cx="2128266" cy="226822"/>
          </a:xfrm>
          <a:prstGeom prst="rect">
            <a:avLst/>
          </a:prstGeom>
          <a:noFill/>
          <a:ln/>
        </p:spPr>
        <p:txBody>
          <a:bodyPr wrap="square" lIns="0" tIns="0" rIns="0" bIns="0" rtlCol="0" anchor="t"/>
          <a:lstStyle/>
          <a:p>
            <a:pPr algn="l" indent="0" marL="0">
              <a:lnSpc>
                <a:spcPts val="1026"/>
              </a:lnSpc>
              <a:buNone/>
            </a:pPr>
            <a:r>
              <a:rPr lang="en-US" sz="760" b="1" spc="180" kern="0" dirty="0">
                <a:solidFill>
                  <a:srgbClr val="6E8274"/>
                </a:solidFill>
                <a:latin typeface="Calibri" pitchFamily="34" charset="0"/>
                <a:ea typeface="Calibri" pitchFamily="34" charset="-122"/>
                <a:cs typeface="Calibri" pitchFamily="34" charset="-120"/>
              </a:rPr>
              <a:t>PHASE II</a:t>
            </a:r>
            <a:endParaRPr lang="en-US" sz="760" dirty="0"/>
          </a:p>
        </p:txBody>
      </p:sp>
      <p:sp>
        <p:nvSpPr>
          <p:cNvPr id="31" name="Text 29"/>
          <p:cNvSpPr txBox="1"/>
          <p:nvPr/>
        </p:nvSpPr>
        <p:spPr>
          <a:xfrm>
            <a:off x="3682746" y="2660904"/>
            <a:ext cx="2128266" cy="421259"/>
          </a:xfrm>
          <a:prstGeom prst="rect">
            <a:avLst/>
          </a:prstGeom>
          <a:noFill/>
          <a:ln/>
        </p:spPr>
        <p:txBody>
          <a:bodyPr wrap="square" lIns="0" tIns="0" rIns="0" bIns="0" rtlCol="0" anchor="t"/>
          <a:lstStyle/>
          <a:p>
            <a:pPr algn="l" indent="0" marL="0">
              <a:lnSpc>
                <a:spcPts val="1767"/>
              </a:lnSpc>
              <a:buNone/>
            </a:pPr>
            <a:r>
              <a:rPr lang="en-US" sz="1550" dirty="0">
                <a:solidFill>
                  <a:srgbClr val="1B1815"/>
                </a:solidFill>
                <a:latin typeface="Georgia" pitchFamily="34" charset="0"/>
                <a:ea typeface="Georgia" pitchFamily="34" charset="-122"/>
                <a:cs typeface="Georgia" pitchFamily="34" charset="-120"/>
              </a:rPr>
              <a:t>Theoretical Cartography</a:t>
            </a:r>
            <a:endParaRPr lang="en-US" sz="1550" dirty="0"/>
          </a:p>
        </p:txBody>
      </p:sp>
      <p:sp>
        <p:nvSpPr>
          <p:cNvPr id="32" name="Text 30"/>
          <p:cNvSpPr txBox="1"/>
          <p:nvPr/>
        </p:nvSpPr>
        <p:spPr>
          <a:xfrm>
            <a:off x="3682746" y="3374136"/>
            <a:ext cx="2128266" cy="239522"/>
          </a:xfrm>
          <a:prstGeom prst="rect">
            <a:avLst/>
          </a:prstGeom>
          <a:noFill/>
          <a:ln/>
        </p:spPr>
        <p:txBody>
          <a:bodyPr wrap="square" lIns="0" tIns="0" rIns="0" bIns="0" rtlCol="0" anchor="t"/>
          <a:lstStyle/>
          <a:p>
            <a:pPr algn="l" indent="0" marL="0">
              <a:lnSpc>
                <a:spcPts val="1066"/>
              </a:lnSpc>
              <a:buNone/>
            </a:pPr>
            <a:r>
              <a:rPr lang="en-US" sz="820" spc="60" kern="0" dirty="0">
                <a:solidFill>
                  <a:srgbClr val="5B544A"/>
                </a:solidFill>
                <a:latin typeface="Calibri" pitchFamily="34" charset="0"/>
                <a:ea typeface="Calibri" pitchFamily="34" charset="-122"/>
                <a:cs typeface="Calibri" pitchFamily="34" charset="-120"/>
              </a:rPr>
              <a:t>Weeks 5–8</a:t>
            </a:r>
            <a:endParaRPr lang="en-US" sz="820" dirty="0"/>
          </a:p>
        </p:txBody>
      </p:sp>
      <p:sp>
        <p:nvSpPr>
          <p:cNvPr id="33" name="Shape 31"/>
          <p:cNvSpPr/>
          <p:nvPr/>
        </p:nvSpPr>
        <p:spPr>
          <a:xfrm>
            <a:off x="3682746" y="3575304"/>
            <a:ext cx="493776" cy="91"/>
          </a:xfrm>
          <a:prstGeom prst="line">
            <a:avLst/>
          </a:prstGeom>
          <a:noFill/>
          <a:ln w="7620">
            <a:solidFill>
              <a:srgbClr val="D9CDB7"/>
            </a:solidFill>
            <a:prstDash val="solid"/>
            <a:headEnd type="none"/>
            <a:tailEnd type="none"/>
          </a:ln>
        </p:spPr>
      </p:sp>
      <p:sp>
        <p:nvSpPr>
          <p:cNvPr id="34" name="Shape 32"/>
          <p:cNvSpPr/>
          <p:nvPr/>
        </p:nvSpPr>
        <p:spPr>
          <a:xfrm>
            <a:off x="3655314" y="3689604"/>
            <a:ext cx="192024" cy="192024"/>
          </a:xfrm>
          <a:prstGeom prst="ellipse">
            <a:avLst/>
          </a:prstGeom>
          <a:solidFill>
            <a:srgbClr val="FFFFFF">
              <a:alpha val="0"/>
            </a:srgbClr>
          </a:solidFill>
          <a:ln w="7620">
            <a:solidFill>
              <a:srgbClr val="C2A05F"/>
            </a:solidFill>
            <a:prstDash val="solid"/>
          </a:ln>
        </p:spPr>
      </p:sp>
      <p:sp>
        <p:nvSpPr>
          <p:cNvPr id="35" name="Text 33"/>
          <p:cNvSpPr txBox="1"/>
          <p:nvPr/>
        </p:nvSpPr>
        <p:spPr>
          <a:xfrm>
            <a:off x="3655314" y="3743706"/>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5</a:t>
            </a:r>
            <a:endParaRPr lang="en-US" sz="660" dirty="0"/>
          </a:p>
        </p:txBody>
      </p:sp>
      <p:sp>
        <p:nvSpPr>
          <p:cNvPr id="36" name="Text 34"/>
          <p:cNvSpPr txBox="1"/>
          <p:nvPr/>
        </p:nvSpPr>
        <p:spPr>
          <a:xfrm>
            <a:off x="3920490" y="3675888"/>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Intergenerational &amp; contextual</a:t>
            </a:r>
            <a:endParaRPr lang="en-US" sz="840" dirty="0"/>
          </a:p>
        </p:txBody>
      </p:sp>
      <p:sp>
        <p:nvSpPr>
          <p:cNvPr id="37" name="Shape 35"/>
          <p:cNvSpPr/>
          <p:nvPr/>
        </p:nvSpPr>
        <p:spPr>
          <a:xfrm>
            <a:off x="3655314" y="4091940"/>
            <a:ext cx="192024" cy="192024"/>
          </a:xfrm>
          <a:prstGeom prst="ellipse">
            <a:avLst/>
          </a:prstGeom>
          <a:solidFill>
            <a:srgbClr val="FFFFFF">
              <a:alpha val="0"/>
            </a:srgbClr>
          </a:solidFill>
          <a:ln w="7620">
            <a:solidFill>
              <a:srgbClr val="C2A05F"/>
            </a:solidFill>
            <a:prstDash val="solid"/>
          </a:ln>
        </p:spPr>
      </p:sp>
      <p:sp>
        <p:nvSpPr>
          <p:cNvPr id="38" name="Text 36"/>
          <p:cNvSpPr txBox="1"/>
          <p:nvPr/>
        </p:nvSpPr>
        <p:spPr>
          <a:xfrm>
            <a:off x="3655314" y="4146042"/>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6</a:t>
            </a:r>
            <a:endParaRPr lang="en-US" sz="660" dirty="0"/>
          </a:p>
        </p:txBody>
      </p:sp>
      <p:sp>
        <p:nvSpPr>
          <p:cNvPr id="39" name="Text 37"/>
          <p:cNvSpPr txBox="1"/>
          <p:nvPr/>
        </p:nvSpPr>
        <p:spPr>
          <a:xfrm>
            <a:off x="3920490" y="4078224"/>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Experiential &amp; humanistic</a:t>
            </a:r>
            <a:endParaRPr lang="en-US" sz="840" dirty="0"/>
          </a:p>
        </p:txBody>
      </p:sp>
      <p:sp>
        <p:nvSpPr>
          <p:cNvPr id="40" name="Shape 38"/>
          <p:cNvSpPr/>
          <p:nvPr/>
        </p:nvSpPr>
        <p:spPr>
          <a:xfrm>
            <a:off x="3655314" y="4494276"/>
            <a:ext cx="192024" cy="192024"/>
          </a:xfrm>
          <a:prstGeom prst="ellipse">
            <a:avLst/>
          </a:prstGeom>
          <a:solidFill>
            <a:srgbClr val="FFFFFF">
              <a:alpha val="0"/>
            </a:srgbClr>
          </a:solidFill>
          <a:ln w="7620">
            <a:solidFill>
              <a:srgbClr val="C2A05F"/>
            </a:solidFill>
            <a:prstDash val="solid"/>
          </a:ln>
        </p:spPr>
      </p:sp>
      <p:sp>
        <p:nvSpPr>
          <p:cNvPr id="41" name="Text 39"/>
          <p:cNvSpPr txBox="1"/>
          <p:nvPr/>
        </p:nvSpPr>
        <p:spPr>
          <a:xfrm>
            <a:off x="3655314" y="4548378"/>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7</a:t>
            </a:r>
            <a:endParaRPr lang="en-US" sz="660" dirty="0"/>
          </a:p>
        </p:txBody>
      </p:sp>
      <p:sp>
        <p:nvSpPr>
          <p:cNvPr id="42" name="Text 40"/>
          <p:cNvSpPr txBox="1"/>
          <p:nvPr/>
        </p:nvSpPr>
        <p:spPr>
          <a:xfrm>
            <a:off x="3920490" y="4480560"/>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Postmodern &amp; constructivist</a:t>
            </a:r>
            <a:endParaRPr lang="en-US" sz="840" dirty="0"/>
          </a:p>
        </p:txBody>
      </p:sp>
      <p:sp>
        <p:nvSpPr>
          <p:cNvPr id="43" name="Shape 41"/>
          <p:cNvSpPr/>
          <p:nvPr/>
        </p:nvSpPr>
        <p:spPr>
          <a:xfrm>
            <a:off x="3655314" y="4896612"/>
            <a:ext cx="192024" cy="192024"/>
          </a:xfrm>
          <a:prstGeom prst="ellipse">
            <a:avLst/>
          </a:prstGeom>
          <a:solidFill>
            <a:srgbClr val="FFFFFF">
              <a:alpha val="0"/>
            </a:srgbClr>
          </a:solidFill>
          <a:ln w="7620">
            <a:solidFill>
              <a:srgbClr val="C2A05F"/>
            </a:solidFill>
            <a:prstDash val="solid"/>
          </a:ln>
        </p:spPr>
      </p:sp>
      <p:sp>
        <p:nvSpPr>
          <p:cNvPr id="44" name="Text 42"/>
          <p:cNvSpPr txBox="1"/>
          <p:nvPr/>
        </p:nvSpPr>
        <p:spPr>
          <a:xfrm>
            <a:off x="3655314" y="4950714"/>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8</a:t>
            </a:r>
            <a:endParaRPr lang="en-US" sz="660" dirty="0"/>
          </a:p>
        </p:txBody>
      </p:sp>
      <p:sp>
        <p:nvSpPr>
          <p:cNvPr id="45" name="Text 43"/>
          <p:cNvSpPr txBox="1"/>
          <p:nvPr/>
        </p:nvSpPr>
        <p:spPr>
          <a:xfrm>
            <a:off x="3920490" y="4882896"/>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Integrative formulation</a:t>
            </a:r>
            <a:endParaRPr lang="en-US" sz="840" dirty="0"/>
          </a:p>
        </p:txBody>
      </p:sp>
      <p:sp>
        <p:nvSpPr>
          <p:cNvPr id="46" name="Shape 44"/>
          <p:cNvSpPr/>
          <p:nvPr/>
        </p:nvSpPr>
        <p:spPr>
          <a:xfrm>
            <a:off x="6213348" y="2258568"/>
            <a:ext cx="2457450" cy="3319272"/>
          </a:xfrm>
          <a:prstGeom prst="roundRect">
            <a:avLst>
              <a:gd name="adj" fmla="val 623"/>
            </a:avLst>
          </a:prstGeom>
          <a:solidFill>
            <a:srgbClr val="FDFAF3"/>
          </a:solidFill>
          <a:ln w="8890">
            <a:solidFill>
              <a:srgbClr val="D9CDB7"/>
            </a:solidFill>
            <a:prstDash val="solid"/>
          </a:ln>
        </p:spPr>
      </p:sp>
      <p:sp>
        <p:nvSpPr>
          <p:cNvPr id="47" name="Shape 45"/>
          <p:cNvSpPr/>
          <p:nvPr/>
        </p:nvSpPr>
        <p:spPr>
          <a:xfrm>
            <a:off x="6213348" y="2258568"/>
            <a:ext cx="2457450" cy="50292"/>
          </a:xfrm>
          <a:prstGeom prst="rect">
            <a:avLst/>
          </a:prstGeom>
          <a:solidFill>
            <a:srgbClr val="C2A05F"/>
          </a:solidFill>
          <a:ln w="12700">
            <a:solidFill>
              <a:srgbClr val="FFFFFF">
                <a:alpha val="0"/>
              </a:srgbClr>
            </a:solidFill>
            <a:prstDash val="solid"/>
          </a:ln>
        </p:spPr>
      </p:sp>
      <p:sp>
        <p:nvSpPr>
          <p:cNvPr id="48" name="Text 46"/>
          <p:cNvSpPr txBox="1"/>
          <p:nvPr/>
        </p:nvSpPr>
        <p:spPr>
          <a:xfrm>
            <a:off x="6377940" y="2441448"/>
            <a:ext cx="2128266" cy="226822"/>
          </a:xfrm>
          <a:prstGeom prst="rect">
            <a:avLst/>
          </a:prstGeom>
          <a:noFill/>
          <a:ln/>
        </p:spPr>
        <p:txBody>
          <a:bodyPr wrap="square" lIns="0" tIns="0" rIns="0" bIns="0" rtlCol="0" anchor="t"/>
          <a:lstStyle/>
          <a:p>
            <a:pPr algn="l" indent="0" marL="0">
              <a:lnSpc>
                <a:spcPts val="1026"/>
              </a:lnSpc>
              <a:buNone/>
            </a:pPr>
            <a:r>
              <a:rPr lang="en-US" sz="760" b="1" spc="180" kern="0" dirty="0">
                <a:solidFill>
                  <a:srgbClr val="96733C"/>
                </a:solidFill>
                <a:latin typeface="Calibri" pitchFamily="34" charset="0"/>
                <a:ea typeface="Calibri" pitchFamily="34" charset="-122"/>
                <a:cs typeface="Calibri" pitchFamily="34" charset="-120"/>
              </a:rPr>
              <a:t>PHASE III</a:t>
            </a:r>
            <a:endParaRPr lang="en-US" sz="760" dirty="0"/>
          </a:p>
        </p:txBody>
      </p:sp>
      <p:sp>
        <p:nvSpPr>
          <p:cNvPr id="49" name="Text 47"/>
          <p:cNvSpPr txBox="1"/>
          <p:nvPr/>
        </p:nvSpPr>
        <p:spPr>
          <a:xfrm>
            <a:off x="6377940" y="2660904"/>
            <a:ext cx="2128266" cy="421259"/>
          </a:xfrm>
          <a:prstGeom prst="rect">
            <a:avLst/>
          </a:prstGeom>
          <a:noFill/>
          <a:ln/>
        </p:spPr>
        <p:txBody>
          <a:bodyPr wrap="square" lIns="0" tIns="0" rIns="0" bIns="0" rtlCol="0" anchor="t"/>
          <a:lstStyle/>
          <a:p>
            <a:pPr algn="l" indent="0" marL="0">
              <a:lnSpc>
                <a:spcPts val="1767"/>
              </a:lnSpc>
              <a:buNone/>
            </a:pPr>
            <a:r>
              <a:rPr lang="en-US" sz="1550" dirty="0">
                <a:solidFill>
                  <a:srgbClr val="1B1815"/>
                </a:solidFill>
                <a:latin typeface="Georgia" pitchFamily="34" charset="0"/>
                <a:ea typeface="Georgia" pitchFamily="34" charset="-122"/>
                <a:cs typeface="Georgia" pitchFamily="34" charset="-120"/>
              </a:rPr>
              <a:t>The Clinical Encounter</a:t>
            </a:r>
            <a:endParaRPr lang="en-US" sz="1550" dirty="0"/>
          </a:p>
        </p:txBody>
      </p:sp>
      <p:sp>
        <p:nvSpPr>
          <p:cNvPr id="50" name="Text 48"/>
          <p:cNvSpPr txBox="1"/>
          <p:nvPr/>
        </p:nvSpPr>
        <p:spPr>
          <a:xfrm>
            <a:off x="6377940" y="3374136"/>
            <a:ext cx="2128266" cy="239522"/>
          </a:xfrm>
          <a:prstGeom prst="rect">
            <a:avLst/>
          </a:prstGeom>
          <a:noFill/>
          <a:ln/>
        </p:spPr>
        <p:txBody>
          <a:bodyPr wrap="square" lIns="0" tIns="0" rIns="0" bIns="0" rtlCol="0" anchor="t"/>
          <a:lstStyle/>
          <a:p>
            <a:pPr algn="l" indent="0" marL="0">
              <a:lnSpc>
                <a:spcPts val="1066"/>
              </a:lnSpc>
              <a:buNone/>
            </a:pPr>
            <a:r>
              <a:rPr lang="en-US" sz="820" spc="60" kern="0" dirty="0">
                <a:solidFill>
                  <a:srgbClr val="5B544A"/>
                </a:solidFill>
                <a:latin typeface="Calibri" pitchFamily="34" charset="0"/>
                <a:ea typeface="Calibri" pitchFamily="34" charset="-122"/>
                <a:cs typeface="Calibri" pitchFamily="34" charset="-120"/>
              </a:rPr>
              <a:t>Weeks 9–12</a:t>
            </a:r>
            <a:endParaRPr lang="en-US" sz="820" dirty="0"/>
          </a:p>
        </p:txBody>
      </p:sp>
      <p:sp>
        <p:nvSpPr>
          <p:cNvPr id="51" name="Shape 49"/>
          <p:cNvSpPr/>
          <p:nvPr/>
        </p:nvSpPr>
        <p:spPr>
          <a:xfrm>
            <a:off x="6377940" y="3575304"/>
            <a:ext cx="493776" cy="91"/>
          </a:xfrm>
          <a:prstGeom prst="line">
            <a:avLst/>
          </a:prstGeom>
          <a:noFill/>
          <a:ln w="7620">
            <a:solidFill>
              <a:srgbClr val="D9CDB7"/>
            </a:solidFill>
            <a:prstDash val="solid"/>
            <a:headEnd type="none"/>
            <a:tailEnd type="none"/>
          </a:ln>
        </p:spPr>
      </p:sp>
      <p:sp>
        <p:nvSpPr>
          <p:cNvPr id="52" name="Shape 50"/>
          <p:cNvSpPr/>
          <p:nvPr/>
        </p:nvSpPr>
        <p:spPr>
          <a:xfrm>
            <a:off x="6350508" y="3689604"/>
            <a:ext cx="192024" cy="192024"/>
          </a:xfrm>
          <a:prstGeom prst="ellipse">
            <a:avLst/>
          </a:prstGeom>
          <a:solidFill>
            <a:srgbClr val="FFFFFF">
              <a:alpha val="0"/>
            </a:srgbClr>
          </a:solidFill>
          <a:ln w="7620">
            <a:solidFill>
              <a:srgbClr val="C2A05F"/>
            </a:solidFill>
            <a:prstDash val="solid"/>
          </a:ln>
        </p:spPr>
      </p:sp>
      <p:sp>
        <p:nvSpPr>
          <p:cNvPr id="53" name="Text 51"/>
          <p:cNvSpPr txBox="1"/>
          <p:nvPr/>
        </p:nvSpPr>
        <p:spPr>
          <a:xfrm>
            <a:off x="6350508" y="3743706"/>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9</a:t>
            </a:r>
            <a:endParaRPr lang="en-US" sz="660" dirty="0"/>
          </a:p>
        </p:txBody>
      </p:sp>
      <p:sp>
        <p:nvSpPr>
          <p:cNvPr id="54" name="Text 52"/>
          <p:cNvSpPr txBox="1"/>
          <p:nvPr/>
        </p:nvSpPr>
        <p:spPr>
          <a:xfrm>
            <a:off x="6615684" y="3675888"/>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First session &amp; alliance</a:t>
            </a:r>
            <a:endParaRPr lang="en-US" sz="840" dirty="0"/>
          </a:p>
        </p:txBody>
      </p:sp>
      <p:sp>
        <p:nvSpPr>
          <p:cNvPr id="55" name="Shape 53"/>
          <p:cNvSpPr/>
          <p:nvPr/>
        </p:nvSpPr>
        <p:spPr>
          <a:xfrm>
            <a:off x="6350508" y="4091940"/>
            <a:ext cx="192024" cy="192024"/>
          </a:xfrm>
          <a:prstGeom prst="ellipse">
            <a:avLst/>
          </a:prstGeom>
          <a:solidFill>
            <a:srgbClr val="FFFFFF">
              <a:alpha val="0"/>
            </a:srgbClr>
          </a:solidFill>
          <a:ln w="7620">
            <a:solidFill>
              <a:srgbClr val="C2A05F"/>
            </a:solidFill>
            <a:prstDash val="solid"/>
          </a:ln>
        </p:spPr>
      </p:sp>
      <p:sp>
        <p:nvSpPr>
          <p:cNvPr id="56" name="Text 54"/>
          <p:cNvSpPr txBox="1"/>
          <p:nvPr/>
        </p:nvSpPr>
        <p:spPr>
          <a:xfrm>
            <a:off x="6350508" y="4146042"/>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10</a:t>
            </a:r>
            <a:endParaRPr lang="en-US" sz="660" dirty="0"/>
          </a:p>
        </p:txBody>
      </p:sp>
      <p:sp>
        <p:nvSpPr>
          <p:cNvPr id="57" name="Text 55"/>
          <p:cNvSpPr txBox="1"/>
          <p:nvPr/>
        </p:nvSpPr>
        <p:spPr>
          <a:xfrm>
            <a:off x="6615684" y="4078224"/>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Assessment &amp; genograms</a:t>
            </a:r>
            <a:endParaRPr lang="en-US" sz="840" dirty="0"/>
          </a:p>
        </p:txBody>
      </p:sp>
      <p:sp>
        <p:nvSpPr>
          <p:cNvPr id="58" name="Shape 56"/>
          <p:cNvSpPr/>
          <p:nvPr/>
        </p:nvSpPr>
        <p:spPr>
          <a:xfrm>
            <a:off x="6350508" y="4494276"/>
            <a:ext cx="192024" cy="192024"/>
          </a:xfrm>
          <a:prstGeom prst="ellipse">
            <a:avLst/>
          </a:prstGeom>
          <a:solidFill>
            <a:srgbClr val="FFFFFF">
              <a:alpha val="0"/>
            </a:srgbClr>
          </a:solidFill>
          <a:ln w="7620">
            <a:solidFill>
              <a:srgbClr val="C2A05F"/>
            </a:solidFill>
            <a:prstDash val="solid"/>
          </a:ln>
        </p:spPr>
      </p:sp>
      <p:sp>
        <p:nvSpPr>
          <p:cNvPr id="59" name="Text 57"/>
          <p:cNvSpPr txBox="1"/>
          <p:nvPr/>
        </p:nvSpPr>
        <p:spPr>
          <a:xfrm>
            <a:off x="6350508" y="4548378"/>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11</a:t>
            </a:r>
            <a:endParaRPr lang="en-US" sz="660" dirty="0"/>
          </a:p>
        </p:txBody>
      </p:sp>
      <p:sp>
        <p:nvSpPr>
          <p:cNvPr id="60" name="Text 58"/>
          <p:cNvSpPr txBox="1"/>
          <p:nvPr/>
        </p:nvSpPr>
        <p:spPr>
          <a:xfrm>
            <a:off x="6615684" y="4480560"/>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Ethics, law &amp; governance</a:t>
            </a:r>
            <a:endParaRPr lang="en-US" sz="840" dirty="0"/>
          </a:p>
        </p:txBody>
      </p:sp>
      <p:sp>
        <p:nvSpPr>
          <p:cNvPr id="61" name="Shape 59"/>
          <p:cNvSpPr/>
          <p:nvPr/>
        </p:nvSpPr>
        <p:spPr>
          <a:xfrm>
            <a:off x="6350508" y="4896612"/>
            <a:ext cx="192024" cy="192024"/>
          </a:xfrm>
          <a:prstGeom prst="ellipse">
            <a:avLst/>
          </a:prstGeom>
          <a:solidFill>
            <a:srgbClr val="FFFFFF">
              <a:alpha val="0"/>
            </a:srgbClr>
          </a:solidFill>
          <a:ln w="7620">
            <a:solidFill>
              <a:srgbClr val="C2A05F"/>
            </a:solidFill>
            <a:prstDash val="solid"/>
          </a:ln>
        </p:spPr>
      </p:sp>
      <p:sp>
        <p:nvSpPr>
          <p:cNvPr id="62" name="Text 60"/>
          <p:cNvSpPr txBox="1"/>
          <p:nvPr/>
        </p:nvSpPr>
        <p:spPr>
          <a:xfrm>
            <a:off x="6350508" y="4950714"/>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12</a:t>
            </a:r>
            <a:endParaRPr lang="en-US" sz="660" dirty="0"/>
          </a:p>
        </p:txBody>
      </p:sp>
      <p:sp>
        <p:nvSpPr>
          <p:cNvPr id="63" name="Text 61"/>
          <p:cNvSpPr txBox="1"/>
          <p:nvPr/>
        </p:nvSpPr>
        <p:spPr>
          <a:xfrm>
            <a:off x="6615684" y="4882896"/>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Culture, power &amp; location</a:t>
            </a:r>
            <a:endParaRPr lang="en-US" sz="840" dirty="0"/>
          </a:p>
        </p:txBody>
      </p:sp>
      <p:sp>
        <p:nvSpPr>
          <p:cNvPr id="64" name="Shape 62"/>
          <p:cNvSpPr/>
          <p:nvPr/>
        </p:nvSpPr>
        <p:spPr>
          <a:xfrm>
            <a:off x="8908542" y="2258568"/>
            <a:ext cx="2457450" cy="3319272"/>
          </a:xfrm>
          <a:prstGeom prst="roundRect">
            <a:avLst>
              <a:gd name="adj" fmla="val 623"/>
            </a:avLst>
          </a:prstGeom>
          <a:solidFill>
            <a:srgbClr val="FBF7EF"/>
          </a:solidFill>
          <a:ln w="8890">
            <a:solidFill>
              <a:srgbClr val="D9CDB7"/>
            </a:solidFill>
            <a:prstDash val="solid"/>
          </a:ln>
        </p:spPr>
      </p:sp>
      <p:sp>
        <p:nvSpPr>
          <p:cNvPr id="65" name="Shape 63"/>
          <p:cNvSpPr/>
          <p:nvPr/>
        </p:nvSpPr>
        <p:spPr>
          <a:xfrm>
            <a:off x="8908542" y="2258568"/>
            <a:ext cx="2457450" cy="50292"/>
          </a:xfrm>
          <a:prstGeom prst="rect">
            <a:avLst/>
          </a:prstGeom>
          <a:solidFill>
            <a:srgbClr val="6E8274"/>
          </a:solidFill>
          <a:ln w="12700">
            <a:solidFill>
              <a:srgbClr val="FFFFFF">
                <a:alpha val="0"/>
              </a:srgbClr>
            </a:solidFill>
            <a:prstDash val="solid"/>
          </a:ln>
        </p:spPr>
      </p:sp>
      <p:sp>
        <p:nvSpPr>
          <p:cNvPr id="66" name="Text 64"/>
          <p:cNvSpPr txBox="1"/>
          <p:nvPr/>
        </p:nvSpPr>
        <p:spPr>
          <a:xfrm>
            <a:off x="9073134" y="2441448"/>
            <a:ext cx="2128266" cy="226822"/>
          </a:xfrm>
          <a:prstGeom prst="rect">
            <a:avLst/>
          </a:prstGeom>
          <a:noFill/>
          <a:ln/>
        </p:spPr>
        <p:txBody>
          <a:bodyPr wrap="square" lIns="0" tIns="0" rIns="0" bIns="0" rtlCol="0" anchor="t"/>
          <a:lstStyle/>
          <a:p>
            <a:pPr algn="l" indent="0" marL="0">
              <a:lnSpc>
                <a:spcPts val="1026"/>
              </a:lnSpc>
              <a:buNone/>
            </a:pPr>
            <a:r>
              <a:rPr lang="en-US" sz="760" b="1" spc="180" kern="0" dirty="0">
                <a:solidFill>
                  <a:srgbClr val="6E8274"/>
                </a:solidFill>
                <a:latin typeface="Calibri" pitchFamily="34" charset="0"/>
                <a:ea typeface="Calibri" pitchFamily="34" charset="-122"/>
                <a:cs typeface="Calibri" pitchFamily="34" charset="-120"/>
              </a:rPr>
              <a:t>PHASE IV</a:t>
            </a:r>
            <a:endParaRPr lang="en-US" sz="760" dirty="0"/>
          </a:p>
        </p:txBody>
      </p:sp>
      <p:sp>
        <p:nvSpPr>
          <p:cNvPr id="67" name="Text 65"/>
          <p:cNvSpPr txBox="1"/>
          <p:nvPr/>
        </p:nvSpPr>
        <p:spPr>
          <a:xfrm>
            <a:off x="9073134" y="2660904"/>
            <a:ext cx="2128266" cy="421259"/>
          </a:xfrm>
          <a:prstGeom prst="rect">
            <a:avLst/>
          </a:prstGeom>
          <a:noFill/>
          <a:ln/>
        </p:spPr>
        <p:txBody>
          <a:bodyPr wrap="square" lIns="0" tIns="0" rIns="0" bIns="0" rtlCol="0" anchor="t"/>
          <a:lstStyle/>
          <a:p>
            <a:pPr algn="l" indent="0" marL="0">
              <a:lnSpc>
                <a:spcPts val="1767"/>
              </a:lnSpc>
              <a:buNone/>
            </a:pPr>
            <a:r>
              <a:rPr lang="en-US" sz="1550" dirty="0">
                <a:solidFill>
                  <a:srgbClr val="1B1815"/>
                </a:solidFill>
                <a:latin typeface="Georgia" pitchFamily="34" charset="0"/>
                <a:ea typeface="Georgia" pitchFamily="34" charset="-122"/>
                <a:cs typeface="Georgia" pitchFamily="34" charset="-120"/>
              </a:rPr>
              <a:t>Integration &amp; Transition</a:t>
            </a:r>
            <a:endParaRPr lang="en-US" sz="1550" dirty="0"/>
          </a:p>
        </p:txBody>
      </p:sp>
      <p:sp>
        <p:nvSpPr>
          <p:cNvPr id="68" name="Text 66"/>
          <p:cNvSpPr txBox="1"/>
          <p:nvPr/>
        </p:nvSpPr>
        <p:spPr>
          <a:xfrm>
            <a:off x="9073134" y="3374136"/>
            <a:ext cx="2128266" cy="239522"/>
          </a:xfrm>
          <a:prstGeom prst="rect">
            <a:avLst/>
          </a:prstGeom>
          <a:noFill/>
          <a:ln/>
        </p:spPr>
        <p:txBody>
          <a:bodyPr wrap="square" lIns="0" tIns="0" rIns="0" bIns="0" rtlCol="0" anchor="t"/>
          <a:lstStyle/>
          <a:p>
            <a:pPr algn="l" indent="0" marL="0">
              <a:lnSpc>
                <a:spcPts val="1066"/>
              </a:lnSpc>
              <a:buNone/>
            </a:pPr>
            <a:r>
              <a:rPr lang="en-US" sz="820" spc="60" kern="0" dirty="0">
                <a:solidFill>
                  <a:srgbClr val="5B544A"/>
                </a:solidFill>
                <a:latin typeface="Calibri" pitchFamily="34" charset="0"/>
                <a:ea typeface="Calibri" pitchFamily="34" charset="-122"/>
                <a:cs typeface="Calibri" pitchFamily="34" charset="-120"/>
              </a:rPr>
              <a:t>Weeks 13–16</a:t>
            </a:r>
            <a:endParaRPr lang="en-US" sz="820" dirty="0"/>
          </a:p>
        </p:txBody>
      </p:sp>
      <p:sp>
        <p:nvSpPr>
          <p:cNvPr id="69" name="Shape 67"/>
          <p:cNvSpPr/>
          <p:nvPr/>
        </p:nvSpPr>
        <p:spPr>
          <a:xfrm>
            <a:off x="9073134" y="3575304"/>
            <a:ext cx="493776" cy="91"/>
          </a:xfrm>
          <a:prstGeom prst="line">
            <a:avLst/>
          </a:prstGeom>
          <a:noFill/>
          <a:ln w="7620">
            <a:solidFill>
              <a:srgbClr val="D9CDB7"/>
            </a:solidFill>
            <a:prstDash val="solid"/>
            <a:headEnd type="none"/>
            <a:tailEnd type="none"/>
          </a:ln>
        </p:spPr>
      </p:sp>
      <p:sp>
        <p:nvSpPr>
          <p:cNvPr id="70" name="Shape 68"/>
          <p:cNvSpPr/>
          <p:nvPr/>
        </p:nvSpPr>
        <p:spPr>
          <a:xfrm>
            <a:off x="9045702" y="3689604"/>
            <a:ext cx="192024" cy="192024"/>
          </a:xfrm>
          <a:prstGeom prst="ellipse">
            <a:avLst/>
          </a:prstGeom>
          <a:solidFill>
            <a:srgbClr val="FFFFFF">
              <a:alpha val="0"/>
            </a:srgbClr>
          </a:solidFill>
          <a:ln w="7620">
            <a:solidFill>
              <a:srgbClr val="C2A05F"/>
            </a:solidFill>
            <a:prstDash val="solid"/>
          </a:ln>
        </p:spPr>
      </p:sp>
      <p:sp>
        <p:nvSpPr>
          <p:cNvPr id="71" name="Text 69"/>
          <p:cNvSpPr txBox="1"/>
          <p:nvPr/>
        </p:nvSpPr>
        <p:spPr>
          <a:xfrm>
            <a:off x="9045702" y="3743706"/>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13</a:t>
            </a:r>
            <a:endParaRPr lang="en-US" sz="660" dirty="0"/>
          </a:p>
        </p:txBody>
      </p:sp>
      <p:sp>
        <p:nvSpPr>
          <p:cNvPr id="72" name="Text 70"/>
          <p:cNvSpPr txBox="1"/>
          <p:nvPr/>
        </p:nvSpPr>
        <p:spPr>
          <a:xfrm>
            <a:off x="9310878" y="3675888"/>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Children &amp; adolescents</a:t>
            </a:r>
            <a:endParaRPr lang="en-US" sz="840" dirty="0"/>
          </a:p>
        </p:txBody>
      </p:sp>
      <p:sp>
        <p:nvSpPr>
          <p:cNvPr id="73" name="Shape 71"/>
          <p:cNvSpPr/>
          <p:nvPr/>
        </p:nvSpPr>
        <p:spPr>
          <a:xfrm>
            <a:off x="9045702" y="4091940"/>
            <a:ext cx="192024" cy="192024"/>
          </a:xfrm>
          <a:prstGeom prst="ellipse">
            <a:avLst/>
          </a:prstGeom>
          <a:solidFill>
            <a:srgbClr val="FFFFFF">
              <a:alpha val="0"/>
            </a:srgbClr>
          </a:solidFill>
          <a:ln w="7620">
            <a:solidFill>
              <a:srgbClr val="C2A05F"/>
            </a:solidFill>
            <a:prstDash val="solid"/>
          </a:ln>
        </p:spPr>
      </p:sp>
      <p:sp>
        <p:nvSpPr>
          <p:cNvPr id="74" name="Text 72"/>
          <p:cNvSpPr txBox="1"/>
          <p:nvPr/>
        </p:nvSpPr>
        <p:spPr>
          <a:xfrm>
            <a:off x="9045702" y="4146042"/>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14</a:t>
            </a:r>
            <a:endParaRPr lang="en-US" sz="660" dirty="0"/>
          </a:p>
        </p:txBody>
      </p:sp>
      <p:sp>
        <p:nvSpPr>
          <p:cNvPr id="75" name="Text 73"/>
          <p:cNvSpPr txBox="1"/>
          <p:nvPr/>
        </p:nvSpPr>
        <p:spPr>
          <a:xfrm>
            <a:off x="9310878" y="4078224"/>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Couples &amp; attachment</a:t>
            </a:r>
            <a:endParaRPr lang="en-US" sz="840" dirty="0"/>
          </a:p>
        </p:txBody>
      </p:sp>
      <p:sp>
        <p:nvSpPr>
          <p:cNvPr id="76" name="Shape 74"/>
          <p:cNvSpPr/>
          <p:nvPr/>
        </p:nvSpPr>
        <p:spPr>
          <a:xfrm>
            <a:off x="9045702" y="4494276"/>
            <a:ext cx="192024" cy="192024"/>
          </a:xfrm>
          <a:prstGeom prst="ellipse">
            <a:avLst/>
          </a:prstGeom>
          <a:solidFill>
            <a:srgbClr val="FFFFFF">
              <a:alpha val="0"/>
            </a:srgbClr>
          </a:solidFill>
          <a:ln w="7620">
            <a:solidFill>
              <a:srgbClr val="C2A05F"/>
            </a:solidFill>
            <a:prstDash val="solid"/>
          </a:ln>
        </p:spPr>
      </p:sp>
      <p:sp>
        <p:nvSpPr>
          <p:cNvPr id="77" name="Text 75"/>
          <p:cNvSpPr txBox="1"/>
          <p:nvPr/>
        </p:nvSpPr>
        <p:spPr>
          <a:xfrm>
            <a:off x="9045702" y="4548378"/>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15</a:t>
            </a:r>
            <a:endParaRPr lang="en-US" sz="660" dirty="0"/>
          </a:p>
        </p:txBody>
      </p:sp>
      <p:sp>
        <p:nvSpPr>
          <p:cNvPr id="78" name="Text 76"/>
          <p:cNvSpPr txBox="1"/>
          <p:nvPr/>
        </p:nvSpPr>
        <p:spPr>
          <a:xfrm>
            <a:off x="9310878" y="4480560"/>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Transitions &amp; crisis</a:t>
            </a:r>
            <a:endParaRPr lang="en-US" sz="840" dirty="0"/>
          </a:p>
        </p:txBody>
      </p:sp>
      <p:sp>
        <p:nvSpPr>
          <p:cNvPr id="79" name="Shape 77"/>
          <p:cNvSpPr/>
          <p:nvPr/>
        </p:nvSpPr>
        <p:spPr>
          <a:xfrm>
            <a:off x="9045702" y="4896612"/>
            <a:ext cx="192024" cy="192024"/>
          </a:xfrm>
          <a:prstGeom prst="ellipse">
            <a:avLst/>
          </a:prstGeom>
          <a:solidFill>
            <a:srgbClr val="FFFFFF">
              <a:alpha val="0"/>
            </a:srgbClr>
          </a:solidFill>
          <a:ln w="7620">
            <a:solidFill>
              <a:srgbClr val="C2A05F"/>
            </a:solidFill>
            <a:prstDash val="solid"/>
          </a:ln>
        </p:spPr>
      </p:sp>
      <p:sp>
        <p:nvSpPr>
          <p:cNvPr id="80" name="Text 78"/>
          <p:cNvSpPr txBox="1"/>
          <p:nvPr/>
        </p:nvSpPr>
        <p:spPr>
          <a:xfrm>
            <a:off x="9045702" y="4950714"/>
            <a:ext cx="192024" cy="192024"/>
          </a:xfrm>
          <a:prstGeom prst="rect">
            <a:avLst/>
          </a:prstGeom>
          <a:noFill/>
          <a:ln/>
        </p:spPr>
        <p:txBody>
          <a:bodyPr wrap="square" lIns="0" tIns="0" rIns="0" bIns="0" rtlCol="0" anchor="t"/>
          <a:lstStyle/>
          <a:p>
            <a:pPr algn="ctr" indent="0" marL="0">
              <a:lnSpc>
                <a:spcPts val="660"/>
              </a:lnSpc>
              <a:buNone/>
            </a:pPr>
            <a:r>
              <a:rPr lang="en-US" sz="660" b="1" dirty="0">
                <a:solidFill>
                  <a:srgbClr val="96733C"/>
                </a:solidFill>
                <a:latin typeface="Calibri" pitchFamily="34" charset="0"/>
                <a:ea typeface="Calibri" pitchFamily="34" charset="-122"/>
                <a:cs typeface="Calibri" pitchFamily="34" charset="-120"/>
              </a:rPr>
              <a:t>16</a:t>
            </a:r>
            <a:endParaRPr lang="en-US" sz="660" dirty="0"/>
          </a:p>
        </p:txBody>
      </p:sp>
      <p:sp>
        <p:nvSpPr>
          <p:cNvPr id="81" name="Text 79"/>
          <p:cNvSpPr txBox="1"/>
          <p:nvPr/>
        </p:nvSpPr>
        <p:spPr>
          <a:xfrm>
            <a:off x="9310878" y="4882896"/>
            <a:ext cx="1954530" cy="232562"/>
          </a:xfrm>
          <a:prstGeom prst="rect">
            <a:avLst/>
          </a:prstGeom>
          <a:noFill/>
          <a:ln/>
        </p:spPr>
        <p:txBody>
          <a:bodyPr wrap="square" lIns="0" tIns="0" rIns="0" bIns="0" rtlCol="0" anchor="t"/>
          <a:lstStyle/>
          <a:p>
            <a:pPr algn="l" indent="0" marL="0">
              <a:lnSpc>
                <a:spcPts val="991"/>
              </a:lnSpc>
              <a:buNone/>
            </a:pPr>
            <a:r>
              <a:rPr lang="en-US" sz="840" dirty="0">
                <a:solidFill>
                  <a:srgbClr val="3F3A33"/>
                </a:solidFill>
                <a:latin typeface="Calibri" pitchFamily="34" charset="0"/>
                <a:ea typeface="Calibri" pitchFamily="34" charset="-122"/>
                <a:cs typeface="Calibri" pitchFamily="34" charset="-120"/>
              </a:rPr>
              <a:t>Evidence &amp; professional identity</a:t>
            </a:r>
            <a:endParaRPr lang="en-US" sz="840" dirty="0"/>
          </a:p>
        </p:txBody>
      </p:sp>
      <p:sp>
        <p:nvSpPr>
          <p:cNvPr id="82" name="Shape 80"/>
          <p:cNvSpPr/>
          <p:nvPr/>
        </p:nvSpPr>
        <p:spPr>
          <a:xfrm>
            <a:off x="822960" y="2039112"/>
            <a:ext cx="10543032" cy="91"/>
          </a:xfrm>
          <a:prstGeom prst="line">
            <a:avLst/>
          </a:prstGeom>
          <a:noFill/>
          <a:ln w="10160">
            <a:solidFill>
              <a:srgbClr val="D9CDB7"/>
            </a:solidFill>
            <a:prstDash val="solid"/>
            <a:headEnd type="none"/>
            <a:tailEnd type="none"/>
          </a:ln>
        </p:spPr>
      </p:sp>
      <p:sp>
        <p:nvSpPr>
          <p:cNvPr id="83" name="Shape 81"/>
          <p:cNvSpPr/>
          <p:nvPr/>
        </p:nvSpPr>
        <p:spPr>
          <a:xfrm>
            <a:off x="781812" y="1997964"/>
            <a:ext cx="82296" cy="82296"/>
          </a:xfrm>
          <a:prstGeom prst="ellipse">
            <a:avLst/>
          </a:prstGeom>
          <a:solidFill>
            <a:srgbClr val="C2A05F"/>
          </a:solidFill>
          <a:ln w="12700">
            <a:solidFill>
              <a:srgbClr val="FFFFFF">
                <a:alpha val="0"/>
              </a:srgbClr>
            </a:solidFill>
            <a:prstDash val="solid"/>
          </a:ln>
        </p:spPr>
      </p:sp>
      <p:sp>
        <p:nvSpPr>
          <p:cNvPr id="84" name="Shape 82"/>
          <p:cNvSpPr/>
          <p:nvPr/>
        </p:nvSpPr>
        <p:spPr>
          <a:xfrm>
            <a:off x="1498397" y="2011680"/>
            <a:ext cx="54864" cy="54864"/>
          </a:xfrm>
          <a:prstGeom prst="ellipse">
            <a:avLst/>
          </a:prstGeom>
          <a:solidFill>
            <a:srgbClr val="D9CDB7"/>
          </a:solidFill>
          <a:ln w="12700">
            <a:solidFill>
              <a:srgbClr val="FFFFFF">
                <a:alpha val="0"/>
              </a:srgbClr>
            </a:solidFill>
            <a:prstDash val="solid"/>
          </a:ln>
        </p:spPr>
      </p:sp>
      <p:sp>
        <p:nvSpPr>
          <p:cNvPr id="85" name="Shape 83"/>
          <p:cNvSpPr/>
          <p:nvPr/>
        </p:nvSpPr>
        <p:spPr>
          <a:xfrm>
            <a:off x="2201266" y="2011680"/>
            <a:ext cx="54864" cy="54864"/>
          </a:xfrm>
          <a:prstGeom prst="ellipse">
            <a:avLst/>
          </a:prstGeom>
          <a:solidFill>
            <a:srgbClr val="D9CDB7"/>
          </a:solidFill>
          <a:ln w="12700">
            <a:solidFill>
              <a:srgbClr val="FFFFFF">
                <a:alpha val="0"/>
              </a:srgbClr>
            </a:solidFill>
            <a:prstDash val="solid"/>
          </a:ln>
        </p:spPr>
      </p:sp>
      <p:sp>
        <p:nvSpPr>
          <p:cNvPr id="86" name="Shape 84"/>
          <p:cNvSpPr/>
          <p:nvPr/>
        </p:nvSpPr>
        <p:spPr>
          <a:xfrm>
            <a:off x="2904134" y="2011680"/>
            <a:ext cx="54864" cy="54864"/>
          </a:xfrm>
          <a:prstGeom prst="ellipse">
            <a:avLst/>
          </a:prstGeom>
          <a:solidFill>
            <a:srgbClr val="D9CDB7"/>
          </a:solidFill>
          <a:ln w="12700">
            <a:solidFill>
              <a:srgbClr val="FFFFFF">
                <a:alpha val="0"/>
              </a:srgbClr>
            </a:solidFill>
            <a:prstDash val="solid"/>
          </a:ln>
        </p:spPr>
      </p:sp>
      <p:sp>
        <p:nvSpPr>
          <p:cNvPr id="87" name="Shape 85"/>
          <p:cNvSpPr/>
          <p:nvPr/>
        </p:nvSpPr>
        <p:spPr>
          <a:xfrm>
            <a:off x="3593287" y="1997964"/>
            <a:ext cx="82296" cy="82296"/>
          </a:xfrm>
          <a:prstGeom prst="ellipse">
            <a:avLst/>
          </a:prstGeom>
          <a:solidFill>
            <a:srgbClr val="C2A05F"/>
          </a:solidFill>
          <a:ln w="12700">
            <a:solidFill>
              <a:srgbClr val="FFFFFF">
                <a:alpha val="0"/>
              </a:srgbClr>
            </a:solidFill>
            <a:prstDash val="solid"/>
          </a:ln>
        </p:spPr>
      </p:sp>
      <p:sp>
        <p:nvSpPr>
          <p:cNvPr id="88" name="Shape 86"/>
          <p:cNvSpPr/>
          <p:nvPr/>
        </p:nvSpPr>
        <p:spPr>
          <a:xfrm>
            <a:off x="4309872" y="2011680"/>
            <a:ext cx="54864" cy="54864"/>
          </a:xfrm>
          <a:prstGeom prst="ellipse">
            <a:avLst/>
          </a:prstGeom>
          <a:solidFill>
            <a:srgbClr val="D9CDB7"/>
          </a:solidFill>
          <a:ln w="12700">
            <a:solidFill>
              <a:srgbClr val="FFFFFF">
                <a:alpha val="0"/>
              </a:srgbClr>
            </a:solidFill>
            <a:prstDash val="solid"/>
          </a:ln>
        </p:spPr>
      </p:sp>
      <p:sp>
        <p:nvSpPr>
          <p:cNvPr id="89" name="Shape 87"/>
          <p:cNvSpPr/>
          <p:nvPr/>
        </p:nvSpPr>
        <p:spPr>
          <a:xfrm>
            <a:off x="5012741" y="2011680"/>
            <a:ext cx="54864" cy="54864"/>
          </a:xfrm>
          <a:prstGeom prst="ellipse">
            <a:avLst/>
          </a:prstGeom>
          <a:solidFill>
            <a:srgbClr val="D9CDB7"/>
          </a:solidFill>
          <a:ln w="12700">
            <a:solidFill>
              <a:srgbClr val="FFFFFF">
                <a:alpha val="0"/>
              </a:srgbClr>
            </a:solidFill>
            <a:prstDash val="solid"/>
          </a:ln>
        </p:spPr>
      </p:sp>
      <p:sp>
        <p:nvSpPr>
          <p:cNvPr id="90" name="Shape 88"/>
          <p:cNvSpPr/>
          <p:nvPr/>
        </p:nvSpPr>
        <p:spPr>
          <a:xfrm>
            <a:off x="5715610" y="2011680"/>
            <a:ext cx="54864" cy="54864"/>
          </a:xfrm>
          <a:prstGeom prst="ellipse">
            <a:avLst/>
          </a:prstGeom>
          <a:solidFill>
            <a:srgbClr val="D9CDB7"/>
          </a:solidFill>
          <a:ln w="12700">
            <a:solidFill>
              <a:srgbClr val="FFFFFF">
                <a:alpha val="0"/>
              </a:srgbClr>
            </a:solidFill>
            <a:prstDash val="solid"/>
          </a:ln>
        </p:spPr>
      </p:sp>
      <p:sp>
        <p:nvSpPr>
          <p:cNvPr id="91" name="Shape 89"/>
          <p:cNvSpPr/>
          <p:nvPr/>
        </p:nvSpPr>
        <p:spPr>
          <a:xfrm>
            <a:off x="6404762" y="1997964"/>
            <a:ext cx="82296" cy="82296"/>
          </a:xfrm>
          <a:prstGeom prst="ellipse">
            <a:avLst/>
          </a:prstGeom>
          <a:solidFill>
            <a:srgbClr val="C2A05F"/>
          </a:solidFill>
          <a:ln w="12700">
            <a:solidFill>
              <a:srgbClr val="FFFFFF">
                <a:alpha val="0"/>
              </a:srgbClr>
            </a:solidFill>
            <a:prstDash val="solid"/>
          </a:ln>
        </p:spPr>
      </p:sp>
      <p:sp>
        <p:nvSpPr>
          <p:cNvPr id="92" name="Shape 90"/>
          <p:cNvSpPr/>
          <p:nvPr/>
        </p:nvSpPr>
        <p:spPr>
          <a:xfrm>
            <a:off x="7121347" y="2011680"/>
            <a:ext cx="54864" cy="54864"/>
          </a:xfrm>
          <a:prstGeom prst="ellipse">
            <a:avLst/>
          </a:prstGeom>
          <a:solidFill>
            <a:srgbClr val="D9CDB7"/>
          </a:solidFill>
          <a:ln w="12700">
            <a:solidFill>
              <a:srgbClr val="FFFFFF">
                <a:alpha val="0"/>
              </a:srgbClr>
            </a:solidFill>
            <a:prstDash val="solid"/>
          </a:ln>
        </p:spPr>
      </p:sp>
      <p:sp>
        <p:nvSpPr>
          <p:cNvPr id="93" name="Shape 91"/>
          <p:cNvSpPr/>
          <p:nvPr/>
        </p:nvSpPr>
        <p:spPr>
          <a:xfrm>
            <a:off x="7824216" y="2011680"/>
            <a:ext cx="54864" cy="54864"/>
          </a:xfrm>
          <a:prstGeom prst="ellipse">
            <a:avLst/>
          </a:prstGeom>
          <a:solidFill>
            <a:srgbClr val="D9CDB7"/>
          </a:solidFill>
          <a:ln w="12700">
            <a:solidFill>
              <a:srgbClr val="FFFFFF">
                <a:alpha val="0"/>
              </a:srgbClr>
            </a:solidFill>
            <a:prstDash val="solid"/>
          </a:ln>
        </p:spPr>
      </p:sp>
      <p:sp>
        <p:nvSpPr>
          <p:cNvPr id="94" name="Shape 92"/>
          <p:cNvSpPr/>
          <p:nvPr/>
        </p:nvSpPr>
        <p:spPr>
          <a:xfrm>
            <a:off x="8527085" y="2011680"/>
            <a:ext cx="54864" cy="54864"/>
          </a:xfrm>
          <a:prstGeom prst="ellipse">
            <a:avLst/>
          </a:prstGeom>
          <a:solidFill>
            <a:srgbClr val="D9CDB7"/>
          </a:solidFill>
          <a:ln w="12700">
            <a:solidFill>
              <a:srgbClr val="FFFFFF">
                <a:alpha val="0"/>
              </a:srgbClr>
            </a:solidFill>
            <a:prstDash val="solid"/>
          </a:ln>
        </p:spPr>
      </p:sp>
      <p:sp>
        <p:nvSpPr>
          <p:cNvPr id="95" name="Shape 93"/>
          <p:cNvSpPr/>
          <p:nvPr/>
        </p:nvSpPr>
        <p:spPr>
          <a:xfrm>
            <a:off x="9216238" y="1997964"/>
            <a:ext cx="82296" cy="82296"/>
          </a:xfrm>
          <a:prstGeom prst="ellipse">
            <a:avLst/>
          </a:prstGeom>
          <a:solidFill>
            <a:srgbClr val="C2A05F"/>
          </a:solidFill>
          <a:ln w="12700">
            <a:solidFill>
              <a:srgbClr val="FFFFFF">
                <a:alpha val="0"/>
              </a:srgbClr>
            </a:solidFill>
            <a:prstDash val="solid"/>
          </a:ln>
        </p:spPr>
      </p:sp>
      <p:sp>
        <p:nvSpPr>
          <p:cNvPr id="96" name="Shape 94"/>
          <p:cNvSpPr/>
          <p:nvPr/>
        </p:nvSpPr>
        <p:spPr>
          <a:xfrm>
            <a:off x="9932822" y="2011680"/>
            <a:ext cx="54864" cy="54864"/>
          </a:xfrm>
          <a:prstGeom prst="ellipse">
            <a:avLst/>
          </a:prstGeom>
          <a:solidFill>
            <a:srgbClr val="D9CDB7"/>
          </a:solidFill>
          <a:ln w="12700">
            <a:solidFill>
              <a:srgbClr val="FFFFFF">
                <a:alpha val="0"/>
              </a:srgbClr>
            </a:solidFill>
            <a:prstDash val="solid"/>
          </a:ln>
        </p:spPr>
      </p:sp>
      <p:sp>
        <p:nvSpPr>
          <p:cNvPr id="97" name="Shape 95"/>
          <p:cNvSpPr/>
          <p:nvPr/>
        </p:nvSpPr>
        <p:spPr>
          <a:xfrm>
            <a:off x="10635691" y="2011680"/>
            <a:ext cx="54864" cy="54864"/>
          </a:xfrm>
          <a:prstGeom prst="ellipse">
            <a:avLst/>
          </a:prstGeom>
          <a:solidFill>
            <a:srgbClr val="D9CDB7"/>
          </a:solidFill>
          <a:ln w="12700">
            <a:solidFill>
              <a:srgbClr val="FFFFFF">
                <a:alpha val="0"/>
              </a:srgbClr>
            </a:solidFill>
            <a:prstDash val="solid"/>
          </a:ln>
        </p:spPr>
      </p:sp>
      <p:sp>
        <p:nvSpPr>
          <p:cNvPr id="98" name="Shape 96"/>
          <p:cNvSpPr/>
          <p:nvPr/>
        </p:nvSpPr>
        <p:spPr>
          <a:xfrm>
            <a:off x="11338560" y="2011680"/>
            <a:ext cx="54864" cy="54864"/>
          </a:xfrm>
          <a:prstGeom prst="ellipse">
            <a:avLst/>
          </a:prstGeom>
          <a:solidFill>
            <a:srgbClr val="D9CDB7"/>
          </a:solidFill>
          <a:ln w="12700">
            <a:solidFill>
              <a:srgbClr val="FFFFFF">
                <a:alpha val="0"/>
              </a:srgbClr>
            </a:solidFill>
            <a:prstDash val="solid"/>
          </a:ln>
        </p:spPr>
      </p:sp>
      <p:sp>
        <p:nvSpPr>
          <p:cNvPr id="99" name="Text 97"/>
          <p:cNvSpPr txBox="1"/>
          <p:nvPr/>
        </p:nvSpPr>
        <p:spPr>
          <a:xfrm>
            <a:off x="822960" y="1764792"/>
            <a:ext cx="10543032" cy="196977"/>
          </a:xfrm>
          <a:prstGeom prst="rect">
            <a:avLst/>
          </a:prstGeom>
          <a:noFill/>
          <a:ln/>
        </p:spPr>
        <p:txBody>
          <a:bodyPr wrap="square" lIns="0" tIns="0" rIns="0" bIns="0" rtlCol="0" anchor="t"/>
          <a:lstStyle/>
          <a:p>
            <a:pPr algn="ctr" indent="0" marL="0">
              <a:lnSpc>
                <a:spcPts val="891"/>
              </a:lnSpc>
              <a:buNone/>
            </a:pPr>
            <a:r>
              <a:rPr lang="en-US" sz="660" spc="140" kern="0" dirty="0">
                <a:solidFill>
                  <a:srgbClr val="5B544A"/>
                </a:solidFill>
                <a:latin typeface="Calibri" pitchFamily="34" charset="0"/>
                <a:ea typeface="Calibri" pitchFamily="34" charset="-122"/>
                <a:cs typeface="Calibri" pitchFamily="34" charset="-120"/>
              </a:rPr>
              <a:t>WEEK 1 · A SIXTEEN-WEEK PROGRESSION · WEEK 16</a:t>
            </a:r>
            <a:endParaRPr lang="en-US" sz="6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THE WEEKLY RHYTHM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05</a:t>
            </a:r>
            <a:endParaRPr lang="en-US" sz="950" dirty="0"/>
          </a:p>
        </p:txBody>
      </p:sp>
      <p:sp>
        <p:nvSpPr>
          <p:cNvPr id="8" name="Text 6"/>
          <p:cNvSpPr txBox="1"/>
          <p:nvPr/>
        </p:nvSpPr>
        <p:spPr>
          <a:xfrm>
            <a:off x="822960" y="932688"/>
            <a:ext cx="8961120" cy="220853"/>
          </a:xfrm>
          <a:prstGeom prst="rect">
            <a:avLst/>
          </a:prstGeom>
          <a:noFill/>
          <a:ln/>
        </p:spPr>
        <p:txBody>
          <a:bodyPr wrap="square" lIns="0" tIns="0" rIns="0" bIns="0" rtlCol="0" anchor="t"/>
          <a:lstStyle/>
          <a:p>
            <a:pPr algn="l" indent="0" marL="0">
              <a:lnSpc>
                <a:spcPts val="999"/>
              </a:lnSpc>
              <a:buNone/>
            </a:pPr>
            <a:r>
              <a:rPr lang="en-US" sz="740" b="1" spc="200" kern="0" dirty="0">
                <a:solidFill>
                  <a:srgbClr val="96733C"/>
                </a:solidFill>
                <a:latin typeface="Calibri" pitchFamily="34" charset="0"/>
                <a:ea typeface="Calibri" pitchFamily="34" charset="-122"/>
                <a:cs typeface="Calibri" pitchFamily="34" charset="-120"/>
              </a:rPr>
              <a:t>HOW EACH WEEK WORKS</a:t>
            </a:r>
            <a:endParaRPr lang="en-US" sz="740" dirty="0"/>
          </a:p>
        </p:txBody>
      </p:sp>
      <p:sp>
        <p:nvSpPr>
          <p:cNvPr id="9" name="Text 7"/>
          <p:cNvSpPr txBox="1"/>
          <p:nvPr/>
        </p:nvSpPr>
        <p:spPr>
          <a:xfrm>
            <a:off x="822960" y="1207008"/>
            <a:ext cx="896112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Read, wrestle, practise, reflect</a:t>
            </a:r>
            <a:endParaRPr lang="en-US" sz="2700" dirty="0"/>
          </a:p>
        </p:txBody>
      </p:sp>
      <p:sp>
        <p:nvSpPr>
          <p:cNvPr id="10" name="Text 8"/>
          <p:cNvSpPr txBox="1"/>
          <p:nvPr/>
        </p:nvSpPr>
        <p:spPr>
          <a:xfrm>
            <a:off x="822960" y="1719072"/>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Each week follows the same four-beat structure. The deck is a teaching instrument, not a transcript: the slides carry the</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argument, the seminar does the work.</a:t>
            </a:r>
            <a:endParaRPr lang="en-US" sz="1260" dirty="0"/>
          </a:p>
        </p:txBody>
      </p:sp>
      <p:sp>
        <p:nvSpPr>
          <p:cNvPr id="11" name="Shape 9"/>
          <p:cNvSpPr/>
          <p:nvPr/>
        </p:nvSpPr>
        <p:spPr>
          <a:xfrm>
            <a:off x="822960" y="2999232"/>
            <a:ext cx="2471166" cy="2395728"/>
          </a:xfrm>
          <a:prstGeom prst="roundRect">
            <a:avLst>
              <a:gd name="adj" fmla="val 437"/>
            </a:avLst>
          </a:prstGeom>
          <a:solidFill>
            <a:srgbClr val="FBF7EF"/>
          </a:solidFill>
          <a:ln w="7620">
            <a:solidFill>
              <a:srgbClr val="D9CDB7"/>
            </a:solidFill>
            <a:prstDash val="solid"/>
          </a:ln>
        </p:spPr>
      </p:sp>
      <p:sp>
        <p:nvSpPr>
          <p:cNvPr id="12" name="Shape 10"/>
          <p:cNvSpPr/>
          <p:nvPr/>
        </p:nvSpPr>
        <p:spPr>
          <a:xfrm>
            <a:off x="822960" y="2999232"/>
            <a:ext cx="2471166" cy="45720"/>
          </a:xfrm>
          <a:prstGeom prst="rect">
            <a:avLst/>
          </a:prstGeom>
          <a:solidFill>
            <a:srgbClr val="C2A05F"/>
          </a:solidFill>
          <a:ln w="12700">
            <a:solidFill>
              <a:srgbClr val="FFFFFF">
                <a:alpha val="0"/>
              </a:srgbClr>
            </a:solidFill>
            <a:prstDash val="solid"/>
          </a:ln>
        </p:spPr>
      </p:sp>
      <p:sp>
        <p:nvSpPr>
          <p:cNvPr id="13" name="Text 11"/>
          <p:cNvSpPr txBox="1"/>
          <p:nvPr/>
        </p:nvSpPr>
        <p:spPr>
          <a:xfrm>
            <a:off x="1005840" y="3200400"/>
            <a:ext cx="2105406" cy="214884"/>
          </a:xfrm>
          <a:prstGeom prst="rect">
            <a:avLst/>
          </a:prstGeom>
          <a:noFill/>
          <a:ln/>
        </p:spPr>
        <p:txBody>
          <a:bodyPr wrap="square" lIns="0" tIns="0" rIns="0" bIns="0" rtlCol="0" anchor="t"/>
          <a:lstStyle/>
          <a:p>
            <a:pPr algn="l" indent="0" marL="0">
              <a:lnSpc>
                <a:spcPts val="972"/>
              </a:lnSpc>
              <a:buNone/>
            </a:pPr>
            <a:r>
              <a:rPr lang="en-US" sz="720" spc="180" kern="0" dirty="0">
                <a:solidFill>
                  <a:srgbClr val="96733C"/>
                </a:solidFill>
                <a:latin typeface="Calibri" pitchFamily="34" charset="0"/>
                <a:ea typeface="Calibri" pitchFamily="34" charset="-122"/>
                <a:cs typeface="Calibri" pitchFamily="34" charset="-120"/>
              </a:rPr>
              <a:t>01</a:t>
            </a:r>
            <a:endParaRPr lang="en-US" sz="720" dirty="0"/>
          </a:p>
        </p:txBody>
      </p:sp>
      <p:sp>
        <p:nvSpPr>
          <p:cNvPr id="14" name="Text 12"/>
          <p:cNvSpPr txBox="1"/>
          <p:nvPr/>
        </p:nvSpPr>
        <p:spPr>
          <a:xfrm>
            <a:off x="1005840" y="3456432"/>
            <a:ext cx="2105406" cy="409575"/>
          </a:xfrm>
          <a:prstGeom prst="rect">
            <a:avLst/>
          </a:prstGeom>
          <a:noFill/>
          <a:ln/>
        </p:spPr>
        <p:txBody>
          <a:bodyPr wrap="square" lIns="0" tIns="0" rIns="0" bIns="0" rtlCol="0" anchor="t"/>
          <a:lstStyle/>
          <a:p>
            <a:pPr algn="l" indent="0" marL="0">
              <a:lnSpc>
                <a:spcPts val="1725"/>
              </a:lnSpc>
              <a:buNone/>
            </a:pPr>
            <a:r>
              <a:rPr lang="en-US" sz="1500" dirty="0">
                <a:solidFill>
                  <a:srgbClr val="1B1815"/>
                </a:solidFill>
                <a:latin typeface="Georgia" pitchFamily="34" charset="0"/>
                <a:ea typeface="Georgia" pitchFamily="34" charset="-122"/>
                <a:cs typeface="Georgia" pitchFamily="34" charset="-120"/>
              </a:rPr>
              <a:t>Read</a:t>
            </a:r>
            <a:endParaRPr lang="en-US" sz="1500" dirty="0"/>
          </a:p>
        </p:txBody>
      </p:sp>
      <p:sp>
        <p:nvSpPr>
          <p:cNvPr id="15" name="Text 13"/>
          <p:cNvSpPr txBox="1"/>
          <p:nvPr/>
        </p:nvSpPr>
        <p:spPr>
          <a:xfrm>
            <a:off x="1005840" y="3931920"/>
            <a:ext cx="2105406" cy="601218"/>
          </a:xfrm>
          <a:prstGeom prst="rect">
            <a:avLst/>
          </a:prstGeom>
          <a:noFill/>
          <a:ln/>
        </p:spPr>
        <p:txBody>
          <a:bodyPr wrap="square" lIns="0" tIns="0" rIns="0" bIns="0" rtlCol="0" anchor="t"/>
          <a:lstStyle/>
          <a:p>
            <a:pPr algn="l" indent="0" marL="0">
              <a:lnSpc>
                <a:spcPts val="1278"/>
              </a:lnSpc>
              <a:buNone/>
            </a:pPr>
            <a:r>
              <a:rPr lang="en-US" sz="900" dirty="0">
                <a:solidFill>
                  <a:srgbClr val="3F3A33"/>
                </a:solidFill>
                <a:latin typeface="Calibri" pitchFamily="34" charset="0"/>
                <a:ea typeface="Calibri" pitchFamily="34" charset="-122"/>
                <a:cs typeface="Calibri" pitchFamily="34" charset="-120"/>
              </a:rPr>
              <a:t>Two set readings frame the week. Read for</a:t>
            </a:r>
            <a:endParaRPr lang="en-US" sz="900" dirty="0"/>
          </a:p>
          <a:p>
            <a:pPr algn="l" indent="0" marL="0">
              <a:lnSpc>
                <a:spcPts val="1278"/>
              </a:lnSpc>
              <a:buNone/>
            </a:pPr>
            <a:r>
              <a:rPr lang="en-US" sz="900" dirty="0">
                <a:solidFill>
                  <a:srgbClr val="3F3A33"/>
                </a:solidFill>
                <a:latin typeface="Calibri" pitchFamily="34" charset="0"/>
                <a:ea typeface="Calibri" pitchFamily="34" charset="-122"/>
                <a:cs typeface="Calibri" pitchFamily="34" charset="-120"/>
              </a:rPr>
              <a:t>argument, not coverage: what does this</a:t>
            </a:r>
            <a:endParaRPr lang="en-US" sz="900" dirty="0"/>
          </a:p>
          <a:p>
            <a:pPr algn="l" indent="0" marL="0">
              <a:lnSpc>
                <a:spcPts val="1278"/>
              </a:lnSpc>
              <a:buNone/>
            </a:pPr>
            <a:r>
              <a:rPr lang="en-US" sz="900" dirty="0">
                <a:solidFill>
                  <a:srgbClr val="3F3A33"/>
                </a:solidFill>
                <a:latin typeface="Calibri" pitchFamily="34" charset="0"/>
                <a:ea typeface="Calibri" pitchFamily="34" charset="-122"/>
                <a:cs typeface="Calibri" pitchFamily="34" charset="-120"/>
              </a:rPr>
              <a:t>model see, and what does it miss?</a:t>
            </a:r>
            <a:endParaRPr lang="en-US" sz="900" dirty="0"/>
          </a:p>
        </p:txBody>
      </p:sp>
      <p:sp>
        <p:nvSpPr>
          <p:cNvPr id="16" name="Text 14"/>
          <p:cNvSpPr txBox="1"/>
          <p:nvPr/>
        </p:nvSpPr>
        <p:spPr>
          <a:xfrm>
            <a:off x="1005840" y="5102352"/>
            <a:ext cx="2105406" cy="208915"/>
          </a:xfrm>
          <a:prstGeom prst="rect">
            <a:avLst/>
          </a:prstGeom>
          <a:noFill/>
          <a:ln/>
        </p:spPr>
        <p:txBody>
          <a:bodyPr wrap="square" lIns="0" tIns="0" rIns="0" bIns="0" rtlCol="0" anchor="t"/>
          <a:lstStyle/>
          <a:p>
            <a:pPr algn="l" indent="0" marL="0">
              <a:lnSpc>
                <a:spcPts val="945"/>
              </a:lnSpc>
              <a:buNone/>
            </a:pPr>
            <a:r>
              <a:rPr lang="en-US" sz="700" spc="120" kern="0" dirty="0">
                <a:solidFill>
                  <a:srgbClr val="8B8375"/>
                </a:solidFill>
                <a:latin typeface="Calibri" pitchFamily="34" charset="0"/>
                <a:ea typeface="Calibri" pitchFamily="34" charset="-122"/>
                <a:cs typeface="Calibri" pitchFamily="34" charset="-120"/>
              </a:rPr>
              <a:t>BEFORE THE LECTURE</a:t>
            </a:r>
            <a:endParaRPr lang="en-US" sz="700" dirty="0"/>
          </a:p>
        </p:txBody>
      </p:sp>
      <p:sp>
        <p:nvSpPr>
          <p:cNvPr id="17" name="Shape 15"/>
          <p:cNvSpPr/>
          <p:nvPr/>
        </p:nvSpPr>
        <p:spPr>
          <a:xfrm>
            <a:off x="3513582" y="2999232"/>
            <a:ext cx="2471166" cy="2395728"/>
          </a:xfrm>
          <a:prstGeom prst="roundRect">
            <a:avLst>
              <a:gd name="adj" fmla="val 437"/>
            </a:avLst>
          </a:prstGeom>
          <a:solidFill>
            <a:srgbClr val="FCF8EF"/>
          </a:solidFill>
          <a:ln w="7620">
            <a:solidFill>
              <a:srgbClr val="D9CDB7"/>
            </a:solidFill>
            <a:prstDash val="solid"/>
          </a:ln>
        </p:spPr>
      </p:sp>
      <p:sp>
        <p:nvSpPr>
          <p:cNvPr id="18" name="Shape 16"/>
          <p:cNvSpPr/>
          <p:nvPr/>
        </p:nvSpPr>
        <p:spPr>
          <a:xfrm>
            <a:off x="3513582" y="2999232"/>
            <a:ext cx="2471166" cy="45720"/>
          </a:xfrm>
          <a:prstGeom prst="rect">
            <a:avLst/>
          </a:prstGeom>
          <a:solidFill>
            <a:srgbClr val="6E8274"/>
          </a:solidFill>
          <a:ln w="12700">
            <a:solidFill>
              <a:srgbClr val="FFFFFF">
                <a:alpha val="0"/>
              </a:srgbClr>
            </a:solidFill>
            <a:prstDash val="solid"/>
          </a:ln>
        </p:spPr>
      </p:sp>
      <p:sp>
        <p:nvSpPr>
          <p:cNvPr id="19" name="Text 17"/>
          <p:cNvSpPr txBox="1"/>
          <p:nvPr/>
        </p:nvSpPr>
        <p:spPr>
          <a:xfrm>
            <a:off x="3696462" y="3200400"/>
            <a:ext cx="2105406" cy="214884"/>
          </a:xfrm>
          <a:prstGeom prst="rect">
            <a:avLst/>
          </a:prstGeom>
          <a:noFill/>
          <a:ln/>
        </p:spPr>
        <p:txBody>
          <a:bodyPr wrap="square" lIns="0" tIns="0" rIns="0" bIns="0" rtlCol="0" anchor="t"/>
          <a:lstStyle/>
          <a:p>
            <a:pPr algn="l" indent="0" marL="0">
              <a:lnSpc>
                <a:spcPts val="972"/>
              </a:lnSpc>
              <a:buNone/>
            </a:pPr>
            <a:r>
              <a:rPr lang="en-US" sz="720" spc="180" kern="0" dirty="0">
                <a:solidFill>
                  <a:srgbClr val="6E8274"/>
                </a:solidFill>
                <a:latin typeface="Calibri" pitchFamily="34" charset="0"/>
                <a:ea typeface="Calibri" pitchFamily="34" charset="-122"/>
                <a:cs typeface="Calibri" pitchFamily="34" charset="-120"/>
              </a:rPr>
              <a:t>02</a:t>
            </a:r>
            <a:endParaRPr lang="en-US" sz="720" dirty="0"/>
          </a:p>
        </p:txBody>
      </p:sp>
      <p:sp>
        <p:nvSpPr>
          <p:cNvPr id="20" name="Text 18"/>
          <p:cNvSpPr txBox="1"/>
          <p:nvPr/>
        </p:nvSpPr>
        <p:spPr>
          <a:xfrm>
            <a:off x="3696462" y="3456432"/>
            <a:ext cx="2105406" cy="409575"/>
          </a:xfrm>
          <a:prstGeom prst="rect">
            <a:avLst/>
          </a:prstGeom>
          <a:noFill/>
          <a:ln/>
        </p:spPr>
        <p:txBody>
          <a:bodyPr wrap="square" lIns="0" tIns="0" rIns="0" bIns="0" rtlCol="0" anchor="t"/>
          <a:lstStyle/>
          <a:p>
            <a:pPr algn="l" indent="0" marL="0">
              <a:lnSpc>
                <a:spcPts val="1725"/>
              </a:lnSpc>
              <a:buNone/>
            </a:pPr>
            <a:r>
              <a:rPr lang="en-US" sz="1500" dirty="0">
                <a:solidFill>
                  <a:srgbClr val="1B1815"/>
                </a:solidFill>
                <a:latin typeface="Georgia" pitchFamily="34" charset="0"/>
                <a:ea typeface="Georgia" pitchFamily="34" charset="-122"/>
                <a:cs typeface="Georgia" pitchFamily="34" charset="-120"/>
              </a:rPr>
              <a:t>Wrestle</a:t>
            </a:r>
            <a:endParaRPr lang="en-US" sz="1500" dirty="0"/>
          </a:p>
        </p:txBody>
      </p:sp>
      <p:sp>
        <p:nvSpPr>
          <p:cNvPr id="21" name="Text 19"/>
          <p:cNvSpPr txBox="1"/>
          <p:nvPr/>
        </p:nvSpPr>
        <p:spPr>
          <a:xfrm>
            <a:off x="3696462" y="3931920"/>
            <a:ext cx="2105406" cy="601218"/>
          </a:xfrm>
          <a:prstGeom prst="rect">
            <a:avLst/>
          </a:prstGeom>
          <a:noFill/>
          <a:ln/>
        </p:spPr>
        <p:txBody>
          <a:bodyPr wrap="square" lIns="0" tIns="0" rIns="0" bIns="0" rtlCol="0" anchor="t"/>
          <a:lstStyle/>
          <a:p>
            <a:pPr algn="l" indent="0" marL="0">
              <a:lnSpc>
                <a:spcPts val="1278"/>
              </a:lnSpc>
              <a:buNone/>
            </a:pPr>
            <a:r>
              <a:rPr lang="en-US" sz="900" dirty="0">
                <a:solidFill>
                  <a:srgbClr val="3F3A33"/>
                </a:solidFill>
                <a:latin typeface="Calibri" pitchFamily="34" charset="0"/>
                <a:ea typeface="Calibri" pitchFamily="34" charset="-122"/>
                <a:cs typeface="Calibri" pitchFamily="34" charset="-120"/>
              </a:rPr>
              <a:t>The lecture introduces the model and its</a:t>
            </a:r>
            <a:endParaRPr lang="en-US" sz="900" dirty="0"/>
          </a:p>
          <a:p>
            <a:pPr algn="l" indent="0" marL="0">
              <a:lnSpc>
                <a:spcPts val="1278"/>
              </a:lnSpc>
              <a:buNone/>
            </a:pPr>
            <a:r>
              <a:rPr lang="en-US" sz="900" dirty="0">
                <a:solidFill>
                  <a:srgbClr val="3F3A33"/>
                </a:solidFill>
                <a:latin typeface="Calibri" pitchFamily="34" charset="0"/>
                <a:ea typeface="Calibri" pitchFamily="34" charset="-122"/>
                <a:cs typeface="Calibri" pitchFamily="34" charset="-120"/>
              </a:rPr>
              <a:t>clinical logic. Expect to compare it with the</a:t>
            </a:r>
            <a:endParaRPr lang="en-US" sz="900" dirty="0"/>
          </a:p>
          <a:p>
            <a:pPr algn="l" indent="0" marL="0">
              <a:lnSpc>
                <a:spcPts val="1278"/>
              </a:lnSpc>
              <a:buNone/>
            </a:pPr>
            <a:r>
              <a:rPr lang="en-US" sz="900" dirty="0">
                <a:solidFill>
                  <a:srgbClr val="3F3A33"/>
                </a:solidFill>
                <a:latin typeface="Calibri" pitchFamily="34" charset="0"/>
                <a:ea typeface="Calibri" pitchFamily="34" charset="-122"/>
                <a:cs typeface="Calibri" pitchFamily="34" charset="-120"/>
              </a:rPr>
              <a:t>models already in the room.</a:t>
            </a:r>
            <a:endParaRPr lang="en-US" sz="900" dirty="0"/>
          </a:p>
        </p:txBody>
      </p:sp>
      <p:sp>
        <p:nvSpPr>
          <p:cNvPr id="22" name="Text 20"/>
          <p:cNvSpPr txBox="1"/>
          <p:nvPr/>
        </p:nvSpPr>
        <p:spPr>
          <a:xfrm>
            <a:off x="3696462" y="5102352"/>
            <a:ext cx="2105406" cy="208915"/>
          </a:xfrm>
          <a:prstGeom prst="rect">
            <a:avLst/>
          </a:prstGeom>
          <a:noFill/>
          <a:ln/>
        </p:spPr>
        <p:txBody>
          <a:bodyPr wrap="square" lIns="0" tIns="0" rIns="0" bIns="0" rtlCol="0" anchor="t"/>
          <a:lstStyle/>
          <a:p>
            <a:pPr algn="l" indent="0" marL="0">
              <a:lnSpc>
                <a:spcPts val="945"/>
              </a:lnSpc>
              <a:buNone/>
            </a:pPr>
            <a:r>
              <a:rPr lang="en-US" sz="700" spc="120" kern="0" dirty="0">
                <a:solidFill>
                  <a:srgbClr val="8B8375"/>
                </a:solidFill>
                <a:latin typeface="Calibri" pitchFamily="34" charset="0"/>
                <a:ea typeface="Calibri" pitchFamily="34" charset="-122"/>
                <a:cs typeface="Calibri" pitchFamily="34" charset="-120"/>
              </a:rPr>
              <a:t>LECTURE · 2 HOURS</a:t>
            </a:r>
            <a:endParaRPr lang="en-US" sz="700" dirty="0"/>
          </a:p>
        </p:txBody>
      </p:sp>
      <p:sp>
        <p:nvSpPr>
          <p:cNvPr id="23" name="Shape 21"/>
          <p:cNvSpPr/>
          <p:nvPr/>
        </p:nvSpPr>
        <p:spPr>
          <a:xfrm>
            <a:off x="6204204" y="2999232"/>
            <a:ext cx="2471166" cy="2395728"/>
          </a:xfrm>
          <a:prstGeom prst="roundRect">
            <a:avLst>
              <a:gd name="adj" fmla="val 437"/>
            </a:avLst>
          </a:prstGeom>
          <a:solidFill>
            <a:srgbClr val="FBF7EF"/>
          </a:solidFill>
          <a:ln w="7620">
            <a:solidFill>
              <a:srgbClr val="D9CDB7"/>
            </a:solidFill>
            <a:prstDash val="solid"/>
          </a:ln>
        </p:spPr>
      </p:sp>
      <p:sp>
        <p:nvSpPr>
          <p:cNvPr id="24" name="Shape 22"/>
          <p:cNvSpPr/>
          <p:nvPr/>
        </p:nvSpPr>
        <p:spPr>
          <a:xfrm>
            <a:off x="6204204" y="2999232"/>
            <a:ext cx="2471166" cy="45720"/>
          </a:xfrm>
          <a:prstGeom prst="rect">
            <a:avLst/>
          </a:prstGeom>
          <a:solidFill>
            <a:srgbClr val="C2A05F"/>
          </a:solidFill>
          <a:ln w="12700">
            <a:solidFill>
              <a:srgbClr val="FFFFFF">
                <a:alpha val="0"/>
              </a:srgbClr>
            </a:solidFill>
            <a:prstDash val="solid"/>
          </a:ln>
        </p:spPr>
      </p:sp>
      <p:sp>
        <p:nvSpPr>
          <p:cNvPr id="25" name="Text 23"/>
          <p:cNvSpPr txBox="1"/>
          <p:nvPr/>
        </p:nvSpPr>
        <p:spPr>
          <a:xfrm>
            <a:off x="6387084" y="3200400"/>
            <a:ext cx="2105406" cy="214884"/>
          </a:xfrm>
          <a:prstGeom prst="rect">
            <a:avLst/>
          </a:prstGeom>
          <a:noFill/>
          <a:ln/>
        </p:spPr>
        <p:txBody>
          <a:bodyPr wrap="square" lIns="0" tIns="0" rIns="0" bIns="0" rtlCol="0" anchor="t"/>
          <a:lstStyle/>
          <a:p>
            <a:pPr algn="l" indent="0" marL="0">
              <a:lnSpc>
                <a:spcPts val="972"/>
              </a:lnSpc>
              <a:buNone/>
            </a:pPr>
            <a:r>
              <a:rPr lang="en-US" sz="720" spc="180" kern="0" dirty="0">
                <a:solidFill>
                  <a:srgbClr val="96733C"/>
                </a:solidFill>
                <a:latin typeface="Calibri" pitchFamily="34" charset="0"/>
                <a:ea typeface="Calibri" pitchFamily="34" charset="-122"/>
                <a:cs typeface="Calibri" pitchFamily="34" charset="-120"/>
              </a:rPr>
              <a:t>03</a:t>
            </a:r>
            <a:endParaRPr lang="en-US" sz="720" dirty="0"/>
          </a:p>
        </p:txBody>
      </p:sp>
      <p:sp>
        <p:nvSpPr>
          <p:cNvPr id="26" name="Text 24"/>
          <p:cNvSpPr txBox="1"/>
          <p:nvPr/>
        </p:nvSpPr>
        <p:spPr>
          <a:xfrm>
            <a:off x="6387084" y="3456432"/>
            <a:ext cx="2105406" cy="409575"/>
          </a:xfrm>
          <a:prstGeom prst="rect">
            <a:avLst/>
          </a:prstGeom>
          <a:noFill/>
          <a:ln/>
        </p:spPr>
        <p:txBody>
          <a:bodyPr wrap="square" lIns="0" tIns="0" rIns="0" bIns="0" rtlCol="0" anchor="t"/>
          <a:lstStyle/>
          <a:p>
            <a:pPr algn="l" indent="0" marL="0">
              <a:lnSpc>
                <a:spcPts val="1725"/>
              </a:lnSpc>
              <a:buNone/>
            </a:pPr>
            <a:r>
              <a:rPr lang="en-US" sz="1500" dirty="0">
                <a:solidFill>
                  <a:srgbClr val="1B1815"/>
                </a:solidFill>
                <a:latin typeface="Georgia" pitchFamily="34" charset="0"/>
                <a:ea typeface="Georgia" pitchFamily="34" charset="-122"/>
                <a:cs typeface="Georgia" pitchFamily="34" charset="-120"/>
              </a:rPr>
              <a:t>Practise</a:t>
            </a:r>
            <a:endParaRPr lang="en-US" sz="1500" dirty="0"/>
          </a:p>
        </p:txBody>
      </p:sp>
      <p:sp>
        <p:nvSpPr>
          <p:cNvPr id="27" name="Text 25"/>
          <p:cNvSpPr txBox="1"/>
          <p:nvPr/>
        </p:nvSpPr>
        <p:spPr>
          <a:xfrm>
            <a:off x="6387084" y="3931920"/>
            <a:ext cx="2105406" cy="601218"/>
          </a:xfrm>
          <a:prstGeom prst="rect">
            <a:avLst/>
          </a:prstGeom>
          <a:noFill/>
          <a:ln/>
        </p:spPr>
        <p:txBody>
          <a:bodyPr wrap="square" lIns="0" tIns="0" rIns="0" bIns="0" rtlCol="0" anchor="t"/>
          <a:lstStyle/>
          <a:p>
            <a:pPr algn="l" indent="0" marL="0">
              <a:lnSpc>
                <a:spcPts val="1278"/>
              </a:lnSpc>
              <a:buNone/>
            </a:pPr>
            <a:r>
              <a:rPr lang="en-US" sz="900" dirty="0">
                <a:solidFill>
                  <a:srgbClr val="3F3A33"/>
                </a:solidFill>
                <a:latin typeface="Calibri" pitchFamily="34" charset="0"/>
                <a:ea typeface="Calibri" pitchFamily="34" charset="-122"/>
                <a:cs typeface="Calibri" pitchFamily="34" charset="-120"/>
              </a:rPr>
              <a:t>Seminar and skills lab: role-play, live</a:t>
            </a:r>
            <a:endParaRPr lang="en-US" sz="900" dirty="0"/>
          </a:p>
          <a:p>
            <a:pPr algn="l" indent="0" marL="0">
              <a:lnSpc>
                <a:spcPts val="1278"/>
              </a:lnSpc>
              <a:buNone/>
            </a:pPr>
            <a:r>
              <a:rPr lang="en-US" sz="900" dirty="0">
                <a:solidFill>
                  <a:srgbClr val="3F3A33"/>
                </a:solidFill>
                <a:latin typeface="Calibri" pitchFamily="34" charset="0"/>
                <a:ea typeface="Calibri" pitchFamily="34" charset="-122"/>
                <a:cs typeface="Calibri" pitchFamily="34" charset="-120"/>
              </a:rPr>
              <a:t>supervision, genogram construction, case</a:t>
            </a:r>
            <a:endParaRPr lang="en-US" sz="900" dirty="0"/>
          </a:p>
          <a:p>
            <a:pPr algn="l" indent="0" marL="0">
              <a:lnSpc>
                <a:spcPts val="1278"/>
              </a:lnSpc>
              <a:buNone/>
            </a:pPr>
            <a:r>
              <a:rPr lang="en-US" sz="900" dirty="0">
                <a:solidFill>
                  <a:srgbClr val="3F3A33"/>
                </a:solidFill>
                <a:latin typeface="Calibri" pitchFamily="34" charset="0"/>
                <a:ea typeface="Calibri" pitchFamily="34" charset="-122"/>
                <a:cs typeface="Calibri" pitchFamily="34" charset="-120"/>
              </a:rPr>
              <a:t>formulation in small groups.</a:t>
            </a:r>
            <a:endParaRPr lang="en-US" sz="900" dirty="0"/>
          </a:p>
        </p:txBody>
      </p:sp>
      <p:sp>
        <p:nvSpPr>
          <p:cNvPr id="28" name="Text 26"/>
          <p:cNvSpPr txBox="1"/>
          <p:nvPr/>
        </p:nvSpPr>
        <p:spPr>
          <a:xfrm>
            <a:off x="6387084" y="5102352"/>
            <a:ext cx="2105406" cy="208915"/>
          </a:xfrm>
          <a:prstGeom prst="rect">
            <a:avLst/>
          </a:prstGeom>
          <a:noFill/>
          <a:ln/>
        </p:spPr>
        <p:txBody>
          <a:bodyPr wrap="square" lIns="0" tIns="0" rIns="0" bIns="0" rtlCol="0" anchor="t"/>
          <a:lstStyle/>
          <a:p>
            <a:pPr algn="l" indent="0" marL="0">
              <a:lnSpc>
                <a:spcPts val="945"/>
              </a:lnSpc>
              <a:buNone/>
            </a:pPr>
            <a:r>
              <a:rPr lang="en-US" sz="700" spc="120" kern="0" dirty="0">
                <a:solidFill>
                  <a:srgbClr val="8B8375"/>
                </a:solidFill>
                <a:latin typeface="Calibri" pitchFamily="34" charset="0"/>
                <a:ea typeface="Calibri" pitchFamily="34" charset="-122"/>
                <a:cs typeface="Calibri" pitchFamily="34" charset="-120"/>
              </a:rPr>
              <a:t>SEMINAR · 2 HOURS</a:t>
            </a:r>
            <a:endParaRPr lang="en-US" sz="700" dirty="0"/>
          </a:p>
        </p:txBody>
      </p:sp>
      <p:sp>
        <p:nvSpPr>
          <p:cNvPr id="29" name="Shape 27"/>
          <p:cNvSpPr/>
          <p:nvPr/>
        </p:nvSpPr>
        <p:spPr>
          <a:xfrm>
            <a:off x="8894826" y="2999232"/>
            <a:ext cx="2471166" cy="2395728"/>
          </a:xfrm>
          <a:prstGeom prst="roundRect">
            <a:avLst>
              <a:gd name="adj" fmla="val 437"/>
            </a:avLst>
          </a:prstGeom>
          <a:solidFill>
            <a:srgbClr val="FCF8EF"/>
          </a:solidFill>
          <a:ln w="7620">
            <a:solidFill>
              <a:srgbClr val="D9CDB7"/>
            </a:solidFill>
            <a:prstDash val="solid"/>
          </a:ln>
        </p:spPr>
      </p:sp>
      <p:sp>
        <p:nvSpPr>
          <p:cNvPr id="30" name="Shape 28"/>
          <p:cNvSpPr/>
          <p:nvPr/>
        </p:nvSpPr>
        <p:spPr>
          <a:xfrm>
            <a:off x="8894826" y="2999232"/>
            <a:ext cx="2471166" cy="45720"/>
          </a:xfrm>
          <a:prstGeom prst="rect">
            <a:avLst/>
          </a:prstGeom>
          <a:solidFill>
            <a:srgbClr val="6E8274"/>
          </a:solidFill>
          <a:ln w="12700">
            <a:solidFill>
              <a:srgbClr val="FFFFFF">
                <a:alpha val="0"/>
              </a:srgbClr>
            </a:solidFill>
            <a:prstDash val="solid"/>
          </a:ln>
        </p:spPr>
      </p:sp>
      <p:sp>
        <p:nvSpPr>
          <p:cNvPr id="31" name="Text 29"/>
          <p:cNvSpPr txBox="1"/>
          <p:nvPr/>
        </p:nvSpPr>
        <p:spPr>
          <a:xfrm>
            <a:off x="9077706" y="3200400"/>
            <a:ext cx="2105406" cy="214884"/>
          </a:xfrm>
          <a:prstGeom prst="rect">
            <a:avLst/>
          </a:prstGeom>
          <a:noFill/>
          <a:ln/>
        </p:spPr>
        <p:txBody>
          <a:bodyPr wrap="square" lIns="0" tIns="0" rIns="0" bIns="0" rtlCol="0" anchor="t"/>
          <a:lstStyle/>
          <a:p>
            <a:pPr algn="l" indent="0" marL="0">
              <a:lnSpc>
                <a:spcPts val="972"/>
              </a:lnSpc>
              <a:buNone/>
            </a:pPr>
            <a:r>
              <a:rPr lang="en-US" sz="720" spc="180" kern="0" dirty="0">
                <a:solidFill>
                  <a:srgbClr val="6E8274"/>
                </a:solidFill>
                <a:latin typeface="Calibri" pitchFamily="34" charset="0"/>
                <a:ea typeface="Calibri" pitchFamily="34" charset="-122"/>
                <a:cs typeface="Calibri" pitchFamily="34" charset="-120"/>
              </a:rPr>
              <a:t>04</a:t>
            </a:r>
            <a:endParaRPr lang="en-US" sz="720" dirty="0"/>
          </a:p>
        </p:txBody>
      </p:sp>
      <p:sp>
        <p:nvSpPr>
          <p:cNvPr id="32" name="Text 30"/>
          <p:cNvSpPr txBox="1"/>
          <p:nvPr/>
        </p:nvSpPr>
        <p:spPr>
          <a:xfrm>
            <a:off x="9077706" y="3456432"/>
            <a:ext cx="2105406" cy="409575"/>
          </a:xfrm>
          <a:prstGeom prst="rect">
            <a:avLst/>
          </a:prstGeom>
          <a:noFill/>
          <a:ln/>
        </p:spPr>
        <p:txBody>
          <a:bodyPr wrap="square" lIns="0" tIns="0" rIns="0" bIns="0" rtlCol="0" anchor="t"/>
          <a:lstStyle/>
          <a:p>
            <a:pPr algn="l" indent="0" marL="0">
              <a:lnSpc>
                <a:spcPts val="1725"/>
              </a:lnSpc>
              <a:buNone/>
            </a:pPr>
            <a:r>
              <a:rPr lang="en-US" sz="1500" dirty="0">
                <a:solidFill>
                  <a:srgbClr val="1B1815"/>
                </a:solidFill>
                <a:latin typeface="Georgia" pitchFamily="34" charset="0"/>
                <a:ea typeface="Georgia" pitchFamily="34" charset="-122"/>
                <a:cs typeface="Georgia" pitchFamily="34" charset="-120"/>
              </a:rPr>
              <a:t>Reflect</a:t>
            </a:r>
            <a:endParaRPr lang="en-US" sz="1500" dirty="0"/>
          </a:p>
        </p:txBody>
      </p:sp>
      <p:sp>
        <p:nvSpPr>
          <p:cNvPr id="33" name="Text 31"/>
          <p:cNvSpPr txBox="1"/>
          <p:nvPr/>
        </p:nvSpPr>
        <p:spPr>
          <a:xfrm>
            <a:off x="9077706" y="3931920"/>
            <a:ext cx="2105406" cy="438912"/>
          </a:xfrm>
          <a:prstGeom prst="rect">
            <a:avLst/>
          </a:prstGeom>
          <a:noFill/>
          <a:ln/>
        </p:spPr>
        <p:txBody>
          <a:bodyPr wrap="square" lIns="0" tIns="0" rIns="0" bIns="0" rtlCol="0" anchor="t"/>
          <a:lstStyle/>
          <a:p>
            <a:pPr algn="l" indent="0" marL="0">
              <a:lnSpc>
                <a:spcPts val="1278"/>
              </a:lnSpc>
              <a:buNone/>
            </a:pPr>
            <a:r>
              <a:rPr lang="en-US" sz="900" dirty="0">
                <a:solidFill>
                  <a:srgbClr val="3F3A33"/>
                </a:solidFill>
                <a:latin typeface="Calibri" pitchFamily="34" charset="0"/>
                <a:ea typeface="Calibri" pitchFamily="34" charset="-122"/>
                <a:cs typeface="Calibri" pitchFamily="34" charset="-120"/>
              </a:rPr>
              <a:t>A weekly journal entry: what did this week</a:t>
            </a:r>
            <a:endParaRPr lang="en-US" sz="900" dirty="0"/>
          </a:p>
          <a:p>
            <a:pPr algn="l" indent="0" marL="0">
              <a:lnSpc>
                <a:spcPts val="1278"/>
              </a:lnSpc>
              <a:buNone/>
            </a:pPr>
            <a:r>
              <a:rPr lang="en-US" sz="900" dirty="0">
                <a:solidFill>
                  <a:srgbClr val="3F3A33"/>
                </a:solidFill>
                <a:latin typeface="Calibri" pitchFamily="34" charset="0"/>
                <a:ea typeface="Calibri" pitchFamily="34" charset="-122"/>
                <a:cs typeface="Calibri" pitchFamily="34" charset="-120"/>
              </a:rPr>
              <a:t>ask of you, personally and professionally?</a:t>
            </a:r>
            <a:endParaRPr lang="en-US" sz="900" dirty="0"/>
          </a:p>
        </p:txBody>
      </p:sp>
      <p:sp>
        <p:nvSpPr>
          <p:cNvPr id="34" name="Text 32"/>
          <p:cNvSpPr txBox="1"/>
          <p:nvPr/>
        </p:nvSpPr>
        <p:spPr>
          <a:xfrm>
            <a:off x="9077706" y="5102352"/>
            <a:ext cx="2105406" cy="208915"/>
          </a:xfrm>
          <a:prstGeom prst="rect">
            <a:avLst/>
          </a:prstGeom>
          <a:noFill/>
          <a:ln/>
        </p:spPr>
        <p:txBody>
          <a:bodyPr wrap="square" lIns="0" tIns="0" rIns="0" bIns="0" rtlCol="0" anchor="t"/>
          <a:lstStyle/>
          <a:p>
            <a:pPr algn="l" indent="0" marL="0">
              <a:lnSpc>
                <a:spcPts val="945"/>
              </a:lnSpc>
              <a:buNone/>
            </a:pPr>
            <a:r>
              <a:rPr lang="en-US" sz="700" spc="120" kern="0" dirty="0">
                <a:solidFill>
                  <a:srgbClr val="8B8375"/>
                </a:solidFill>
                <a:latin typeface="Calibri" pitchFamily="34" charset="0"/>
                <a:ea typeface="Calibri" pitchFamily="34" charset="-122"/>
                <a:cs typeface="Calibri" pitchFamily="34" charset="-120"/>
              </a:rPr>
              <a:t>JOURNAL · 20 MINUTES</a:t>
            </a:r>
            <a:endParaRPr lang="en-US" sz="700" dirty="0"/>
          </a:p>
        </p:txBody>
      </p:sp>
      <p:sp>
        <p:nvSpPr>
          <p:cNvPr id="35" name="Shape 33"/>
          <p:cNvSpPr/>
          <p:nvPr/>
        </p:nvSpPr>
        <p:spPr>
          <a:xfrm>
            <a:off x="822960" y="5577840"/>
            <a:ext cx="10546050" cy="91"/>
          </a:xfrm>
          <a:prstGeom prst="line">
            <a:avLst/>
          </a:prstGeom>
          <a:noFill/>
          <a:ln w="6350">
            <a:solidFill>
              <a:srgbClr val="D9CDB7"/>
            </a:solidFill>
            <a:prstDash val="solid"/>
            <a:headEnd type="none"/>
            <a:tailEnd type="none"/>
          </a:ln>
        </p:spPr>
      </p:sp>
      <p:sp>
        <p:nvSpPr>
          <p:cNvPr id="36" name="Text 34"/>
          <p:cNvSpPr txBox="1"/>
          <p:nvPr/>
        </p:nvSpPr>
        <p:spPr>
          <a:xfrm>
            <a:off x="822960" y="5687568"/>
            <a:ext cx="10515600" cy="244729"/>
          </a:xfrm>
          <a:prstGeom prst="rect">
            <a:avLst/>
          </a:prstGeom>
          <a:noFill/>
          <a:ln/>
        </p:spPr>
        <p:txBody>
          <a:bodyPr wrap="square" lIns="0" tIns="0" rIns="0" bIns="0" rtlCol="0" anchor="t"/>
          <a:lstStyle/>
          <a:p>
            <a:pPr algn="l" indent="0" marL="0">
              <a:lnSpc>
                <a:spcPts val="1107"/>
              </a:lnSpc>
              <a:buNone/>
            </a:pPr>
            <a:r>
              <a:rPr lang="en-US" sz="820" i="1" dirty="0">
                <a:solidFill>
                  <a:srgbClr val="8B8375"/>
                </a:solidFill>
                <a:latin typeface="Calibri" pitchFamily="34" charset="0"/>
                <a:ea typeface="Calibri" pitchFamily="34" charset="-122"/>
                <a:cs typeface="Calibri" pitchFamily="34" charset="-120"/>
              </a:rPr>
              <a:t>Preparation is not optional: seminar time is spent applying the reading, not summarising it.</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TEACHING &amp; ASSESSMENT</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06</a:t>
            </a:r>
            <a:endParaRPr lang="en-US" sz="950" dirty="0"/>
          </a:p>
        </p:txBody>
      </p:sp>
      <p:sp>
        <p:nvSpPr>
          <p:cNvPr id="8" name="Text 6"/>
          <p:cNvSpPr txBox="1"/>
          <p:nvPr/>
        </p:nvSpPr>
        <p:spPr>
          <a:xfrm>
            <a:off x="822960" y="932688"/>
            <a:ext cx="8778240" cy="220853"/>
          </a:xfrm>
          <a:prstGeom prst="rect">
            <a:avLst/>
          </a:prstGeom>
          <a:noFill/>
          <a:ln/>
        </p:spPr>
        <p:txBody>
          <a:bodyPr wrap="square" lIns="0" tIns="0" rIns="0" bIns="0" rtlCol="0" anchor="t"/>
          <a:lstStyle/>
          <a:p>
            <a:pPr algn="l" indent="0" marL="0">
              <a:lnSpc>
                <a:spcPts val="999"/>
              </a:lnSpc>
              <a:buNone/>
            </a:pPr>
            <a:r>
              <a:rPr lang="en-US" sz="740" b="1" spc="200" kern="0" dirty="0">
                <a:solidFill>
                  <a:srgbClr val="96733C"/>
                </a:solidFill>
                <a:latin typeface="Calibri" pitchFamily="34" charset="0"/>
                <a:ea typeface="Calibri" pitchFamily="34" charset="-122"/>
                <a:cs typeface="Calibri" pitchFamily="34" charset="-120"/>
              </a:rPr>
              <a:t>ASSESSMENT</a:t>
            </a:r>
            <a:endParaRPr lang="en-US" sz="740" dirty="0"/>
          </a:p>
        </p:txBody>
      </p:sp>
      <p:sp>
        <p:nvSpPr>
          <p:cNvPr id="9" name="Text 7"/>
          <p:cNvSpPr txBox="1"/>
          <p:nvPr/>
        </p:nvSpPr>
        <p:spPr>
          <a:xfrm>
            <a:off x="822960" y="1207008"/>
            <a:ext cx="877824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How the course is examined</a:t>
            </a:r>
            <a:endParaRPr lang="en-US" sz="2700" dirty="0"/>
          </a:p>
        </p:txBody>
      </p:sp>
      <p:sp>
        <p:nvSpPr>
          <p:cNvPr id="10" name="Text 8"/>
          <p:cNvSpPr txBox="1"/>
          <p:nvPr/>
        </p:nvSpPr>
        <p:spPr>
          <a:xfrm>
            <a:off x="822960" y="1719072"/>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Assessment is cumulative and clinical in character: you are asked to show that you can think systemically, write clearly, and</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defend a formulation.</a:t>
            </a:r>
            <a:endParaRPr lang="en-US" sz="1260" dirty="0"/>
          </a:p>
        </p:txBody>
      </p:sp>
      <p:sp>
        <p:nvSpPr>
          <p:cNvPr id="11" name="Shape 9"/>
          <p:cNvSpPr/>
          <p:nvPr/>
        </p:nvSpPr>
        <p:spPr>
          <a:xfrm>
            <a:off x="822960" y="2798064"/>
            <a:ext cx="10546050" cy="91"/>
          </a:xfrm>
          <a:prstGeom prst="line">
            <a:avLst/>
          </a:prstGeom>
          <a:noFill/>
          <a:ln w="11430">
            <a:solidFill>
              <a:srgbClr val="C2A05F"/>
            </a:solidFill>
            <a:prstDash val="solid"/>
            <a:headEnd type="none"/>
            <a:tailEnd type="none"/>
          </a:ln>
        </p:spPr>
      </p:sp>
      <p:sp>
        <p:nvSpPr>
          <p:cNvPr id="12" name="Text 10"/>
          <p:cNvSpPr txBox="1"/>
          <p:nvPr/>
        </p:nvSpPr>
        <p:spPr>
          <a:xfrm>
            <a:off x="822960" y="2907792"/>
            <a:ext cx="3657600" cy="214884"/>
          </a:xfrm>
          <a:prstGeom prst="rect">
            <a:avLst/>
          </a:prstGeom>
          <a:noFill/>
          <a:ln/>
        </p:spPr>
        <p:txBody>
          <a:bodyPr wrap="square" lIns="0" tIns="0" rIns="0" bIns="0" rtlCol="0" anchor="t"/>
          <a:lstStyle/>
          <a:p>
            <a:pPr algn="l" indent="0" marL="0">
              <a:lnSpc>
                <a:spcPts val="972"/>
              </a:lnSpc>
              <a:buNone/>
            </a:pPr>
            <a:r>
              <a:rPr lang="en-US" sz="720" b="1" spc="150" kern="0" dirty="0">
                <a:solidFill>
                  <a:srgbClr val="96733C"/>
                </a:solidFill>
                <a:latin typeface="Calibri" pitchFamily="34" charset="0"/>
                <a:ea typeface="Calibri" pitchFamily="34" charset="-122"/>
                <a:cs typeface="Calibri" pitchFamily="34" charset="-120"/>
              </a:rPr>
              <a:t>COMPONENT</a:t>
            </a:r>
            <a:endParaRPr lang="en-US" sz="720" dirty="0"/>
          </a:p>
        </p:txBody>
      </p:sp>
      <p:sp>
        <p:nvSpPr>
          <p:cNvPr id="13" name="Text 11"/>
          <p:cNvSpPr txBox="1"/>
          <p:nvPr/>
        </p:nvSpPr>
        <p:spPr>
          <a:xfrm>
            <a:off x="4663440" y="2907792"/>
            <a:ext cx="2560320" cy="214884"/>
          </a:xfrm>
          <a:prstGeom prst="rect">
            <a:avLst/>
          </a:prstGeom>
          <a:noFill/>
          <a:ln/>
        </p:spPr>
        <p:txBody>
          <a:bodyPr wrap="square" lIns="0" tIns="0" rIns="0" bIns="0" rtlCol="0" anchor="t"/>
          <a:lstStyle/>
          <a:p>
            <a:pPr algn="l" indent="0" marL="0">
              <a:lnSpc>
                <a:spcPts val="972"/>
              </a:lnSpc>
              <a:buNone/>
            </a:pPr>
            <a:r>
              <a:rPr lang="en-US" sz="720" b="1" spc="150" kern="0" dirty="0">
                <a:solidFill>
                  <a:srgbClr val="96733C"/>
                </a:solidFill>
                <a:latin typeface="Calibri" pitchFamily="34" charset="0"/>
                <a:ea typeface="Calibri" pitchFamily="34" charset="-122"/>
                <a:cs typeface="Calibri" pitchFamily="34" charset="-120"/>
              </a:rPr>
              <a:t>FORMAT</a:t>
            </a:r>
            <a:endParaRPr lang="en-US" sz="720" dirty="0"/>
          </a:p>
        </p:txBody>
      </p:sp>
      <p:sp>
        <p:nvSpPr>
          <p:cNvPr id="14" name="Text 12"/>
          <p:cNvSpPr txBox="1"/>
          <p:nvPr/>
        </p:nvSpPr>
        <p:spPr>
          <a:xfrm>
            <a:off x="7406640" y="2907792"/>
            <a:ext cx="3779490" cy="214884"/>
          </a:xfrm>
          <a:prstGeom prst="rect">
            <a:avLst/>
          </a:prstGeom>
          <a:noFill/>
          <a:ln/>
        </p:spPr>
        <p:txBody>
          <a:bodyPr wrap="square" lIns="0" tIns="0" rIns="0" bIns="0" rtlCol="0" anchor="t"/>
          <a:lstStyle/>
          <a:p>
            <a:pPr algn="l" indent="0" marL="0">
              <a:lnSpc>
                <a:spcPts val="972"/>
              </a:lnSpc>
              <a:buNone/>
            </a:pPr>
            <a:r>
              <a:rPr lang="en-US" sz="720" b="1" spc="150" kern="0" dirty="0">
                <a:solidFill>
                  <a:srgbClr val="96733C"/>
                </a:solidFill>
                <a:latin typeface="Calibri" pitchFamily="34" charset="0"/>
                <a:ea typeface="Calibri" pitchFamily="34" charset="-122"/>
                <a:cs typeface="Calibri" pitchFamily="34" charset="-120"/>
              </a:rPr>
              <a:t>WEIGHT</a:t>
            </a:r>
            <a:endParaRPr lang="en-US" sz="720" dirty="0"/>
          </a:p>
        </p:txBody>
      </p:sp>
      <p:sp>
        <p:nvSpPr>
          <p:cNvPr id="15" name="Text 13"/>
          <p:cNvSpPr txBox="1"/>
          <p:nvPr/>
        </p:nvSpPr>
        <p:spPr>
          <a:xfrm>
            <a:off x="822960" y="3255264"/>
            <a:ext cx="3657600" cy="376047"/>
          </a:xfrm>
          <a:prstGeom prst="rect">
            <a:avLst/>
          </a:prstGeom>
          <a:noFill/>
          <a:ln/>
        </p:spPr>
        <p:txBody>
          <a:bodyPr wrap="square" lIns="0" tIns="0" rIns="0" bIns="0" rtlCol="0" anchor="t"/>
          <a:lstStyle/>
          <a:p>
            <a:pPr algn="l" indent="0" marL="0">
              <a:lnSpc>
                <a:spcPts val="1701"/>
              </a:lnSpc>
              <a:buNone/>
            </a:pPr>
            <a:r>
              <a:rPr lang="en-US" sz="1260" dirty="0">
                <a:solidFill>
                  <a:srgbClr val="1B1815"/>
                </a:solidFill>
                <a:latin typeface="Georgia" pitchFamily="34" charset="0"/>
                <a:ea typeface="Georgia" pitchFamily="34" charset="-122"/>
                <a:cs typeface="Georgia" pitchFamily="34" charset="-120"/>
              </a:rPr>
              <a:t>Integrative case formulation</a:t>
            </a:r>
            <a:endParaRPr lang="en-US" sz="1260" dirty="0"/>
          </a:p>
        </p:txBody>
      </p:sp>
      <p:sp>
        <p:nvSpPr>
          <p:cNvPr id="16" name="Text 14"/>
          <p:cNvSpPr txBox="1"/>
          <p:nvPr/>
        </p:nvSpPr>
        <p:spPr>
          <a:xfrm>
            <a:off x="4663440" y="3273552"/>
            <a:ext cx="2560320" cy="411480"/>
          </a:xfrm>
          <a:prstGeom prst="rect">
            <a:avLst/>
          </a:prstGeom>
          <a:noFill/>
          <a:ln/>
        </p:spPr>
        <p:txBody>
          <a:bodyPr wrap="square" lIns="0" tIns="0" rIns="0" bIns="0" rtlCol="0" anchor="t"/>
          <a:lstStyle/>
          <a:p>
            <a:pPr algn="l" indent="0" marL="0">
              <a:lnSpc>
                <a:spcPts val="1170"/>
              </a:lnSpc>
              <a:buNone/>
            </a:pPr>
            <a:r>
              <a:rPr lang="en-US" sz="900" dirty="0">
                <a:solidFill>
                  <a:srgbClr val="3F3A33"/>
                </a:solidFill>
                <a:latin typeface="Calibri" pitchFamily="34" charset="0"/>
                <a:ea typeface="Calibri" pitchFamily="34" charset="-122"/>
                <a:cs typeface="Calibri" pitchFamily="34" charset="-120"/>
              </a:rPr>
              <a:t>2,500 words · one family, three models, a defended</a:t>
            </a:r>
            <a:endParaRPr lang="en-US" sz="900" dirty="0"/>
          </a:p>
          <a:p>
            <a:pPr algn="l" indent="0" marL="0">
              <a:lnSpc>
                <a:spcPts val="1170"/>
              </a:lnSpc>
              <a:buNone/>
            </a:pPr>
            <a:r>
              <a:rPr lang="en-US" sz="900" dirty="0">
                <a:solidFill>
                  <a:srgbClr val="3F3A33"/>
                </a:solidFill>
                <a:latin typeface="Calibri" pitchFamily="34" charset="0"/>
                <a:ea typeface="Calibri" pitchFamily="34" charset="-122"/>
                <a:cs typeface="Calibri" pitchFamily="34" charset="-120"/>
              </a:rPr>
              <a:t>intervention plan</a:t>
            </a:r>
            <a:endParaRPr lang="en-US" sz="900" dirty="0"/>
          </a:p>
        </p:txBody>
      </p:sp>
      <p:sp>
        <p:nvSpPr>
          <p:cNvPr id="17" name="Text 15"/>
          <p:cNvSpPr txBox="1"/>
          <p:nvPr/>
        </p:nvSpPr>
        <p:spPr>
          <a:xfrm>
            <a:off x="7406640" y="3255264"/>
            <a:ext cx="914400" cy="417830"/>
          </a:xfrm>
          <a:prstGeom prst="rect">
            <a:avLst/>
          </a:prstGeom>
          <a:noFill/>
          <a:ln/>
        </p:spPr>
        <p:txBody>
          <a:bodyPr wrap="square" lIns="0" tIns="0" rIns="0" bIns="0" rtlCol="0" anchor="t"/>
          <a:lstStyle/>
          <a:p>
            <a:pPr algn="l" indent="0" marL="0">
              <a:lnSpc>
                <a:spcPts val="1890"/>
              </a:lnSpc>
              <a:buNone/>
            </a:pPr>
            <a:r>
              <a:rPr lang="en-US" sz="1400" dirty="0">
                <a:solidFill>
                  <a:srgbClr val="96733C"/>
                </a:solidFill>
                <a:latin typeface="Georgia" pitchFamily="34" charset="0"/>
                <a:ea typeface="Georgia" pitchFamily="34" charset="-122"/>
                <a:cs typeface="Georgia" pitchFamily="34" charset="-120"/>
              </a:rPr>
              <a:t>30%</a:t>
            </a:r>
            <a:endParaRPr lang="en-US" sz="1400" dirty="0"/>
          </a:p>
        </p:txBody>
      </p:sp>
      <p:sp>
        <p:nvSpPr>
          <p:cNvPr id="18" name="Shape 16"/>
          <p:cNvSpPr/>
          <p:nvPr/>
        </p:nvSpPr>
        <p:spPr>
          <a:xfrm>
            <a:off x="822960" y="3694176"/>
            <a:ext cx="10546050" cy="91"/>
          </a:xfrm>
          <a:prstGeom prst="line">
            <a:avLst/>
          </a:prstGeom>
          <a:noFill/>
          <a:ln w="5715">
            <a:solidFill>
              <a:srgbClr val="D9CDB7">
                <a:alpha val="80000"/>
              </a:srgbClr>
            </a:solidFill>
            <a:prstDash val="solid"/>
            <a:headEnd type="none"/>
            <a:tailEnd type="none"/>
          </a:ln>
        </p:spPr>
      </p:sp>
      <p:sp>
        <p:nvSpPr>
          <p:cNvPr id="19" name="Text 17"/>
          <p:cNvSpPr txBox="1"/>
          <p:nvPr/>
        </p:nvSpPr>
        <p:spPr>
          <a:xfrm>
            <a:off x="822960" y="3858768"/>
            <a:ext cx="3657600" cy="376047"/>
          </a:xfrm>
          <a:prstGeom prst="rect">
            <a:avLst/>
          </a:prstGeom>
          <a:noFill/>
          <a:ln/>
        </p:spPr>
        <p:txBody>
          <a:bodyPr wrap="square" lIns="0" tIns="0" rIns="0" bIns="0" rtlCol="0" anchor="t"/>
          <a:lstStyle/>
          <a:p>
            <a:pPr algn="l" indent="0" marL="0">
              <a:lnSpc>
                <a:spcPts val="1701"/>
              </a:lnSpc>
              <a:buNone/>
            </a:pPr>
            <a:r>
              <a:rPr lang="en-US" sz="1260" dirty="0">
                <a:solidFill>
                  <a:srgbClr val="1B1815"/>
                </a:solidFill>
                <a:latin typeface="Georgia" pitchFamily="34" charset="0"/>
                <a:ea typeface="Georgia" pitchFamily="34" charset="-122"/>
                <a:cs typeface="Georgia" pitchFamily="34" charset="-120"/>
              </a:rPr>
              <a:t>Seminar participation</a:t>
            </a:r>
            <a:endParaRPr lang="en-US" sz="1260" dirty="0"/>
          </a:p>
        </p:txBody>
      </p:sp>
      <p:sp>
        <p:nvSpPr>
          <p:cNvPr id="20" name="Text 18"/>
          <p:cNvSpPr txBox="1"/>
          <p:nvPr/>
        </p:nvSpPr>
        <p:spPr>
          <a:xfrm>
            <a:off x="4663440" y="3877056"/>
            <a:ext cx="2560320" cy="262890"/>
          </a:xfrm>
          <a:prstGeom prst="rect">
            <a:avLst/>
          </a:prstGeom>
          <a:noFill/>
          <a:ln/>
        </p:spPr>
        <p:txBody>
          <a:bodyPr wrap="square" lIns="0" tIns="0" rIns="0" bIns="0" rtlCol="0" anchor="t"/>
          <a:lstStyle/>
          <a:p>
            <a:pPr algn="l" indent="0" marL="0">
              <a:lnSpc>
                <a:spcPts val="1170"/>
              </a:lnSpc>
              <a:buNone/>
            </a:pPr>
            <a:r>
              <a:rPr lang="en-US" sz="900" dirty="0">
                <a:solidFill>
                  <a:srgbClr val="3F3A33"/>
                </a:solidFill>
                <a:latin typeface="Calibri" pitchFamily="34" charset="0"/>
                <a:ea typeface="Calibri" pitchFamily="34" charset="-122"/>
                <a:cs typeface="Calibri" pitchFamily="34" charset="-120"/>
              </a:rPr>
              <a:t>Prepared contribution, role-play, peer feedback</a:t>
            </a:r>
            <a:endParaRPr lang="en-US" sz="900" dirty="0"/>
          </a:p>
        </p:txBody>
      </p:sp>
      <p:sp>
        <p:nvSpPr>
          <p:cNvPr id="21" name="Text 19"/>
          <p:cNvSpPr txBox="1"/>
          <p:nvPr/>
        </p:nvSpPr>
        <p:spPr>
          <a:xfrm>
            <a:off x="7406640" y="3858768"/>
            <a:ext cx="914400" cy="417830"/>
          </a:xfrm>
          <a:prstGeom prst="rect">
            <a:avLst/>
          </a:prstGeom>
          <a:noFill/>
          <a:ln/>
        </p:spPr>
        <p:txBody>
          <a:bodyPr wrap="square" lIns="0" tIns="0" rIns="0" bIns="0" rtlCol="0" anchor="t"/>
          <a:lstStyle/>
          <a:p>
            <a:pPr algn="l" indent="0" marL="0">
              <a:lnSpc>
                <a:spcPts val="1890"/>
              </a:lnSpc>
              <a:buNone/>
            </a:pPr>
            <a:r>
              <a:rPr lang="en-US" sz="1400" dirty="0">
                <a:solidFill>
                  <a:srgbClr val="96733C"/>
                </a:solidFill>
                <a:latin typeface="Georgia" pitchFamily="34" charset="0"/>
                <a:ea typeface="Georgia" pitchFamily="34" charset="-122"/>
                <a:cs typeface="Georgia" pitchFamily="34" charset="-120"/>
              </a:rPr>
              <a:t>15%</a:t>
            </a:r>
            <a:endParaRPr lang="en-US" sz="1400" dirty="0"/>
          </a:p>
        </p:txBody>
      </p:sp>
      <p:sp>
        <p:nvSpPr>
          <p:cNvPr id="22" name="Shape 20"/>
          <p:cNvSpPr/>
          <p:nvPr/>
        </p:nvSpPr>
        <p:spPr>
          <a:xfrm>
            <a:off x="822960" y="4297680"/>
            <a:ext cx="10546050" cy="91"/>
          </a:xfrm>
          <a:prstGeom prst="line">
            <a:avLst/>
          </a:prstGeom>
          <a:noFill/>
          <a:ln w="5715">
            <a:solidFill>
              <a:srgbClr val="D9CDB7">
                <a:alpha val="80000"/>
              </a:srgbClr>
            </a:solidFill>
            <a:prstDash val="solid"/>
            <a:headEnd type="none"/>
            <a:tailEnd type="none"/>
          </a:ln>
        </p:spPr>
      </p:sp>
      <p:sp>
        <p:nvSpPr>
          <p:cNvPr id="23" name="Text 21"/>
          <p:cNvSpPr txBox="1"/>
          <p:nvPr/>
        </p:nvSpPr>
        <p:spPr>
          <a:xfrm>
            <a:off x="822960" y="4462272"/>
            <a:ext cx="3657600" cy="376047"/>
          </a:xfrm>
          <a:prstGeom prst="rect">
            <a:avLst/>
          </a:prstGeom>
          <a:noFill/>
          <a:ln/>
        </p:spPr>
        <p:txBody>
          <a:bodyPr wrap="square" lIns="0" tIns="0" rIns="0" bIns="0" rtlCol="0" anchor="t"/>
          <a:lstStyle/>
          <a:p>
            <a:pPr algn="l" indent="0" marL="0">
              <a:lnSpc>
                <a:spcPts val="1701"/>
              </a:lnSpc>
              <a:buNone/>
            </a:pPr>
            <a:r>
              <a:rPr lang="en-US" sz="1260" dirty="0">
                <a:solidFill>
                  <a:srgbClr val="1B1815"/>
                </a:solidFill>
                <a:latin typeface="Georgia" pitchFamily="34" charset="0"/>
                <a:ea typeface="Georgia" pitchFamily="34" charset="-122"/>
                <a:cs typeface="Georgia" pitchFamily="34" charset="-120"/>
              </a:rPr>
              <a:t>Mid-semester examination</a:t>
            </a:r>
            <a:endParaRPr lang="en-US" sz="1260" dirty="0"/>
          </a:p>
        </p:txBody>
      </p:sp>
      <p:sp>
        <p:nvSpPr>
          <p:cNvPr id="24" name="Text 22"/>
          <p:cNvSpPr txBox="1"/>
          <p:nvPr/>
        </p:nvSpPr>
        <p:spPr>
          <a:xfrm>
            <a:off x="4663440" y="4480560"/>
            <a:ext cx="2560320" cy="262890"/>
          </a:xfrm>
          <a:prstGeom prst="rect">
            <a:avLst/>
          </a:prstGeom>
          <a:noFill/>
          <a:ln/>
        </p:spPr>
        <p:txBody>
          <a:bodyPr wrap="square" lIns="0" tIns="0" rIns="0" bIns="0" rtlCol="0" anchor="t"/>
          <a:lstStyle/>
          <a:p>
            <a:pPr algn="l" indent="0" marL="0">
              <a:lnSpc>
                <a:spcPts val="1170"/>
              </a:lnSpc>
              <a:buNone/>
            </a:pPr>
            <a:r>
              <a:rPr lang="en-US" sz="900" dirty="0">
                <a:solidFill>
                  <a:srgbClr val="3F3A33"/>
                </a:solidFill>
                <a:latin typeface="Calibri" pitchFamily="34" charset="0"/>
                <a:ea typeface="Calibri" pitchFamily="34" charset="-122"/>
                <a:cs typeface="Calibri" pitchFamily="34" charset="-120"/>
              </a:rPr>
              <a:t>Short answers and a seen case</a:t>
            </a:r>
            <a:endParaRPr lang="en-US" sz="900" dirty="0"/>
          </a:p>
        </p:txBody>
      </p:sp>
      <p:sp>
        <p:nvSpPr>
          <p:cNvPr id="25" name="Text 23"/>
          <p:cNvSpPr txBox="1"/>
          <p:nvPr/>
        </p:nvSpPr>
        <p:spPr>
          <a:xfrm>
            <a:off x="7406640" y="4462272"/>
            <a:ext cx="914400" cy="417830"/>
          </a:xfrm>
          <a:prstGeom prst="rect">
            <a:avLst/>
          </a:prstGeom>
          <a:noFill/>
          <a:ln/>
        </p:spPr>
        <p:txBody>
          <a:bodyPr wrap="square" lIns="0" tIns="0" rIns="0" bIns="0" rtlCol="0" anchor="t"/>
          <a:lstStyle/>
          <a:p>
            <a:pPr algn="l" indent="0" marL="0">
              <a:lnSpc>
                <a:spcPts val="1890"/>
              </a:lnSpc>
              <a:buNone/>
            </a:pPr>
            <a:r>
              <a:rPr lang="en-US" sz="1400" dirty="0">
                <a:solidFill>
                  <a:srgbClr val="96733C"/>
                </a:solidFill>
                <a:latin typeface="Georgia" pitchFamily="34" charset="0"/>
                <a:ea typeface="Georgia" pitchFamily="34" charset="-122"/>
                <a:cs typeface="Georgia" pitchFamily="34" charset="-120"/>
              </a:rPr>
              <a:t>20%</a:t>
            </a:r>
            <a:endParaRPr lang="en-US" sz="1400" dirty="0"/>
          </a:p>
        </p:txBody>
      </p:sp>
      <p:sp>
        <p:nvSpPr>
          <p:cNvPr id="26" name="Shape 24"/>
          <p:cNvSpPr/>
          <p:nvPr/>
        </p:nvSpPr>
        <p:spPr>
          <a:xfrm>
            <a:off x="822960" y="4901184"/>
            <a:ext cx="10546050" cy="91"/>
          </a:xfrm>
          <a:prstGeom prst="line">
            <a:avLst/>
          </a:prstGeom>
          <a:noFill/>
          <a:ln w="5715">
            <a:solidFill>
              <a:srgbClr val="D9CDB7">
                <a:alpha val="80000"/>
              </a:srgbClr>
            </a:solidFill>
            <a:prstDash val="solid"/>
            <a:headEnd type="none"/>
            <a:tailEnd type="none"/>
          </a:ln>
        </p:spPr>
      </p:sp>
      <p:sp>
        <p:nvSpPr>
          <p:cNvPr id="27" name="Text 25"/>
          <p:cNvSpPr txBox="1"/>
          <p:nvPr/>
        </p:nvSpPr>
        <p:spPr>
          <a:xfrm>
            <a:off x="822960" y="5065776"/>
            <a:ext cx="3657600" cy="376047"/>
          </a:xfrm>
          <a:prstGeom prst="rect">
            <a:avLst/>
          </a:prstGeom>
          <a:noFill/>
          <a:ln/>
        </p:spPr>
        <p:txBody>
          <a:bodyPr wrap="square" lIns="0" tIns="0" rIns="0" bIns="0" rtlCol="0" anchor="t"/>
          <a:lstStyle/>
          <a:p>
            <a:pPr algn="l" indent="0" marL="0">
              <a:lnSpc>
                <a:spcPts val="1701"/>
              </a:lnSpc>
              <a:buNone/>
            </a:pPr>
            <a:r>
              <a:rPr lang="en-US" sz="1260" dirty="0">
                <a:solidFill>
                  <a:srgbClr val="1B1815"/>
                </a:solidFill>
                <a:latin typeface="Georgia" pitchFamily="34" charset="0"/>
                <a:ea typeface="Georgia" pitchFamily="34" charset="-122"/>
                <a:cs typeface="Georgia" pitchFamily="34" charset="-120"/>
              </a:rPr>
              <a:t>Final examination</a:t>
            </a:r>
            <a:endParaRPr lang="en-US" sz="1260" dirty="0"/>
          </a:p>
        </p:txBody>
      </p:sp>
      <p:sp>
        <p:nvSpPr>
          <p:cNvPr id="28" name="Text 26"/>
          <p:cNvSpPr txBox="1"/>
          <p:nvPr/>
        </p:nvSpPr>
        <p:spPr>
          <a:xfrm>
            <a:off x="4663440" y="5084064"/>
            <a:ext cx="2560320" cy="262890"/>
          </a:xfrm>
          <a:prstGeom prst="rect">
            <a:avLst/>
          </a:prstGeom>
          <a:noFill/>
          <a:ln/>
        </p:spPr>
        <p:txBody>
          <a:bodyPr wrap="square" lIns="0" tIns="0" rIns="0" bIns="0" rtlCol="0" anchor="t"/>
          <a:lstStyle/>
          <a:p>
            <a:pPr algn="l" indent="0" marL="0">
              <a:lnSpc>
                <a:spcPts val="1170"/>
              </a:lnSpc>
              <a:buNone/>
            </a:pPr>
            <a:r>
              <a:rPr lang="en-US" sz="900" dirty="0">
                <a:solidFill>
                  <a:srgbClr val="3F3A33"/>
                </a:solidFill>
                <a:latin typeface="Calibri" pitchFamily="34" charset="0"/>
                <a:ea typeface="Calibri" pitchFamily="34" charset="-122"/>
                <a:cs typeface="Calibri" pitchFamily="34" charset="-120"/>
              </a:rPr>
              <a:t>Essay questions across the full syllabus</a:t>
            </a:r>
            <a:endParaRPr lang="en-US" sz="900" dirty="0"/>
          </a:p>
        </p:txBody>
      </p:sp>
      <p:sp>
        <p:nvSpPr>
          <p:cNvPr id="29" name="Text 27"/>
          <p:cNvSpPr txBox="1"/>
          <p:nvPr/>
        </p:nvSpPr>
        <p:spPr>
          <a:xfrm>
            <a:off x="7406640" y="5065776"/>
            <a:ext cx="914400" cy="417830"/>
          </a:xfrm>
          <a:prstGeom prst="rect">
            <a:avLst/>
          </a:prstGeom>
          <a:noFill/>
          <a:ln/>
        </p:spPr>
        <p:txBody>
          <a:bodyPr wrap="square" lIns="0" tIns="0" rIns="0" bIns="0" rtlCol="0" anchor="t"/>
          <a:lstStyle/>
          <a:p>
            <a:pPr algn="l" indent="0" marL="0">
              <a:lnSpc>
                <a:spcPts val="1890"/>
              </a:lnSpc>
              <a:buNone/>
            </a:pPr>
            <a:r>
              <a:rPr lang="en-US" sz="1400" dirty="0">
                <a:solidFill>
                  <a:srgbClr val="96733C"/>
                </a:solidFill>
                <a:latin typeface="Georgia" pitchFamily="34" charset="0"/>
                <a:ea typeface="Georgia" pitchFamily="34" charset="-122"/>
                <a:cs typeface="Georgia" pitchFamily="34" charset="-120"/>
              </a:rPr>
              <a:t>35%</a:t>
            </a:r>
            <a:endParaRPr lang="en-US" sz="1400" dirty="0"/>
          </a:p>
        </p:txBody>
      </p:sp>
      <p:sp>
        <p:nvSpPr>
          <p:cNvPr id="30" name="Shape 28"/>
          <p:cNvSpPr/>
          <p:nvPr/>
        </p:nvSpPr>
        <p:spPr>
          <a:xfrm>
            <a:off x="822960" y="5504688"/>
            <a:ext cx="10546050" cy="91"/>
          </a:xfrm>
          <a:prstGeom prst="line">
            <a:avLst/>
          </a:prstGeom>
          <a:noFill/>
          <a:ln w="5715">
            <a:solidFill>
              <a:srgbClr val="D9CDB7">
                <a:alpha val="80000"/>
              </a:srgbClr>
            </a:solidFill>
            <a:prstDash val="solid"/>
            <a:headEnd type="none"/>
            <a:tailEnd type="none"/>
          </a:ln>
        </p:spPr>
      </p:sp>
      <p:sp>
        <p:nvSpPr>
          <p:cNvPr id="31" name="Shape 29"/>
          <p:cNvSpPr/>
          <p:nvPr/>
        </p:nvSpPr>
        <p:spPr>
          <a:xfrm>
            <a:off x="822960" y="5797296"/>
            <a:ext cx="10546050" cy="91"/>
          </a:xfrm>
          <a:prstGeom prst="line">
            <a:avLst/>
          </a:prstGeom>
          <a:noFill/>
          <a:ln w="10160">
            <a:solidFill>
              <a:srgbClr val="C2A05F"/>
            </a:solidFill>
            <a:prstDash val="solid"/>
            <a:headEnd type="none"/>
            <a:tailEnd type="none"/>
          </a:ln>
        </p:spPr>
      </p:sp>
      <p:sp>
        <p:nvSpPr>
          <p:cNvPr id="32" name="Shape 30"/>
          <p:cNvSpPr/>
          <p:nvPr/>
        </p:nvSpPr>
        <p:spPr>
          <a:xfrm>
            <a:off x="864108" y="6057900"/>
            <a:ext cx="64008" cy="64008"/>
          </a:xfrm>
          <a:prstGeom prst="ellipse">
            <a:avLst/>
          </a:prstGeom>
          <a:solidFill>
            <a:srgbClr val="C2A05F"/>
          </a:solidFill>
          <a:ln w="12700">
            <a:solidFill>
              <a:srgbClr val="FFFFFF">
                <a:alpha val="0"/>
              </a:srgbClr>
            </a:solidFill>
            <a:prstDash val="solid"/>
          </a:ln>
        </p:spPr>
      </p:sp>
      <p:sp>
        <p:nvSpPr>
          <p:cNvPr id="33" name="Text 31"/>
          <p:cNvSpPr txBox="1"/>
          <p:nvPr/>
        </p:nvSpPr>
        <p:spPr>
          <a:xfrm>
            <a:off x="1042416" y="5961888"/>
            <a:ext cx="3200400" cy="256667"/>
          </a:xfrm>
          <a:prstGeom prst="rect">
            <a:avLst/>
          </a:prstGeom>
          <a:noFill/>
          <a:ln/>
        </p:spPr>
        <p:txBody>
          <a:bodyPr wrap="square" lIns="0" tIns="0" rIns="0" bIns="0" rtlCol="0" anchor="t"/>
          <a:lstStyle/>
          <a:p>
            <a:pPr algn="l" indent="0" marL="0">
              <a:lnSpc>
                <a:spcPts val="1161"/>
              </a:lnSpc>
              <a:buNone/>
            </a:pPr>
            <a:r>
              <a:rPr lang="en-US" sz="860" i="1" dirty="0">
                <a:solidFill>
                  <a:srgbClr val="96733C"/>
                </a:solidFill>
                <a:latin typeface="Calibri" pitchFamily="34" charset="0"/>
                <a:ea typeface="Calibri" pitchFamily="34" charset="-122"/>
                <a:cs typeface="Calibri" pitchFamily="34" charset="-120"/>
              </a:rPr>
              <a:t>Feedback before grades</a:t>
            </a:r>
            <a:endParaRPr lang="en-US" sz="860" dirty="0"/>
          </a:p>
        </p:txBody>
      </p:sp>
      <p:sp>
        <p:nvSpPr>
          <p:cNvPr id="34" name="Shape 32"/>
          <p:cNvSpPr/>
          <p:nvPr/>
        </p:nvSpPr>
        <p:spPr>
          <a:xfrm>
            <a:off x="4430268" y="6057900"/>
            <a:ext cx="64008" cy="64008"/>
          </a:xfrm>
          <a:prstGeom prst="ellipse">
            <a:avLst/>
          </a:prstGeom>
          <a:solidFill>
            <a:srgbClr val="C2A05F"/>
          </a:solidFill>
          <a:ln w="12700">
            <a:solidFill>
              <a:srgbClr val="FFFFFF">
                <a:alpha val="0"/>
              </a:srgbClr>
            </a:solidFill>
            <a:prstDash val="solid"/>
          </a:ln>
        </p:spPr>
      </p:sp>
      <p:sp>
        <p:nvSpPr>
          <p:cNvPr id="35" name="Text 33"/>
          <p:cNvSpPr txBox="1"/>
          <p:nvPr/>
        </p:nvSpPr>
        <p:spPr>
          <a:xfrm>
            <a:off x="4608576" y="5961888"/>
            <a:ext cx="3200400" cy="256667"/>
          </a:xfrm>
          <a:prstGeom prst="rect">
            <a:avLst/>
          </a:prstGeom>
          <a:noFill/>
          <a:ln/>
        </p:spPr>
        <p:txBody>
          <a:bodyPr wrap="square" lIns="0" tIns="0" rIns="0" bIns="0" rtlCol="0" anchor="t"/>
          <a:lstStyle/>
          <a:p>
            <a:pPr algn="l" indent="0" marL="0">
              <a:lnSpc>
                <a:spcPts val="1161"/>
              </a:lnSpc>
              <a:buNone/>
            </a:pPr>
            <a:r>
              <a:rPr lang="en-US" sz="860" i="1" dirty="0">
                <a:solidFill>
                  <a:srgbClr val="96733C"/>
                </a:solidFill>
                <a:latin typeface="Calibri" pitchFamily="34" charset="0"/>
                <a:ea typeface="Calibri" pitchFamily="34" charset="-122"/>
                <a:cs typeface="Calibri" pitchFamily="34" charset="-120"/>
              </a:rPr>
              <a:t>Formulation over recall</a:t>
            </a:r>
            <a:endParaRPr lang="en-US" sz="860" dirty="0"/>
          </a:p>
        </p:txBody>
      </p:sp>
      <p:sp>
        <p:nvSpPr>
          <p:cNvPr id="36" name="Shape 34"/>
          <p:cNvSpPr/>
          <p:nvPr/>
        </p:nvSpPr>
        <p:spPr>
          <a:xfrm>
            <a:off x="7996428" y="6057900"/>
            <a:ext cx="64008" cy="64008"/>
          </a:xfrm>
          <a:prstGeom prst="ellipse">
            <a:avLst/>
          </a:prstGeom>
          <a:solidFill>
            <a:srgbClr val="C2A05F"/>
          </a:solidFill>
          <a:ln w="12700">
            <a:solidFill>
              <a:srgbClr val="FFFFFF">
                <a:alpha val="0"/>
              </a:srgbClr>
            </a:solidFill>
            <a:prstDash val="solid"/>
          </a:ln>
        </p:spPr>
      </p:sp>
      <p:sp>
        <p:nvSpPr>
          <p:cNvPr id="37" name="Text 35"/>
          <p:cNvSpPr txBox="1"/>
          <p:nvPr/>
        </p:nvSpPr>
        <p:spPr>
          <a:xfrm>
            <a:off x="8174736" y="5961888"/>
            <a:ext cx="3200400" cy="256667"/>
          </a:xfrm>
          <a:prstGeom prst="rect">
            <a:avLst/>
          </a:prstGeom>
          <a:noFill/>
          <a:ln/>
        </p:spPr>
        <p:txBody>
          <a:bodyPr wrap="square" lIns="0" tIns="0" rIns="0" bIns="0" rtlCol="0" anchor="t"/>
          <a:lstStyle/>
          <a:p>
            <a:pPr algn="l" indent="0" marL="0">
              <a:lnSpc>
                <a:spcPts val="1161"/>
              </a:lnSpc>
              <a:buNone/>
            </a:pPr>
            <a:r>
              <a:rPr lang="en-US" sz="860" i="1" dirty="0">
                <a:solidFill>
                  <a:srgbClr val="96733C"/>
                </a:solidFill>
                <a:latin typeface="Calibri" pitchFamily="34" charset="0"/>
                <a:ea typeface="Calibri" pitchFamily="34" charset="-122"/>
                <a:cs typeface="Calibri" pitchFamily="34" charset="-120"/>
              </a:rPr>
              <a:t>Ethical reasoning evidenced</a:t>
            </a:r>
            <a:endParaRPr lang="en-US" sz="8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48640"/>
            <a:ext cx="6400800" cy="238760"/>
          </a:xfrm>
          <a:prstGeom prst="rect">
            <a:avLst/>
          </a:prstGeom>
          <a:noFill/>
          <a:ln/>
        </p:spPr>
        <p:txBody>
          <a:bodyPr wrap="square" lIns="0" tIns="0" rIns="0" bIns="0" rtlCol="0" anchor="t"/>
          <a:lstStyle/>
          <a:p>
            <a:pPr algn="l" indent="0" marL="0">
              <a:lnSpc>
                <a:spcPts val="1080"/>
              </a:lnSpc>
              <a:buNone/>
            </a:pPr>
            <a:r>
              <a:rPr lang="en-US" sz="800" spc="300" kern="0" dirty="0">
                <a:solidFill>
                  <a:srgbClr val="C2A05F"/>
                </a:solidFill>
                <a:latin typeface="Calibri" pitchFamily="34" charset="0"/>
                <a:ea typeface="Calibri" pitchFamily="34" charset="-122"/>
                <a:cs typeface="Calibri" pitchFamily="34" charset="-120"/>
              </a:rPr>
              <a:t>PHASE I · WEEKS 1–4</a:t>
            </a:r>
            <a:endParaRPr lang="en-US" sz="800" dirty="0"/>
          </a:p>
        </p:txBody>
      </p:sp>
      <p:sp>
        <p:nvSpPr>
          <p:cNvPr id="3" name="Text 1"/>
          <p:cNvSpPr txBox="1"/>
          <p:nvPr/>
        </p:nvSpPr>
        <p:spPr>
          <a:xfrm>
            <a:off x="6035040" y="-457200"/>
            <a:ext cx="5486400" cy="7620000"/>
          </a:xfrm>
          <a:prstGeom prst="rect">
            <a:avLst/>
          </a:prstGeom>
          <a:noFill/>
          <a:ln/>
        </p:spPr>
        <p:txBody>
          <a:bodyPr wrap="square" lIns="0" tIns="0" rIns="0" bIns="0" rtlCol="0" anchor="t"/>
          <a:lstStyle/>
          <a:p>
            <a:pPr algn="r" indent="0" marL="0">
              <a:lnSpc>
                <a:spcPts val="30000"/>
              </a:lnSpc>
              <a:buNone/>
            </a:pPr>
            <a:r>
              <a:rPr lang="en-US" sz="30000" dirty="0">
                <a:solidFill>
                  <a:srgbClr val="181611"/>
                </a:solidFill>
                <a:latin typeface="Georgia" pitchFamily="34" charset="0"/>
                <a:ea typeface="Georgia" pitchFamily="34" charset="-122"/>
                <a:cs typeface="Georgia" pitchFamily="34" charset="-120"/>
              </a:rPr>
              <a:t>01</a:t>
            </a:r>
            <a:endParaRPr lang="en-US" sz="30000" dirty="0"/>
          </a:p>
        </p:txBody>
      </p:sp>
      <p:sp>
        <p:nvSpPr>
          <p:cNvPr id="4" name="Text 2"/>
          <p:cNvSpPr txBox="1"/>
          <p:nvPr/>
        </p:nvSpPr>
        <p:spPr>
          <a:xfrm>
            <a:off x="822960" y="1874520"/>
            <a:ext cx="6766560" cy="1215136"/>
          </a:xfrm>
          <a:prstGeom prst="rect">
            <a:avLst/>
          </a:prstGeom>
          <a:noFill/>
          <a:ln/>
        </p:spPr>
        <p:txBody>
          <a:bodyPr wrap="square" lIns="0" tIns="0" rIns="0" bIns="0" rtlCol="0" anchor="t"/>
          <a:lstStyle/>
          <a:p>
            <a:pPr algn="l" indent="0" marL="0">
              <a:lnSpc>
                <a:spcPts val="4968"/>
              </a:lnSpc>
              <a:buNone/>
            </a:pPr>
            <a:r>
              <a:rPr lang="en-US" sz="4600" dirty="0">
                <a:solidFill>
                  <a:srgbClr val="F8F3E9"/>
                </a:solidFill>
                <a:latin typeface="Georgia" pitchFamily="34" charset="0"/>
                <a:ea typeface="Georgia" pitchFamily="34" charset="-122"/>
                <a:cs typeface="Georgia" pitchFamily="34" charset="-120"/>
              </a:rPr>
              <a:t>Foundations</a:t>
            </a:r>
            <a:endParaRPr lang="en-US" sz="4600" dirty="0"/>
          </a:p>
        </p:txBody>
      </p:sp>
      <p:sp>
        <p:nvSpPr>
          <p:cNvPr id="5" name="Text 3"/>
          <p:cNvSpPr txBox="1"/>
          <p:nvPr/>
        </p:nvSpPr>
        <p:spPr>
          <a:xfrm>
            <a:off x="822960" y="3429000"/>
            <a:ext cx="6035040" cy="736600"/>
          </a:xfrm>
          <a:prstGeom prst="rect">
            <a:avLst/>
          </a:prstGeom>
          <a:noFill/>
          <a:ln/>
        </p:spPr>
        <p:txBody>
          <a:bodyPr wrap="square" lIns="0" tIns="0" rIns="0" bIns="0" rtlCol="0" anchor="t"/>
          <a:lstStyle/>
          <a:p>
            <a:pPr algn="l" indent="0" marL="0">
              <a:lnSpc>
                <a:spcPts val="2175"/>
              </a:lnSpc>
              <a:buNone/>
            </a:pPr>
            <a:r>
              <a:rPr lang="en-US" sz="1450" i="1" dirty="0">
                <a:solidFill>
                  <a:srgbClr val="E7D3A9"/>
                </a:solidFill>
                <a:latin typeface="Georgia" pitchFamily="34" charset="0"/>
                <a:ea typeface="Georgia" pitchFamily="34" charset="-122"/>
                <a:cs typeface="Georgia" pitchFamily="34" charset="-120"/>
              </a:rPr>
              <a:t>Learning to see systems: the history, the cybernetic grammar, and the</a:t>
            </a:r>
            <a:endParaRPr lang="en-US" sz="1450" dirty="0"/>
          </a:p>
          <a:p>
            <a:pPr algn="l" indent="0" marL="0">
              <a:lnSpc>
                <a:spcPts val="2175"/>
              </a:lnSpc>
              <a:buNone/>
            </a:pPr>
            <a:r>
              <a:rPr lang="en-US" sz="1450" i="1" dirty="0">
                <a:solidFill>
                  <a:srgbClr val="E7D3A9"/>
                </a:solidFill>
                <a:latin typeface="Georgia" pitchFamily="34" charset="0"/>
                <a:ea typeface="Georgia" pitchFamily="34" charset="-122"/>
                <a:cs typeface="Georgia" pitchFamily="34" charset="-120"/>
              </a:rPr>
              <a:t>first maps of family structure.</a:t>
            </a:r>
            <a:endParaRPr lang="en-US" sz="1450" dirty="0"/>
          </a:p>
        </p:txBody>
      </p:sp>
      <p:sp>
        <p:nvSpPr>
          <p:cNvPr id="6" name="Shape 4"/>
          <p:cNvSpPr/>
          <p:nvPr/>
        </p:nvSpPr>
        <p:spPr>
          <a:xfrm>
            <a:off x="822960" y="4572000"/>
            <a:ext cx="1554480" cy="91"/>
          </a:xfrm>
          <a:prstGeom prst="line">
            <a:avLst/>
          </a:prstGeom>
          <a:noFill/>
          <a:ln w="10160">
            <a:solidFill>
              <a:srgbClr val="C2A05F"/>
            </a:solidFill>
            <a:prstDash val="solid"/>
            <a:headEnd type="none"/>
            <a:tailEnd type="none"/>
          </a:ln>
        </p:spPr>
      </p:sp>
      <p:sp>
        <p:nvSpPr>
          <p:cNvPr id="7" name="Text 5"/>
          <p:cNvSpPr txBox="1"/>
          <p:nvPr/>
        </p:nvSpPr>
        <p:spPr>
          <a:xfrm>
            <a:off x="82296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01</a:t>
            </a:r>
            <a:endParaRPr lang="en-US" sz="1000" dirty="0"/>
          </a:p>
        </p:txBody>
      </p:sp>
      <p:sp>
        <p:nvSpPr>
          <p:cNvPr id="8" name="Text 6"/>
          <p:cNvSpPr txBox="1"/>
          <p:nvPr/>
        </p:nvSpPr>
        <p:spPr>
          <a:xfrm>
            <a:off x="822960" y="5074920"/>
            <a:ext cx="1234440" cy="21717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What is MFT?</a:t>
            </a:r>
            <a:endParaRPr lang="en-US" sz="760" dirty="0"/>
          </a:p>
        </p:txBody>
      </p:sp>
      <p:sp>
        <p:nvSpPr>
          <p:cNvPr id="9" name="Text 7"/>
          <p:cNvSpPr txBox="1"/>
          <p:nvPr/>
        </p:nvSpPr>
        <p:spPr>
          <a:xfrm>
            <a:off x="224028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02</a:t>
            </a:r>
            <a:endParaRPr lang="en-US" sz="1000" dirty="0"/>
          </a:p>
        </p:txBody>
      </p:sp>
      <p:sp>
        <p:nvSpPr>
          <p:cNvPr id="10" name="Text 8"/>
          <p:cNvSpPr txBox="1"/>
          <p:nvPr/>
        </p:nvSpPr>
        <p:spPr>
          <a:xfrm>
            <a:off x="2240280" y="5074920"/>
            <a:ext cx="1234440" cy="33782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Cybernetics &amp; the systemic</a:t>
            </a:r>
            <a:endParaRPr lang="en-US" sz="760" dirty="0"/>
          </a:p>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lens</a:t>
            </a:r>
            <a:endParaRPr lang="en-US" sz="760" dirty="0"/>
          </a:p>
        </p:txBody>
      </p:sp>
      <p:sp>
        <p:nvSpPr>
          <p:cNvPr id="11" name="Text 9"/>
          <p:cNvSpPr txBox="1"/>
          <p:nvPr/>
        </p:nvSpPr>
        <p:spPr>
          <a:xfrm>
            <a:off x="365760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03</a:t>
            </a:r>
            <a:endParaRPr lang="en-US" sz="1000" dirty="0"/>
          </a:p>
        </p:txBody>
      </p:sp>
      <p:sp>
        <p:nvSpPr>
          <p:cNvPr id="12" name="Text 10"/>
          <p:cNvSpPr txBox="1"/>
          <p:nvPr/>
        </p:nvSpPr>
        <p:spPr>
          <a:xfrm>
            <a:off x="3657600" y="5074920"/>
            <a:ext cx="1234440" cy="21717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A short history of the field</a:t>
            </a:r>
            <a:endParaRPr lang="en-US" sz="760" dirty="0"/>
          </a:p>
        </p:txBody>
      </p:sp>
      <p:sp>
        <p:nvSpPr>
          <p:cNvPr id="13" name="Text 11"/>
          <p:cNvSpPr txBox="1"/>
          <p:nvPr/>
        </p:nvSpPr>
        <p:spPr>
          <a:xfrm>
            <a:off x="507492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04</a:t>
            </a:r>
            <a:endParaRPr lang="en-US" sz="1000" dirty="0"/>
          </a:p>
        </p:txBody>
      </p:sp>
      <p:sp>
        <p:nvSpPr>
          <p:cNvPr id="14" name="Text 12"/>
          <p:cNvSpPr txBox="1"/>
          <p:nvPr/>
        </p:nvSpPr>
        <p:spPr>
          <a:xfrm>
            <a:off x="5074920" y="5074920"/>
            <a:ext cx="1234440" cy="33782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Structural &amp; strategic</a:t>
            </a:r>
            <a:endParaRPr lang="en-US" sz="760" dirty="0"/>
          </a:p>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foundations</a:t>
            </a:r>
            <a:endParaRPr lang="en-US" sz="760" dirty="0"/>
          </a:p>
        </p:txBody>
      </p:sp>
      <p:sp>
        <p:nvSpPr>
          <p:cNvPr id="15" name="Shape 13"/>
          <p:cNvSpPr/>
          <p:nvPr/>
        </p:nvSpPr>
        <p:spPr>
          <a:xfrm>
            <a:off x="822960" y="5742432"/>
            <a:ext cx="10515600" cy="91"/>
          </a:xfrm>
          <a:prstGeom prst="line">
            <a:avLst/>
          </a:prstGeom>
          <a:noFill/>
          <a:ln w="10160">
            <a:solidFill>
              <a:srgbClr val="3A332A"/>
            </a:solidFill>
            <a:prstDash val="solid"/>
            <a:headEnd type="none"/>
            <a:tailEnd type="none"/>
          </a:ln>
        </p:spPr>
      </p:sp>
      <p:sp>
        <p:nvSpPr>
          <p:cNvPr id="16" name="Shape 14"/>
          <p:cNvSpPr/>
          <p:nvPr/>
        </p:nvSpPr>
        <p:spPr>
          <a:xfrm>
            <a:off x="793699" y="5713171"/>
            <a:ext cx="58522" cy="58522"/>
          </a:xfrm>
          <a:prstGeom prst="ellipse">
            <a:avLst/>
          </a:prstGeom>
          <a:solidFill>
            <a:srgbClr val="96733C"/>
          </a:solidFill>
          <a:ln w="12700">
            <a:solidFill>
              <a:srgbClr val="FFFFFF">
                <a:alpha val="0"/>
              </a:srgbClr>
            </a:solidFill>
            <a:prstDash val="solid"/>
          </a:ln>
        </p:spPr>
      </p:sp>
      <p:sp>
        <p:nvSpPr>
          <p:cNvPr id="17" name="Shape 15"/>
          <p:cNvSpPr/>
          <p:nvPr/>
        </p:nvSpPr>
        <p:spPr>
          <a:xfrm>
            <a:off x="1494739" y="5713171"/>
            <a:ext cx="58522" cy="58522"/>
          </a:xfrm>
          <a:prstGeom prst="ellipse">
            <a:avLst/>
          </a:prstGeom>
          <a:solidFill>
            <a:srgbClr val="96733C"/>
          </a:solidFill>
          <a:ln w="12700">
            <a:solidFill>
              <a:srgbClr val="FFFFFF">
                <a:alpha val="0"/>
              </a:srgbClr>
            </a:solidFill>
            <a:prstDash val="solid"/>
          </a:ln>
        </p:spPr>
      </p:sp>
      <p:sp>
        <p:nvSpPr>
          <p:cNvPr id="18" name="Shape 16"/>
          <p:cNvSpPr/>
          <p:nvPr/>
        </p:nvSpPr>
        <p:spPr>
          <a:xfrm>
            <a:off x="2195779" y="5713171"/>
            <a:ext cx="58522" cy="58522"/>
          </a:xfrm>
          <a:prstGeom prst="ellipse">
            <a:avLst/>
          </a:prstGeom>
          <a:solidFill>
            <a:srgbClr val="96733C"/>
          </a:solidFill>
          <a:ln w="12700">
            <a:solidFill>
              <a:srgbClr val="FFFFFF">
                <a:alpha val="0"/>
              </a:srgbClr>
            </a:solidFill>
            <a:prstDash val="solid"/>
          </a:ln>
        </p:spPr>
      </p:sp>
      <p:sp>
        <p:nvSpPr>
          <p:cNvPr id="19" name="Shape 17"/>
          <p:cNvSpPr/>
          <p:nvPr/>
        </p:nvSpPr>
        <p:spPr>
          <a:xfrm>
            <a:off x="2862072" y="5678424"/>
            <a:ext cx="128016" cy="128016"/>
          </a:xfrm>
          <a:prstGeom prst="ellipse">
            <a:avLst/>
          </a:prstGeom>
          <a:solidFill>
            <a:srgbClr val="C2A05F"/>
          </a:solidFill>
          <a:ln w="8890">
            <a:solidFill>
              <a:srgbClr val="E7D3A9"/>
            </a:solidFill>
            <a:prstDash val="solid"/>
          </a:ln>
        </p:spPr>
      </p:sp>
      <p:sp>
        <p:nvSpPr>
          <p:cNvPr id="20" name="Shape 18"/>
          <p:cNvSpPr/>
          <p:nvPr/>
        </p:nvSpPr>
        <p:spPr>
          <a:xfrm>
            <a:off x="3597859" y="5713171"/>
            <a:ext cx="58522" cy="58522"/>
          </a:xfrm>
          <a:prstGeom prst="ellipse">
            <a:avLst/>
          </a:prstGeom>
          <a:solidFill>
            <a:srgbClr val="1E1913"/>
          </a:solidFill>
          <a:ln w="12700">
            <a:solidFill>
              <a:srgbClr val="FFFFFF">
                <a:alpha val="0"/>
              </a:srgbClr>
            </a:solidFill>
            <a:prstDash val="solid"/>
          </a:ln>
        </p:spPr>
      </p:sp>
      <p:sp>
        <p:nvSpPr>
          <p:cNvPr id="21" name="Shape 19"/>
          <p:cNvSpPr/>
          <p:nvPr/>
        </p:nvSpPr>
        <p:spPr>
          <a:xfrm>
            <a:off x="4298899" y="5713171"/>
            <a:ext cx="58522" cy="58522"/>
          </a:xfrm>
          <a:prstGeom prst="ellipse">
            <a:avLst/>
          </a:prstGeom>
          <a:solidFill>
            <a:srgbClr val="1E1913"/>
          </a:solidFill>
          <a:ln w="12700">
            <a:solidFill>
              <a:srgbClr val="FFFFFF">
                <a:alpha val="0"/>
              </a:srgbClr>
            </a:solidFill>
            <a:prstDash val="solid"/>
          </a:ln>
        </p:spPr>
      </p:sp>
      <p:sp>
        <p:nvSpPr>
          <p:cNvPr id="22" name="Shape 20"/>
          <p:cNvSpPr/>
          <p:nvPr/>
        </p:nvSpPr>
        <p:spPr>
          <a:xfrm>
            <a:off x="4999939" y="5713171"/>
            <a:ext cx="58522" cy="58522"/>
          </a:xfrm>
          <a:prstGeom prst="ellipse">
            <a:avLst/>
          </a:prstGeom>
          <a:solidFill>
            <a:srgbClr val="1E1913"/>
          </a:solidFill>
          <a:ln w="12700">
            <a:solidFill>
              <a:srgbClr val="FFFFFF">
                <a:alpha val="0"/>
              </a:srgbClr>
            </a:solidFill>
            <a:prstDash val="solid"/>
          </a:ln>
        </p:spPr>
      </p:sp>
      <p:sp>
        <p:nvSpPr>
          <p:cNvPr id="23" name="Shape 21"/>
          <p:cNvSpPr/>
          <p:nvPr/>
        </p:nvSpPr>
        <p:spPr>
          <a:xfrm>
            <a:off x="5700979" y="5713171"/>
            <a:ext cx="58522" cy="58522"/>
          </a:xfrm>
          <a:prstGeom prst="ellipse">
            <a:avLst/>
          </a:prstGeom>
          <a:solidFill>
            <a:srgbClr val="1E1913"/>
          </a:solidFill>
          <a:ln w="12700">
            <a:solidFill>
              <a:srgbClr val="FFFFFF">
                <a:alpha val="0"/>
              </a:srgbClr>
            </a:solidFill>
            <a:prstDash val="solid"/>
          </a:ln>
        </p:spPr>
      </p:sp>
      <p:sp>
        <p:nvSpPr>
          <p:cNvPr id="24" name="Shape 22"/>
          <p:cNvSpPr/>
          <p:nvPr/>
        </p:nvSpPr>
        <p:spPr>
          <a:xfrm>
            <a:off x="6402019" y="5713171"/>
            <a:ext cx="58522" cy="58522"/>
          </a:xfrm>
          <a:prstGeom prst="ellipse">
            <a:avLst/>
          </a:prstGeom>
          <a:solidFill>
            <a:srgbClr val="1E1913"/>
          </a:solidFill>
          <a:ln w="12700">
            <a:solidFill>
              <a:srgbClr val="FFFFFF">
                <a:alpha val="0"/>
              </a:srgbClr>
            </a:solidFill>
            <a:prstDash val="solid"/>
          </a:ln>
        </p:spPr>
      </p:sp>
      <p:sp>
        <p:nvSpPr>
          <p:cNvPr id="25" name="Shape 23"/>
          <p:cNvSpPr/>
          <p:nvPr/>
        </p:nvSpPr>
        <p:spPr>
          <a:xfrm>
            <a:off x="7103059" y="5713171"/>
            <a:ext cx="58522" cy="58522"/>
          </a:xfrm>
          <a:prstGeom prst="ellipse">
            <a:avLst/>
          </a:prstGeom>
          <a:solidFill>
            <a:srgbClr val="1E1913"/>
          </a:solidFill>
          <a:ln w="12700">
            <a:solidFill>
              <a:srgbClr val="FFFFFF">
                <a:alpha val="0"/>
              </a:srgbClr>
            </a:solidFill>
            <a:prstDash val="solid"/>
          </a:ln>
        </p:spPr>
      </p:sp>
      <p:sp>
        <p:nvSpPr>
          <p:cNvPr id="26" name="Shape 24"/>
          <p:cNvSpPr/>
          <p:nvPr/>
        </p:nvSpPr>
        <p:spPr>
          <a:xfrm>
            <a:off x="7804099" y="5713171"/>
            <a:ext cx="58522" cy="58522"/>
          </a:xfrm>
          <a:prstGeom prst="ellipse">
            <a:avLst/>
          </a:prstGeom>
          <a:solidFill>
            <a:srgbClr val="1E1913"/>
          </a:solidFill>
          <a:ln w="12700">
            <a:solidFill>
              <a:srgbClr val="FFFFFF">
                <a:alpha val="0"/>
              </a:srgbClr>
            </a:solidFill>
            <a:prstDash val="solid"/>
          </a:ln>
        </p:spPr>
      </p:sp>
      <p:sp>
        <p:nvSpPr>
          <p:cNvPr id="27" name="Shape 25"/>
          <p:cNvSpPr/>
          <p:nvPr/>
        </p:nvSpPr>
        <p:spPr>
          <a:xfrm>
            <a:off x="8505139" y="5713171"/>
            <a:ext cx="58522" cy="58522"/>
          </a:xfrm>
          <a:prstGeom prst="ellipse">
            <a:avLst/>
          </a:prstGeom>
          <a:solidFill>
            <a:srgbClr val="1E1913"/>
          </a:solidFill>
          <a:ln w="12700">
            <a:solidFill>
              <a:srgbClr val="FFFFFF">
                <a:alpha val="0"/>
              </a:srgbClr>
            </a:solidFill>
            <a:prstDash val="solid"/>
          </a:ln>
        </p:spPr>
      </p:sp>
      <p:sp>
        <p:nvSpPr>
          <p:cNvPr id="28" name="Shape 26"/>
          <p:cNvSpPr/>
          <p:nvPr/>
        </p:nvSpPr>
        <p:spPr>
          <a:xfrm>
            <a:off x="9206179" y="5713171"/>
            <a:ext cx="58522" cy="58522"/>
          </a:xfrm>
          <a:prstGeom prst="ellipse">
            <a:avLst/>
          </a:prstGeom>
          <a:solidFill>
            <a:srgbClr val="1E1913"/>
          </a:solidFill>
          <a:ln w="12700">
            <a:solidFill>
              <a:srgbClr val="FFFFFF">
                <a:alpha val="0"/>
              </a:srgbClr>
            </a:solidFill>
            <a:prstDash val="solid"/>
          </a:ln>
        </p:spPr>
      </p:sp>
      <p:sp>
        <p:nvSpPr>
          <p:cNvPr id="29" name="Shape 27"/>
          <p:cNvSpPr/>
          <p:nvPr/>
        </p:nvSpPr>
        <p:spPr>
          <a:xfrm>
            <a:off x="9907219" y="5713171"/>
            <a:ext cx="58522" cy="58522"/>
          </a:xfrm>
          <a:prstGeom prst="ellipse">
            <a:avLst/>
          </a:prstGeom>
          <a:solidFill>
            <a:srgbClr val="1E1913"/>
          </a:solidFill>
          <a:ln w="12700">
            <a:solidFill>
              <a:srgbClr val="FFFFFF">
                <a:alpha val="0"/>
              </a:srgbClr>
            </a:solidFill>
            <a:prstDash val="solid"/>
          </a:ln>
        </p:spPr>
      </p:sp>
      <p:sp>
        <p:nvSpPr>
          <p:cNvPr id="30" name="Shape 28"/>
          <p:cNvSpPr/>
          <p:nvPr/>
        </p:nvSpPr>
        <p:spPr>
          <a:xfrm>
            <a:off x="10608259" y="5713171"/>
            <a:ext cx="58522" cy="58522"/>
          </a:xfrm>
          <a:prstGeom prst="ellipse">
            <a:avLst/>
          </a:prstGeom>
          <a:solidFill>
            <a:srgbClr val="1E1913"/>
          </a:solidFill>
          <a:ln w="12700">
            <a:solidFill>
              <a:srgbClr val="FFFFFF">
                <a:alpha val="0"/>
              </a:srgbClr>
            </a:solidFill>
            <a:prstDash val="solid"/>
          </a:ln>
        </p:spPr>
      </p:sp>
      <p:sp>
        <p:nvSpPr>
          <p:cNvPr id="31" name="Shape 29"/>
          <p:cNvSpPr/>
          <p:nvPr/>
        </p:nvSpPr>
        <p:spPr>
          <a:xfrm>
            <a:off x="11309299" y="5713171"/>
            <a:ext cx="58522" cy="58522"/>
          </a:xfrm>
          <a:prstGeom prst="ellipse">
            <a:avLst/>
          </a:prstGeom>
          <a:solidFill>
            <a:srgbClr val="1E1913"/>
          </a:solidFill>
          <a:ln w="12700">
            <a:solidFill>
              <a:srgbClr val="FFFFFF">
                <a:alpha val="0"/>
              </a:srgbClr>
            </a:solidFill>
            <a:prstDash val="solid"/>
          </a:ln>
        </p:spPr>
      </p:sp>
      <p:sp>
        <p:nvSpPr>
          <p:cNvPr id="32" name="Shape 30"/>
          <p:cNvSpPr/>
          <p:nvPr/>
        </p:nvSpPr>
        <p:spPr>
          <a:xfrm>
            <a:off x="822960" y="722376"/>
            <a:ext cx="10546050" cy="91"/>
          </a:xfrm>
          <a:prstGeom prst="line">
            <a:avLst/>
          </a:prstGeom>
          <a:noFill/>
          <a:ln w="6350">
            <a:solidFill>
              <a:srgbClr val="3A332A"/>
            </a:solidFill>
            <a:prstDash val="solid"/>
            <a:headEnd type="none"/>
            <a:tailEnd type="none"/>
          </a:ln>
        </p:spPr>
      </p:sp>
      <p:sp>
        <p:nvSpPr>
          <p:cNvPr id="33" name="Text 31"/>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34" name="Text 32"/>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01 · PHASE I — FOUNDATIONS</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01</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What Is Marriage and Family</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Therapy?</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476377"/>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When the unit of treatment is a relationship, what exactly is it that changes?</a:t>
            </a:r>
            <a:endParaRPr lang="en-US" sz="1550" dirty="0"/>
          </a:p>
        </p:txBody>
      </p:sp>
      <p:sp>
        <p:nvSpPr>
          <p:cNvPr id="8" name="Shape 6"/>
          <p:cNvSpPr/>
          <p:nvPr/>
        </p:nvSpPr>
        <p:spPr>
          <a:xfrm>
            <a:off x="822960" y="3911219"/>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relational unit of treatment</a:t>
            </a:r>
            <a:endParaRPr lang="en-US" sz="850" dirty="0"/>
          </a:p>
        </p:txBody>
      </p:sp>
      <p:sp>
        <p:nvSpPr>
          <p:cNvPr id="11" name="Text 9"/>
          <p:cNvSpPr txBox="1"/>
          <p:nvPr/>
        </p:nvSpPr>
        <p:spPr>
          <a:xfrm>
            <a:off x="3282696"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family is nested, not isolated</a:t>
            </a:r>
            <a:endParaRPr lang="en-US" sz="850" dirty="0"/>
          </a:p>
        </p:txBody>
      </p:sp>
      <p:sp>
        <p:nvSpPr>
          <p:cNvPr id="13" name="Text 11"/>
          <p:cNvSpPr txBox="1"/>
          <p:nvPr/>
        </p:nvSpPr>
        <p:spPr>
          <a:xfrm>
            <a:off x="5742432"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CLINICAL CASE</a:t>
            </a:r>
            <a:endParaRPr lang="en-US" sz="620" dirty="0"/>
          </a:p>
        </p:txBody>
      </p:sp>
      <p:sp>
        <p:nvSpPr>
          <p:cNvPr id="14" name="Text 12"/>
          <p:cNvSpPr txBox="1"/>
          <p:nvPr/>
        </p:nvSpPr>
        <p:spPr>
          <a:xfrm>
            <a:off x="5742432"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referral that reframes the problem</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Distinguish systemic practice from individually</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oriented psychotherapy.</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Describe the relational unit of treatment and its</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implications.</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Begin a personal statement of professional identity.</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systemic epistemology · relational unit · presenting problem · professional identity</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Nichols &amp; Davis (2020), ch. 1 · Becvar &amp; Becvar (2018), ch. 1</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58952" y="5696712"/>
            <a:ext cx="128016" cy="128016"/>
          </a:xfrm>
          <a:prstGeom prst="ellipse">
            <a:avLst/>
          </a:prstGeom>
          <a:solidFill>
            <a:srgbClr val="C2A05F"/>
          </a:solidFill>
          <a:ln w="8890">
            <a:solidFill>
              <a:srgbClr val="E7D3A9"/>
            </a:solidFill>
            <a:prstDash val="solid"/>
          </a:ln>
        </p:spPr>
      </p:sp>
      <p:sp>
        <p:nvSpPr>
          <p:cNvPr id="28" name="Shape 26"/>
          <p:cNvSpPr/>
          <p:nvPr/>
        </p:nvSpPr>
        <p:spPr>
          <a:xfrm>
            <a:off x="1494739" y="5731459"/>
            <a:ext cx="58522" cy="58522"/>
          </a:xfrm>
          <a:prstGeom prst="ellipse">
            <a:avLst/>
          </a:prstGeom>
          <a:solidFill>
            <a:srgbClr val="1E1913"/>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1E1913"/>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1E1913"/>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1E1913"/>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1E1913"/>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1E1913"/>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1E1913"/>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1E1913"/>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1E1913"/>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1E1913"/>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1E1913"/>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1E1913"/>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1E1913"/>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01 · LECTURE 01</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09</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The relational unit of treatment</a:t>
            </a:r>
            <a:endParaRPr lang="en-US" sz="2800" dirty="0"/>
          </a:p>
        </p:txBody>
      </p:sp>
      <p:sp>
        <p:nvSpPr>
          <p:cNvPr id="9" name="Text 7"/>
          <p:cNvSpPr txBox="1"/>
          <p:nvPr/>
        </p:nvSpPr>
        <p:spPr>
          <a:xfrm>
            <a:off x="822960" y="1486408"/>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MFT begins from a deceptively simple claim: problems are not located only inside people. They are located in the patterns</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between people.</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A DIFFERENT UNIT OF ANALYSIS</a:t>
            </a:r>
            <a:endParaRPr lang="en-US" sz="750" dirty="0"/>
          </a:p>
        </p:txBody>
      </p:sp>
      <p:sp>
        <p:nvSpPr>
          <p:cNvPr id="13" name="Text 11"/>
          <p:cNvSpPr txBox="1"/>
          <p:nvPr/>
        </p:nvSpPr>
        <p:spPr>
          <a:xfrm>
            <a:off x="82296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Individual therapy treats the person as the locus of difficulty. MFT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treats the relationship as the client — the recurring patterns that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organise how family members think, feel and act.</a:t>
            </a:r>
            <a:endParaRPr lang="en-US" sz="900" dirty="0"/>
          </a:p>
        </p:txBody>
      </p:sp>
      <p:sp>
        <p:nvSpPr>
          <p:cNvPr id="14" name="Shape 12"/>
          <p:cNvSpPr/>
          <p:nvPr/>
        </p:nvSpPr>
        <p:spPr>
          <a:xfrm>
            <a:off x="822960" y="3529584"/>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The symptom is also a message about the system</a:t>
            </a:r>
            <a:endParaRPr lang="en-US" sz="880" dirty="0"/>
          </a:p>
        </p:txBody>
      </p:sp>
      <p:sp>
        <p:nvSpPr>
          <p:cNvPr id="16" name="Shape 14"/>
          <p:cNvSpPr/>
          <p:nvPr/>
        </p:nvSpPr>
        <p:spPr>
          <a:xfrm>
            <a:off x="822960" y="3775253"/>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Assessment includes the family’s own explanation</a:t>
            </a:r>
            <a:endParaRPr lang="en-US" sz="880" dirty="0"/>
          </a:p>
        </p:txBody>
      </p:sp>
      <p:sp>
        <p:nvSpPr>
          <p:cNvPr id="18" name="Shape 16"/>
          <p:cNvSpPr/>
          <p:nvPr/>
        </p:nvSpPr>
        <p:spPr>
          <a:xfrm>
            <a:off x="822960" y="4020922"/>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Change is measured in relationships, not only symptoms</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WHAT MFT IS NOT</a:t>
            </a:r>
            <a:endParaRPr lang="en-US" sz="750" dirty="0"/>
          </a:p>
        </p:txBody>
      </p:sp>
      <p:sp>
        <p:nvSpPr>
          <p:cNvPr id="23" name="Text 21"/>
          <p:cNvSpPr txBox="1"/>
          <p:nvPr/>
        </p:nvSpPr>
        <p:spPr>
          <a:xfrm>
            <a:off x="446532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The field is often reduced to “seeing the whole family”. That is a</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setting, not a theory.</a:t>
            </a:r>
            <a:endParaRPr lang="en-US" sz="900" dirty="0"/>
          </a:p>
        </p:txBody>
      </p:sp>
      <p:sp>
        <p:nvSpPr>
          <p:cNvPr id="24" name="Shape 22"/>
          <p:cNvSpPr/>
          <p:nvPr/>
        </p:nvSpPr>
        <p:spPr>
          <a:xfrm>
            <a:off x="4465320" y="3364992"/>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Not the absence of diagnosis</a:t>
            </a:r>
            <a:endParaRPr lang="en-US" sz="880" dirty="0"/>
          </a:p>
        </p:txBody>
      </p:sp>
      <p:sp>
        <p:nvSpPr>
          <p:cNvPr id="26" name="Shape 24"/>
          <p:cNvSpPr/>
          <p:nvPr/>
        </p:nvSpPr>
        <p:spPr>
          <a:xfrm>
            <a:off x="4465320" y="3610661"/>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Not a denial of biology, trauma or individual experience</a:t>
            </a:r>
            <a:endParaRPr lang="en-US" sz="880" dirty="0"/>
          </a:p>
        </p:txBody>
      </p:sp>
      <p:sp>
        <p:nvSpPr>
          <p:cNvPr id="28" name="Shape 26"/>
          <p:cNvSpPr/>
          <p:nvPr/>
        </p:nvSpPr>
        <p:spPr>
          <a:xfrm>
            <a:off x="4465320" y="3856330"/>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Not the assumption that families are always the cause</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WHY IT MATTERS</a:t>
            </a:r>
            <a:endParaRPr lang="en-US" sz="750" dirty="0"/>
          </a:p>
        </p:txBody>
      </p:sp>
      <p:sp>
        <p:nvSpPr>
          <p:cNvPr id="33" name="Text 31"/>
          <p:cNvSpPr txBox="1"/>
          <p:nvPr/>
        </p:nvSpPr>
        <p:spPr>
          <a:xfrm>
            <a:off x="810768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The unit of treatment decides what counts as data, who is invited in,</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and what improvement looks like.</a:t>
            </a:r>
            <a:endParaRPr lang="en-US" sz="900" dirty="0"/>
          </a:p>
        </p:txBody>
      </p:sp>
      <p:sp>
        <p:nvSpPr>
          <p:cNvPr id="34" name="Shape 32"/>
          <p:cNvSpPr/>
          <p:nvPr/>
        </p:nvSpPr>
        <p:spPr>
          <a:xfrm>
            <a:off x="8107680" y="3364992"/>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Who is present shapes what can be said</a:t>
            </a:r>
            <a:endParaRPr lang="en-US" sz="880" dirty="0"/>
          </a:p>
        </p:txBody>
      </p:sp>
      <p:sp>
        <p:nvSpPr>
          <p:cNvPr id="36" name="Shape 34"/>
          <p:cNvSpPr/>
          <p:nvPr/>
        </p:nvSpPr>
        <p:spPr>
          <a:xfrm>
            <a:off x="8107680" y="3610661"/>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Relational change can precede symptom change</a:t>
            </a:r>
            <a:endParaRPr lang="en-US" sz="880" dirty="0"/>
          </a:p>
        </p:txBody>
      </p:sp>
      <p:sp>
        <p:nvSpPr>
          <p:cNvPr id="38" name="Shape 36"/>
          <p:cNvSpPr/>
          <p:nvPr/>
        </p:nvSpPr>
        <p:spPr>
          <a:xfrm>
            <a:off x="8107680" y="3856330"/>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Families are resources, not only risks</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WORKING DEFINITION</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A discipline of relationship</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Marriage and family therapy is the assessment and treatment of relational systems, using theories and methods</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that treat interaction as the primary site of change.</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291338"/>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Nichols &amp; Davis (2020); Becvar &amp; Becvar</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(2018).</a:t>
            </a:r>
            <a:endParaRPr lang="en-US" sz="6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01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10</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The family is nested, not isolated</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A family is never only itself. It is held by kin, community, institutions and policy — each of which can carry a problem or a resource.</a:t>
            </a:r>
            <a:endParaRPr lang="en-US" sz="1060" dirty="0"/>
          </a:p>
        </p:txBody>
      </p:sp>
      <p:sp>
        <p:nvSpPr>
          <p:cNvPr id="10" name="Shape 8"/>
          <p:cNvSpPr/>
          <p:nvPr/>
        </p:nvSpPr>
        <p:spPr>
          <a:xfrm>
            <a:off x="3227832" y="3300984"/>
            <a:ext cx="1682496" cy="950976"/>
          </a:xfrm>
          <a:prstGeom prst="ellipse">
            <a:avLst/>
          </a:prstGeom>
          <a:solidFill>
            <a:srgbClr val="C2A05F">
              <a:alpha val="14000"/>
            </a:srgbClr>
          </a:solidFill>
          <a:ln w="8890">
            <a:solidFill>
              <a:srgbClr val="D9CDB7"/>
            </a:solidFill>
            <a:prstDash val="solid"/>
          </a:ln>
        </p:spPr>
      </p:sp>
      <p:sp>
        <p:nvSpPr>
          <p:cNvPr id="11" name="Shape 9"/>
          <p:cNvSpPr/>
          <p:nvPr/>
        </p:nvSpPr>
        <p:spPr>
          <a:xfrm>
            <a:off x="2313432" y="2807208"/>
            <a:ext cx="3511296" cy="1938528"/>
          </a:xfrm>
          <a:prstGeom prst="ellipse">
            <a:avLst/>
          </a:prstGeom>
          <a:solidFill>
            <a:srgbClr val="EFE5D3">
              <a:alpha val="55000"/>
            </a:srgbClr>
          </a:solidFill>
          <a:ln w="8890">
            <a:solidFill>
              <a:srgbClr val="D9CDB7"/>
            </a:solidFill>
            <a:prstDash val="dash"/>
          </a:ln>
        </p:spPr>
      </p:sp>
      <p:sp>
        <p:nvSpPr>
          <p:cNvPr id="12" name="Shape 10"/>
          <p:cNvSpPr/>
          <p:nvPr/>
        </p:nvSpPr>
        <p:spPr>
          <a:xfrm>
            <a:off x="1399032" y="2313432"/>
            <a:ext cx="5340096" cy="2926080"/>
          </a:xfrm>
          <a:prstGeom prst="ellipse">
            <a:avLst/>
          </a:prstGeom>
          <a:solidFill>
            <a:srgbClr val="6E8274">
              <a:alpha val="7000"/>
            </a:srgbClr>
          </a:solidFill>
          <a:ln w="8890">
            <a:solidFill>
              <a:srgbClr val="D9CDB7"/>
            </a:solidFill>
            <a:prstDash val="dash"/>
          </a:ln>
        </p:spPr>
      </p:sp>
      <p:sp>
        <p:nvSpPr>
          <p:cNvPr id="13" name="Shape 11"/>
          <p:cNvSpPr/>
          <p:nvPr/>
        </p:nvSpPr>
        <p:spPr>
          <a:xfrm>
            <a:off x="457200" y="1819656"/>
            <a:ext cx="7223760" cy="3913632"/>
          </a:xfrm>
          <a:prstGeom prst="ellipse">
            <a:avLst/>
          </a:prstGeom>
          <a:solidFill>
            <a:srgbClr val="A96A45">
              <a:alpha val="6000"/>
            </a:srgbClr>
          </a:solidFill>
          <a:ln w="8890">
            <a:solidFill>
              <a:srgbClr val="D9CDB7"/>
            </a:solidFill>
            <a:prstDash val="dash"/>
          </a:ln>
        </p:spPr>
      </p:sp>
      <p:sp>
        <p:nvSpPr>
          <p:cNvPr id="14" name="Shape 12"/>
          <p:cNvSpPr/>
          <p:nvPr/>
        </p:nvSpPr>
        <p:spPr>
          <a:xfrm>
            <a:off x="4014216" y="3721608"/>
            <a:ext cx="109728" cy="109728"/>
          </a:xfrm>
          <a:prstGeom prst="ellipse">
            <a:avLst/>
          </a:prstGeom>
          <a:solidFill>
            <a:srgbClr val="96733C"/>
          </a:solidFill>
          <a:ln w="12700">
            <a:solidFill>
              <a:srgbClr val="FFFFFF">
                <a:alpha val="0"/>
              </a:srgbClr>
            </a:solidFill>
            <a:prstDash val="solid"/>
          </a:ln>
        </p:spPr>
      </p:sp>
      <p:sp>
        <p:nvSpPr>
          <p:cNvPr id="15" name="Text 13"/>
          <p:cNvSpPr txBox="1"/>
          <p:nvPr/>
        </p:nvSpPr>
        <p:spPr>
          <a:xfrm>
            <a:off x="3566160" y="3858768"/>
            <a:ext cx="1005840" cy="221996"/>
          </a:xfrm>
          <a:prstGeom prst="rect">
            <a:avLst/>
          </a:prstGeom>
          <a:noFill/>
          <a:ln/>
        </p:spPr>
        <p:txBody>
          <a:bodyPr wrap="square" lIns="0" tIns="0" rIns="0" bIns="0" rtlCol="0" anchor="t"/>
          <a:lstStyle/>
          <a:p>
            <a:pPr algn="ctr" indent="0" marL="0">
              <a:lnSpc>
                <a:spcPts val="988"/>
              </a:lnSpc>
              <a:buNone/>
            </a:pPr>
            <a:r>
              <a:rPr lang="en-US" sz="760" spc="120" kern="0" dirty="0">
                <a:solidFill>
                  <a:srgbClr val="96733C"/>
                </a:solidFill>
                <a:latin typeface="Calibri" pitchFamily="34" charset="0"/>
                <a:ea typeface="Calibri" pitchFamily="34" charset="-122"/>
                <a:cs typeface="Calibri" pitchFamily="34" charset="-120"/>
              </a:rPr>
              <a:t>PERSON</a:t>
            </a:r>
            <a:endParaRPr lang="en-US" sz="760" dirty="0"/>
          </a:p>
        </p:txBody>
      </p:sp>
      <p:sp>
        <p:nvSpPr>
          <p:cNvPr id="16" name="Shape 14"/>
          <p:cNvSpPr/>
          <p:nvPr/>
        </p:nvSpPr>
        <p:spPr>
          <a:xfrm flipV="1">
            <a:off x="7412768" y="2395728"/>
            <a:ext cx="268192" cy="582832"/>
          </a:xfrm>
          <a:prstGeom prst="line">
            <a:avLst/>
          </a:prstGeom>
          <a:noFill/>
          <a:ln w="7620">
            <a:solidFill>
              <a:srgbClr val="D9CDB7"/>
            </a:solidFill>
            <a:prstDash val="solid"/>
            <a:headEnd type="none"/>
            <a:tailEnd type="none"/>
          </a:ln>
        </p:spPr>
      </p:sp>
      <p:sp>
        <p:nvSpPr>
          <p:cNvPr id="17" name="Shape 15"/>
          <p:cNvSpPr/>
          <p:nvPr/>
        </p:nvSpPr>
        <p:spPr>
          <a:xfrm>
            <a:off x="7335044" y="2946556"/>
            <a:ext cx="64008" cy="64008"/>
          </a:xfrm>
          <a:prstGeom prst="ellipse">
            <a:avLst/>
          </a:prstGeom>
          <a:solidFill>
            <a:srgbClr val="C2A05F"/>
          </a:solidFill>
          <a:ln w="12700">
            <a:solidFill>
              <a:srgbClr val="FFFFFF">
                <a:alpha val="0"/>
              </a:srgbClr>
            </a:solidFill>
            <a:prstDash val="solid"/>
          </a:ln>
        </p:spPr>
      </p:sp>
      <p:sp>
        <p:nvSpPr>
          <p:cNvPr id="18" name="Text 16"/>
          <p:cNvSpPr txBox="1"/>
          <p:nvPr/>
        </p:nvSpPr>
        <p:spPr>
          <a:xfrm>
            <a:off x="7790688" y="2194560"/>
            <a:ext cx="3520440" cy="334264"/>
          </a:xfrm>
          <a:prstGeom prst="rect">
            <a:avLst/>
          </a:prstGeom>
          <a:noFill/>
          <a:ln/>
        </p:spPr>
        <p:txBody>
          <a:bodyPr wrap="square" lIns="0" tIns="0" rIns="0" bIns="0" rtlCol="0" anchor="t"/>
          <a:lstStyle/>
          <a:p>
            <a:pPr algn="l" indent="0" marL="0">
              <a:lnSpc>
                <a:spcPts val="1512"/>
              </a:lnSpc>
              <a:buNone/>
            </a:pPr>
            <a:r>
              <a:rPr lang="en-US" sz="1120" dirty="0">
                <a:solidFill>
                  <a:srgbClr val="1B1815"/>
                </a:solidFill>
                <a:latin typeface="Georgia" pitchFamily="34" charset="0"/>
                <a:ea typeface="Georgia" pitchFamily="34" charset="-122"/>
                <a:cs typeface="Georgia" pitchFamily="34" charset="-120"/>
              </a:rPr>
              <a:t>Culture, economy &amp; policy</a:t>
            </a:r>
            <a:endParaRPr lang="en-US" sz="1120" dirty="0"/>
          </a:p>
        </p:txBody>
      </p:sp>
      <p:sp>
        <p:nvSpPr>
          <p:cNvPr id="19" name="Text 17"/>
          <p:cNvSpPr txBox="1"/>
          <p:nvPr/>
        </p:nvSpPr>
        <p:spPr>
          <a:xfrm>
            <a:off x="7790688" y="2441448"/>
            <a:ext cx="3520440" cy="239522"/>
          </a:xfrm>
          <a:prstGeom prst="rect">
            <a:avLst/>
          </a:prstGeom>
          <a:noFill/>
          <a:ln/>
        </p:spPr>
        <p:txBody>
          <a:bodyPr wrap="square" lIns="0" tIns="0" rIns="0" bIns="0" rtlCol="0" anchor="t"/>
          <a:lstStyle/>
          <a:p>
            <a:pPr algn="l" indent="0" marL="0">
              <a:lnSpc>
                <a:spcPts val="1066"/>
              </a:lnSpc>
              <a:buNone/>
            </a:pPr>
            <a:r>
              <a:rPr lang="en-US" sz="820" dirty="0">
                <a:solidFill>
                  <a:srgbClr val="5B544A"/>
                </a:solidFill>
                <a:latin typeface="Calibri" pitchFamily="34" charset="0"/>
                <a:ea typeface="Calibri" pitchFamily="34" charset="-122"/>
                <a:cs typeface="Calibri" pitchFamily="34" charset="-120"/>
              </a:rPr>
              <a:t>values, migration, employment, housing, law</a:t>
            </a:r>
            <a:endParaRPr lang="en-US" sz="820" dirty="0"/>
          </a:p>
        </p:txBody>
      </p:sp>
      <p:sp>
        <p:nvSpPr>
          <p:cNvPr id="20" name="Shape 18"/>
          <p:cNvSpPr/>
          <p:nvPr/>
        </p:nvSpPr>
        <p:spPr>
          <a:xfrm>
            <a:off x="7412768" y="2978560"/>
            <a:ext cx="268192" cy="258416"/>
          </a:xfrm>
          <a:prstGeom prst="line">
            <a:avLst/>
          </a:prstGeom>
          <a:noFill/>
          <a:ln w="7620">
            <a:solidFill>
              <a:srgbClr val="D9CDB7"/>
            </a:solidFill>
            <a:prstDash val="solid"/>
            <a:headEnd type="none"/>
            <a:tailEnd type="none"/>
          </a:ln>
        </p:spPr>
      </p:sp>
      <p:sp>
        <p:nvSpPr>
          <p:cNvPr id="21" name="Shape 19"/>
          <p:cNvSpPr/>
          <p:nvPr/>
        </p:nvSpPr>
        <p:spPr>
          <a:xfrm>
            <a:off x="7335044" y="2946556"/>
            <a:ext cx="64008" cy="64008"/>
          </a:xfrm>
          <a:prstGeom prst="ellipse">
            <a:avLst/>
          </a:prstGeom>
          <a:solidFill>
            <a:srgbClr val="C2A05F"/>
          </a:solidFill>
          <a:ln w="12700">
            <a:solidFill>
              <a:srgbClr val="FFFFFF">
                <a:alpha val="0"/>
              </a:srgbClr>
            </a:solidFill>
            <a:prstDash val="solid"/>
          </a:ln>
        </p:spPr>
      </p:sp>
      <p:sp>
        <p:nvSpPr>
          <p:cNvPr id="22" name="Text 20"/>
          <p:cNvSpPr txBox="1"/>
          <p:nvPr/>
        </p:nvSpPr>
        <p:spPr>
          <a:xfrm>
            <a:off x="7790688" y="3035808"/>
            <a:ext cx="3520440" cy="334264"/>
          </a:xfrm>
          <a:prstGeom prst="rect">
            <a:avLst/>
          </a:prstGeom>
          <a:noFill/>
          <a:ln/>
        </p:spPr>
        <p:txBody>
          <a:bodyPr wrap="square" lIns="0" tIns="0" rIns="0" bIns="0" rtlCol="0" anchor="t"/>
          <a:lstStyle/>
          <a:p>
            <a:pPr algn="l" indent="0" marL="0">
              <a:lnSpc>
                <a:spcPts val="1512"/>
              </a:lnSpc>
              <a:buNone/>
            </a:pPr>
            <a:r>
              <a:rPr lang="en-US" sz="1120" dirty="0">
                <a:solidFill>
                  <a:srgbClr val="1B1815"/>
                </a:solidFill>
                <a:latin typeface="Georgia" pitchFamily="34" charset="0"/>
                <a:ea typeface="Georgia" pitchFamily="34" charset="-122"/>
                <a:cs typeface="Georgia" pitchFamily="34" charset="-120"/>
              </a:rPr>
              <a:t>Institutions</a:t>
            </a:r>
            <a:endParaRPr lang="en-US" sz="1120" dirty="0"/>
          </a:p>
        </p:txBody>
      </p:sp>
      <p:sp>
        <p:nvSpPr>
          <p:cNvPr id="23" name="Text 21"/>
          <p:cNvSpPr txBox="1"/>
          <p:nvPr/>
        </p:nvSpPr>
        <p:spPr>
          <a:xfrm>
            <a:off x="7790688" y="3282696"/>
            <a:ext cx="3520440" cy="239522"/>
          </a:xfrm>
          <a:prstGeom prst="rect">
            <a:avLst/>
          </a:prstGeom>
          <a:noFill/>
          <a:ln/>
        </p:spPr>
        <p:txBody>
          <a:bodyPr wrap="square" lIns="0" tIns="0" rIns="0" bIns="0" rtlCol="0" anchor="t"/>
          <a:lstStyle/>
          <a:p>
            <a:pPr algn="l" indent="0" marL="0">
              <a:lnSpc>
                <a:spcPts val="1066"/>
              </a:lnSpc>
              <a:buNone/>
            </a:pPr>
            <a:r>
              <a:rPr lang="en-US" sz="820" dirty="0">
                <a:solidFill>
                  <a:srgbClr val="5B544A"/>
                </a:solidFill>
                <a:latin typeface="Calibri" pitchFamily="34" charset="0"/>
                <a:ea typeface="Calibri" pitchFamily="34" charset="-122"/>
                <a:cs typeface="Calibri" pitchFamily="34" charset="-120"/>
              </a:rPr>
              <a:t>school, health care, workplace, courts</a:t>
            </a:r>
            <a:endParaRPr lang="en-US" sz="820" dirty="0"/>
          </a:p>
        </p:txBody>
      </p:sp>
      <p:sp>
        <p:nvSpPr>
          <p:cNvPr id="24" name="Shape 22"/>
          <p:cNvSpPr/>
          <p:nvPr/>
        </p:nvSpPr>
        <p:spPr>
          <a:xfrm>
            <a:off x="6552791" y="3179902"/>
            <a:ext cx="1128169" cy="898322"/>
          </a:xfrm>
          <a:prstGeom prst="line">
            <a:avLst/>
          </a:prstGeom>
          <a:noFill/>
          <a:ln w="7620">
            <a:solidFill>
              <a:srgbClr val="D9CDB7"/>
            </a:solidFill>
            <a:prstDash val="solid"/>
            <a:headEnd type="none"/>
            <a:tailEnd type="none"/>
          </a:ln>
        </p:spPr>
      </p:sp>
      <p:sp>
        <p:nvSpPr>
          <p:cNvPr id="25" name="Shape 23"/>
          <p:cNvSpPr/>
          <p:nvPr/>
        </p:nvSpPr>
        <p:spPr>
          <a:xfrm>
            <a:off x="6475067" y="3147898"/>
            <a:ext cx="64008" cy="64008"/>
          </a:xfrm>
          <a:prstGeom prst="ellipse">
            <a:avLst/>
          </a:prstGeom>
          <a:solidFill>
            <a:srgbClr val="C2A05F"/>
          </a:solidFill>
          <a:ln w="12700">
            <a:solidFill>
              <a:srgbClr val="FFFFFF">
                <a:alpha val="0"/>
              </a:srgbClr>
            </a:solidFill>
            <a:prstDash val="solid"/>
          </a:ln>
        </p:spPr>
      </p:sp>
      <p:sp>
        <p:nvSpPr>
          <p:cNvPr id="26" name="Text 24"/>
          <p:cNvSpPr txBox="1"/>
          <p:nvPr/>
        </p:nvSpPr>
        <p:spPr>
          <a:xfrm>
            <a:off x="7790688" y="3877056"/>
            <a:ext cx="3520440" cy="334264"/>
          </a:xfrm>
          <a:prstGeom prst="rect">
            <a:avLst/>
          </a:prstGeom>
          <a:noFill/>
          <a:ln/>
        </p:spPr>
        <p:txBody>
          <a:bodyPr wrap="square" lIns="0" tIns="0" rIns="0" bIns="0" rtlCol="0" anchor="t"/>
          <a:lstStyle/>
          <a:p>
            <a:pPr algn="l" indent="0" marL="0">
              <a:lnSpc>
                <a:spcPts val="1512"/>
              </a:lnSpc>
              <a:buNone/>
            </a:pPr>
            <a:r>
              <a:rPr lang="en-US" sz="1120" dirty="0">
                <a:solidFill>
                  <a:srgbClr val="1B1815"/>
                </a:solidFill>
                <a:latin typeface="Georgia" pitchFamily="34" charset="0"/>
                <a:ea typeface="Georgia" pitchFamily="34" charset="-122"/>
                <a:cs typeface="Georgia" pitchFamily="34" charset="-120"/>
              </a:rPr>
              <a:t>Extended kin &amp; community</a:t>
            </a:r>
            <a:endParaRPr lang="en-US" sz="1120" dirty="0"/>
          </a:p>
        </p:txBody>
      </p:sp>
      <p:sp>
        <p:nvSpPr>
          <p:cNvPr id="27" name="Text 25"/>
          <p:cNvSpPr txBox="1"/>
          <p:nvPr/>
        </p:nvSpPr>
        <p:spPr>
          <a:xfrm>
            <a:off x="7790688" y="4123944"/>
            <a:ext cx="3520440" cy="239522"/>
          </a:xfrm>
          <a:prstGeom prst="rect">
            <a:avLst/>
          </a:prstGeom>
          <a:noFill/>
          <a:ln/>
        </p:spPr>
        <p:txBody>
          <a:bodyPr wrap="square" lIns="0" tIns="0" rIns="0" bIns="0" rtlCol="0" anchor="t"/>
          <a:lstStyle/>
          <a:p>
            <a:pPr algn="l" indent="0" marL="0">
              <a:lnSpc>
                <a:spcPts val="1066"/>
              </a:lnSpc>
              <a:buNone/>
            </a:pPr>
            <a:r>
              <a:rPr lang="en-US" sz="820" dirty="0">
                <a:solidFill>
                  <a:srgbClr val="5B544A"/>
                </a:solidFill>
                <a:latin typeface="Calibri" pitchFamily="34" charset="0"/>
                <a:ea typeface="Calibri" pitchFamily="34" charset="-122"/>
                <a:cs typeface="Calibri" pitchFamily="34" charset="-120"/>
              </a:rPr>
              <a:t>grandparents, kin networks, faith communities</a:t>
            </a:r>
            <a:endParaRPr lang="en-US" sz="820" dirty="0"/>
          </a:p>
        </p:txBody>
      </p:sp>
      <p:sp>
        <p:nvSpPr>
          <p:cNvPr id="28" name="Shape 26"/>
          <p:cNvSpPr/>
          <p:nvPr/>
        </p:nvSpPr>
        <p:spPr>
          <a:xfrm>
            <a:off x="5717863" y="3381244"/>
            <a:ext cx="1963097" cy="1538228"/>
          </a:xfrm>
          <a:prstGeom prst="line">
            <a:avLst/>
          </a:prstGeom>
          <a:noFill/>
          <a:ln w="7620">
            <a:solidFill>
              <a:srgbClr val="D9CDB7"/>
            </a:solidFill>
            <a:prstDash val="solid"/>
            <a:headEnd type="none"/>
            <a:tailEnd type="none"/>
          </a:ln>
        </p:spPr>
      </p:sp>
      <p:sp>
        <p:nvSpPr>
          <p:cNvPr id="29" name="Shape 27"/>
          <p:cNvSpPr/>
          <p:nvPr/>
        </p:nvSpPr>
        <p:spPr>
          <a:xfrm>
            <a:off x="5640139" y="3349240"/>
            <a:ext cx="64008" cy="64008"/>
          </a:xfrm>
          <a:prstGeom prst="ellipse">
            <a:avLst/>
          </a:prstGeom>
          <a:solidFill>
            <a:srgbClr val="C2A05F"/>
          </a:solidFill>
          <a:ln w="12700">
            <a:solidFill>
              <a:srgbClr val="FFFFFF">
                <a:alpha val="0"/>
              </a:srgbClr>
            </a:solidFill>
            <a:prstDash val="solid"/>
          </a:ln>
        </p:spPr>
      </p:sp>
      <p:sp>
        <p:nvSpPr>
          <p:cNvPr id="30" name="Text 28"/>
          <p:cNvSpPr txBox="1"/>
          <p:nvPr/>
        </p:nvSpPr>
        <p:spPr>
          <a:xfrm>
            <a:off x="7790688" y="4718304"/>
            <a:ext cx="3520440" cy="334264"/>
          </a:xfrm>
          <a:prstGeom prst="rect">
            <a:avLst/>
          </a:prstGeom>
          <a:noFill/>
          <a:ln/>
        </p:spPr>
        <p:txBody>
          <a:bodyPr wrap="square" lIns="0" tIns="0" rIns="0" bIns="0" rtlCol="0" anchor="t"/>
          <a:lstStyle/>
          <a:p>
            <a:pPr algn="l" indent="0" marL="0">
              <a:lnSpc>
                <a:spcPts val="1512"/>
              </a:lnSpc>
              <a:buNone/>
            </a:pPr>
            <a:r>
              <a:rPr lang="en-US" sz="1120" dirty="0">
                <a:solidFill>
                  <a:srgbClr val="1B1815"/>
                </a:solidFill>
                <a:latin typeface="Georgia" pitchFamily="34" charset="0"/>
                <a:ea typeface="Georgia" pitchFamily="34" charset="-122"/>
                <a:cs typeface="Georgia" pitchFamily="34" charset="-120"/>
              </a:rPr>
              <a:t>Family &amp; household</a:t>
            </a:r>
            <a:endParaRPr lang="en-US" sz="1120" dirty="0"/>
          </a:p>
        </p:txBody>
      </p:sp>
      <p:sp>
        <p:nvSpPr>
          <p:cNvPr id="31" name="Text 29"/>
          <p:cNvSpPr txBox="1"/>
          <p:nvPr/>
        </p:nvSpPr>
        <p:spPr>
          <a:xfrm>
            <a:off x="7790688" y="4965192"/>
            <a:ext cx="3520440" cy="239522"/>
          </a:xfrm>
          <a:prstGeom prst="rect">
            <a:avLst/>
          </a:prstGeom>
          <a:noFill/>
          <a:ln/>
        </p:spPr>
        <p:txBody>
          <a:bodyPr wrap="square" lIns="0" tIns="0" rIns="0" bIns="0" rtlCol="0" anchor="t"/>
          <a:lstStyle/>
          <a:p>
            <a:pPr algn="l" indent="0" marL="0">
              <a:lnSpc>
                <a:spcPts val="1066"/>
              </a:lnSpc>
              <a:buNone/>
            </a:pPr>
            <a:r>
              <a:rPr lang="en-US" sz="820" dirty="0">
                <a:solidFill>
                  <a:srgbClr val="5B544A"/>
                </a:solidFill>
                <a:latin typeface="Calibri" pitchFamily="34" charset="0"/>
                <a:ea typeface="Calibri" pitchFamily="34" charset="-122"/>
                <a:cs typeface="Calibri" pitchFamily="34" charset="-120"/>
              </a:rPr>
              <a:t>roles, rules, coalitions, routines</a:t>
            </a:r>
            <a:endParaRPr lang="en-US" sz="820" dirty="0"/>
          </a:p>
        </p:txBody>
      </p:sp>
      <p:sp>
        <p:nvSpPr>
          <p:cNvPr id="32" name="Shape 30"/>
          <p:cNvSpPr/>
          <p:nvPr/>
        </p:nvSpPr>
        <p:spPr>
          <a:xfrm>
            <a:off x="7790688" y="5486400"/>
            <a:ext cx="576072" cy="91"/>
          </a:xfrm>
          <a:prstGeom prst="line">
            <a:avLst/>
          </a:prstGeom>
          <a:noFill/>
          <a:ln w="13970">
            <a:solidFill>
              <a:srgbClr val="C2A05F"/>
            </a:solidFill>
            <a:prstDash val="solid"/>
            <a:headEnd type="none"/>
            <a:tailEnd type="none"/>
          </a:ln>
        </p:spPr>
      </p:sp>
      <p:sp>
        <p:nvSpPr>
          <p:cNvPr id="33" name="Text 31"/>
          <p:cNvSpPr txBox="1"/>
          <p:nvPr/>
        </p:nvSpPr>
        <p:spPr>
          <a:xfrm>
            <a:off x="8458200" y="5404104"/>
            <a:ext cx="2834640" cy="239522"/>
          </a:xfrm>
          <a:prstGeom prst="rect">
            <a:avLst/>
          </a:prstGeom>
          <a:noFill/>
          <a:ln/>
        </p:spPr>
        <p:txBody>
          <a:bodyPr wrap="square" lIns="0" tIns="0" rIns="0" bIns="0" rtlCol="0" anchor="t"/>
          <a:lstStyle/>
          <a:p>
            <a:pPr algn="l" indent="0" marL="0">
              <a:lnSpc>
                <a:spcPts val="1066"/>
              </a:lnSpc>
              <a:buNone/>
            </a:pPr>
            <a:r>
              <a:rPr lang="en-US" sz="820" i="1" dirty="0">
                <a:solidFill>
                  <a:srgbClr val="96733C"/>
                </a:solidFill>
                <a:latin typeface="Calibri" pitchFamily="34" charset="0"/>
                <a:ea typeface="Calibri" pitchFamily="34" charset="-122"/>
                <a:cs typeface="Calibri" pitchFamily="34" charset="-120"/>
              </a:rPr>
              <a:t>the relational unit of treatment</a:t>
            </a:r>
            <a:endParaRPr lang="en-US" sz="820" dirty="0"/>
          </a:p>
        </p:txBody>
      </p:sp>
      <p:sp>
        <p:nvSpPr>
          <p:cNvPr id="34" name="Text 32"/>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Adapted from Bronfenbrenner’s ecological model; family systems add the dimension of meaning.</a:t>
            </a:r>
            <a:endParaRPr lang="en-US" sz="74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01 · CLINICAL APPLICATION</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11</a:t>
            </a:r>
            <a:endParaRPr lang="en-US" sz="950" dirty="0"/>
          </a:p>
        </p:txBody>
      </p:sp>
      <p:sp>
        <p:nvSpPr>
          <p:cNvPr id="8" name="Text 6"/>
          <p:cNvSpPr txBox="1"/>
          <p:nvPr/>
        </p:nvSpPr>
        <p:spPr>
          <a:xfrm>
            <a:off x="822960" y="932688"/>
            <a:ext cx="9509760" cy="775970"/>
          </a:xfrm>
          <a:prstGeom prst="rect">
            <a:avLst/>
          </a:prstGeom>
          <a:noFill/>
          <a:ln/>
        </p:spPr>
        <p:txBody>
          <a:bodyPr wrap="square" lIns="0" tIns="0" rIns="0" bIns="0" rtlCol="0" anchor="t"/>
          <a:lstStyle/>
          <a:p>
            <a:pPr algn="l" indent="0" marL="0">
              <a:lnSpc>
                <a:spcPts val="3510"/>
              </a:lnSpc>
              <a:buNone/>
            </a:pPr>
            <a:r>
              <a:rPr lang="en-US" sz="2600" dirty="0">
                <a:solidFill>
                  <a:srgbClr val="1B1815"/>
                </a:solidFill>
                <a:latin typeface="Georgia" pitchFamily="34" charset="0"/>
                <a:ea typeface="Georgia" pitchFamily="34" charset="-122"/>
                <a:cs typeface="Georgia" pitchFamily="34" charset="-120"/>
              </a:rPr>
              <a:t>The referral that reframes the problem</a:t>
            </a:r>
            <a:endParaRPr lang="en-US" sz="2600" dirty="0"/>
          </a:p>
        </p:txBody>
      </p:sp>
      <p:sp>
        <p:nvSpPr>
          <p:cNvPr id="9" name="Shape 7"/>
          <p:cNvSpPr/>
          <p:nvPr/>
        </p:nvSpPr>
        <p:spPr>
          <a:xfrm>
            <a:off x="822960" y="1463040"/>
            <a:ext cx="7059168" cy="1847088"/>
          </a:xfrm>
          <a:prstGeom prst="roundRect">
            <a:avLst>
              <a:gd name="adj" fmla="val 490"/>
            </a:avLst>
          </a:prstGeom>
          <a:solidFill>
            <a:srgbClr val="EFE5D3">
              <a:alpha val="50000"/>
            </a:srgbClr>
          </a:solidFill>
          <a:ln w="12700">
            <a:solidFill>
              <a:srgbClr val="FFFFFF">
                <a:alpha val="0"/>
              </a:srgbClr>
            </a:solidFill>
            <a:prstDash val="solid"/>
          </a:ln>
        </p:spPr>
      </p:sp>
      <p:sp>
        <p:nvSpPr>
          <p:cNvPr id="10" name="Shape 8"/>
          <p:cNvSpPr/>
          <p:nvPr/>
        </p:nvSpPr>
        <p:spPr>
          <a:xfrm>
            <a:off x="822960" y="1463040"/>
            <a:ext cx="45720" cy="1847088"/>
          </a:xfrm>
          <a:prstGeom prst="rect">
            <a:avLst/>
          </a:prstGeom>
          <a:solidFill>
            <a:srgbClr val="A96A45"/>
          </a:solidFill>
          <a:ln w="12700">
            <a:solidFill>
              <a:srgbClr val="FFFFFF">
                <a:alpha val="0"/>
              </a:srgbClr>
            </a:solidFill>
            <a:prstDash val="solid"/>
          </a:ln>
        </p:spPr>
      </p:sp>
      <p:sp>
        <p:nvSpPr>
          <p:cNvPr id="11" name="Text 9"/>
          <p:cNvSpPr txBox="1"/>
          <p:nvPr/>
        </p:nvSpPr>
        <p:spPr>
          <a:xfrm>
            <a:off x="1115568" y="1627632"/>
            <a:ext cx="2743200" cy="202946"/>
          </a:xfrm>
          <a:prstGeom prst="rect">
            <a:avLst/>
          </a:prstGeom>
          <a:noFill/>
          <a:ln/>
        </p:spPr>
        <p:txBody>
          <a:bodyPr wrap="square" lIns="0" tIns="0" rIns="0" bIns="0" rtlCol="0" anchor="t"/>
          <a:lstStyle/>
          <a:p>
            <a:pPr algn="l" indent="0" marL="0">
              <a:lnSpc>
                <a:spcPts val="918"/>
              </a:lnSpc>
              <a:buNone/>
            </a:pPr>
            <a:r>
              <a:rPr lang="en-US" sz="680" b="1" spc="200" kern="0" dirty="0">
                <a:solidFill>
                  <a:srgbClr val="A96A45"/>
                </a:solidFill>
                <a:latin typeface="Calibri" pitchFamily="34" charset="0"/>
                <a:ea typeface="Calibri" pitchFamily="34" charset="-122"/>
                <a:cs typeface="Calibri" pitchFamily="34" charset="-120"/>
              </a:rPr>
              <a:t>CLINICAL VIGNETTE</a:t>
            </a:r>
            <a:endParaRPr lang="en-US" sz="680" dirty="0"/>
          </a:p>
        </p:txBody>
      </p:sp>
      <p:sp>
        <p:nvSpPr>
          <p:cNvPr id="12" name="Text 10"/>
          <p:cNvSpPr txBox="1"/>
          <p:nvPr/>
        </p:nvSpPr>
        <p:spPr>
          <a:xfrm>
            <a:off x="1115568" y="2187854"/>
            <a:ext cx="6446520" cy="1280160"/>
          </a:xfrm>
          <a:prstGeom prst="rect">
            <a:avLst/>
          </a:prstGeom>
          <a:noFill/>
          <a:ln/>
        </p:spPr>
        <p:txBody>
          <a:bodyPr wrap="square" lIns="0" tIns="0" rIns="0" bIns="0" rtlCol="0" anchor="t"/>
          <a:lstStyle/>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A 14-year-old boy is referred by his school for “defiance and falling grades”. His mother brings</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him alone. She says, “He is the problem — he won’t listen.” In the first session you learn that his</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father has worked away for a year, and that the boy now sleeps in his mother’s room.</a:t>
            </a:r>
            <a:endParaRPr lang="en-US" sz="1160" dirty="0"/>
          </a:p>
        </p:txBody>
      </p:sp>
      <p:sp>
        <p:nvSpPr>
          <p:cNvPr id="13" name="Shape 11"/>
          <p:cNvSpPr/>
          <p:nvPr/>
        </p:nvSpPr>
        <p:spPr>
          <a:xfrm>
            <a:off x="8101584" y="1463040"/>
            <a:ext cx="3264408" cy="1847088"/>
          </a:xfrm>
          <a:prstGeom prst="roundRect">
            <a:avLst>
              <a:gd name="adj" fmla="val 490"/>
            </a:avLst>
          </a:prstGeom>
          <a:solidFill>
            <a:srgbClr val="FFFFFF">
              <a:alpha val="0"/>
            </a:srgbClr>
          </a:solidFill>
          <a:ln w="7620">
            <a:solidFill>
              <a:srgbClr val="D9CDB7"/>
            </a:solidFill>
            <a:prstDash val="solid"/>
          </a:ln>
        </p:spPr>
      </p:sp>
      <p:sp>
        <p:nvSpPr>
          <p:cNvPr id="14" name="Text 12"/>
          <p:cNvSpPr txBox="1"/>
          <p:nvPr/>
        </p:nvSpPr>
        <p:spPr>
          <a:xfrm>
            <a:off x="8302752" y="1627632"/>
            <a:ext cx="2898648" cy="196977"/>
          </a:xfrm>
          <a:prstGeom prst="rect">
            <a:avLst/>
          </a:prstGeom>
          <a:noFill/>
          <a:ln/>
        </p:spPr>
        <p:txBody>
          <a:bodyPr wrap="square" lIns="0" tIns="0" rIns="0" bIns="0" rtlCol="0" anchor="t"/>
          <a:lstStyle/>
          <a:p>
            <a:pPr algn="l" indent="0" marL="0">
              <a:lnSpc>
                <a:spcPts val="891"/>
              </a:lnSpc>
              <a:buNone/>
            </a:pPr>
            <a:r>
              <a:rPr lang="en-US" sz="660" b="1" spc="180" kern="0" dirty="0">
                <a:solidFill>
                  <a:srgbClr val="6E8274"/>
                </a:solidFill>
                <a:latin typeface="Calibri" pitchFamily="34" charset="0"/>
                <a:ea typeface="Calibri" pitchFamily="34" charset="-122"/>
                <a:cs typeface="Calibri" pitchFamily="34" charset="-120"/>
              </a:rPr>
              <a:t>APPLY THIS WEEK</a:t>
            </a:r>
            <a:endParaRPr lang="en-US" sz="660" dirty="0"/>
          </a:p>
        </p:txBody>
      </p:sp>
      <p:sp>
        <p:nvSpPr>
          <p:cNvPr id="15" name="Shape 13"/>
          <p:cNvSpPr/>
          <p:nvPr/>
        </p:nvSpPr>
        <p:spPr>
          <a:xfrm>
            <a:off x="8322869" y="1967789"/>
            <a:ext cx="51206" cy="51206"/>
          </a:xfrm>
          <a:prstGeom prst="ellipse">
            <a:avLst/>
          </a:prstGeom>
          <a:solidFill>
            <a:srgbClr val="6E8274"/>
          </a:solidFill>
          <a:ln w="12700">
            <a:solidFill>
              <a:srgbClr val="FFFFFF">
                <a:alpha val="0"/>
              </a:srgbClr>
            </a:solidFill>
            <a:prstDash val="solid"/>
          </a:ln>
        </p:spPr>
      </p:sp>
      <p:sp>
        <p:nvSpPr>
          <p:cNvPr id="16" name="Text 14"/>
          <p:cNvSpPr txBox="1"/>
          <p:nvPr/>
        </p:nvSpPr>
        <p:spPr>
          <a:xfrm>
            <a:off x="8485632" y="1911096"/>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systemic epistemology</a:t>
            </a:r>
            <a:endParaRPr lang="en-US" sz="830" dirty="0"/>
          </a:p>
        </p:txBody>
      </p:sp>
      <p:sp>
        <p:nvSpPr>
          <p:cNvPr id="17" name="Shape 15"/>
          <p:cNvSpPr/>
          <p:nvPr/>
        </p:nvSpPr>
        <p:spPr>
          <a:xfrm>
            <a:off x="8322869" y="2296973"/>
            <a:ext cx="51206" cy="51206"/>
          </a:xfrm>
          <a:prstGeom prst="ellipse">
            <a:avLst/>
          </a:prstGeom>
          <a:solidFill>
            <a:srgbClr val="6E8274"/>
          </a:solidFill>
          <a:ln w="12700">
            <a:solidFill>
              <a:srgbClr val="FFFFFF">
                <a:alpha val="0"/>
              </a:srgbClr>
            </a:solidFill>
            <a:prstDash val="solid"/>
          </a:ln>
        </p:spPr>
      </p:sp>
      <p:sp>
        <p:nvSpPr>
          <p:cNvPr id="18" name="Text 16"/>
          <p:cNvSpPr txBox="1"/>
          <p:nvPr/>
        </p:nvSpPr>
        <p:spPr>
          <a:xfrm>
            <a:off x="8485632" y="2240280"/>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relational unit</a:t>
            </a:r>
            <a:endParaRPr lang="en-US" sz="830" dirty="0"/>
          </a:p>
        </p:txBody>
      </p:sp>
      <p:sp>
        <p:nvSpPr>
          <p:cNvPr id="19" name="Shape 17"/>
          <p:cNvSpPr/>
          <p:nvPr/>
        </p:nvSpPr>
        <p:spPr>
          <a:xfrm>
            <a:off x="8322869" y="2626157"/>
            <a:ext cx="51206" cy="51206"/>
          </a:xfrm>
          <a:prstGeom prst="ellipse">
            <a:avLst/>
          </a:prstGeom>
          <a:solidFill>
            <a:srgbClr val="6E8274"/>
          </a:solidFill>
          <a:ln w="12700">
            <a:solidFill>
              <a:srgbClr val="FFFFFF">
                <a:alpha val="0"/>
              </a:srgbClr>
            </a:solidFill>
            <a:prstDash val="solid"/>
          </a:ln>
        </p:spPr>
      </p:sp>
      <p:sp>
        <p:nvSpPr>
          <p:cNvPr id="20" name="Text 18"/>
          <p:cNvSpPr txBox="1"/>
          <p:nvPr/>
        </p:nvSpPr>
        <p:spPr>
          <a:xfrm>
            <a:off x="8485632" y="2569464"/>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presenting problem</a:t>
            </a:r>
            <a:endParaRPr lang="en-US" sz="830" dirty="0"/>
          </a:p>
        </p:txBody>
      </p:sp>
      <p:sp>
        <p:nvSpPr>
          <p:cNvPr id="21" name="Shape 19"/>
          <p:cNvSpPr/>
          <p:nvPr/>
        </p:nvSpPr>
        <p:spPr>
          <a:xfrm>
            <a:off x="8322869" y="2955341"/>
            <a:ext cx="51206" cy="51206"/>
          </a:xfrm>
          <a:prstGeom prst="ellipse">
            <a:avLst/>
          </a:prstGeom>
          <a:solidFill>
            <a:srgbClr val="6E8274"/>
          </a:solidFill>
          <a:ln w="12700">
            <a:solidFill>
              <a:srgbClr val="FFFFFF">
                <a:alpha val="0"/>
              </a:srgbClr>
            </a:solidFill>
            <a:prstDash val="solid"/>
          </a:ln>
        </p:spPr>
      </p:sp>
      <p:sp>
        <p:nvSpPr>
          <p:cNvPr id="22" name="Text 20"/>
          <p:cNvSpPr txBox="1"/>
          <p:nvPr/>
        </p:nvSpPr>
        <p:spPr>
          <a:xfrm>
            <a:off x="8485632" y="2898648"/>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professional identity</a:t>
            </a:r>
            <a:endParaRPr lang="en-US" sz="830" dirty="0"/>
          </a:p>
        </p:txBody>
      </p:sp>
      <p:sp>
        <p:nvSpPr>
          <p:cNvPr id="23" name="Text 21"/>
          <p:cNvSpPr txBox="1"/>
          <p:nvPr/>
        </p:nvSpPr>
        <p:spPr>
          <a:xfrm>
            <a:off x="822960" y="3675888"/>
            <a:ext cx="3657600" cy="214884"/>
          </a:xfrm>
          <a:prstGeom prst="rect">
            <a:avLst/>
          </a:prstGeom>
          <a:noFill/>
          <a:ln/>
        </p:spPr>
        <p:txBody>
          <a:bodyPr wrap="square" lIns="0" tIns="0" rIns="0" bIns="0" rtlCol="0" anchor="t"/>
          <a:lstStyle/>
          <a:p>
            <a:pPr algn="l" indent="0" marL="0">
              <a:lnSpc>
                <a:spcPts val="972"/>
              </a:lnSpc>
              <a:buNone/>
            </a:pPr>
            <a:r>
              <a:rPr lang="en-US" sz="720" b="1" spc="200" kern="0" dirty="0">
                <a:solidFill>
                  <a:srgbClr val="96733C"/>
                </a:solidFill>
                <a:latin typeface="Calibri" pitchFamily="34" charset="0"/>
                <a:ea typeface="Calibri" pitchFamily="34" charset="-122"/>
                <a:cs typeface="Calibri" pitchFamily="34" charset="-120"/>
              </a:rPr>
              <a:t>REFLECTION</a:t>
            </a:r>
            <a:endParaRPr lang="en-US" sz="720" dirty="0"/>
          </a:p>
        </p:txBody>
      </p:sp>
      <p:sp>
        <p:nvSpPr>
          <p:cNvPr id="24" name="Shape 22"/>
          <p:cNvSpPr/>
          <p:nvPr/>
        </p:nvSpPr>
        <p:spPr>
          <a:xfrm>
            <a:off x="1828800" y="3730752"/>
            <a:ext cx="548640" cy="91"/>
          </a:xfrm>
          <a:prstGeom prst="line">
            <a:avLst/>
          </a:prstGeom>
          <a:noFill/>
          <a:ln w="10160">
            <a:solidFill>
              <a:srgbClr val="C2A05F"/>
            </a:solidFill>
            <a:prstDash val="solid"/>
            <a:headEnd type="none"/>
            <a:tailEnd type="none"/>
          </a:ln>
        </p:spPr>
      </p:sp>
      <p:sp>
        <p:nvSpPr>
          <p:cNvPr id="25" name="Shape 23"/>
          <p:cNvSpPr/>
          <p:nvPr/>
        </p:nvSpPr>
        <p:spPr>
          <a:xfrm>
            <a:off x="822960" y="4041648"/>
            <a:ext cx="3319272" cy="1627632"/>
          </a:xfrm>
          <a:prstGeom prst="roundRect">
            <a:avLst>
              <a:gd name="adj" fmla="val 631"/>
            </a:avLst>
          </a:prstGeom>
          <a:solidFill>
            <a:srgbClr val="FCF8EF"/>
          </a:solidFill>
          <a:ln w="6350">
            <a:solidFill>
              <a:srgbClr val="D9CDB7"/>
            </a:solidFill>
            <a:prstDash val="solid"/>
          </a:ln>
        </p:spPr>
      </p:sp>
      <p:sp>
        <p:nvSpPr>
          <p:cNvPr id="26" name="Text 24"/>
          <p:cNvSpPr txBox="1"/>
          <p:nvPr/>
        </p:nvSpPr>
        <p:spPr>
          <a:xfrm>
            <a:off x="102412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27" name="Text 25"/>
          <p:cNvSpPr txBox="1"/>
          <p:nvPr/>
        </p:nvSpPr>
        <p:spPr>
          <a:xfrm>
            <a:off x="1024128" y="4443984"/>
            <a:ext cx="2916936" cy="448666"/>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is the presenting problem — and what might it be a</a:t>
            </a:r>
            <a:endParaRPr lang="en-US" sz="920" dirty="0"/>
          </a:p>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solution to?</a:t>
            </a:r>
            <a:endParaRPr lang="en-US" sz="920" dirty="0"/>
          </a:p>
        </p:txBody>
      </p:sp>
      <p:sp>
        <p:nvSpPr>
          <p:cNvPr id="28" name="Shape 26"/>
          <p:cNvSpPr/>
          <p:nvPr/>
        </p:nvSpPr>
        <p:spPr>
          <a:xfrm>
            <a:off x="1024128" y="5248656"/>
            <a:ext cx="2916936" cy="91"/>
          </a:xfrm>
          <a:prstGeom prst="line">
            <a:avLst/>
          </a:prstGeom>
          <a:noFill/>
          <a:ln w="3810">
            <a:solidFill>
              <a:srgbClr val="D9CDB7">
                <a:alpha val="75000"/>
              </a:srgbClr>
            </a:solidFill>
            <a:prstDash val="sysDot"/>
            <a:headEnd type="none"/>
            <a:tailEnd type="none"/>
          </a:ln>
        </p:spPr>
      </p:sp>
      <p:sp>
        <p:nvSpPr>
          <p:cNvPr id="29" name="Shape 27"/>
          <p:cNvSpPr/>
          <p:nvPr/>
        </p:nvSpPr>
        <p:spPr>
          <a:xfrm>
            <a:off x="1024128" y="5468112"/>
            <a:ext cx="2916936" cy="91"/>
          </a:xfrm>
          <a:prstGeom prst="line">
            <a:avLst/>
          </a:prstGeom>
          <a:noFill/>
          <a:ln w="3810">
            <a:solidFill>
              <a:srgbClr val="D9CDB7">
                <a:alpha val="75000"/>
              </a:srgbClr>
            </a:solidFill>
            <a:prstDash val="sysDot"/>
            <a:headEnd type="none"/>
            <a:tailEnd type="none"/>
          </a:ln>
        </p:spPr>
      </p:sp>
      <p:sp>
        <p:nvSpPr>
          <p:cNvPr id="30" name="Shape 28"/>
          <p:cNvSpPr/>
          <p:nvPr/>
        </p:nvSpPr>
        <p:spPr>
          <a:xfrm>
            <a:off x="4434840" y="4041648"/>
            <a:ext cx="3319272" cy="1627632"/>
          </a:xfrm>
          <a:prstGeom prst="roundRect">
            <a:avLst>
              <a:gd name="adj" fmla="val 631"/>
            </a:avLst>
          </a:prstGeom>
          <a:solidFill>
            <a:srgbClr val="FCF8EF"/>
          </a:solidFill>
          <a:ln w="6350">
            <a:solidFill>
              <a:srgbClr val="D9CDB7"/>
            </a:solidFill>
            <a:prstDash val="solid"/>
          </a:ln>
        </p:spPr>
      </p:sp>
      <p:sp>
        <p:nvSpPr>
          <p:cNvPr id="31" name="Text 29"/>
          <p:cNvSpPr txBox="1"/>
          <p:nvPr/>
        </p:nvSpPr>
        <p:spPr>
          <a:xfrm>
            <a:off x="463600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32" name="Text 30"/>
          <p:cNvSpPr txBox="1"/>
          <p:nvPr/>
        </p:nvSpPr>
        <p:spPr>
          <a:xfrm>
            <a:off x="4636008" y="4443984"/>
            <a:ext cx="2916936" cy="448666"/>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Who is absent from the room, and what does their absence</a:t>
            </a:r>
            <a:endParaRPr lang="en-US" sz="920" dirty="0"/>
          </a:p>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do?</a:t>
            </a:r>
            <a:endParaRPr lang="en-US" sz="920" dirty="0"/>
          </a:p>
        </p:txBody>
      </p:sp>
      <p:sp>
        <p:nvSpPr>
          <p:cNvPr id="33" name="Shape 31"/>
          <p:cNvSpPr/>
          <p:nvPr/>
        </p:nvSpPr>
        <p:spPr>
          <a:xfrm>
            <a:off x="4636008" y="5248656"/>
            <a:ext cx="2916936" cy="91"/>
          </a:xfrm>
          <a:prstGeom prst="line">
            <a:avLst/>
          </a:prstGeom>
          <a:noFill/>
          <a:ln w="3810">
            <a:solidFill>
              <a:srgbClr val="D9CDB7">
                <a:alpha val="75000"/>
              </a:srgbClr>
            </a:solidFill>
            <a:prstDash val="sysDot"/>
            <a:headEnd type="none"/>
            <a:tailEnd type="none"/>
          </a:ln>
        </p:spPr>
      </p:sp>
      <p:sp>
        <p:nvSpPr>
          <p:cNvPr id="34" name="Shape 32"/>
          <p:cNvSpPr/>
          <p:nvPr/>
        </p:nvSpPr>
        <p:spPr>
          <a:xfrm>
            <a:off x="4636008" y="5468112"/>
            <a:ext cx="2916936" cy="91"/>
          </a:xfrm>
          <a:prstGeom prst="line">
            <a:avLst/>
          </a:prstGeom>
          <a:noFill/>
          <a:ln w="3810">
            <a:solidFill>
              <a:srgbClr val="D9CDB7">
                <a:alpha val="75000"/>
              </a:srgbClr>
            </a:solidFill>
            <a:prstDash val="sysDot"/>
            <a:headEnd type="none"/>
            <a:tailEnd type="none"/>
          </a:ln>
        </p:spPr>
      </p:sp>
      <p:sp>
        <p:nvSpPr>
          <p:cNvPr id="35" name="Shape 33"/>
          <p:cNvSpPr/>
          <p:nvPr/>
        </p:nvSpPr>
        <p:spPr>
          <a:xfrm>
            <a:off x="8046720" y="4041648"/>
            <a:ext cx="3319272" cy="1627632"/>
          </a:xfrm>
          <a:prstGeom prst="roundRect">
            <a:avLst>
              <a:gd name="adj" fmla="val 631"/>
            </a:avLst>
          </a:prstGeom>
          <a:solidFill>
            <a:srgbClr val="FCF8EF"/>
          </a:solidFill>
          <a:ln w="6350">
            <a:solidFill>
              <a:srgbClr val="D9CDB7"/>
            </a:solidFill>
            <a:prstDash val="solid"/>
          </a:ln>
        </p:spPr>
      </p:sp>
      <p:sp>
        <p:nvSpPr>
          <p:cNvPr id="36" name="Text 34"/>
          <p:cNvSpPr txBox="1"/>
          <p:nvPr/>
        </p:nvSpPr>
        <p:spPr>
          <a:xfrm>
            <a:off x="824788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7" name="Text 35"/>
          <p:cNvSpPr txBox="1"/>
          <p:nvPr/>
        </p:nvSpPr>
        <p:spPr>
          <a:xfrm>
            <a:off x="824788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would you need to ask before forming a hypothesis?</a:t>
            </a:r>
            <a:endParaRPr lang="en-US" sz="920" dirty="0"/>
          </a:p>
        </p:txBody>
      </p:sp>
      <p:sp>
        <p:nvSpPr>
          <p:cNvPr id="38" name="Shape 36"/>
          <p:cNvSpPr/>
          <p:nvPr/>
        </p:nvSpPr>
        <p:spPr>
          <a:xfrm>
            <a:off x="8247888" y="5248656"/>
            <a:ext cx="2916936" cy="91"/>
          </a:xfrm>
          <a:prstGeom prst="line">
            <a:avLst/>
          </a:prstGeom>
          <a:noFill/>
          <a:ln w="3810">
            <a:solidFill>
              <a:srgbClr val="D9CDB7">
                <a:alpha val="75000"/>
              </a:srgbClr>
            </a:solidFill>
            <a:prstDash val="sysDot"/>
            <a:headEnd type="none"/>
            <a:tailEnd type="none"/>
          </a:ln>
        </p:spPr>
      </p:sp>
      <p:sp>
        <p:nvSpPr>
          <p:cNvPr id="39" name="Shape 37"/>
          <p:cNvSpPr/>
          <p:nvPr/>
        </p:nvSpPr>
        <p:spPr>
          <a:xfrm>
            <a:off x="8247888" y="5468112"/>
            <a:ext cx="2916936" cy="91"/>
          </a:xfrm>
          <a:prstGeom prst="line">
            <a:avLst/>
          </a:prstGeom>
          <a:noFill/>
          <a:ln w="3810">
            <a:solidFill>
              <a:srgbClr val="D9CDB7">
                <a:alpha val="75000"/>
              </a:srgbClr>
            </a:solidFill>
            <a:prstDash val="sysDot"/>
            <a:headEnd type="none"/>
            <a:tailEnd type="none"/>
          </a:ln>
        </p:spPr>
      </p:sp>
      <p:sp>
        <p:nvSpPr>
          <p:cNvPr id="40" name="Text 38"/>
          <p:cNvSpPr txBox="1"/>
          <p:nvPr/>
        </p:nvSpPr>
        <p:spPr>
          <a:xfrm>
            <a:off x="822960" y="5742432"/>
            <a:ext cx="9875520" cy="244729"/>
          </a:xfrm>
          <a:prstGeom prst="rect">
            <a:avLst/>
          </a:prstGeom>
          <a:noFill/>
          <a:ln/>
        </p:spPr>
        <p:txBody>
          <a:bodyPr wrap="square" lIns="0" tIns="0" rIns="0" bIns="0" rtlCol="0" anchor="t"/>
          <a:lstStyle/>
          <a:p>
            <a:pPr algn="l" indent="0" marL="0">
              <a:lnSpc>
                <a:spcPts val="1107"/>
              </a:lnSpc>
              <a:buNone/>
            </a:pPr>
            <a:r>
              <a:rPr lang="en-US" sz="820" i="1" dirty="0">
                <a:solidFill>
                  <a:srgbClr val="8B8375"/>
                </a:solidFill>
                <a:latin typeface="Calibri" pitchFamily="34" charset="0"/>
                <a:ea typeface="Calibri" pitchFamily="34" charset="-122"/>
                <a:cs typeface="Calibri" pitchFamily="34" charset="-120"/>
              </a:rPr>
              <a:t>Discuss in seminar · bring one formulation to supervision.</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02 · PHASE I — FOUNDATIONS</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02</a:t>
            </a:r>
            <a:endParaRPr lang="en-US" sz="25000" dirty="0"/>
          </a:p>
        </p:txBody>
      </p:sp>
      <p:sp>
        <p:nvSpPr>
          <p:cNvPr id="4" name="Text 2"/>
          <p:cNvSpPr txBox="1"/>
          <p:nvPr/>
        </p:nvSpPr>
        <p:spPr>
          <a:xfrm>
            <a:off x="822960" y="1572768"/>
            <a:ext cx="7589520" cy="104013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Cybernetics and the Systemic Lens</a:t>
            </a:r>
            <a:endParaRPr lang="en-US" sz="3900" dirty="0"/>
          </a:p>
        </p:txBody>
      </p:sp>
      <p:sp>
        <p:nvSpPr>
          <p:cNvPr id="5" name="Shape 3"/>
          <p:cNvSpPr/>
          <p:nvPr/>
        </p:nvSpPr>
        <p:spPr>
          <a:xfrm>
            <a:off x="822960" y="231876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255651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2775966"/>
            <a:ext cx="7223760" cy="755904"/>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What kind of explanation does a system require — and what kind of cause is a</a:t>
            </a:r>
            <a:endParaRPr lang="en-US" sz="1550" dirty="0"/>
          </a:p>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pattern?</a:t>
            </a:r>
            <a:endParaRPr lang="en-US" sz="1550" dirty="0"/>
          </a:p>
        </p:txBody>
      </p:sp>
      <p:sp>
        <p:nvSpPr>
          <p:cNvPr id="8" name="Shape 6"/>
          <p:cNvSpPr/>
          <p:nvPr/>
        </p:nvSpPr>
        <p:spPr>
          <a:xfrm>
            <a:off x="822960" y="3645916"/>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3792220"/>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3984244"/>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From cause to loop</a:t>
            </a:r>
            <a:endParaRPr lang="en-US" sz="850" dirty="0"/>
          </a:p>
        </p:txBody>
      </p:sp>
      <p:sp>
        <p:nvSpPr>
          <p:cNvPr id="11" name="Text 9"/>
          <p:cNvSpPr txBox="1"/>
          <p:nvPr/>
        </p:nvSpPr>
        <p:spPr>
          <a:xfrm>
            <a:off x="3282696" y="3792220"/>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3984244"/>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sequence is the unit of analysis</a:t>
            </a:r>
            <a:endParaRPr lang="en-US" sz="850" dirty="0"/>
          </a:p>
        </p:txBody>
      </p:sp>
      <p:sp>
        <p:nvSpPr>
          <p:cNvPr id="13" name="Text 11"/>
          <p:cNvSpPr txBox="1"/>
          <p:nvPr/>
        </p:nvSpPr>
        <p:spPr>
          <a:xfrm>
            <a:off x="5742432" y="3792220"/>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SEMINAR</a:t>
            </a:r>
            <a:endParaRPr lang="en-US" sz="620" dirty="0"/>
          </a:p>
        </p:txBody>
      </p:sp>
      <p:sp>
        <p:nvSpPr>
          <p:cNvPr id="14" name="Text 12"/>
          <p:cNvSpPr txBox="1"/>
          <p:nvPr/>
        </p:nvSpPr>
        <p:spPr>
          <a:xfrm>
            <a:off x="5742432" y="3984244"/>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Punctuating a familiar argument</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Explain negative and positive feedback in family</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interaction.</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Distinguish first-order from second-order</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cybernetics.</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Use punctuation to reframe a presenting complaint.</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feedback · homeostasis · circular causality · punctuation · second-order cybernetics</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Watzlawick, Beavin &amp; Jackson (1967), ch. 1–2 · Bateson (1972), “Cybernetics of self”</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59992" y="5696712"/>
            <a:ext cx="128016" cy="128016"/>
          </a:xfrm>
          <a:prstGeom prst="ellipse">
            <a:avLst/>
          </a:prstGeom>
          <a:solidFill>
            <a:srgbClr val="C2A05F"/>
          </a:solidFill>
          <a:ln w="8890">
            <a:solidFill>
              <a:srgbClr val="E7D3A9"/>
            </a:solidFill>
            <a:prstDash val="solid"/>
          </a:ln>
        </p:spPr>
      </p:sp>
      <p:sp>
        <p:nvSpPr>
          <p:cNvPr id="29" name="Shape 27"/>
          <p:cNvSpPr/>
          <p:nvPr/>
        </p:nvSpPr>
        <p:spPr>
          <a:xfrm>
            <a:off x="2195779" y="5731459"/>
            <a:ext cx="58522" cy="58522"/>
          </a:xfrm>
          <a:prstGeom prst="ellipse">
            <a:avLst/>
          </a:prstGeom>
          <a:solidFill>
            <a:srgbClr val="1E1913"/>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1E1913"/>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1E1913"/>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1E1913"/>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1E1913"/>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1E1913"/>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1E1913"/>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1E1913"/>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1E1913"/>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1E1913"/>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1E1913"/>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1E1913"/>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02 · LECTURE 02</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13</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From cause to loop</a:t>
            </a:r>
            <a:endParaRPr lang="en-US" sz="2800" dirty="0"/>
          </a:p>
        </p:txBody>
      </p:sp>
      <p:sp>
        <p:nvSpPr>
          <p:cNvPr id="9" name="Text 7"/>
          <p:cNvSpPr txBox="1"/>
          <p:nvPr/>
        </p:nvSpPr>
        <p:spPr>
          <a:xfrm>
            <a:off x="822960" y="1486408"/>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Cybernetics gave family therapy its grammar: systems are defined by information fed back into them, not by a single cause</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acting from outside.</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FEEDBACK</a:t>
            </a:r>
            <a:endParaRPr lang="en-US" sz="750" dirty="0"/>
          </a:p>
        </p:txBody>
      </p:sp>
      <p:sp>
        <p:nvSpPr>
          <p:cNvPr id="13" name="Text 11"/>
          <p:cNvSpPr txBox="1"/>
          <p:nvPr/>
        </p:nvSpPr>
        <p:spPr>
          <a:xfrm>
            <a:off x="82296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Negative feedback maintains a set point; positive feedback amplifies</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deviation. Both are orderly — and both can hold a symptom in place.</a:t>
            </a:r>
            <a:endParaRPr lang="en-US" sz="900" dirty="0"/>
          </a:p>
        </p:txBody>
      </p:sp>
      <p:sp>
        <p:nvSpPr>
          <p:cNvPr id="14" name="Shape 12"/>
          <p:cNvSpPr/>
          <p:nvPr/>
        </p:nvSpPr>
        <p:spPr>
          <a:xfrm>
            <a:off x="822960" y="3364992"/>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A thermostat corrects deviation</a:t>
            </a:r>
            <a:endParaRPr lang="en-US" sz="880" dirty="0"/>
          </a:p>
        </p:txBody>
      </p:sp>
      <p:sp>
        <p:nvSpPr>
          <p:cNvPr id="16" name="Shape 14"/>
          <p:cNvSpPr/>
          <p:nvPr/>
        </p:nvSpPr>
        <p:spPr>
          <a:xfrm>
            <a:off x="822960" y="3610661"/>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An escalating quarrel amplifies it</a:t>
            </a:r>
            <a:endParaRPr lang="en-US" sz="880" dirty="0"/>
          </a:p>
        </p:txBody>
      </p:sp>
      <p:sp>
        <p:nvSpPr>
          <p:cNvPr id="18" name="Shape 16"/>
          <p:cNvSpPr/>
          <p:nvPr/>
        </p:nvSpPr>
        <p:spPr>
          <a:xfrm>
            <a:off x="822960" y="3856330"/>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A symptom can stabilise a system and escalate a conflict</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FIRST AND SECOND ORDER</a:t>
            </a:r>
            <a:endParaRPr lang="en-US" sz="750" dirty="0"/>
          </a:p>
        </p:txBody>
      </p:sp>
      <p:sp>
        <p:nvSpPr>
          <p:cNvPr id="23" name="Text 21"/>
          <p:cNvSpPr txBox="1"/>
          <p:nvPr/>
        </p:nvSpPr>
        <p:spPr>
          <a:xfrm>
            <a:off x="446532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First-order cybernetics assumes an observer outside the system.</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Second-order cybernetics places the observer inside: the therapist is</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part of what they describe.</a:t>
            </a:r>
            <a:endParaRPr lang="en-US" sz="900" dirty="0"/>
          </a:p>
        </p:txBody>
      </p:sp>
      <p:sp>
        <p:nvSpPr>
          <p:cNvPr id="24" name="Shape 22"/>
          <p:cNvSpPr/>
          <p:nvPr/>
        </p:nvSpPr>
        <p:spPr>
          <a:xfrm>
            <a:off x="4465320" y="3529584"/>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Objectivity in parentheses</a:t>
            </a:r>
            <a:endParaRPr lang="en-US" sz="880" dirty="0"/>
          </a:p>
        </p:txBody>
      </p:sp>
      <p:sp>
        <p:nvSpPr>
          <p:cNvPr id="26" name="Shape 24"/>
          <p:cNvSpPr/>
          <p:nvPr/>
        </p:nvSpPr>
        <p:spPr>
          <a:xfrm>
            <a:off x="4465320" y="3775253"/>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The therapist’s presence is data</a:t>
            </a:r>
            <a:endParaRPr lang="en-US" sz="880" dirty="0"/>
          </a:p>
        </p:txBody>
      </p:sp>
      <p:sp>
        <p:nvSpPr>
          <p:cNvPr id="28" name="Shape 26"/>
          <p:cNvSpPr/>
          <p:nvPr/>
        </p:nvSpPr>
        <p:spPr>
          <a:xfrm>
            <a:off x="4465320" y="4020922"/>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Hypotheses are interventions</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PUNCTUATION</a:t>
            </a:r>
            <a:endParaRPr lang="en-US" sz="750" dirty="0"/>
          </a:p>
        </p:txBody>
      </p:sp>
      <p:sp>
        <p:nvSpPr>
          <p:cNvPr id="33" name="Text 31"/>
          <p:cNvSpPr txBox="1"/>
          <p:nvPr/>
        </p:nvSpPr>
        <p:spPr>
          <a:xfrm>
            <a:off x="810768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Members punctuate the same sequence differently: “I shout because</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you withdraw” / “I withdraw because you shout”. Both are true;</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neither is the cause.</a:t>
            </a:r>
            <a:endParaRPr lang="en-US" sz="900" dirty="0"/>
          </a:p>
        </p:txBody>
      </p:sp>
      <p:sp>
        <p:nvSpPr>
          <p:cNvPr id="34" name="Shape 32"/>
          <p:cNvSpPr/>
          <p:nvPr/>
        </p:nvSpPr>
        <p:spPr>
          <a:xfrm>
            <a:off x="8107680" y="3529584"/>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Every punctuation implies a culprit</a:t>
            </a:r>
            <a:endParaRPr lang="en-US" sz="880" dirty="0"/>
          </a:p>
        </p:txBody>
      </p:sp>
      <p:sp>
        <p:nvSpPr>
          <p:cNvPr id="36" name="Shape 34"/>
          <p:cNvSpPr/>
          <p:nvPr/>
        </p:nvSpPr>
        <p:spPr>
          <a:xfrm>
            <a:off x="8107680" y="3775253"/>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Reframing changes the available next move</a:t>
            </a:r>
            <a:endParaRPr lang="en-US" sz="880" dirty="0"/>
          </a:p>
        </p:txBody>
      </p:sp>
      <p:sp>
        <p:nvSpPr>
          <p:cNvPr id="38" name="Shape 36"/>
          <p:cNvSpPr/>
          <p:nvPr/>
        </p:nvSpPr>
        <p:spPr>
          <a:xfrm>
            <a:off x="8107680" y="4020922"/>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The therapist punctuates too</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MATURANA &amp; VARELA</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Objectivity in parentheses</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We cannot observe a system without influencing it. The therapist’s presence is part of the system under</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observation.</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291338"/>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Watzlawick, Beavin &amp; Jackson (1967);</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Bateson (1972).</a:t>
            </a:r>
            <a:endParaRPr lang="en-US" sz="6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02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14</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The sequence is the unit of analysis</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A circular map replaces the question “who started it?” with a more useful question: “what keeps it going?”</a:t>
            </a:r>
            <a:endParaRPr lang="en-US" sz="1060" dirty="0"/>
          </a:p>
        </p:txBody>
      </p:sp>
      <p:sp>
        <p:nvSpPr>
          <p:cNvPr id="10" name="Shape 8"/>
          <p:cNvSpPr/>
          <p:nvPr/>
        </p:nvSpPr>
        <p:spPr>
          <a:xfrm>
            <a:off x="1755648" y="2441448"/>
            <a:ext cx="4937760" cy="2487168"/>
          </a:xfrm>
          <a:prstGeom prst="ellipse">
            <a:avLst/>
          </a:prstGeom>
          <a:solidFill>
            <a:srgbClr val="FFFFFF">
              <a:alpha val="0"/>
            </a:srgbClr>
          </a:solidFill>
          <a:ln w="11430">
            <a:solidFill>
              <a:srgbClr val="C2A05F"/>
            </a:solidFill>
            <a:prstDash val="solid"/>
          </a:ln>
        </p:spPr>
      </p:sp>
      <p:sp>
        <p:nvSpPr>
          <p:cNvPr id="11" name="Shape 9"/>
          <p:cNvSpPr/>
          <p:nvPr/>
        </p:nvSpPr>
        <p:spPr>
          <a:xfrm flipH="1">
            <a:off x="5790627" y="4440974"/>
            <a:ext cx="424658" cy="213902"/>
          </a:xfrm>
          <a:prstGeom prst="line">
            <a:avLst/>
          </a:prstGeom>
          <a:noFill/>
          <a:ln w="11430">
            <a:solidFill>
              <a:srgbClr val="96733C"/>
            </a:solidFill>
            <a:prstDash val="solid"/>
            <a:headEnd type="none"/>
            <a:tailEnd type="triangle"/>
          </a:ln>
        </p:spPr>
      </p:sp>
      <p:sp>
        <p:nvSpPr>
          <p:cNvPr id="12" name="Shape 10"/>
          <p:cNvSpPr/>
          <p:nvPr/>
        </p:nvSpPr>
        <p:spPr>
          <a:xfrm flipH="1" flipV="1">
            <a:off x="2299103" y="4473882"/>
            <a:ext cx="424658" cy="213902"/>
          </a:xfrm>
          <a:prstGeom prst="line">
            <a:avLst/>
          </a:prstGeom>
          <a:noFill/>
          <a:ln w="11430">
            <a:solidFill>
              <a:srgbClr val="96733C"/>
            </a:solidFill>
            <a:prstDash val="solid"/>
            <a:headEnd type="none"/>
            <a:tailEnd type="triangle"/>
          </a:ln>
        </p:spPr>
      </p:sp>
      <p:sp>
        <p:nvSpPr>
          <p:cNvPr id="13" name="Shape 11"/>
          <p:cNvSpPr/>
          <p:nvPr/>
        </p:nvSpPr>
        <p:spPr>
          <a:xfrm flipV="1">
            <a:off x="2233771" y="2715188"/>
            <a:ext cx="424658" cy="213902"/>
          </a:xfrm>
          <a:prstGeom prst="line">
            <a:avLst/>
          </a:prstGeom>
          <a:noFill/>
          <a:ln w="11430">
            <a:solidFill>
              <a:srgbClr val="96733C"/>
            </a:solidFill>
            <a:prstDash val="solid"/>
            <a:headEnd type="none"/>
            <a:tailEnd type="triangle"/>
          </a:ln>
        </p:spPr>
      </p:sp>
      <p:sp>
        <p:nvSpPr>
          <p:cNvPr id="14" name="Shape 12"/>
          <p:cNvSpPr/>
          <p:nvPr/>
        </p:nvSpPr>
        <p:spPr>
          <a:xfrm>
            <a:off x="5725295" y="2682280"/>
            <a:ext cx="424658" cy="213902"/>
          </a:xfrm>
          <a:prstGeom prst="line">
            <a:avLst/>
          </a:prstGeom>
          <a:noFill/>
          <a:ln w="11430">
            <a:solidFill>
              <a:srgbClr val="96733C"/>
            </a:solidFill>
            <a:prstDash val="solid"/>
            <a:headEnd type="none"/>
            <a:tailEnd type="triangle"/>
          </a:ln>
        </p:spPr>
      </p:sp>
      <p:sp>
        <p:nvSpPr>
          <p:cNvPr id="15" name="Shape 13"/>
          <p:cNvSpPr/>
          <p:nvPr/>
        </p:nvSpPr>
        <p:spPr>
          <a:xfrm>
            <a:off x="3191256" y="2029968"/>
            <a:ext cx="2066544" cy="822960"/>
          </a:xfrm>
          <a:prstGeom prst="roundRect">
            <a:avLst>
              <a:gd name="adj" fmla="val 5556"/>
            </a:avLst>
          </a:prstGeom>
          <a:solidFill>
            <a:srgbClr val="FBF7EF"/>
          </a:solidFill>
          <a:ln w="8890">
            <a:solidFill>
              <a:srgbClr val="D9CDB7"/>
            </a:solidFill>
            <a:prstDash val="solid"/>
          </a:ln>
        </p:spPr>
      </p:sp>
      <p:sp>
        <p:nvSpPr>
          <p:cNvPr id="16" name="Text 14"/>
          <p:cNvSpPr txBox="1"/>
          <p:nvPr/>
        </p:nvSpPr>
        <p:spPr>
          <a:xfrm>
            <a:off x="3282696" y="2157984"/>
            <a:ext cx="1883664" cy="334264"/>
          </a:xfrm>
          <a:prstGeom prst="rect">
            <a:avLst/>
          </a:prstGeom>
          <a:noFill/>
          <a:ln/>
        </p:spPr>
        <p:txBody>
          <a:bodyPr wrap="square" lIns="0" tIns="0" rIns="0" bIns="0" rtlCol="0" anchor="t"/>
          <a:lstStyle/>
          <a:p>
            <a:pPr algn="ctr" indent="0" marL="0">
              <a:lnSpc>
                <a:spcPts val="1512"/>
              </a:lnSpc>
              <a:buNone/>
            </a:pPr>
            <a:r>
              <a:rPr lang="en-US" sz="1120" dirty="0">
                <a:solidFill>
                  <a:srgbClr val="1B1815"/>
                </a:solidFill>
                <a:latin typeface="Georgia" pitchFamily="34" charset="0"/>
                <a:ea typeface="Georgia" pitchFamily="34" charset="-122"/>
                <a:cs typeface="Georgia" pitchFamily="34" charset="-120"/>
              </a:rPr>
              <a:t>Presenting concern</a:t>
            </a:r>
            <a:endParaRPr lang="en-US" sz="1120" dirty="0"/>
          </a:p>
        </p:txBody>
      </p:sp>
      <p:sp>
        <p:nvSpPr>
          <p:cNvPr id="17" name="Text 15"/>
          <p:cNvSpPr txBox="1"/>
          <p:nvPr/>
        </p:nvSpPr>
        <p:spPr>
          <a:xfrm>
            <a:off x="3282696" y="2468880"/>
            <a:ext cx="1883664" cy="224917"/>
          </a:xfrm>
          <a:prstGeom prst="rect">
            <a:avLst/>
          </a:prstGeom>
          <a:noFill/>
          <a:ln/>
        </p:spPr>
        <p:txBody>
          <a:bodyPr wrap="square" lIns="0" tIns="0" rIns="0" bIns="0" rtlCol="0" anchor="t"/>
          <a:lstStyle/>
          <a:p>
            <a:pPr algn="ctr" indent="0" marL="0">
              <a:lnSpc>
                <a:spcPts val="1001"/>
              </a:lnSpc>
              <a:buNone/>
            </a:pPr>
            <a:r>
              <a:rPr lang="en-US" sz="770" dirty="0">
                <a:solidFill>
                  <a:srgbClr val="5B544A"/>
                </a:solidFill>
                <a:latin typeface="Calibri" pitchFamily="34" charset="0"/>
                <a:ea typeface="Calibri" pitchFamily="34" charset="-122"/>
                <a:cs typeface="Calibri" pitchFamily="34" charset="-120"/>
              </a:rPr>
              <a:t>a son withdraws, a daughter rebels</a:t>
            </a:r>
            <a:endParaRPr lang="en-US" sz="770" dirty="0"/>
          </a:p>
        </p:txBody>
      </p:sp>
      <p:sp>
        <p:nvSpPr>
          <p:cNvPr id="18" name="Shape 16"/>
          <p:cNvSpPr/>
          <p:nvPr/>
        </p:nvSpPr>
        <p:spPr>
          <a:xfrm>
            <a:off x="5660136" y="3273552"/>
            <a:ext cx="2066544" cy="822960"/>
          </a:xfrm>
          <a:prstGeom prst="roundRect">
            <a:avLst>
              <a:gd name="adj" fmla="val 5556"/>
            </a:avLst>
          </a:prstGeom>
          <a:solidFill>
            <a:srgbClr val="FBF7EF"/>
          </a:solidFill>
          <a:ln w="8890">
            <a:solidFill>
              <a:srgbClr val="D9CDB7"/>
            </a:solidFill>
            <a:prstDash val="solid"/>
          </a:ln>
        </p:spPr>
      </p:sp>
      <p:sp>
        <p:nvSpPr>
          <p:cNvPr id="19" name="Text 17"/>
          <p:cNvSpPr txBox="1"/>
          <p:nvPr/>
        </p:nvSpPr>
        <p:spPr>
          <a:xfrm>
            <a:off x="5751576" y="3401568"/>
            <a:ext cx="1883664" cy="334264"/>
          </a:xfrm>
          <a:prstGeom prst="rect">
            <a:avLst/>
          </a:prstGeom>
          <a:noFill/>
          <a:ln/>
        </p:spPr>
        <p:txBody>
          <a:bodyPr wrap="square" lIns="0" tIns="0" rIns="0" bIns="0" rtlCol="0" anchor="t"/>
          <a:lstStyle/>
          <a:p>
            <a:pPr algn="ctr" indent="0" marL="0">
              <a:lnSpc>
                <a:spcPts val="1512"/>
              </a:lnSpc>
              <a:buNone/>
            </a:pPr>
            <a:r>
              <a:rPr lang="en-US" sz="1120" dirty="0">
                <a:solidFill>
                  <a:srgbClr val="1B1815"/>
                </a:solidFill>
                <a:latin typeface="Georgia" pitchFamily="34" charset="0"/>
                <a:ea typeface="Georgia" pitchFamily="34" charset="-122"/>
                <a:cs typeface="Georgia" pitchFamily="34" charset="-120"/>
              </a:rPr>
              <a:t>Family response</a:t>
            </a:r>
            <a:endParaRPr lang="en-US" sz="1120" dirty="0"/>
          </a:p>
        </p:txBody>
      </p:sp>
      <p:sp>
        <p:nvSpPr>
          <p:cNvPr id="20" name="Text 18"/>
          <p:cNvSpPr txBox="1"/>
          <p:nvPr/>
        </p:nvSpPr>
        <p:spPr>
          <a:xfrm>
            <a:off x="5751576" y="3712464"/>
            <a:ext cx="1883664" cy="224917"/>
          </a:xfrm>
          <a:prstGeom prst="rect">
            <a:avLst/>
          </a:prstGeom>
          <a:noFill/>
          <a:ln/>
        </p:spPr>
        <p:txBody>
          <a:bodyPr wrap="square" lIns="0" tIns="0" rIns="0" bIns="0" rtlCol="0" anchor="t"/>
          <a:lstStyle/>
          <a:p>
            <a:pPr algn="ctr" indent="0" marL="0">
              <a:lnSpc>
                <a:spcPts val="1001"/>
              </a:lnSpc>
              <a:buNone/>
            </a:pPr>
            <a:r>
              <a:rPr lang="en-US" sz="770" dirty="0">
                <a:solidFill>
                  <a:srgbClr val="5B544A"/>
                </a:solidFill>
                <a:latin typeface="Calibri" pitchFamily="34" charset="0"/>
                <a:ea typeface="Calibri" pitchFamily="34" charset="-122"/>
                <a:cs typeface="Calibri" pitchFamily="34" charset="-120"/>
              </a:rPr>
              <a:t>worry, monitoring, criticism</a:t>
            </a:r>
            <a:endParaRPr lang="en-US" sz="770" dirty="0"/>
          </a:p>
        </p:txBody>
      </p:sp>
      <p:sp>
        <p:nvSpPr>
          <p:cNvPr id="21" name="Shape 19"/>
          <p:cNvSpPr/>
          <p:nvPr/>
        </p:nvSpPr>
        <p:spPr>
          <a:xfrm>
            <a:off x="3191256" y="4517136"/>
            <a:ext cx="2066544" cy="822960"/>
          </a:xfrm>
          <a:prstGeom prst="roundRect">
            <a:avLst>
              <a:gd name="adj" fmla="val 5556"/>
            </a:avLst>
          </a:prstGeom>
          <a:solidFill>
            <a:srgbClr val="FBF7EF"/>
          </a:solidFill>
          <a:ln w="8890">
            <a:solidFill>
              <a:srgbClr val="D9CDB7"/>
            </a:solidFill>
            <a:prstDash val="solid"/>
          </a:ln>
        </p:spPr>
      </p:sp>
      <p:sp>
        <p:nvSpPr>
          <p:cNvPr id="22" name="Text 20"/>
          <p:cNvSpPr txBox="1"/>
          <p:nvPr/>
        </p:nvSpPr>
        <p:spPr>
          <a:xfrm>
            <a:off x="3282696" y="4645152"/>
            <a:ext cx="1883664" cy="334264"/>
          </a:xfrm>
          <a:prstGeom prst="rect">
            <a:avLst/>
          </a:prstGeom>
          <a:noFill/>
          <a:ln/>
        </p:spPr>
        <p:txBody>
          <a:bodyPr wrap="square" lIns="0" tIns="0" rIns="0" bIns="0" rtlCol="0" anchor="t"/>
          <a:lstStyle/>
          <a:p>
            <a:pPr algn="ctr" indent="0" marL="0">
              <a:lnSpc>
                <a:spcPts val="1512"/>
              </a:lnSpc>
              <a:buNone/>
            </a:pPr>
            <a:r>
              <a:rPr lang="en-US" sz="1120" dirty="0">
                <a:solidFill>
                  <a:srgbClr val="1B1815"/>
                </a:solidFill>
                <a:latin typeface="Georgia" pitchFamily="34" charset="0"/>
                <a:ea typeface="Georgia" pitchFamily="34" charset="-122"/>
                <a:cs typeface="Georgia" pitchFamily="34" charset="-120"/>
              </a:rPr>
              <a:t>Escalating meaning</a:t>
            </a:r>
            <a:endParaRPr lang="en-US" sz="1120" dirty="0"/>
          </a:p>
        </p:txBody>
      </p:sp>
      <p:sp>
        <p:nvSpPr>
          <p:cNvPr id="23" name="Text 21"/>
          <p:cNvSpPr txBox="1"/>
          <p:nvPr/>
        </p:nvSpPr>
        <p:spPr>
          <a:xfrm>
            <a:off x="3282696" y="4956048"/>
            <a:ext cx="1883664" cy="224917"/>
          </a:xfrm>
          <a:prstGeom prst="rect">
            <a:avLst/>
          </a:prstGeom>
          <a:noFill/>
          <a:ln/>
        </p:spPr>
        <p:txBody>
          <a:bodyPr wrap="square" lIns="0" tIns="0" rIns="0" bIns="0" rtlCol="0" anchor="t"/>
          <a:lstStyle/>
          <a:p>
            <a:pPr algn="ctr" indent="0" marL="0">
              <a:lnSpc>
                <a:spcPts val="1001"/>
              </a:lnSpc>
              <a:buNone/>
            </a:pPr>
            <a:r>
              <a:rPr lang="en-US" sz="770" dirty="0">
                <a:solidFill>
                  <a:srgbClr val="5B544A"/>
                </a:solidFill>
                <a:latin typeface="Calibri" pitchFamily="34" charset="0"/>
                <a:ea typeface="Calibri" pitchFamily="34" charset="-122"/>
                <a:cs typeface="Calibri" pitchFamily="34" charset="-120"/>
              </a:rPr>
              <a:t>“he is defiant” · “she is cold”</a:t>
            </a:r>
            <a:endParaRPr lang="en-US" sz="770" dirty="0"/>
          </a:p>
        </p:txBody>
      </p:sp>
      <p:sp>
        <p:nvSpPr>
          <p:cNvPr id="24" name="Shape 22"/>
          <p:cNvSpPr/>
          <p:nvPr/>
        </p:nvSpPr>
        <p:spPr>
          <a:xfrm>
            <a:off x="722376" y="3273552"/>
            <a:ext cx="2066544" cy="822960"/>
          </a:xfrm>
          <a:prstGeom prst="roundRect">
            <a:avLst>
              <a:gd name="adj" fmla="val 5556"/>
            </a:avLst>
          </a:prstGeom>
          <a:solidFill>
            <a:srgbClr val="FBF7EF"/>
          </a:solidFill>
          <a:ln w="8890">
            <a:solidFill>
              <a:srgbClr val="D9CDB7"/>
            </a:solidFill>
            <a:prstDash val="solid"/>
          </a:ln>
        </p:spPr>
      </p:sp>
      <p:sp>
        <p:nvSpPr>
          <p:cNvPr id="25" name="Text 23"/>
          <p:cNvSpPr txBox="1"/>
          <p:nvPr/>
        </p:nvSpPr>
        <p:spPr>
          <a:xfrm>
            <a:off x="813816" y="3401568"/>
            <a:ext cx="1883664" cy="334264"/>
          </a:xfrm>
          <a:prstGeom prst="rect">
            <a:avLst/>
          </a:prstGeom>
          <a:noFill/>
          <a:ln/>
        </p:spPr>
        <p:txBody>
          <a:bodyPr wrap="square" lIns="0" tIns="0" rIns="0" bIns="0" rtlCol="0" anchor="t"/>
          <a:lstStyle/>
          <a:p>
            <a:pPr algn="ctr" indent="0" marL="0">
              <a:lnSpc>
                <a:spcPts val="1512"/>
              </a:lnSpc>
              <a:buNone/>
            </a:pPr>
            <a:r>
              <a:rPr lang="en-US" sz="1120" dirty="0">
                <a:solidFill>
                  <a:srgbClr val="1B1815"/>
                </a:solidFill>
                <a:latin typeface="Georgia" pitchFamily="34" charset="0"/>
                <a:ea typeface="Georgia" pitchFamily="34" charset="-122"/>
                <a:cs typeface="Georgia" pitchFamily="34" charset="-120"/>
              </a:rPr>
              <a:t>Attempted solution</a:t>
            </a:r>
            <a:endParaRPr lang="en-US" sz="1120" dirty="0"/>
          </a:p>
        </p:txBody>
      </p:sp>
      <p:sp>
        <p:nvSpPr>
          <p:cNvPr id="26" name="Text 24"/>
          <p:cNvSpPr txBox="1"/>
          <p:nvPr/>
        </p:nvSpPr>
        <p:spPr>
          <a:xfrm>
            <a:off x="813816" y="3712464"/>
            <a:ext cx="1883664" cy="224917"/>
          </a:xfrm>
          <a:prstGeom prst="rect">
            <a:avLst/>
          </a:prstGeom>
          <a:noFill/>
          <a:ln/>
        </p:spPr>
        <p:txBody>
          <a:bodyPr wrap="square" lIns="0" tIns="0" rIns="0" bIns="0" rtlCol="0" anchor="t"/>
          <a:lstStyle/>
          <a:p>
            <a:pPr algn="ctr" indent="0" marL="0">
              <a:lnSpc>
                <a:spcPts val="1001"/>
              </a:lnSpc>
              <a:buNone/>
            </a:pPr>
            <a:r>
              <a:rPr lang="en-US" sz="770" dirty="0">
                <a:solidFill>
                  <a:srgbClr val="5B544A"/>
                </a:solidFill>
                <a:latin typeface="Calibri" pitchFamily="34" charset="0"/>
                <a:ea typeface="Calibri" pitchFamily="34" charset="-122"/>
                <a:cs typeface="Calibri" pitchFamily="34" charset="-120"/>
              </a:rPr>
              <a:t>more of the same — firmer, louder</a:t>
            </a:r>
            <a:endParaRPr lang="en-US" sz="770" dirty="0"/>
          </a:p>
        </p:txBody>
      </p:sp>
      <p:sp>
        <p:nvSpPr>
          <p:cNvPr id="27" name="Text 25"/>
          <p:cNvSpPr txBox="1"/>
          <p:nvPr/>
        </p:nvSpPr>
        <p:spPr>
          <a:xfrm>
            <a:off x="3264408" y="3465576"/>
            <a:ext cx="1920240" cy="214884"/>
          </a:xfrm>
          <a:prstGeom prst="rect">
            <a:avLst/>
          </a:prstGeom>
          <a:noFill/>
          <a:ln/>
        </p:spPr>
        <p:txBody>
          <a:bodyPr wrap="square" lIns="0" tIns="0" rIns="0" bIns="0" rtlCol="0" anchor="t"/>
          <a:lstStyle/>
          <a:p>
            <a:pPr algn="ctr" indent="0" marL="0">
              <a:lnSpc>
                <a:spcPts val="972"/>
              </a:lnSpc>
              <a:buNone/>
            </a:pPr>
            <a:r>
              <a:rPr lang="en-US" sz="720" b="1" spc="190" kern="0" dirty="0">
                <a:solidFill>
                  <a:srgbClr val="96733C"/>
                </a:solidFill>
                <a:latin typeface="Calibri" pitchFamily="34" charset="0"/>
                <a:ea typeface="Calibri" pitchFamily="34" charset="-122"/>
                <a:cs typeface="Calibri" pitchFamily="34" charset="-120"/>
              </a:rPr>
              <a:t>CIRCULAR CAUSALITY</a:t>
            </a:r>
            <a:endParaRPr lang="en-US" sz="720" dirty="0"/>
          </a:p>
        </p:txBody>
      </p:sp>
      <p:sp>
        <p:nvSpPr>
          <p:cNvPr id="28" name="Text 26"/>
          <p:cNvSpPr txBox="1"/>
          <p:nvPr/>
        </p:nvSpPr>
        <p:spPr>
          <a:xfrm>
            <a:off x="3310128" y="3703320"/>
            <a:ext cx="1828800" cy="374904"/>
          </a:xfrm>
          <a:prstGeom prst="rect">
            <a:avLst/>
          </a:prstGeom>
          <a:noFill/>
          <a:ln/>
        </p:spPr>
        <p:txBody>
          <a:bodyPr wrap="square" lIns="0" tIns="0" rIns="0" bIns="0" rtlCol="0" anchor="t"/>
          <a:lstStyle/>
          <a:p>
            <a:pPr algn="ctr" indent="0" marL="0">
              <a:lnSpc>
                <a:spcPts val="1066"/>
              </a:lnSpc>
              <a:buNone/>
            </a:pPr>
            <a:r>
              <a:rPr lang="en-US" sz="820" i="1" dirty="0">
                <a:solidFill>
                  <a:srgbClr val="5B544A"/>
                </a:solidFill>
                <a:latin typeface="Calibri" pitchFamily="34" charset="0"/>
                <a:ea typeface="Calibri" pitchFamily="34" charset="-122"/>
                <a:cs typeface="Calibri" pitchFamily="34" charset="-120"/>
              </a:rPr>
              <a:t>The sequence — not the person — is the</a:t>
            </a:r>
            <a:endParaRPr lang="en-US" sz="820" dirty="0"/>
          </a:p>
          <a:p>
            <a:pPr algn="ctr" indent="0" marL="0">
              <a:lnSpc>
                <a:spcPts val="1066"/>
              </a:lnSpc>
              <a:buNone/>
            </a:pPr>
            <a:r>
              <a:rPr lang="en-US" sz="820" i="1" dirty="0">
                <a:solidFill>
                  <a:srgbClr val="5B544A"/>
                </a:solidFill>
                <a:latin typeface="Calibri" pitchFamily="34" charset="0"/>
                <a:ea typeface="Calibri" pitchFamily="34" charset="-122"/>
                <a:cs typeface="Calibri" pitchFamily="34" charset="-120"/>
              </a:rPr>
              <a:t>unit of analysis.</a:t>
            </a:r>
            <a:endParaRPr lang="en-US" sz="820" dirty="0"/>
          </a:p>
        </p:txBody>
      </p:sp>
      <p:sp>
        <p:nvSpPr>
          <p:cNvPr id="29" name="Text 27"/>
          <p:cNvSpPr txBox="1"/>
          <p:nvPr/>
        </p:nvSpPr>
        <p:spPr>
          <a:xfrm>
            <a:off x="8458200" y="2267712"/>
            <a:ext cx="2926080" cy="387985"/>
          </a:xfrm>
          <a:prstGeom prst="rect">
            <a:avLst/>
          </a:prstGeom>
          <a:noFill/>
          <a:ln/>
        </p:spPr>
        <p:txBody>
          <a:bodyPr wrap="square" lIns="0" tIns="0" rIns="0" bIns="0" rtlCol="0" anchor="t"/>
          <a:lstStyle/>
          <a:p>
            <a:pPr algn="l" indent="0" marL="0">
              <a:lnSpc>
                <a:spcPts val="1755"/>
              </a:lnSpc>
              <a:buNone/>
            </a:pPr>
            <a:r>
              <a:rPr lang="en-US" sz="1300" dirty="0">
                <a:solidFill>
                  <a:srgbClr val="1B1815"/>
                </a:solidFill>
                <a:latin typeface="Georgia" pitchFamily="34" charset="0"/>
                <a:ea typeface="Georgia" pitchFamily="34" charset="-122"/>
                <a:cs typeface="Georgia" pitchFamily="34" charset="-120"/>
              </a:rPr>
              <a:t>Punctuation</a:t>
            </a:r>
            <a:endParaRPr lang="en-US" sz="1300" dirty="0"/>
          </a:p>
        </p:txBody>
      </p:sp>
      <p:sp>
        <p:nvSpPr>
          <p:cNvPr id="30" name="Text 28"/>
          <p:cNvSpPr txBox="1"/>
          <p:nvPr/>
        </p:nvSpPr>
        <p:spPr>
          <a:xfrm>
            <a:off x="8458200" y="2596896"/>
            <a:ext cx="2926080" cy="563944"/>
          </a:xfrm>
          <a:prstGeom prst="rect">
            <a:avLst/>
          </a:prstGeom>
          <a:noFill/>
          <a:ln/>
        </p:spPr>
        <p:txBody>
          <a:bodyPr wrap="square" lIns="0" tIns="0" rIns="0" bIns="0" rtlCol="0" anchor="t"/>
          <a:lstStyle/>
          <a:p>
            <a:pPr algn="l" indent="0" marL="0">
              <a:lnSpc>
                <a:spcPts val="1204"/>
              </a:lnSpc>
              <a:buNone/>
            </a:pPr>
            <a:r>
              <a:rPr lang="en-US" sz="830" dirty="0">
                <a:solidFill>
                  <a:srgbClr val="5B544A"/>
                </a:solidFill>
                <a:latin typeface="Calibri" pitchFamily="34" charset="0"/>
                <a:ea typeface="Calibri" pitchFamily="34" charset="-122"/>
                <a:cs typeface="Calibri" pitchFamily="34" charset="-120"/>
              </a:rPr>
              <a:t>Each member sees their own response as reasonable and the</a:t>
            </a:r>
            <a:endParaRPr lang="en-US" sz="830" dirty="0"/>
          </a:p>
          <a:p>
            <a:pPr algn="l" indent="0" marL="0">
              <a:lnSpc>
                <a:spcPts val="1204"/>
              </a:lnSpc>
              <a:buNone/>
            </a:pPr>
            <a:r>
              <a:rPr lang="en-US" sz="830" dirty="0">
                <a:solidFill>
                  <a:srgbClr val="5B544A"/>
                </a:solidFill>
                <a:latin typeface="Calibri" pitchFamily="34" charset="0"/>
                <a:ea typeface="Calibri" pitchFamily="34" charset="-122"/>
                <a:cs typeface="Calibri" pitchFamily="34" charset="-120"/>
              </a:rPr>
              <a:t>other’s as the cause. The therapist’s first move is to punctuate the</a:t>
            </a:r>
            <a:endParaRPr lang="en-US" sz="830" dirty="0"/>
          </a:p>
          <a:p>
            <a:pPr algn="l" indent="0" marL="0">
              <a:lnSpc>
                <a:spcPts val="1204"/>
              </a:lnSpc>
              <a:buNone/>
            </a:pPr>
            <a:r>
              <a:rPr lang="en-US" sz="830" dirty="0">
                <a:solidFill>
                  <a:srgbClr val="5B544A"/>
                </a:solidFill>
                <a:latin typeface="Calibri" pitchFamily="34" charset="0"/>
                <a:ea typeface="Calibri" pitchFamily="34" charset="-122"/>
                <a:cs typeface="Calibri" pitchFamily="34" charset="-120"/>
              </a:rPr>
              <a:t>sequence, not to assign blame.</a:t>
            </a:r>
            <a:endParaRPr lang="en-US" sz="830" dirty="0"/>
          </a:p>
        </p:txBody>
      </p:sp>
      <p:sp>
        <p:nvSpPr>
          <p:cNvPr id="31" name="Shape 29"/>
          <p:cNvSpPr/>
          <p:nvPr/>
        </p:nvSpPr>
        <p:spPr>
          <a:xfrm>
            <a:off x="8458200" y="3968496"/>
            <a:ext cx="2194560" cy="91"/>
          </a:xfrm>
          <a:prstGeom prst="line">
            <a:avLst/>
          </a:prstGeom>
          <a:noFill/>
          <a:ln w="8890">
            <a:solidFill>
              <a:srgbClr val="D9CDB7"/>
            </a:solidFill>
            <a:prstDash val="solid"/>
            <a:headEnd type="none"/>
            <a:tailEnd type="none"/>
          </a:ln>
        </p:spPr>
      </p:sp>
      <p:sp>
        <p:nvSpPr>
          <p:cNvPr id="32" name="Text 30"/>
          <p:cNvSpPr txBox="1"/>
          <p:nvPr/>
        </p:nvSpPr>
        <p:spPr>
          <a:xfrm>
            <a:off x="8458200" y="4114800"/>
            <a:ext cx="2926080" cy="387985"/>
          </a:xfrm>
          <a:prstGeom prst="rect">
            <a:avLst/>
          </a:prstGeom>
          <a:noFill/>
          <a:ln/>
        </p:spPr>
        <p:txBody>
          <a:bodyPr wrap="square" lIns="0" tIns="0" rIns="0" bIns="0" rtlCol="0" anchor="t"/>
          <a:lstStyle/>
          <a:p>
            <a:pPr algn="l" indent="0" marL="0">
              <a:lnSpc>
                <a:spcPts val="1755"/>
              </a:lnSpc>
              <a:buNone/>
            </a:pPr>
            <a:r>
              <a:rPr lang="en-US" sz="1300" dirty="0">
                <a:solidFill>
                  <a:srgbClr val="1B1815"/>
                </a:solidFill>
                <a:latin typeface="Georgia" pitchFamily="34" charset="0"/>
                <a:ea typeface="Georgia" pitchFamily="34" charset="-122"/>
                <a:cs typeface="Georgia" pitchFamily="34" charset="-120"/>
              </a:rPr>
              <a:t>Clinical implication</a:t>
            </a:r>
            <a:endParaRPr lang="en-US" sz="1300" dirty="0"/>
          </a:p>
        </p:txBody>
      </p:sp>
      <p:sp>
        <p:nvSpPr>
          <p:cNvPr id="33" name="Text 31"/>
          <p:cNvSpPr txBox="1"/>
          <p:nvPr/>
        </p:nvSpPr>
        <p:spPr>
          <a:xfrm>
            <a:off x="8458200" y="4443984"/>
            <a:ext cx="2926080" cy="411099"/>
          </a:xfrm>
          <a:prstGeom prst="rect">
            <a:avLst/>
          </a:prstGeom>
          <a:noFill/>
          <a:ln/>
        </p:spPr>
        <p:txBody>
          <a:bodyPr wrap="square" lIns="0" tIns="0" rIns="0" bIns="0" rtlCol="0" anchor="t"/>
          <a:lstStyle/>
          <a:p>
            <a:pPr algn="l" indent="0" marL="0">
              <a:lnSpc>
                <a:spcPts val="1204"/>
              </a:lnSpc>
              <a:buNone/>
            </a:pPr>
            <a:r>
              <a:rPr lang="en-US" sz="830" dirty="0">
                <a:solidFill>
                  <a:srgbClr val="5B544A"/>
                </a:solidFill>
                <a:latin typeface="Calibri" pitchFamily="34" charset="0"/>
                <a:ea typeface="Calibri" pitchFamily="34" charset="-122"/>
                <a:cs typeface="Calibri" pitchFamily="34" charset="-120"/>
              </a:rPr>
              <a:t>Ask “what happens next?” rather than “why did you do that?” Map</a:t>
            </a:r>
            <a:endParaRPr lang="en-US" sz="830" dirty="0"/>
          </a:p>
          <a:p>
            <a:pPr algn="l" indent="0" marL="0">
              <a:lnSpc>
                <a:spcPts val="1204"/>
              </a:lnSpc>
              <a:buNone/>
            </a:pPr>
            <a:r>
              <a:rPr lang="en-US" sz="830" dirty="0">
                <a:solidFill>
                  <a:srgbClr val="5B544A"/>
                </a:solidFill>
                <a:latin typeface="Calibri" pitchFamily="34" charset="0"/>
                <a:ea typeface="Calibri" pitchFamily="34" charset="-122"/>
                <a:cs typeface="Calibri" pitchFamily="34" charset="-120"/>
              </a:rPr>
              <a:t>the loop before attempting to change it.</a:t>
            </a:r>
            <a:endParaRPr lang="en-US" sz="830" dirty="0"/>
          </a:p>
        </p:txBody>
      </p:sp>
      <p:sp>
        <p:nvSpPr>
          <p:cNvPr id="34" name="Text 32"/>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Map the loop before attempting to change it.</a:t>
            </a:r>
            <a:endParaRPr lang="en-US" sz="74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48640"/>
            <a:ext cx="82296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02 · SEMINAR</a:t>
            </a:r>
            <a:endParaRPr lang="en-US" sz="760" dirty="0"/>
          </a:p>
        </p:txBody>
      </p:sp>
      <p:sp>
        <p:nvSpPr>
          <p:cNvPr id="3" name="Text 1"/>
          <p:cNvSpPr txBox="1"/>
          <p:nvPr/>
        </p:nvSpPr>
        <p:spPr>
          <a:xfrm>
            <a:off x="822960" y="1417320"/>
            <a:ext cx="7863840" cy="915416"/>
          </a:xfrm>
          <a:prstGeom prst="rect">
            <a:avLst/>
          </a:prstGeom>
          <a:noFill/>
          <a:ln/>
        </p:spPr>
        <p:txBody>
          <a:bodyPr wrap="square" lIns="0" tIns="0" rIns="0" bIns="0" rtlCol="0" anchor="t"/>
          <a:lstStyle/>
          <a:p>
            <a:pPr algn="l" indent="0" marL="0">
              <a:lnSpc>
                <a:spcPts val="3808"/>
              </a:lnSpc>
              <a:buNone/>
            </a:pPr>
            <a:r>
              <a:rPr lang="en-US" sz="3400" dirty="0">
                <a:solidFill>
                  <a:srgbClr val="F8F3E9"/>
                </a:solidFill>
                <a:latin typeface="Georgia" pitchFamily="34" charset="0"/>
                <a:ea typeface="Georgia" pitchFamily="34" charset="-122"/>
                <a:cs typeface="Georgia" pitchFamily="34" charset="-120"/>
              </a:rPr>
              <a:t>Punctuating a familiar argument</a:t>
            </a:r>
            <a:endParaRPr lang="en-US" sz="3400" dirty="0"/>
          </a:p>
        </p:txBody>
      </p:sp>
      <p:sp>
        <p:nvSpPr>
          <p:cNvPr id="4" name="Shape 2"/>
          <p:cNvSpPr/>
          <p:nvPr/>
        </p:nvSpPr>
        <p:spPr>
          <a:xfrm>
            <a:off x="822960" y="2395728"/>
            <a:ext cx="1280160" cy="91"/>
          </a:xfrm>
          <a:prstGeom prst="line">
            <a:avLst/>
          </a:prstGeom>
          <a:noFill/>
          <a:ln w="11430">
            <a:solidFill>
              <a:srgbClr val="C2A05F"/>
            </a:solidFill>
            <a:prstDash val="solid"/>
            <a:headEnd type="none"/>
            <a:tailEnd type="none"/>
          </a:ln>
        </p:spPr>
      </p:sp>
      <p:sp>
        <p:nvSpPr>
          <p:cNvPr id="5" name="Text 3"/>
          <p:cNvSpPr txBox="1"/>
          <p:nvPr/>
        </p:nvSpPr>
        <p:spPr>
          <a:xfrm>
            <a:off x="822960" y="2651760"/>
            <a:ext cx="6949440" cy="643890"/>
          </a:xfrm>
          <a:prstGeom prst="rect">
            <a:avLst/>
          </a:prstGeom>
          <a:noFill/>
          <a:ln/>
        </p:spPr>
        <p:txBody>
          <a:bodyPr wrap="square" lIns="0" tIns="0" rIns="0" bIns="0" rtlCol="0" anchor="t"/>
          <a:lstStyle/>
          <a:p>
            <a:pPr algn="l" indent="0" marL="0">
              <a:lnSpc>
                <a:spcPts val="1885"/>
              </a:lnSpc>
              <a:buNone/>
            </a:pPr>
            <a:r>
              <a:rPr lang="en-US" sz="1300" i="1" dirty="0">
                <a:solidFill>
                  <a:srgbClr val="E7D3A9"/>
                </a:solidFill>
                <a:latin typeface="Georgia" pitchFamily="34" charset="0"/>
                <a:ea typeface="Georgia" pitchFamily="34" charset="-122"/>
                <a:cs typeface="Georgia" pitchFamily="34" charset="-120"/>
              </a:rPr>
              <a:t>Work in pairs. Choose an argument you both know well — from your family, your workplace,</a:t>
            </a:r>
            <a:endParaRPr lang="en-US" sz="1300" dirty="0"/>
          </a:p>
          <a:p>
            <a:pPr algn="l" indent="0" marL="0">
              <a:lnSpc>
                <a:spcPts val="1885"/>
              </a:lnSpc>
              <a:buNone/>
            </a:pPr>
            <a:r>
              <a:rPr lang="en-US" sz="1300" i="1" dirty="0">
                <a:solidFill>
                  <a:srgbClr val="E7D3A9"/>
                </a:solidFill>
                <a:latin typeface="Georgia" pitchFamily="34" charset="0"/>
                <a:ea typeface="Georgia" pitchFamily="34" charset="-122"/>
                <a:cs typeface="Georgia" pitchFamily="34" charset="-120"/>
              </a:rPr>
              <a:t>or the clinic.</a:t>
            </a:r>
            <a:endParaRPr lang="en-US" sz="1300" dirty="0"/>
          </a:p>
        </p:txBody>
      </p:sp>
      <p:sp>
        <p:nvSpPr>
          <p:cNvPr id="6" name="Text 4"/>
          <p:cNvSpPr txBox="1"/>
          <p:nvPr/>
        </p:nvSpPr>
        <p:spPr>
          <a:xfrm>
            <a:off x="822960" y="374904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01</a:t>
            </a:r>
            <a:endParaRPr lang="en-US" sz="1500" dirty="0"/>
          </a:p>
        </p:txBody>
      </p:sp>
      <p:sp>
        <p:nvSpPr>
          <p:cNvPr id="7" name="Text 5"/>
          <p:cNvSpPr txBox="1"/>
          <p:nvPr/>
        </p:nvSpPr>
        <p:spPr>
          <a:xfrm>
            <a:off x="1280160" y="374904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Write the argument as a loop with no beginning and no villain.</a:t>
            </a:r>
            <a:endParaRPr lang="en-US" sz="980" dirty="0"/>
          </a:p>
        </p:txBody>
      </p:sp>
      <p:sp>
        <p:nvSpPr>
          <p:cNvPr id="8" name="Text 6"/>
          <p:cNvSpPr txBox="1"/>
          <p:nvPr/>
        </p:nvSpPr>
        <p:spPr>
          <a:xfrm>
            <a:off x="6400800" y="374904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02</a:t>
            </a:r>
            <a:endParaRPr lang="en-US" sz="1500" dirty="0"/>
          </a:p>
        </p:txBody>
      </p:sp>
      <p:sp>
        <p:nvSpPr>
          <p:cNvPr id="9" name="Text 7"/>
          <p:cNvSpPr txBox="1"/>
          <p:nvPr/>
        </p:nvSpPr>
        <p:spPr>
          <a:xfrm>
            <a:off x="6858000" y="374904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What does each person’s punctuation protect them from feeling?</a:t>
            </a:r>
            <a:endParaRPr lang="en-US" sz="980" dirty="0"/>
          </a:p>
        </p:txBody>
      </p:sp>
      <p:sp>
        <p:nvSpPr>
          <p:cNvPr id="10" name="Text 8"/>
          <p:cNvSpPr txBox="1"/>
          <p:nvPr/>
        </p:nvSpPr>
        <p:spPr>
          <a:xfrm>
            <a:off x="822960" y="480060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03</a:t>
            </a:r>
            <a:endParaRPr lang="en-US" sz="1500" dirty="0"/>
          </a:p>
        </p:txBody>
      </p:sp>
      <p:sp>
        <p:nvSpPr>
          <p:cNvPr id="11" name="Text 9"/>
          <p:cNvSpPr txBox="1"/>
          <p:nvPr/>
        </p:nvSpPr>
        <p:spPr>
          <a:xfrm>
            <a:off x="1280160" y="480060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Where does “more of the same” appear in the sequence?</a:t>
            </a:r>
            <a:endParaRPr lang="en-US" sz="980" dirty="0"/>
          </a:p>
        </p:txBody>
      </p:sp>
      <p:sp>
        <p:nvSpPr>
          <p:cNvPr id="12" name="Text 10"/>
          <p:cNvSpPr txBox="1"/>
          <p:nvPr/>
        </p:nvSpPr>
        <p:spPr>
          <a:xfrm>
            <a:off x="6400800" y="480060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04</a:t>
            </a:r>
            <a:endParaRPr lang="en-US" sz="1500" dirty="0"/>
          </a:p>
        </p:txBody>
      </p:sp>
      <p:sp>
        <p:nvSpPr>
          <p:cNvPr id="13" name="Text 11"/>
          <p:cNvSpPr txBox="1"/>
          <p:nvPr/>
        </p:nvSpPr>
        <p:spPr>
          <a:xfrm>
            <a:off x="6858000" y="480060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What would it mean to intervene at the level of the loop?</a:t>
            </a:r>
            <a:endParaRPr lang="en-US" sz="980" dirty="0"/>
          </a:p>
        </p:txBody>
      </p:sp>
      <p:sp>
        <p:nvSpPr>
          <p:cNvPr id="14" name="Shape 12"/>
          <p:cNvSpPr/>
          <p:nvPr/>
        </p:nvSpPr>
        <p:spPr>
          <a:xfrm>
            <a:off x="822960" y="5340096"/>
            <a:ext cx="10546050" cy="91"/>
          </a:xfrm>
          <a:prstGeom prst="line">
            <a:avLst/>
          </a:prstGeom>
          <a:noFill/>
          <a:ln w="6350">
            <a:solidFill>
              <a:srgbClr val="3A332A"/>
            </a:solidFill>
            <a:prstDash val="solid"/>
            <a:headEnd type="none"/>
            <a:tailEnd type="none"/>
          </a:ln>
        </p:spPr>
      </p:sp>
      <p:sp>
        <p:nvSpPr>
          <p:cNvPr id="15" name="Text 13"/>
          <p:cNvSpPr txBox="1"/>
          <p:nvPr/>
        </p:nvSpPr>
        <p:spPr>
          <a:xfrm>
            <a:off x="82296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05</a:t>
            </a:r>
            <a:endParaRPr lang="en-US" sz="1100" dirty="0"/>
          </a:p>
        </p:txBody>
      </p:sp>
      <p:sp>
        <p:nvSpPr>
          <p:cNvPr id="16" name="Text 14"/>
          <p:cNvSpPr txBox="1"/>
          <p:nvPr/>
        </p:nvSpPr>
        <p:spPr>
          <a:xfrm>
            <a:off x="120700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SILENT WRITING</a:t>
            </a:r>
            <a:endParaRPr lang="en-US" sz="680" dirty="0"/>
          </a:p>
        </p:txBody>
      </p:sp>
      <p:sp>
        <p:nvSpPr>
          <p:cNvPr id="17" name="Text 15"/>
          <p:cNvSpPr txBox="1"/>
          <p:nvPr/>
        </p:nvSpPr>
        <p:spPr>
          <a:xfrm>
            <a:off x="352044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10</a:t>
            </a:r>
            <a:endParaRPr lang="en-US" sz="1100" dirty="0"/>
          </a:p>
        </p:txBody>
      </p:sp>
      <p:sp>
        <p:nvSpPr>
          <p:cNvPr id="18" name="Text 16"/>
          <p:cNvSpPr txBox="1"/>
          <p:nvPr/>
        </p:nvSpPr>
        <p:spPr>
          <a:xfrm>
            <a:off x="390448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PAIRS</a:t>
            </a:r>
            <a:endParaRPr lang="en-US" sz="680" dirty="0"/>
          </a:p>
        </p:txBody>
      </p:sp>
      <p:sp>
        <p:nvSpPr>
          <p:cNvPr id="19" name="Text 17"/>
          <p:cNvSpPr txBox="1"/>
          <p:nvPr/>
        </p:nvSpPr>
        <p:spPr>
          <a:xfrm>
            <a:off x="621792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20</a:t>
            </a:r>
            <a:endParaRPr lang="en-US" sz="1100" dirty="0"/>
          </a:p>
        </p:txBody>
      </p:sp>
      <p:sp>
        <p:nvSpPr>
          <p:cNvPr id="20" name="Text 18"/>
          <p:cNvSpPr txBox="1"/>
          <p:nvPr/>
        </p:nvSpPr>
        <p:spPr>
          <a:xfrm>
            <a:off x="660196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PLENARY</a:t>
            </a:r>
            <a:endParaRPr lang="en-US" sz="680" dirty="0"/>
          </a:p>
        </p:txBody>
      </p:sp>
      <p:sp>
        <p:nvSpPr>
          <p:cNvPr id="21" name="Text 19"/>
          <p:cNvSpPr txBox="1"/>
          <p:nvPr/>
        </p:nvSpPr>
        <p:spPr>
          <a:xfrm>
            <a:off x="891540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05</a:t>
            </a:r>
            <a:endParaRPr lang="en-US" sz="1100" dirty="0"/>
          </a:p>
        </p:txBody>
      </p:sp>
      <p:sp>
        <p:nvSpPr>
          <p:cNvPr id="22" name="Text 20"/>
          <p:cNvSpPr txBox="1"/>
          <p:nvPr/>
        </p:nvSpPr>
        <p:spPr>
          <a:xfrm>
            <a:off x="929944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CLOSE</a:t>
            </a:r>
            <a:endParaRPr lang="en-US" sz="680" dirty="0"/>
          </a:p>
        </p:txBody>
      </p:sp>
      <p:sp>
        <p:nvSpPr>
          <p:cNvPr id="23" name="Text 21"/>
          <p:cNvSpPr txBox="1"/>
          <p:nvPr/>
        </p:nvSpPr>
        <p:spPr>
          <a:xfrm>
            <a:off x="8442930" y="5522976"/>
            <a:ext cx="2926080" cy="191008"/>
          </a:xfrm>
          <a:prstGeom prst="rect">
            <a:avLst/>
          </a:prstGeom>
          <a:noFill/>
          <a:ln/>
        </p:spPr>
        <p:txBody>
          <a:bodyPr wrap="square" lIns="0" tIns="0" rIns="0" bIns="0" rtlCol="0" anchor="t"/>
          <a:lstStyle/>
          <a:p>
            <a:pPr algn="r" indent="0" marL="0">
              <a:lnSpc>
                <a:spcPts val="864"/>
              </a:lnSpc>
              <a:buNone/>
            </a:pPr>
            <a:r>
              <a:rPr lang="en-US" sz="640" spc="160" kern="0" dirty="0">
                <a:solidFill>
                  <a:srgbClr val="8B8375"/>
                </a:solidFill>
                <a:latin typeface="Calibri" pitchFamily="34" charset="0"/>
                <a:ea typeface="Calibri" pitchFamily="34" charset="-122"/>
                <a:cs typeface="Calibri" pitchFamily="34" charset="-120"/>
              </a:rPr>
              <a:t>MINUTES</a:t>
            </a:r>
            <a:endParaRPr lang="en-US" sz="640" dirty="0"/>
          </a:p>
        </p:txBody>
      </p:sp>
      <p:sp>
        <p:nvSpPr>
          <p:cNvPr id="24" name="Shape 22"/>
          <p:cNvSpPr/>
          <p:nvPr/>
        </p:nvSpPr>
        <p:spPr>
          <a:xfrm>
            <a:off x="822960" y="722376"/>
            <a:ext cx="10546050" cy="91"/>
          </a:xfrm>
          <a:prstGeom prst="line">
            <a:avLst/>
          </a:prstGeom>
          <a:noFill/>
          <a:ln w="6350">
            <a:solidFill>
              <a:srgbClr val="3A332A"/>
            </a:solidFill>
            <a:prstDash val="solid"/>
            <a:headEnd type="none"/>
            <a:tailEnd type="none"/>
          </a:ln>
        </p:spPr>
      </p:sp>
      <p:sp>
        <p:nvSpPr>
          <p:cNvPr id="25" name="Text 23"/>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26" name="Text 24"/>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03 · PHASE I — FOUNDATIONS</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03</a:t>
            </a:r>
            <a:endParaRPr lang="en-US" sz="25000" dirty="0"/>
          </a:p>
        </p:txBody>
      </p:sp>
      <p:sp>
        <p:nvSpPr>
          <p:cNvPr id="4" name="Text 2"/>
          <p:cNvSpPr txBox="1"/>
          <p:nvPr/>
        </p:nvSpPr>
        <p:spPr>
          <a:xfrm>
            <a:off x="822960" y="1572768"/>
            <a:ext cx="7589520" cy="104013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A Short History of the Field</a:t>
            </a:r>
            <a:endParaRPr lang="en-US" sz="3900" dirty="0"/>
          </a:p>
        </p:txBody>
      </p:sp>
      <p:sp>
        <p:nvSpPr>
          <p:cNvPr id="5" name="Shape 3"/>
          <p:cNvSpPr/>
          <p:nvPr/>
        </p:nvSpPr>
        <p:spPr>
          <a:xfrm>
            <a:off x="822960" y="231876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255651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2775966"/>
            <a:ext cx="7223760" cy="476377"/>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How did a profession learn to see relationships — and what did it cost to learn?</a:t>
            </a:r>
            <a:endParaRPr lang="en-US" sz="1550" dirty="0"/>
          </a:p>
        </p:txBody>
      </p:sp>
      <p:sp>
        <p:nvSpPr>
          <p:cNvPr id="8" name="Shape 6"/>
          <p:cNvSpPr/>
          <p:nvPr/>
        </p:nvSpPr>
        <p:spPr>
          <a:xfrm>
            <a:off x="822960" y="3366389"/>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351269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370471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Born at the edges of three traditions</a:t>
            </a:r>
            <a:endParaRPr lang="en-US" sz="850" dirty="0"/>
          </a:p>
        </p:txBody>
      </p:sp>
      <p:sp>
        <p:nvSpPr>
          <p:cNvPr id="11" name="Text 9"/>
          <p:cNvSpPr txBox="1"/>
          <p:nvPr/>
        </p:nvSpPr>
        <p:spPr>
          <a:xfrm>
            <a:off x="3282696" y="351269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370471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Seven moments that made the field</a:t>
            </a:r>
            <a:endParaRPr lang="en-US" sz="850" dirty="0"/>
          </a:p>
        </p:txBody>
      </p:sp>
      <p:sp>
        <p:nvSpPr>
          <p:cNvPr id="13" name="Text 11"/>
          <p:cNvSpPr txBox="1"/>
          <p:nvPr/>
        </p:nvSpPr>
        <p:spPr>
          <a:xfrm>
            <a:off x="5742432" y="351269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CLINICAL CASE</a:t>
            </a:r>
            <a:endParaRPr lang="en-US" sz="620" dirty="0"/>
          </a:p>
        </p:txBody>
      </p:sp>
      <p:sp>
        <p:nvSpPr>
          <p:cNvPr id="14" name="Text 12"/>
          <p:cNvSpPr txBox="1"/>
          <p:nvPr/>
        </p:nvSpPr>
        <p:spPr>
          <a:xfrm>
            <a:off x="5742432" y="370471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Reading the present through the past</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Trace the lineages that produced contemporary</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MFT.</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Explain how the double-bind hypothesis shaped the</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field.</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Situate evidence-based practice within the field’s</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history.</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child guidance · Palo Alto · double bind · professionalisation · evidence-based practice</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Nichols &amp; Davis (2020), ch. 2–3 · Broderick &amp; Schrader (1991), history of the profession</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61032" y="5696712"/>
            <a:ext cx="128016" cy="128016"/>
          </a:xfrm>
          <a:prstGeom prst="ellipse">
            <a:avLst/>
          </a:prstGeom>
          <a:solidFill>
            <a:srgbClr val="C2A05F"/>
          </a:solidFill>
          <a:ln w="8890">
            <a:solidFill>
              <a:srgbClr val="E7D3A9"/>
            </a:solidFill>
            <a:prstDash val="solid"/>
          </a:ln>
        </p:spPr>
      </p:sp>
      <p:sp>
        <p:nvSpPr>
          <p:cNvPr id="30" name="Shape 28"/>
          <p:cNvSpPr/>
          <p:nvPr/>
        </p:nvSpPr>
        <p:spPr>
          <a:xfrm>
            <a:off x="2896819" y="5731459"/>
            <a:ext cx="58522" cy="58522"/>
          </a:xfrm>
          <a:prstGeom prst="ellipse">
            <a:avLst/>
          </a:prstGeom>
          <a:solidFill>
            <a:srgbClr val="1E1913"/>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1E1913"/>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1E1913"/>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1E1913"/>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1E1913"/>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1E1913"/>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1E1913"/>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1E1913"/>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1E1913"/>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1E1913"/>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1E1913"/>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03 · LECTURE 03</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17</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Born at the edges of three traditions</a:t>
            </a:r>
            <a:endParaRPr lang="en-US" sz="2800" dirty="0"/>
          </a:p>
        </p:txBody>
      </p:sp>
      <p:sp>
        <p:nvSpPr>
          <p:cNvPr id="9" name="Text 7"/>
          <p:cNvSpPr txBox="1"/>
          <p:nvPr/>
        </p:nvSpPr>
        <p:spPr>
          <a:xfrm>
            <a:off x="822960" y="1486408"/>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MFT did not begin as a single school. It assembled itself from child guidance, marriage counselling, and a research group</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studying communication in schizophrenia.</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198196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234772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1940S–1950S · SEPARATE STREAMS</a:t>
            </a:r>
            <a:endParaRPr lang="en-US" sz="750" dirty="0"/>
          </a:p>
        </p:txBody>
      </p:sp>
      <p:sp>
        <p:nvSpPr>
          <p:cNvPr id="13" name="Text 11"/>
          <p:cNvSpPr txBox="1"/>
          <p:nvPr/>
        </p:nvSpPr>
        <p:spPr>
          <a:xfrm>
            <a:off x="822960" y="2834640"/>
            <a:ext cx="2347722" cy="772668"/>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Child guidance clinics treated the child in context;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marriage counselling addressed the couple. Both</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sat at the margin of a psychiatry organised around</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the individual.</a:t>
            </a:r>
            <a:endParaRPr lang="en-US" sz="900" dirty="0"/>
          </a:p>
        </p:txBody>
      </p:sp>
      <p:sp>
        <p:nvSpPr>
          <p:cNvPr id="14" name="Text 12"/>
          <p:cNvSpPr txBox="1"/>
          <p:nvPr/>
        </p:nvSpPr>
        <p:spPr>
          <a:xfrm>
            <a:off x="355473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15" name="Shape 13"/>
          <p:cNvSpPr/>
          <p:nvPr/>
        </p:nvSpPr>
        <p:spPr>
          <a:xfrm>
            <a:off x="3920490" y="2450592"/>
            <a:ext cx="1981962" cy="91"/>
          </a:xfrm>
          <a:prstGeom prst="line">
            <a:avLst/>
          </a:prstGeom>
          <a:noFill/>
          <a:ln w="5715">
            <a:solidFill>
              <a:srgbClr val="D9CDB7"/>
            </a:solidFill>
            <a:prstDash val="solid"/>
            <a:headEnd type="none"/>
            <a:tailEnd type="none"/>
          </a:ln>
        </p:spPr>
      </p:sp>
      <p:sp>
        <p:nvSpPr>
          <p:cNvPr id="16" name="Text 14"/>
          <p:cNvSpPr txBox="1"/>
          <p:nvPr/>
        </p:nvSpPr>
        <p:spPr>
          <a:xfrm>
            <a:off x="3554730" y="2587752"/>
            <a:ext cx="234772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1959 · THE DOUBLE BIND</a:t>
            </a:r>
            <a:endParaRPr lang="en-US" sz="750" dirty="0"/>
          </a:p>
        </p:txBody>
      </p:sp>
      <p:sp>
        <p:nvSpPr>
          <p:cNvPr id="17" name="Text 15"/>
          <p:cNvSpPr txBox="1"/>
          <p:nvPr/>
        </p:nvSpPr>
        <p:spPr>
          <a:xfrm>
            <a:off x="3554730" y="2834640"/>
            <a:ext cx="2347722" cy="937260"/>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Bateson’s Palo Alto group described contradictory</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injunctions in families of people diagnosed with</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schizophrenia. The theory is now read as an early</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model of relational communication — and a</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caution about blaming families.</a:t>
            </a:r>
            <a:endParaRPr lang="en-US" sz="900" dirty="0"/>
          </a:p>
        </p:txBody>
      </p:sp>
      <p:sp>
        <p:nvSpPr>
          <p:cNvPr id="18" name="Text 16"/>
          <p:cNvSpPr txBox="1"/>
          <p:nvPr/>
        </p:nvSpPr>
        <p:spPr>
          <a:xfrm>
            <a:off x="628650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19" name="Shape 17"/>
          <p:cNvSpPr/>
          <p:nvPr/>
        </p:nvSpPr>
        <p:spPr>
          <a:xfrm>
            <a:off x="6652260" y="2450592"/>
            <a:ext cx="1981962" cy="91"/>
          </a:xfrm>
          <a:prstGeom prst="line">
            <a:avLst/>
          </a:prstGeom>
          <a:noFill/>
          <a:ln w="5715">
            <a:solidFill>
              <a:srgbClr val="D9CDB7"/>
            </a:solidFill>
            <a:prstDash val="solid"/>
            <a:headEnd type="none"/>
            <a:tailEnd type="none"/>
          </a:ln>
        </p:spPr>
      </p:sp>
      <p:sp>
        <p:nvSpPr>
          <p:cNvPr id="20" name="Text 18"/>
          <p:cNvSpPr txBox="1"/>
          <p:nvPr/>
        </p:nvSpPr>
        <p:spPr>
          <a:xfrm>
            <a:off x="6286500" y="2587752"/>
            <a:ext cx="234772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1960S–1970S · MODELS PROLIFERATE</a:t>
            </a:r>
            <a:endParaRPr lang="en-US" sz="750" dirty="0"/>
          </a:p>
        </p:txBody>
      </p:sp>
      <p:sp>
        <p:nvSpPr>
          <p:cNvPr id="21" name="Text 19"/>
          <p:cNvSpPr txBox="1"/>
          <p:nvPr/>
        </p:nvSpPr>
        <p:spPr>
          <a:xfrm>
            <a:off x="6286500" y="2834640"/>
            <a:ext cx="2347722" cy="772668"/>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Structural, strategic, intergenerational,</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experiential and systemic models emerged, each</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with its own account of what maintains a</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problem.</a:t>
            </a:r>
            <a:endParaRPr lang="en-US" sz="900" dirty="0"/>
          </a:p>
        </p:txBody>
      </p:sp>
      <p:sp>
        <p:nvSpPr>
          <p:cNvPr id="22" name="Text 20"/>
          <p:cNvSpPr txBox="1"/>
          <p:nvPr/>
        </p:nvSpPr>
        <p:spPr>
          <a:xfrm>
            <a:off x="901827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04</a:t>
            </a:r>
            <a:endParaRPr lang="en-US" sz="1100" dirty="0"/>
          </a:p>
        </p:txBody>
      </p:sp>
      <p:sp>
        <p:nvSpPr>
          <p:cNvPr id="23" name="Shape 21"/>
          <p:cNvSpPr/>
          <p:nvPr/>
        </p:nvSpPr>
        <p:spPr>
          <a:xfrm>
            <a:off x="9384030" y="2450592"/>
            <a:ext cx="1981962" cy="91"/>
          </a:xfrm>
          <a:prstGeom prst="line">
            <a:avLst/>
          </a:prstGeom>
          <a:noFill/>
          <a:ln w="5715">
            <a:solidFill>
              <a:srgbClr val="D9CDB7"/>
            </a:solidFill>
            <a:prstDash val="solid"/>
            <a:headEnd type="none"/>
            <a:tailEnd type="none"/>
          </a:ln>
        </p:spPr>
      </p:sp>
      <p:sp>
        <p:nvSpPr>
          <p:cNvPr id="24" name="Text 22"/>
          <p:cNvSpPr txBox="1"/>
          <p:nvPr/>
        </p:nvSpPr>
        <p:spPr>
          <a:xfrm>
            <a:off x="9018270" y="2587752"/>
            <a:ext cx="2347722" cy="352425"/>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1980S–PRESENT · PROFESSION AND</a:t>
            </a:r>
            <a:endParaRPr lang="en-US" sz="750" dirty="0"/>
          </a:p>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EVIDENCE</a:t>
            </a:r>
            <a:endParaRPr lang="en-US" sz="750" dirty="0"/>
          </a:p>
        </p:txBody>
      </p:sp>
      <p:sp>
        <p:nvSpPr>
          <p:cNvPr id="25" name="Text 23"/>
          <p:cNvSpPr txBox="1"/>
          <p:nvPr/>
        </p:nvSpPr>
        <p:spPr>
          <a:xfrm>
            <a:off x="9018270" y="2834640"/>
            <a:ext cx="234772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Licensure, accreditation and outcome research —</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alongside sustained critique from feminist,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multicultural and postmodern clinicians.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03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18</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Seven moments that made the field</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A selective genealogy, not a complete history: each moment changed what therapists thought they were looking at.</a:t>
            </a:r>
            <a:endParaRPr lang="en-US" sz="1060" dirty="0"/>
          </a:p>
        </p:txBody>
      </p:sp>
      <p:sp>
        <p:nvSpPr>
          <p:cNvPr id="10" name="Shape 8"/>
          <p:cNvSpPr/>
          <p:nvPr/>
        </p:nvSpPr>
        <p:spPr>
          <a:xfrm>
            <a:off x="1051560" y="3685032"/>
            <a:ext cx="10085832" cy="91"/>
          </a:xfrm>
          <a:prstGeom prst="line">
            <a:avLst/>
          </a:prstGeom>
          <a:noFill/>
          <a:ln w="12700">
            <a:solidFill>
              <a:srgbClr val="D9CDB7"/>
            </a:solidFill>
            <a:prstDash val="solid"/>
            <a:headEnd type="none"/>
            <a:tailEnd type="none"/>
          </a:ln>
        </p:spPr>
      </p:sp>
      <p:sp>
        <p:nvSpPr>
          <p:cNvPr id="11" name="Shape 9"/>
          <p:cNvSpPr/>
          <p:nvPr/>
        </p:nvSpPr>
        <p:spPr>
          <a:xfrm>
            <a:off x="1051560" y="3685032"/>
            <a:ext cx="10085832" cy="91"/>
          </a:xfrm>
          <a:prstGeom prst="line">
            <a:avLst/>
          </a:prstGeom>
          <a:noFill/>
          <a:ln w="6350">
            <a:solidFill>
              <a:srgbClr val="C2A05F">
                <a:alpha val="55000"/>
              </a:srgbClr>
            </a:solidFill>
            <a:prstDash val="solid"/>
            <a:headEnd type="none"/>
            <a:tailEnd type="none"/>
          </a:ln>
        </p:spPr>
      </p:sp>
      <p:sp>
        <p:nvSpPr>
          <p:cNvPr id="12" name="Shape 10"/>
          <p:cNvSpPr/>
          <p:nvPr/>
        </p:nvSpPr>
        <p:spPr>
          <a:xfrm>
            <a:off x="1001268" y="3634740"/>
            <a:ext cx="100584" cy="100584"/>
          </a:xfrm>
          <a:prstGeom prst="ellipse">
            <a:avLst/>
          </a:prstGeom>
          <a:solidFill>
            <a:srgbClr val="F8F3E9"/>
          </a:solidFill>
          <a:ln w="12700">
            <a:solidFill>
              <a:srgbClr val="C2A05F"/>
            </a:solidFill>
            <a:prstDash val="solid"/>
          </a:ln>
        </p:spPr>
      </p:sp>
      <p:sp>
        <p:nvSpPr>
          <p:cNvPr id="13" name="Shape 11"/>
          <p:cNvSpPr/>
          <p:nvPr/>
        </p:nvSpPr>
        <p:spPr>
          <a:xfrm>
            <a:off x="1035101" y="3668573"/>
            <a:ext cx="32918" cy="32918"/>
          </a:xfrm>
          <a:prstGeom prst="ellipse">
            <a:avLst/>
          </a:prstGeom>
          <a:solidFill>
            <a:srgbClr val="96733C"/>
          </a:solidFill>
          <a:ln w="12700">
            <a:solidFill>
              <a:srgbClr val="FFFFFF">
                <a:alpha val="0"/>
              </a:srgbClr>
            </a:solidFill>
            <a:prstDash val="solid"/>
          </a:ln>
        </p:spPr>
      </p:sp>
      <p:sp>
        <p:nvSpPr>
          <p:cNvPr id="14" name="Shape 12"/>
          <p:cNvSpPr/>
          <p:nvPr/>
        </p:nvSpPr>
        <p:spPr>
          <a:xfrm flipV="1">
            <a:off x="1051560" y="3227832"/>
            <a:ext cx="91" cy="384048"/>
          </a:xfrm>
          <a:prstGeom prst="line">
            <a:avLst/>
          </a:prstGeom>
          <a:noFill/>
          <a:ln w="7620">
            <a:solidFill>
              <a:srgbClr val="D9CDB7"/>
            </a:solidFill>
            <a:prstDash val="solid"/>
            <a:headEnd type="none"/>
            <a:tailEnd type="none"/>
          </a:ln>
        </p:spPr>
      </p:sp>
      <p:sp>
        <p:nvSpPr>
          <p:cNvPr id="15" name="Text 13"/>
          <p:cNvSpPr txBox="1"/>
          <p:nvPr/>
        </p:nvSpPr>
        <p:spPr>
          <a:xfrm>
            <a:off x="182880" y="2386584"/>
            <a:ext cx="1737360" cy="447675"/>
          </a:xfrm>
          <a:prstGeom prst="rect">
            <a:avLst/>
          </a:prstGeom>
          <a:noFill/>
          <a:ln/>
        </p:spPr>
        <p:txBody>
          <a:bodyPr wrap="square" lIns="0" tIns="0" rIns="0" bIns="0" rtlCol="0" anchor="t"/>
          <a:lstStyle/>
          <a:p>
            <a:pPr algn="ctr" indent="0" marL="0">
              <a:lnSpc>
                <a:spcPts val="2025"/>
              </a:lnSpc>
              <a:buNone/>
            </a:pPr>
            <a:r>
              <a:rPr lang="en-US" sz="1500" dirty="0">
                <a:solidFill>
                  <a:srgbClr val="96733C"/>
                </a:solidFill>
                <a:latin typeface="Georgia" pitchFamily="34" charset="0"/>
                <a:ea typeface="Georgia" pitchFamily="34" charset="-122"/>
                <a:cs typeface="Georgia" pitchFamily="34" charset="-120"/>
              </a:rPr>
              <a:t>1940s</a:t>
            </a:r>
            <a:endParaRPr lang="en-US" sz="1500" dirty="0"/>
          </a:p>
        </p:txBody>
      </p:sp>
      <p:sp>
        <p:nvSpPr>
          <p:cNvPr id="16" name="Text 14"/>
          <p:cNvSpPr txBox="1"/>
          <p:nvPr/>
        </p:nvSpPr>
        <p:spPr>
          <a:xfrm>
            <a:off x="182880" y="2715768"/>
            <a:ext cx="1737360" cy="234696"/>
          </a:xfrm>
          <a:prstGeom prst="rect">
            <a:avLst/>
          </a:prstGeom>
          <a:noFill/>
          <a:ln/>
        </p:spPr>
        <p:txBody>
          <a:bodyPr wrap="square" lIns="0" tIns="0" rIns="0" bIns="0" rtlCol="0" anchor="t"/>
          <a:lstStyle/>
          <a:p>
            <a:pPr algn="ctr" indent="0" marL="0">
              <a:lnSpc>
                <a:spcPts val="1008"/>
              </a:lnSpc>
              <a:buNone/>
            </a:pPr>
            <a:r>
              <a:rPr lang="en-US" sz="840" b="1" dirty="0">
                <a:solidFill>
                  <a:srgbClr val="1B1815"/>
                </a:solidFill>
                <a:latin typeface="Calibri" pitchFamily="34" charset="0"/>
                <a:ea typeface="Calibri" pitchFamily="34" charset="-122"/>
                <a:cs typeface="Calibri" pitchFamily="34" charset="-120"/>
              </a:rPr>
              <a:t>Child guidance &amp; marriage counselling</a:t>
            </a:r>
            <a:endParaRPr lang="en-US" sz="840" dirty="0"/>
          </a:p>
        </p:txBody>
      </p:sp>
      <p:sp>
        <p:nvSpPr>
          <p:cNvPr id="17" name="Text 15"/>
          <p:cNvSpPr txBox="1"/>
          <p:nvPr/>
        </p:nvSpPr>
        <p:spPr>
          <a:xfrm>
            <a:off x="182880" y="3026664"/>
            <a:ext cx="1737360" cy="211455"/>
          </a:xfrm>
          <a:prstGeom prst="rect">
            <a:avLst/>
          </a:prstGeom>
          <a:noFill/>
          <a:ln/>
        </p:spPr>
        <p:txBody>
          <a:bodyPr wrap="square" lIns="0" tIns="0" rIns="0" bIns="0" rtlCol="0" anchor="t"/>
          <a:lstStyle/>
          <a:p>
            <a:pPr algn="ctr" indent="0" marL="0">
              <a:lnSpc>
                <a:spcPts val="925"/>
              </a:lnSpc>
              <a:buNone/>
            </a:pPr>
            <a:r>
              <a:rPr lang="en-US" sz="740" dirty="0">
                <a:solidFill>
                  <a:srgbClr val="5B544A"/>
                </a:solidFill>
                <a:latin typeface="Calibri" pitchFamily="34" charset="0"/>
                <a:ea typeface="Calibri" pitchFamily="34" charset="-122"/>
                <a:cs typeface="Calibri" pitchFamily="34" charset="-120"/>
              </a:rPr>
              <a:t>two separate traditions</a:t>
            </a:r>
            <a:endParaRPr lang="en-US" sz="740" dirty="0"/>
          </a:p>
        </p:txBody>
      </p:sp>
      <p:sp>
        <p:nvSpPr>
          <p:cNvPr id="18" name="Shape 16"/>
          <p:cNvSpPr/>
          <p:nvPr/>
        </p:nvSpPr>
        <p:spPr>
          <a:xfrm>
            <a:off x="2682240" y="3634740"/>
            <a:ext cx="100584" cy="100584"/>
          </a:xfrm>
          <a:prstGeom prst="ellipse">
            <a:avLst/>
          </a:prstGeom>
          <a:solidFill>
            <a:srgbClr val="F8F3E9"/>
          </a:solidFill>
          <a:ln w="12700">
            <a:solidFill>
              <a:srgbClr val="C2A05F"/>
            </a:solidFill>
            <a:prstDash val="solid"/>
          </a:ln>
        </p:spPr>
      </p:sp>
      <p:sp>
        <p:nvSpPr>
          <p:cNvPr id="19" name="Shape 17"/>
          <p:cNvSpPr/>
          <p:nvPr/>
        </p:nvSpPr>
        <p:spPr>
          <a:xfrm>
            <a:off x="2716073" y="3668573"/>
            <a:ext cx="32918" cy="32918"/>
          </a:xfrm>
          <a:prstGeom prst="ellipse">
            <a:avLst/>
          </a:prstGeom>
          <a:solidFill>
            <a:srgbClr val="96733C"/>
          </a:solidFill>
          <a:ln w="12700">
            <a:solidFill>
              <a:srgbClr val="FFFFFF">
                <a:alpha val="0"/>
              </a:srgbClr>
            </a:solidFill>
            <a:prstDash val="solid"/>
          </a:ln>
        </p:spPr>
      </p:sp>
      <p:sp>
        <p:nvSpPr>
          <p:cNvPr id="20" name="Shape 18"/>
          <p:cNvSpPr/>
          <p:nvPr/>
        </p:nvSpPr>
        <p:spPr>
          <a:xfrm>
            <a:off x="2732532" y="3758184"/>
            <a:ext cx="91" cy="274320"/>
          </a:xfrm>
          <a:prstGeom prst="line">
            <a:avLst/>
          </a:prstGeom>
          <a:noFill/>
          <a:ln w="7620">
            <a:solidFill>
              <a:srgbClr val="D9CDB7"/>
            </a:solidFill>
            <a:prstDash val="solid"/>
            <a:headEnd type="none"/>
            <a:tailEnd type="none"/>
          </a:ln>
        </p:spPr>
      </p:sp>
      <p:sp>
        <p:nvSpPr>
          <p:cNvPr id="21" name="Text 19"/>
          <p:cNvSpPr txBox="1"/>
          <p:nvPr/>
        </p:nvSpPr>
        <p:spPr>
          <a:xfrm>
            <a:off x="1863852" y="4069080"/>
            <a:ext cx="1737360" cy="447675"/>
          </a:xfrm>
          <a:prstGeom prst="rect">
            <a:avLst/>
          </a:prstGeom>
          <a:noFill/>
          <a:ln/>
        </p:spPr>
        <p:txBody>
          <a:bodyPr wrap="square" lIns="0" tIns="0" rIns="0" bIns="0" rtlCol="0" anchor="t"/>
          <a:lstStyle/>
          <a:p>
            <a:pPr algn="ctr" indent="0" marL="0">
              <a:lnSpc>
                <a:spcPts val="2025"/>
              </a:lnSpc>
              <a:buNone/>
            </a:pPr>
            <a:r>
              <a:rPr lang="en-US" sz="1500" dirty="0">
                <a:solidFill>
                  <a:srgbClr val="96733C"/>
                </a:solidFill>
                <a:latin typeface="Georgia" pitchFamily="34" charset="0"/>
                <a:ea typeface="Georgia" pitchFamily="34" charset="-122"/>
                <a:cs typeface="Georgia" pitchFamily="34" charset="-120"/>
              </a:rPr>
              <a:t>1959</a:t>
            </a:r>
            <a:endParaRPr lang="en-US" sz="1500" dirty="0"/>
          </a:p>
        </p:txBody>
      </p:sp>
      <p:sp>
        <p:nvSpPr>
          <p:cNvPr id="22" name="Text 20"/>
          <p:cNvSpPr txBox="1"/>
          <p:nvPr/>
        </p:nvSpPr>
        <p:spPr>
          <a:xfrm>
            <a:off x="1863852" y="4398264"/>
            <a:ext cx="1737360" cy="234696"/>
          </a:xfrm>
          <a:prstGeom prst="rect">
            <a:avLst/>
          </a:prstGeom>
          <a:noFill/>
          <a:ln/>
        </p:spPr>
        <p:txBody>
          <a:bodyPr wrap="square" lIns="0" tIns="0" rIns="0" bIns="0" rtlCol="0" anchor="t"/>
          <a:lstStyle/>
          <a:p>
            <a:pPr algn="ctr" indent="0" marL="0">
              <a:lnSpc>
                <a:spcPts val="1008"/>
              </a:lnSpc>
              <a:buNone/>
            </a:pPr>
            <a:r>
              <a:rPr lang="en-US" sz="840" b="1" dirty="0">
                <a:solidFill>
                  <a:srgbClr val="1B1815"/>
                </a:solidFill>
                <a:latin typeface="Calibri" pitchFamily="34" charset="0"/>
                <a:ea typeface="Calibri" pitchFamily="34" charset="-122"/>
                <a:cs typeface="Calibri" pitchFamily="34" charset="-120"/>
              </a:rPr>
              <a:t>Palo Alto &amp; the double bind</a:t>
            </a:r>
            <a:endParaRPr lang="en-US" sz="840" dirty="0"/>
          </a:p>
        </p:txBody>
      </p:sp>
      <p:sp>
        <p:nvSpPr>
          <p:cNvPr id="23" name="Text 21"/>
          <p:cNvSpPr txBox="1"/>
          <p:nvPr/>
        </p:nvSpPr>
        <p:spPr>
          <a:xfrm>
            <a:off x="1863852" y="4709160"/>
            <a:ext cx="1737360" cy="211455"/>
          </a:xfrm>
          <a:prstGeom prst="rect">
            <a:avLst/>
          </a:prstGeom>
          <a:noFill/>
          <a:ln/>
        </p:spPr>
        <p:txBody>
          <a:bodyPr wrap="square" lIns="0" tIns="0" rIns="0" bIns="0" rtlCol="0" anchor="t"/>
          <a:lstStyle/>
          <a:p>
            <a:pPr algn="ctr" indent="0" marL="0">
              <a:lnSpc>
                <a:spcPts val="925"/>
              </a:lnSpc>
              <a:buNone/>
            </a:pPr>
            <a:r>
              <a:rPr lang="en-US" sz="740" dirty="0">
                <a:solidFill>
                  <a:srgbClr val="5B544A"/>
                </a:solidFill>
                <a:latin typeface="Calibri" pitchFamily="34" charset="0"/>
                <a:ea typeface="Calibri" pitchFamily="34" charset="-122"/>
                <a:cs typeface="Calibri" pitchFamily="34" charset="-120"/>
              </a:rPr>
              <a:t>Bateson, Jackson, Haley, Weakland</a:t>
            </a:r>
            <a:endParaRPr lang="en-US" sz="740" dirty="0"/>
          </a:p>
        </p:txBody>
      </p:sp>
      <p:sp>
        <p:nvSpPr>
          <p:cNvPr id="24" name="Shape 22"/>
          <p:cNvSpPr/>
          <p:nvPr/>
        </p:nvSpPr>
        <p:spPr>
          <a:xfrm>
            <a:off x="4363212" y="3634740"/>
            <a:ext cx="100584" cy="100584"/>
          </a:xfrm>
          <a:prstGeom prst="ellipse">
            <a:avLst/>
          </a:prstGeom>
          <a:solidFill>
            <a:srgbClr val="F8F3E9"/>
          </a:solidFill>
          <a:ln w="12700">
            <a:solidFill>
              <a:srgbClr val="C2A05F"/>
            </a:solidFill>
            <a:prstDash val="solid"/>
          </a:ln>
        </p:spPr>
      </p:sp>
      <p:sp>
        <p:nvSpPr>
          <p:cNvPr id="25" name="Shape 23"/>
          <p:cNvSpPr/>
          <p:nvPr/>
        </p:nvSpPr>
        <p:spPr>
          <a:xfrm>
            <a:off x="4397045" y="3668573"/>
            <a:ext cx="32918" cy="32918"/>
          </a:xfrm>
          <a:prstGeom prst="ellipse">
            <a:avLst/>
          </a:prstGeom>
          <a:solidFill>
            <a:srgbClr val="96733C"/>
          </a:solidFill>
          <a:ln w="12700">
            <a:solidFill>
              <a:srgbClr val="FFFFFF">
                <a:alpha val="0"/>
              </a:srgbClr>
            </a:solidFill>
            <a:prstDash val="solid"/>
          </a:ln>
        </p:spPr>
      </p:sp>
      <p:sp>
        <p:nvSpPr>
          <p:cNvPr id="26" name="Shape 24"/>
          <p:cNvSpPr/>
          <p:nvPr/>
        </p:nvSpPr>
        <p:spPr>
          <a:xfrm flipV="1">
            <a:off x="4413504" y="3227832"/>
            <a:ext cx="91" cy="384048"/>
          </a:xfrm>
          <a:prstGeom prst="line">
            <a:avLst/>
          </a:prstGeom>
          <a:noFill/>
          <a:ln w="7620">
            <a:solidFill>
              <a:srgbClr val="D9CDB7"/>
            </a:solidFill>
            <a:prstDash val="solid"/>
            <a:headEnd type="none"/>
            <a:tailEnd type="none"/>
          </a:ln>
        </p:spPr>
      </p:sp>
      <p:sp>
        <p:nvSpPr>
          <p:cNvPr id="27" name="Text 25"/>
          <p:cNvSpPr txBox="1"/>
          <p:nvPr/>
        </p:nvSpPr>
        <p:spPr>
          <a:xfrm>
            <a:off x="3544824" y="2386584"/>
            <a:ext cx="1737360" cy="447675"/>
          </a:xfrm>
          <a:prstGeom prst="rect">
            <a:avLst/>
          </a:prstGeom>
          <a:noFill/>
          <a:ln/>
        </p:spPr>
        <p:txBody>
          <a:bodyPr wrap="square" lIns="0" tIns="0" rIns="0" bIns="0" rtlCol="0" anchor="t"/>
          <a:lstStyle/>
          <a:p>
            <a:pPr algn="ctr" indent="0" marL="0">
              <a:lnSpc>
                <a:spcPts val="2025"/>
              </a:lnSpc>
              <a:buNone/>
            </a:pPr>
            <a:r>
              <a:rPr lang="en-US" sz="1500" dirty="0">
                <a:solidFill>
                  <a:srgbClr val="96733C"/>
                </a:solidFill>
                <a:latin typeface="Georgia" pitchFamily="34" charset="0"/>
                <a:ea typeface="Georgia" pitchFamily="34" charset="-122"/>
                <a:cs typeface="Georgia" pitchFamily="34" charset="-120"/>
              </a:rPr>
              <a:t>1965</a:t>
            </a:r>
            <a:endParaRPr lang="en-US" sz="1500" dirty="0"/>
          </a:p>
        </p:txBody>
      </p:sp>
      <p:sp>
        <p:nvSpPr>
          <p:cNvPr id="28" name="Text 26"/>
          <p:cNvSpPr txBox="1"/>
          <p:nvPr/>
        </p:nvSpPr>
        <p:spPr>
          <a:xfrm>
            <a:off x="3544824" y="2715768"/>
            <a:ext cx="1737360" cy="234696"/>
          </a:xfrm>
          <a:prstGeom prst="rect">
            <a:avLst/>
          </a:prstGeom>
          <a:noFill/>
          <a:ln/>
        </p:spPr>
        <p:txBody>
          <a:bodyPr wrap="square" lIns="0" tIns="0" rIns="0" bIns="0" rtlCol="0" anchor="t"/>
          <a:lstStyle/>
          <a:p>
            <a:pPr algn="ctr" indent="0" marL="0">
              <a:lnSpc>
                <a:spcPts val="1008"/>
              </a:lnSpc>
              <a:buNone/>
            </a:pPr>
            <a:r>
              <a:rPr lang="en-US" sz="840" b="1" dirty="0">
                <a:solidFill>
                  <a:srgbClr val="1B1815"/>
                </a:solidFill>
                <a:latin typeface="Calibri" pitchFamily="34" charset="0"/>
                <a:ea typeface="Calibri" pitchFamily="34" charset="-122"/>
                <a:cs typeface="Calibri" pitchFamily="34" charset="-120"/>
              </a:rPr>
              <a:t>Structural &amp; strategic therapy</a:t>
            </a:r>
            <a:endParaRPr lang="en-US" sz="840" dirty="0"/>
          </a:p>
        </p:txBody>
      </p:sp>
      <p:sp>
        <p:nvSpPr>
          <p:cNvPr id="29" name="Text 27"/>
          <p:cNvSpPr txBox="1"/>
          <p:nvPr/>
        </p:nvSpPr>
        <p:spPr>
          <a:xfrm>
            <a:off x="3544824" y="3026664"/>
            <a:ext cx="1737360" cy="211455"/>
          </a:xfrm>
          <a:prstGeom prst="rect">
            <a:avLst/>
          </a:prstGeom>
          <a:noFill/>
          <a:ln/>
        </p:spPr>
        <p:txBody>
          <a:bodyPr wrap="square" lIns="0" tIns="0" rIns="0" bIns="0" rtlCol="0" anchor="t"/>
          <a:lstStyle/>
          <a:p>
            <a:pPr algn="ctr" indent="0" marL="0">
              <a:lnSpc>
                <a:spcPts val="925"/>
              </a:lnSpc>
              <a:buNone/>
            </a:pPr>
            <a:r>
              <a:rPr lang="en-US" sz="740" dirty="0">
                <a:solidFill>
                  <a:srgbClr val="5B544A"/>
                </a:solidFill>
                <a:latin typeface="Calibri" pitchFamily="34" charset="0"/>
                <a:ea typeface="Calibri" pitchFamily="34" charset="-122"/>
                <a:cs typeface="Calibri" pitchFamily="34" charset="-120"/>
              </a:rPr>
              <a:t>Minuchin · Haley · Madanes</a:t>
            </a:r>
            <a:endParaRPr lang="en-US" sz="740" dirty="0"/>
          </a:p>
        </p:txBody>
      </p:sp>
      <p:sp>
        <p:nvSpPr>
          <p:cNvPr id="30" name="Shape 28"/>
          <p:cNvSpPr/>
          <p:nvPr/>
        </p:nvSpPr>
        <p:spPr>
          <a:xfrm>
            <a:off x="6044184" y="3634740"/>
            <a:ext cx="100584" cy="100584"/>
          </a:xfrm>
          <a:prstGeom prst="ellipse">
            <a:avLst/>
          </a:prstGeom>
          <a:solidFill>
            <a:srgbClr val="F8F3E9"/>
          </a:solidFill>
          <a:ln w="12700">
            <a:solidFill>
              <a:srgbClr val="C2A05F"/>
            </a:solidFill>
            <a:prstDash val="solid"/>
          </a:ln>
        </p:spPr>
      </p:sp>
      <p:sp>
        <p:nvSpPr>
          <p:cNvPr id="31" name="Shape 29"/>
          <p:cNvSpPr/>
          <p:nvPr/>
        </p:nvSpPr>
        <p:spPr>
          <a:xfrm>
            <a:off x="6078017" y="3668573"/>
            <a:ext cx="32918" cy="32918"/>
          </a:xfrm>
          <a:prstGeom prst="ellipse">
            <a:avLst/>
          </a:prstGeom>
          <a:solidFill>
            <a:srgbClr val="96733C"/>
          </a:solidFill>
          <a:ln w="12700">
            <a:solidFill>
              <a:srgbClr val="FFFFFF">
                <a:alpha val="0"/>
              </a:srgbClr>
            </a:solidFill>
            <a:prstDash val="solid"/>
          </a:ln>
        </p:spPr>
      </p:sp>
      <p:sp>
        <p:nvSpPr>
          <p:cNvPr id="32" name="Shape 30"/>
          <p:cNvSpPr/>
          <p:nvPr/>
        </p:nvSpPr>
        <p:spPr>
          <a:xfrm>
            <a:off x="6094476" y="3758184"/>
            <a:ext cx="91" cy="274320"/>
          </a:xfrm>
          <a:prstGeom prst="line">
            <a:avLst/>
          </a:prstGeom>
          <a:noFill/>
          <a:ln w="7620">
            <a:solidFill>
              <a:srgbClr val="D9CDB7"/>
            </a:solidFill>
            <a:prstDash val="solid"/>
            <a:headEnd type="none"/>
            <a:tailEnd type="none"/>
          </a:ln>
        </p:spPr>
      </p:sp>
      <p:sp>
        <p:nvSpPr>
          <p:cNvPr id="33" name="Text 31"/>
          <p:cNvSpPr txBox="1"/>
          <p:nvPr/>
        </p:nvSpPr>
        <p:spPr>
          <a:xfrm>
            <a:off x="5225796" y="4069080"/>
            <a:ext cx="1737360" cy="447675"/>
          </a:xfrm>
          <a:prstGeom prst="rect">
            <a:avLst/>
          </a:prstGeom>
          <a:noFill/>
          <a:ln/>
        </p:spPr>
        <p:txBody>
          <a:bodyPr wrap="square" lIns="0" tIns="0" rIns="0" bIns="0" rtlCol="0" anchor="t"/>
          <a:lstStyle/>
          <a:p>
            <a:pPr algn="ctr" indent="0" marL="0">
              <a:lnSpc>
                <a:spcPts val="2025"/>
              </a:lnSpc>
              <a:buNone/>
            </a:pPr>
            <a:r>
              <a:rPr lang="en-US" sz="1500" dirty="0">
                <a:solidFill>
                  <a:srgbClr val="96733C"/>
                </a:solidFill>
                <a:latin typeface="Georgia" pitchFamily="34" charset="0"/>
                <a:ea typeface="Georgia" pitchFamily="34" charset="-122"/>
                <a:cs typeface="Georgia" pitchFamily="34" charset="-120"/>
              </a:rPr>
              <a:t>1971</a:t>
            </a:r>
            <a:endParaRPr lang="en-US" sz="1500" dirty="0"/>
          </a:p>
        </p:txBody>
      </p:sp>
      <p:sp>
        <p:nvSpPr>
          <p:cNvPr id="34" name="Text 32"/>
          <p:cNvSpPr txBox="1"/>
          <p:nvPr/>
        </p:nvSpPr>
        <p:spPr>
          <a:xfrm>
            <a:off x="5225796" y="4398264"/>
            <a:ext cx="1737360" cy="234696"/>
          </a:xfrm>
          <a:prstGeom prst="rect">
            <a:avLst/>
          </a:prstGeom>
          <a:noFill/>
          <a:ln/>
        </p:spPr>
        <p:txBody>
          <a:bodyPr wrap="square" lIns="0" tIns="0" rIns="0" bIns="0" rtlCol="0" anchor="t"/>
          <a:lstStyle/>
          <a:p>
            <a:pPr algn="ctr" indent="0" marL="0">
              <a:lnSpc>
                <a:spcPts val="1008"/>
              </a:lnSpc>
              <a:buNone/>
            </a:pPr>
            <a:r>
              <a:rPr lang="en-US" sz="840" b="1" dirty="0">
                <a:solidFill>
                  <a:srgbClr val="1B1815"/>
                </a:solidFill>
                <a:latin typeface="Calibri" pitchFamily="34" charset="0"/>
                <a:ea typeface="Calibri" pitchFamily="34" charset="-122"/>
                <a:cs typeface="Calibri" pitchFamily="34" charset="-120"/>
              </a:rPr>
              <a:t>Milan systemic therapy</a:t>
            </a:r>
            <a:endParaRPr lang="en-US" sz="840" dirty="0"/>
          </a:p>
        </p:txBody>
      </p:sp>
      <p:sp>
        <p:nvSpPr>
          <p:cNvPr id="35" name="Text 33"/>
          <p:cNvSpPr txBox="1"/>
          <p:nvPr/>
        </p:nvSpPr>
        <p:spPr>
          <a:xfrm>
            <a:off x="5225796" y="4572000"/>
            <a:ext cx="1737360" cy="211455"/>
          </a:xfrm>
          <a:prstGeom prst="rect">
            <a:avLst/>
          </a:prstGeom>
          <a:noFill/>
          <a:ln/>
        </p:spPr>
        <p:txBody>
          <a:bodyPr wrap="square" lIns="0" tIns="0" rIns="0" bIns="0" rtlCol="0" anchor="t"/>
          <a:lstStyle/>
          <a:p>
            <a:pPr algn="ctr" indent="0" marL="0">
              <a:lnSpc>
                <a:spcPts val="925"/>
              </a:lnSpc>
              <a:buNone/>
            </a:pPr>
            <a:r>
              <a:rPr lang="en-US" sz="740" dirty="0">
                <a:solidFill>
                  <a:srgbClr val="5B544A"/>
                </a:solidFill>
                <a:latin typeface="Calibri" pitchFamily="34" charset="0"/>
                <a:ea typeface="Calibri" pitchFamily="34" charset="-122"/>
                <a:cs typeface="Calibri" pitchFamily="34" charset="-120"/>
              </a:rPr>
              <a:t>hypothesising, circularity, neutrality</a:t>
            </a:r>
            <a:endParaRPr lang="en-US" sz="740" dirty="0"/>
          </a:p>
        </p:txBody>
      </p:sp>
      <p:sp>
        <p:nvSpPr>
          <p:cNvPr id="36" name="Shape 34"/>
          <p:cNvSpPr/>
          <p:nvPr/>
        </p:nvSpPr>
        <p:spPr>
          <a:xfrm>
            <a:off x="7725156" y="3634740"/>
            <a:ext cx="100584" cy="100584"/>
          </a:xfrm>
          <a:prstGeom prst="ellipse">
            <a:avLst/>
          </a:prstGeom>
          <a:solidFill>
            <a:srgbClr val="F8F3E9"/>
          </a:solidFill>
          <a:ln w="12700">
            <a:solidFill>
              <a:srgbClr val="C2A05F"/>
            </a:solidFill>
            <a:prstDash val="solid"/>
          </a:ln>
        </p:spPr>
      </p:sp>
      <p:sp>
        <p:nvSpPr>
          <p:cNvPr id="37" name="Shape 35"/>
          <p:cNvSpPr/>
          <p:nvPr/>
        </p:nvSpPr>
        <p:spPr>
          <a:xfrm>
            <a:off x="7758989" y="3668573"/>
            <a:ext cx="32918" cy="32918"/>
          </a:xfrm>
          <a:prstGeom prst="ellipse">
            <a:avLst/>
          </a:prstGeom>
          <a:solidFill>
            <a:srgbClr val="96733C"/>
          </a:solidFill>
          <a:ln w="12700">
            <a:solidFill>
              <a:srgbClr val="FFFFFF">
                <a:alpha val="0"/>
              </a:srgbClr>
            </a:solidFill>
            <a:prstDash val="solid"/>
          </a:ln>
        </p:spPr>
      </p:sp>
      <p:sp>
        <p:nvSpPr>
          <p:cNvPr id="38" name="Shape 36"/>
          <p:cNvSpPr/>
          <p:nvPr/>
        </p:nvSpPr>
        <p:spPr>
          <a:xfrm flipV="1">
            <a:off x="7775448" y="3227832"/>
            <a:ext cx="91" cy="384048"/>
          </a:xfrm>
          <a:prstGeom prst="line">
            <a:avLst/>
          </a:prstGeom>
          <a:noFill/>
          <a:ln w="7620">
            <a:solidFill>
              <a:srgbClr val="D9CDB7"/>
            </a:solidFill>
            <a:prstDash val="solid"/>
            <a:headEnd type="none"/>
            <a:tailEnd type="none"/>
          </a:ln>
        </p:spPr>
      </p:sp>
      <p:sp>
        <p:nvSpPr>
          <p:cNvPr id="39" name="Text 37"/>
          <p:cNvSpPr txBox="1"/>
          <p:nvPr/>
        </p:nvSpPr>
        <p:spPr>
          <a:xfrm>
            <a:off x="6906768" y="2386584"/>
            <a:ext cx="1737360" cy="447675"/>
          </a:xfrm>
          <a:prstGeom prst="rect">
            <a:avLst/>
          </a:prstGeom>
          <a:noFill/>
          <a:ln/>
        </p:spPr>
        <p:txBody>
          <a:bodyPr wrap="square" lIns="0" tIns="0" rIns="0" bIns="0" rtlCol="0" anchor="t"/>
          <a:lstStyle/>
          <a:p>
            <a:pPr algn="ctr" indent="0" marL="0">
              <a:lnSpc>
                <a:spcPts val="2025"/>
              </a:lnSpc>
              <a:buNone/>
            </a:pPr>
            <a:r>
              <a:rPr lang="en-US" sz="1500" dirty="0">
                <a:solidFill>
                  <a:srgbClr val="96733C"/>
                </a:solidFill>
                <a:latin typeface="Georgia" pitchFamily="34" charset="0"/>
                <a:ea typeface="Georgia" pitchFamily="34" charset="-122"/>
                <a:cs typeface="Georgia" pitchFamily="34" charset="-120"/>
              </a:rPr>
              <a:t>1980s</a:t>
            </a:r>
            <a:endParaRPr lang="en-US" sz="1500" dirty="0"/>
          </a:p>
        </p:txBody>
      </p:sp>
      <p:sp>
        <p:nvSpPr>
          <p:cNvPr id="40" name="Text 38"/>
          <p:cNvSpPr txBox="1"/>
          <p:nvPr/>
        </p:nvSpPr>
        <p:spPr>
          <a:xfrm>
            <a:off x="6906768" y="2715768"/>
            <a:ext cx="1737360" cy="234696"/>
          </a:xfrm>
          <a:prstGeom prst="rect">
            <a:avLst/>
          </a:prstGeom>
          <a:noFill/>
          <a:ln/>
        </p:spPr>
        <p:txBody>
          <a:bodyPr wrap="square" lIns="0" tIns="0" rIns="0" bIns="0" rtlCol="0" anchor="t"/>
          <a:lstStyle/>
          <a:p>
            <a:pPr algn="ctr" indent="0" marL="0">
              <a:lnSpc>
                <a:spcPts val="1008"/>
              </a:lnSpc>
              <a:buNone/>
            </a:pPr>
            <a:r>
              <a:rPr lang="en-US" sz="840" b="1" dirty="0">
                <a:solidFill>
                  <a:srgbClr val="1B1815"/>
                </a:solidFill>
                <a:latin typeface="Calibri" pitchFamily="34" charset="0"/>
                <a:ea typeface="Calibri" pitchFamily="34" charset="-122"/>
                <a:cs typeface="Calibri" pitchFamily="34" charset="-120"/>
              </a:rPr>
              <a:t>Postmodern &amp; EFT turns</a:t>
            </a:r>
            <a:endParaRPr lang="en-US" sz="840" dirty="0"/>
          </a:p>
        </p:txBody>
      </p:sp>
      <p:sp>
        <p:nvSpPr>
          <p:cNvPr id="41" name="Text 39"/>
          <p:cNvSpPr txBox="1"/>
          <p:nvPr/>
        </p:nvSpPr>
        <p:spPr>
          <a:xfrm>
            <a:off x="6906768" y="2889504"/>
            <a:ext cx="1737360" cy="211455"/>
          </a:xfrm>
          <a:prstGeom prst="rect">
            <a:avLst/>
          </a:prstGeom>
          <a:noFill/>
          <a:ln/>
        </p:spPr>
        <p:txBody>
          <a:bodyPr wrap="square" lIns="0" tIns="0" rIns="0" bIns="0" rtlCol="0" anchor="t"/>
          <a:lstStyle/>
          <a:p>
            <a:pPr algn="ctr" indent="0" marL="0">
              <a:lnSpc>
                <a:spcPts val="925"/>
              </a:lnSpc>
              <a:buNone/>
            </a:pPr>
            <a:r>
              <a:rPr lang="en-US" sz="740" dirty="0">
                <a:solidFill>
                  <a:srgbClr val="5B544A"/>
                </a:solidFill>
                <a:latin typeface="Calibri" pitchFamily="34" charset="0"/>
                <a:ea typeface="Calibri" pitchFamily="34" charset="-122"/>
                <a:cs typeface="Calibri" pitchFamily="34" charset="-120"/>
              </a:rPr>
              <a:t>narrative, solution-focused, attachment</a:t>
            </a:r>
            <a:endParaRPr lang="en-US" sz="740" dirty="0"/>
          </a:p>
        </p:txBody>
      </p:sp>
      <p:sp>
        <p:nvSpPr>
          <p:cNvPr id="42" name="Shape 40"/>
          <p:cNvSpPr/>
          <p:nvPr/>
        </p:nvSpPr>
        <p:spPr>
          <a:xfrm>
            <a:off x="9406128" y="3634740"/>
            <a:ext cx="100584" cy="100584"/>
          </a:xfrm>
          <a:prstGeom prst="ellipse">
            <a:avLst/>
          </a:prstGeom>
          <a:solidFill>
            <a:srgbClr val="F8F3E9"/>
          </a:solidFill>
          <a:ln w="12700">
            <a:solidFill>
              <a:srgbClr val="C2A05F"/>
            </a:solidFill>
            <a:prstDash val="solid"/>
          </a:ln>
        </p:spPr>
      </p:sp>
      <p:sp>
        <p:nvSpPr>
          <p:cNvPr id="43" name="Shape 41"/>
          <p:cNvSpPr/>
          <p:nvPr/>
        </p:nvSpPr>
        <p:spPr>
          <a:xfrm>
            <a:off x="9439961" y="3668573"/>
            <a:ext cx="32918" cy="32918"/>
          </a:xfrm>
          <a:prstGeom prst="ellipse">
            <a:avLst/>
          </a:prstGeom>
          <a:solidFill>
            <a:srgbClr val="96733C"/>
          </a:solidFill>
          <a:ln w="12700">
            <a:solidFill>
              <a:srgbClr val="FFFFFF">
                <a:alpha val="0"/>
              </a:srgbClr>
            </a:solidFill>
            <a:prstDash val="solid"/>
          </a:ln>
        </p:spPr>
      </p:sp>
      <p:sp>
        <p:nvSpPr>
          <p:cNvPr id="44" name="Shape 42"/>
          <p:cNvSpPr/>
          <p:nvPr/>
        </p:nvSpPr>
        <p:spPr>
          <a:xfrm>
            <a:off x="9456420" y="3758184"/>
            <a:ext cx="91" cy="274320"/>
          </a:xfrm>
          <a:prstGeom prst="line">
            <a:avLst/>
          </a:prstGeom>
          <a:noFill/>
          <a:ln w="7620">
            <a:solidFill>
              <a:srgbClr val="D9CDB7"/>
            </a:solidFill>
            <a:prstDash val="solid"/>
            <a:headEnd type="none"/>
            <a:tailEnd type="none"/>
          </a:ln>
        </p:spPr>
      </p:sp>
      <p:sp>
        <p:nvSpPr>
          <p:cNvPr id="45" name="Text 43"/>
          <p:cNvSpPr txBox="1"/>
          <p:nvPr/>
        </p:nvSpPr>
        <p:spPr>
          <a:xfrm>
            <a:off x="8587740" y="4069080"/>
            <a:ext cx="1737360" cy="447675"/>
          </a:xfrm>
          <a:prstGeom prst="rect">
            <a:avLst/>
          </a:prstGeom>
          <a:noFill/>
          <a:ln/>
        </p:spPr>
        <p:txBody>
          <a:bodyPr wrap="square" lIns="0" tIns="0" rIns="0" bIns="0" rtlCol="0" anchor="t"/>
          <a:lstStyle/>
          <a:p>
            <a:pPr algn="ctr" indent="0" marL="0">
              <a:lnSpc>
                <a:spcPts val="2025"/>
              </a:lnSpc>
              <a:buNone/>
            </a:pPr>
            <a:r>
              <a:rPr lang="en-US" sz="1500" dirty="0">
                <a:solidFill>
                  <a:srgbClr val="96733C"/>
                </a:solidFill>
                <a:latin typeface="Georgia" pitchFamily="34" charset="0"/>
                <a:ea typeface="Georgia" pitchFamily="34" charset="-122"/>
                <a:cs typeface="Georgia" pitchFamily="34" charset="-120"/>
              </a:rPr>
              <a:t>1990s</a:t>
            </a:r>
            <a:endParaRPr lang="en-US" sz="1500" dirty="0"/>
          </a:p>
        </p:txBody>
      </p:sp>
      <p:sp>
        <p:nvSpPr>
          <p:cNvPr id="46" name="Text 44"/>
          <p:cNvSpPr txBox="1"/>
          <p:nvPr/>
        </p:nvSpPr>
        <p:spPr>
          <a:xfrm>
            <a:off x="8587740" y="4398264"/>
            <a:ext cx="1737360" cy="234696"/>
          </a:xfrm>
          <a:prstGeom prst="rect">
            <a:avLst/>
          </a:prstGeom>
          <a:noFill/>
          <a:ln/>
        </p:spPr>
        <p:txBody>
          <a:bodyPr wrap="square" lIns="0" tIns="0" rIns="0" bIns="0" rtlCol="0" anchor="t"/>
          <a:lstStyle/>
          <a:p>
            <a:pPr algn="ctr" indent="0" marL="0">
              <a:lnSpc>
                <a:spcPts val="1008"/>
              </a:lnSpc>
              <a:buNone/>
            </a:pPr>
            <a:r>
              <a:rPr lang="en-US" sz="840" b="1" dirty="0">
                <a:solidFill>
                  <a:srgbClr val="1B1815"/>
                </a:solidFill>
                <a:latin typeface="Calibri" pitchFamily="34" charset="0"/>
                <a:ea typeface="Calibri" pitchFamily="34" charset="-122"/>
                <a:cs typeface="Calibri" pitchFamily="34" charset="-120"/>
              </a:rPr>
              <a:t>Evidence-based practice</a:t>
            </a:r>
            <a:endParaRPr lang="en-US" sz="840" dirty="0"/>
          </a:p>
        </p:txBody>
      </p:sp>
      <p:sp>
        <p:nvSpPr>
          <p:cNvPr id="47" name="Text 45"/>
          <p:cNvSpPr txBox="1"/>
          <p:nvPr/>
        </p:nvSpPr>
        <p:spPr>
          <a:xfrm>
            <a:off x="8587740" y="4572000"/>
            <a:ext cx="1737360" cy="211455"/>
          </a:xfrm>
          <a:prstGeom prst="rect">
            <a:avLst/>
          </a:prstGeom>
          <a:noFill/>
          <a:ln/>
        </p:spPr>
        <p:txBody>
          <a:bodyPr wrap="square" lIns="0" tIns="0" rIns="0" bIns="0" rtlCol="0" anchor="t"/>
          <a:lstStyle/>
          <a:p>
            <a:pPr algn="ctr" indent="0" marL="0">
              <a:lnSpc>
                <a:spcPts val="925"/>
              </a:lnSpc>
              <a:buNone/>
            </a:pPr>
            <a:r>
              <a:rPr lang="en-US" sz="740" dirty="0">
                <a:solidFill>
                  <a:srgbClr val="5B544A"/>
                </a:solidFill>
                <a:latin typeface="Calibri" pitchFamily="34" charset="0"/>
                <a:ea typeface="Calibri" pitchFamily="34" charset="-122"/>
                <a:cs typeface="Calibri" pitchFamily="34" charset="-120"/>
              </a:rPr>
              <a:t>manualised models, outcome research</a:t>
            </a:r>
            <a:endParaRPr lang="en-US" sz="740" dirty="0"/>
          </a:p>
        </p:txBody>
      </p:sp>
      <p:sp>
        <p:nvSpPr>
          <p:cNvPr id="48" name="Shape 46"/>
          <p:cNvSpPr/>
          <p:nvPr/>
        </p:nvSpPr>
        <p:spPr>
          <a:xfrm>
            <a:off x="11087100" y="3634740"/>
            <a:ext cx="100584" cy="100584"/>
          </a:xfrm>
          <a:prstGeom prst="ellipse">
            <a:avLst/>
          </a:prstGeom>
          <a:solidFill>
            <a:srgbClr val="F8F3E9"/>
          </a:solidFill>
          <a:ln w="12700">
            <a:solidFill>
              <a:srgbClr val="C2A05F"/>
            </a:solidFill>
            <a:prstDash val="solid"/>
          </a:ln>
        </p:spPr>
      </p:sp>
      <p:sp>
        <p:nvSpPr>
          <p:cNvPr id="49" name="Shape 47"/>
          <p:cNvSpPr/>
          <p:nvPr/>
        </p:nvSpPr>
        <p:spPr>
          <a:xfrm>
            <a:off x="11120933" y="3668573"/>
            <a:ext cx="32918" cy="32918"/>
          </a:xfrm>
          <a:prstGeom prst="ellipse">
            <a:avLst/>
          </a:prstGeom>
          <a:solidFill>
            <a:srgbClr val="96733C"/>
          </a:solidFill>
          <a:ln w="12700">
            <a:solidFill>
              <a:srgbClr val="FFFFFF">
                <a:alpha val="0"/>
              </a:srgbClr>
            </a:solidFill>
            <a:prstDash val="solid"/>
          </a:ln>
        </p:spPr>
      </p:sp>
      <p:sp>
        <p:nvSpPr>
          <p:cNvPr id="50" name="Shape 48"/>
          <p:cNvSpPr/>
          <p:nvPr/>
        </p:nvSpPr>
        <p:spPr>
          <a:xfrm flipV="1">
            <a:off x="11137392" y="3227832"/>
            <a:ext cx="91" cy="384048"/>
          </a:xfrm>
          <a:prstGeom prst="line">
            <a:avLst/>
          </a:prstGeom>
          <a:noFill/>
          <a:ln w="7620">
            <a:solidFill>
              <a:srgbClr val="D9CDB7"/>
            </a:solidFill>
            <a:prstDash val="solid"/>
            <a:headEnd type="none"/>
            <a:tailEnd type="none"/>
          </a:ln>
        </p:spPr>
      </p:sp>
      <p:sp>
        <p:nvSpPr>
          <p:cNvPr id="51" name="Text 49"/>
          <p:cNvSpPr txBox="1"/>
          <p:nvPr/>
        </p:nvSpPr>
        <p:spPr>
          <a:xfrm>
            <a:off x="10268712" y="2386584"/>
            <a:ext cx="1737360" cy="447675"/>
          </a:xfrm>
          <a:prstGeom prst="rect">
            <a:avLst/>
          </a:prstGeom>
          <a:noFill/>
          <a:ln/>
        </p:spPr>
        <p:txBody>
          <a:bodyPr wrap="square" lIns="0" tIns="0" rIns="0" bIns="0" rtlCol="0" anchor="t"/>
          <a:lstStyle/>
          <a:p>
            <a:pPr algn="ctr" indent="0" marL="0">
              <a:lnSpc>
                <a:spcPts val="2025"/>
              </a:lnSpc>
              <a:buNone/>
            </a:pPr>
            <a:r>
              <a:rPr lang="en-US" sz="1500" dirty="0">
                <a:solidFill>
                  <a:srgbClr val="96733C"/>
                </a:solidFill>
                <a:latin typeface="Georgia" pitchFamily="34" charset="0"/>
                <a:ea typeface="Georgia" pitchFamily="34" charset="-122"/>
                <a:cs typeface="Georgia" pitchFamily="34" charset="-120"/>
              </a:rPr>
              <a:t>2010s</a:t>
            </a:r>
            <a:endParaRPr lang="en-US" sz="1500" dirty="0"/>
          </a:p>
        </p:txBody>
      </p:sp>
      <p:sp>
        <p:nvSpPr>
          <p:cNvPr id="52" name="Text 50"/>
          <p:cNvSpPr txBox="1"/>
          <p:nvPr/>
        </p:nvSpPr>
        <p:spPr>
          <a:xfrm>
            <a:off x="10268712" y="2715768"/>
            <a:ext cx="1737360" cy="234696"/>
          </a:xfrm>
          <a:prstGeom prst="rect">
            <a:avLst/>
          </a:prstGeom>
          <a:noFill/>
          <a:ln/>
        </p:spPr>
        <p:txBody>
          <a:bodyPr wrap="square" lIns="0" tIns="0" rIns="0" bIns="0" rtlCol="0" anchor="t"/>
          <a:lstStyle/>
          <a:p>
            <a:pPr algn="ctr" indent="0" marL="0">
              <a:lnSpc>
                <a:spcPts val="1008"/>
              </a:lnSpc>
              <a:buNone/>
            </a:pPr>
            <a:r>
              <a:rPr lang="en-US" sz="840" b="1" dirty="0">
                <a:solidFill>
                  <a:srgbClr val="1B1815"/>
                </a:solidFill>
                <a:latin typeface="Calibri" pitchFamily="34" charset="0"/>
                <a:ea typeface="Calibri" pitchFamily="34" charset="-122"/>
                <a:cs typeface="Calibri" pitchFamily="34" charset="-120"/>
              </a:rPr>
              <a:t>Integration &amp; teletherapy</a:t>
            </a:r>
            <a:endParaRPr lang="en-US" sz="840" dirty="0"/>
          </a:p>
        </p:txBody>
      </p:sp>
      <p:sp>
        <p:nvSpPr>
          <p:cNvPr id="53" name="Text 51"/>
          <p:cNvSpPr txBox="1"/>
          <p:nvPr/>
        </p:nvSpPr>
        <p:spPr>
          <a:xfrm>
            <a:off x="10268712" y="3026664"/>
            <a:ext cx="1737360" cy="211455"/>
          </a:xfrm>
          <a:prstGeom prst="rect">
            <a:avLst/>
          </a:prstGeom>
          <a:noFill/>
          <a:ln/>
        </p:spPr>
        <p:txBody>
          <a:bodyPr wrap="square" lIns="0" tIns="0" rIns="0" bIns="0" rtlCol="0" anchor="t"/>
          <a:lstStyle/>
          <a:p>
            <a:pPr algn="ctr" indent="0" marL="0">
              <a:lnSpc>
                <a:spcPts val="925"/>
              </a:lnSpc>
              <a:buNone/>
            </a:pPr>
            <a:r>
              <a:rPr lang="en-US" sz="740" dirty="0">
                <a:solidFill>
                  <a:srgbClr val="5B544A"/>
                </a:solidFill>
                <a:latin typeface="Calibri" pitchFamily="34" charset="0"/>
                <a:ea typeface="Calibri" pitchFamily="34" charset="-122"/>
                <a:cs typeface="Calibri" pitchFamily="34" charset="-120"/>
              </a:rPr>
              <a:t>common factors, digital practice</a:t>
            </a:r>
            <a:endParaRPr lang="en-US" sz="740" dirty="0"/>
          </a:p>
        </p:txBody>
      </p:sp>
      <p:sp>
        <p:nvSpPr>
          <p:cNvPr id="54" name="Text 52"/>
          <p:cNvSpPr txBox="1"/>
          <p:nvPr/>
        </p:nvSpPr>
        <p:spPr>
          <a:xfrm>
            <a:off x="822960" y="5486400"/>
            <a:ext cx="10543032" cy="244729"/>
          </a:xfrm>
          <a:prstGeom prst="rect">
            <a:avLst/>
          </a:prstGeom>
          <a:noFill/>
          <a:ln/>
        </p:spPr>
        <p:txBody>
          <a:bodyPr wrap="square" lIns="0" tIns="0" rIns="0" bIns="0" rtlCol="0" anchor="t"/>
          <a:lstStyle/>
          <a:p>
            <a:pPr algn="ctr" indent="0" marL="0">
              <a:lnSpc>
                <a:spcPts val="1107"/>
              </a:lnSpc>
              <a:buNone/>
            </a:pPr>
            <a:r>
              <a:rPr lang="en-US" sz="820" i="1" dirty="0">
                <a:solidFill>
                  <a:srgbClr val="5B544A"/>
                </a:solidFill>
                <a:latin typeface="Calibri" pitchFamily="34" charset="0"/>
                <a:ea typeface="Calibri" pitchFamily="34" charset="-122"/>
                <a:cs typeface="Calibri" pitchFamily="34" charset="-120"/>
              </a:rPr>
              <a:t>A field born at the intersection of cybernetics, child guidance, and the clinic.</a:t>
            </a:r>
            <a:endParaRPr lang="en-US" sz="820" dirty="0"/>
          </a:p>
        </p:txBody>
      </p:sp>
      <p:sp>
        <p:nvSpPr>
          <p:cNvPr id="55" name="Text 53"/>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Dates are approximate and contested; the point is lineage, not chronology.</a:t>
            </a:r>
            <a:endParaRPr lang="en-US" sz="74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03 · CLINICAL APPLICATION</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19</a:t>
            </a:r>
            <a:endParaRPr lang="en-US" sz="950" dirty="0"/>
          </a:p>
        </p:txBody>
      </p:sp>
      <p:sp>
        <p:nvSpPr>
          <p:cNvPr id="8" name="Text 6"/>
          <p:cNvSpPr txBox="1"/>
          <p:nvPr/>
        </p:nvSpPr>
        <p:spPr>
          <a:xfrm>
            <a:off x="822960" y="932688"/>
            <a:ext cx="9509760" cy="775970"/>
          </a:xfrm>
          <a:prstGeom prst="rect">
            <a:avLst/>
          </a:prstGeom>
          <a:noFill/>
          <a:ln/>
        </p:spPr>
        <p:txBody>
          <a:bodyPr wrap="square" lIns="0" tIns="0" rIns="0" bIns="0" rtlCol="0" anchor="t"/>
          <a:lstStyle/>
          <a:p>
            <a:pPr algn="l" indent="0" marL="0">
              <a:lnSpc>
                <a:spcPts val="3510"/>
              </a:lnSpc>
              <a:buNone/>
            </a:pPr>
            <a:r>
              <a:rPr lang="en-US" sz="2600" dirty="0">
                <a:solidFill>
                  <a:srgbClr val="1B1815"/>
                </a:solidFill>
                <a:latin typeface="Georgia" pitchFamily="34" charset="0"/>
                <a:ea typeface="Georgia" pitchFamily="34" charset="-122"/>
                <a:cs typeface="Georgia" pitchFamily="34" charset="-120"/>
              </a:rPr>
              <a:t>Reading the present through the past</a:t>
            </a:r>
            <a:endParaRPr lang="en-US" sz="2600" dirty="0"/>
          </a:p>
        </p:txBody>
      </p:sp>
      <p:sp>
        <p:nvSpPr>
          <p:cNvPr id="9" name="Shape 7"/>
          <p:cNvSpPr/>
          <p:nvPr/>
        </p:nvSpPr>
        <p:spPr>
          <a:xfrm>
            <a:off x="822960" y="1463040"/>
            <a:ext cx="7059168" cy="1847088"/>
          </a:xfrm>
          <a:prstGeom prst="roundRect">
            <a:avLst>
              <a:gd name="adj" fmla="val 490"/>
            </a:avLst>
          </a:prstGeom>
          <a:solidFill>
            <a:srgbClr val="EFE5D3">
              <a:alpha val="50000"/>
            </a:srgbClr>
          </a:solidFill>
          <a:ln w="12700">
            <a:solidFill>
              <a:srgbClr val="FFFFFF">
                <a:alpha val="0"/>
              </a:srgbClr>
            </a:solidFill>
            <a:prstDash val="solid"/>
          </a:ln>
        </p:spPr>
      </p:sp>
      <p:sp>
        <p:nvSpPr>
          <p:cNvPr id="10" name="Shape 8"/>
          <p:cNvSpPr/>
          <p:nvPr/>
        </p:nvSpPr>
        <p:spPr>
          <a:xfrm>
            <a:off x="822960" y="1463040"/>
            <a:ext cx="45720" cy="1847088"/>
          </a:xfrm>
          <a:prstGeom prst="rect">
            <a:avLst/>
          </a:prstGeom>
          <a:solidFill>
            <a:srgbClr val="A96A45"/>
          </a:solidFill>
          <a:ln w="12700">
            <a:solidFill>
              <a:srgbClr val="FFFFFF">
                <a:alpha val="0"/>
              </a:srgbClr>
            </a:solidFill>
            <a:prstDash val="solid"/>
          </a:ln>
        </p:spPr>
      </p:sp>
      <p:sp>
        <p:nvSpPr>
          <p:cNvPr id="11" name="Text 9"/>
          <p:cNvSpPr txBox="1"/>
          <p:nvPr/>
        </p:nvSpPr>
        <p:spPr>
          <a:xfrm>
            <a:off x="1115568" y="1627632"/>
            <a:ext cx="2743200" cy="202946"/>
          </a:xfrm>
          <a:prstGeom prst="rect">
            <a:avLst/>
          </a:prstGeom>
          <a:noFill/>
          <a:ln/>
        </p:spPr>
        <p:txBody>
          <a:bodyPr wrap="square" lIns="0" tIns="0" rIns="0" bIns="0" rtlCol="0" anchor="t"/>
          <a:lstStyle/>
          <a:p>
            <a:pPr algn="l" indent="0" marL="0">
              <a:lnSpc>
                <a:spcPts val="918"/>
              </a:lnSpc>
              <a:buNone/>
            </a:pPr>
            <a:r>
              <a:rPr lang="en-US" sz="680" b="1" spc="200" kern="0" dirty="0">
                <a:solidFill>
                  <a:srgbClr val="A96A45"/>
                </a:solidFill>
                <a:latin typeface="Calibri" pitchFamily="34" charset="0"/>
                <a:ea typeface="Calibri" pitchFamily="34" charset="-122"/>
                <a:cs typeface="Calibri" pitchFamily="34" charset="-120"/>
              </a:rPr>
              <a:t>CLINICAL VIGNETTE</a:t>
            </a:r>
            <a:endParaRPr lang="en-US" sz="680" dirty="0"/>
          </a:p>
        </p:txBody>
      </p:sp>
      <p:sp>
        <p:nvSpPr>
          <p:cNvPr id="12" name="Text 10"/>
          <p:cNvSpPr txBox="1"/>
          <p:nvPr/>
        </p:nvSpPr>
        <p:spPr>
          <a:xfrm>
            <a:off x="1115568" y="2187854"/>
            <a:ext cx="6446520" cy="1280160"/>
          </a:xfrm>
          <a:prstGeom prst="rect">
            <a:avLst/>
          </a:prstGeom>
          <a:noFill/>
          <a:ln/>
        </p:spPr>
        <p:txBody>
          <a:bodyPr wrap="square" lIns="0" tIns="0" rIns="0" bIns="0" rtlCol="0" anchor="t"/>
          <a:lstStyle/>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A clinic introduces a manualised parenting programme for every family referred with</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“behaviour problems”. Clinicians report that families disengage after two sessions. The service</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manager asks you, as the new MFT, why.</a:t>
            </a:r>
            <a:endParaRPr lang="en-US" sz="1160" dirty="0"/>
          </a:p>
        </p:txBody>
      </p:sp>
      <p:sp>
        <p:nvSpPr>
          <p:cNvPr id="13" name="Shape 11"/>
          <p:cNvSpPr/>
          <p:nvPr/>
        </p:nvSpPr>
        <p:spPr>
          <a:xfrm>
            <a:off x="8101584" y="1463040"/>
            <a:ext cx="3264408" cy="1847088"/>
          </a:xfrm>
          <a:prstGeom prst="roundRect">
            <a:avLst>
              <a:gd name="adj" fmla="val 490"/>
            </a:avLst>
          </a:prstGeom>
          <a:solidFill>
            <a:srgbClr val="FFFFFF">
              <a:alpha val="0"/>
            </a:srgbClr>
          </a:solidFill>
          <a:ln w="7620">
            <a:solidFill>
              <a:srgbClr val="D9CDB7"/>
            </a:solidFill>
            <a:prstDash val="solid"/>
          </a:ln>
        </p:spPr>
      </p:sp>
      <p:sp>
        <p:nvSpPr>
          <p:cNvPr id="14" name="Text 12"/>
          <p:cNvSpPr txBox="1"/>
          <p:nvPr/>
        </p:nvSpPr>
        <p:spPr>
          <a:xfrm>
            <a:off x="8302752" y="1627632"/>
            <a:ext cx="2898648" cy="196977"/>
          </a:xfrm>
          <a:prstGeom prst="rect">
            <a:avLst/>
          </a:prstGeom>
          <a:noFill/>
          <a:ln/>
        </p:spPr>
        <p:txBody>
          <a:bodyPr wrap="square" lIns="0" tIns="0" rIns="0" bIns="0" rtlCol="0" anchor="t"/>
          <a:lstStyle/>
          <a:p>
            <a:pPr algn="l" indent="0" marL="0">
              <a:lnSpc>
                <a:spcPts val="891"/>
              </a:lnSpc>
              <a:buNone/>
            </a:pPr>
            <a:r>
              <a:rPr lang="en-US" sz="660" b="1" spc="180" kern="0" dirty="0">
                <a:solidFill>
                  <a:srgbClr val="6E8274"/>
                </a:solidFill>
                <a:latin typeface="Calibri" pitchFamily="34" charset="0"/>
                <a:ea typeface="Calibri" pitchFamily="34" charset="-122"/>
                <a:cs typeface="Calibri" pitchFamily="34" charset="-120"/>
              </a:rPr>
              <a:t>APPLY THIS WEEK</a:t>
            </a:r>
            <a:endParaRPr lang="en-US" sz="660" dirty="0"/>
          </a:p>
        </p:txBody>
      </p:sp>
      <p:sp>
        <p:nvSpPr>
          <p:cNvPr id="15" name="Shape 13"/>
          <p:cNvSpPr/>
          <p:nvPr/>
        </p:nvSpPr>
        <p:spPr>
          <a:xfrm>
            <a:off x="8322869" y="1967789"/>
            <a:ext cx="51206" cy="51206"/>
          </a:xfrm>
          <a:prstGeom prst="ellipse">
            <a:avLst/>
          </a:prstGeom>
          <a:solidFill>
            <a:srgbClr val="6E8274"/>
          </a:solidFill>
          <a:ln w="12700">
            <a:solidFill>
              <a:srgbClr val="FFFFFF">
                <a:alpha val="0"/>
              </a:srgbClr>
            </a:solidFill>
            <a:prstDash val="solid"/>
          </a:ln>
        </p:spPr>
      </p:sp>
      <p:sp>
        <p:nvSpPr>
          <p:cNvPr id="16" name="Text 14"/>
          <p:cNvSpPr txBox="1"/>
          <p:nvPr/>
        </p:nvSpPr>
        <p:spPr>
          <a:xfrm>
            <a:off x="8485632" y="1911096"/>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child guidance</a:t>
            </a:r>
            <a:endParaRPr lang="en-US" sz="830" dirty="0"/>
          </a:p>
        </p:txBody>
      </p:sp>
      <p:sp>
        <p:nvSpPr>
          <p:cNvPr id="17" name="Shape 15"/>
          <p:cNvSpPr/>
          <p:nvPr/>
        </p:nvSpPr>
        <p:spPr>
          <a:xfrm>
            <a:off x="8322869" y="2296973"/>
            <a:ext cx="51206" cy="51206"/>
          </a:xfrm>
          <a:prstGeom prst="ellipse">
            <a:avLst/>
          </a:prstGeom>
          <a:solidFill>
            <a:srgbClr val="6E8274"/>
          </a:solidFill>
          <a:ln w="12700">
            <a:solidFill>
              <a:srgbClr val="FFFFFF">
                <a:alpha val="0"/>
              </a:srgbClr>
            </a:solidFill>
            <a:prstDash val="solid"/>
          </a:ln>
        </p:spPr>
      </p:sp>
      <p:sp>
        <p:nvSpPr>
          <p:cNvPr id="18" name="Text 16"/>
          <p:cNvSpPr txBox="1"/>
          <p:nvPr/>
        </p:nvSpPr>
        <p:spPr>
          <a:xfrm>
            <a:off x="8485632" y="2240280"/>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Palo Alto</a:t>
            </a:r>
            <a:endParaRPr lang="en-US" sz="830" dirty="0"/>
          </a:p>
        </p:txBody>
      </p:sp>
      <p:sp>
        <p:nvSpPr>
          <p:cNvPr id="19" name="Shape 17"/>
          <p:cNvSpPr/>
          <p:nvPr/>
        </p:nvSpPr>
        <p:spPr>
          <a:xfrm>
            <a:off x="8322869" y="2626157"/>
            <a:ext cx="51206" cy="51206"/>
          </a:xfrm>
          <a:prstGeom prst="ellipse">
            <a:avLst/>
          </a:prstGeom>
          <a:solidFill>
            <a:srgbClr val="6E8274"/>
          </a:solidFill>
          <a:ln w="12700">
            <a:solidFill>
              <a:srgbClr val="FFFFFF">
                <a:alpha val="0"/>
              </a:srgbClr>
            </a:solidFill>
            <a:prstDash val="solid"/>
          </a:ln>
        </p:spPr>
      </p:sp>
      <p:sp>
        <p:nvSpPr>
          <p:cNvPr id="20" name="Text 18"/>
          <p:cNvSpPr txBox="1"/>
          <p:nvPr/>
        </p:nvSpPr>
        <p:spPr>
          <a:xfrm>
            <a:off x="8485632" y="2569464"/>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double bind</a:t>
            </a:r>
            <a:endParaRPr lang="en-US" sz="830" dirty="0"/>
          </a:p>
        </p:txBody>
      </p:sp>
      <p:sp>
        <p:nvSpPr>
          <p:cNvPr id="21" name="Shape 19"/>
          <p:cNvSpPr/>
          <p:nvPr/>
        </p:nvSpPr>
        <p:spPr>
          <a:xfrm>
            <a:off x="8322869" y="2955341"/>
            <a:ext cx="51206" cy="51206"/>
          </a:xfrm>
          <a:prstGeom prst="ellipse">
            <a:avLst/>
          </a:prstGeom>
          <a:solidFill>
            <a:srgbClr val="6E8274"/>
          </a:solidFill>
          <a:ln w="12700">
            <a:solidFill>
              <a:srgbClr val="FFFFFF">
                <a:alpha val="0"/>
              </a:srgbClr>
            </a:solidFill>
            <a:prstDash val="solid"/>
          </a:ln>
        </p:spPr>
      </p:sp>
      <p:sp>
        <p:nvSpPr>
          <p:cNvPr id="22" name="Text 20"/>
          <p:cNvSpPr txBox="1"/>
          <p:nvPr/>
        </p:nvSpPr>
        <p:spPr>
          <a:xfrm>
            <a:off x="8485632" y="2898648"/>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professionalisation</a:t>
            </a:r>
            <a:endParaRPr lang="en-US" sz="830" dirty="0"/>
          </a:p>
        </p:txBody>
      </p:sp>
      <p:sp>
        <p:nvSpPr>
          <p:cNvPr id="23" name="Text 21"/>
          <p:cNvSpPr txBox="1"/>
          <p:nvPr/>
        </p:nvSpPr>
        <p:spPr>
          <a:xfrm>
            <a:off x="822960" y="3675888"/>
            <a:ext cx="3657600" cy="214884"/>
          </a:xfrm>
          <a:prstGeom prst="rect">
            <a:avLst/>
          </a:prstGeom>
          <a:noFill/>
          <a:ln/>
        </p:spPr>
        <p:txBody>
          <a:bodyPr wrap="square" lIns="0" tIns="0" rIns="0" bIns="0" rtlCol="0" anchor="t"/>
          <a:lstStyle/>
          <a:p>
            <a:pPr algn="l" indent="0" marL="0">
              <a:lnSpc>
                <a:spcPts val="972"/>
              </a:lnSpc>
              <a:buNone/>
            </a:pPr>
            <a:r>
              <a:rPr lang="en-US" sz="720" b="1" spc="200" kern="0" dirty="0">
                <a:solidFill>
                  <a:srgbClr val="96733C"/>
                </a:solidFill>
                <a:latin typeface="Calibri" pitchFamily="34" charset="0"/>
                <a:ea typeface="Calibri" pitchFamily="34" charset="-122"/>
                <a:cs typeface="Calibri" pitchFamily="34" charset="-120"/>
              </a:rPr>
              <a:t>REFLECTION</a:t>
            </a:r>
            <a:endParaRPr lang="en-US" sz="720" dirty="0"/>
          </a:p>
        </p:txBody>
      </p:sp>
      <p:sp>
        <p:nvSpPr>
          <p:cNvPr id="24" name="Shape 22"/>
          <p:cNvSpPr/>
          <p:nvPr/>
        </p:nvSpPr>
        <p:spPr>
          <a:xfrm>
            <a:off x="1828800" y="3730752"/>
            <a:ext cx="548640" cy="91"/>
          </a:xfrm>
          <a:prstGeom prst="line">
            <a:avLst/>
          </a:prstGeom>
          <a:noFill/>
          <a:ln w="10160">
            <a:solidFill>
              <a:srgbClr val="C2A05F"/>
            </a:solidFill>
            <a:prstDash val="solid"/>
            <a:headEnd type="none"/>
            <a:tailEnd type="none"/>
          </a:ln>
        </p:spPr>
      </p:sp>
      <p:sp>
        <p:nvSpPr>
          <p:cNvPr id="25" name="Shape 23"/>
          <p:cNvSpPr/>
          <p:nvPr/>
        </p:nvSpPr>
        <p:spPr>
          <a:xfrm>
            <a:off x="822960" y="4041648"/>
            <a:ext cx="3319272" cy="1627632"/>
          </a:xfrm>
          <a:prstGeom prst="roundRect">
            <a:avLst>
              <a:gd name="adj" fmla="val 631"/>
            </a:avLst>
          </a:prstGeom>
          <a:solidFill>
            <a:srgbClr val="FCF8EF"/>
          </a:solidFill>
          <a:ln w="6350">
            <a:solidFill>
              <a:srgbClr val="D9CDB7"/>
            </a:solidFill>
            <a:prstDash val="solid"/>
          </a:ln>
        </p:spPr>
      </p:sp>
      <p:sp>
        <p:nvSpPr>
          <p:cNvPr id="26" name="Text 24"/>
          <p:cNvSpPr txBox="1"/>
          <p:nvPr/>
        </p:nvSpPr>
        <p:spPr>
          <a:xfrm>
            <a:off x="102412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27" name="Text 25"/>
          <p:cNvSpPr txBox="1"/>
          <p:nvPr/>
        </p:nvSpPr>
        <p:spPr>
          <a:xfrm>
            <a:off x="102412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Which historical tension does this reproduce?</a:t>
            </a:r>
            <a:endParaRPr lang="en-US" sz="920" dirty="0"/>
          </a:p>
        </p:txBody>
      </p:sp>
      <p:sp>
        <p:nvSpPr>
          <p:cNvPr id="28" name="Shape 26"/>
          <p:cNvSpPr/>
          <p:nvPr/>
        </p:nvSpPr>
        <p:spPr>
          <a:xfrm>
            <a:off x="1024128" y="5248656"/>
            <a:ext cx="2916936" cy="91"/>
          </a:xfrm>
          <a:prstGeom prst="line">
            <a:avLst/>
          </a:prstGeom>
          <a:noFill/>
          <a:ln w="3810">
            <a:solidFill>
              <a:srgbClr val="D9CDB7">
                <a:alpha val="75000"/>
              </a:srgbClr>
            </a:solidFill>
            <a:prstDash val="sysDot"/>
            <a:headEnd type="none"/>
            <a:tailEnd type="none"/>
          </a:ln>
        </p:spPr>
      </p:sp>
      <p:sp>
        <p:nvSpPr>
          <p:cNvPr id="29" name="Shape 27"/>
          <p:cNvSpPr/>
          <p:nvPr/>
        </p:nvSpPr>
        <p:spPr>
          <a:xfrm>
            <a:off x="1024128" y="5468112"/>
            <a:ext cx="2916936" cy="91"/>
          </a:xfrm>
          <a:prstGeom prst="line">
            <a:avLst/>
          </a:prstGeom>
          <a:noFill/>
          <a:ln w="3810">
            <a:solidFill>
              <a:srgbClr val="D9CDB7">
                <a:alpha val="75000"/>
              </a:srgbClr>
            </a:solidFill>
            <a:prstDash val="sysDot"/>
            <a:headEnd type="none"/>
            <a:tailEnd type="none"/>
          </a:ln>
        </p:spPr>
      </p:sp>
      <p:sp>
        <p:nvSpPr>
          <p:cNvPr id="30" name="Shape 28"/>
          <p:cNvSpPr/>
          <p:nvPr/>
        </p:nvSpPr>
        <p:spPr>
          <a:xfrm>
            <a:off x="4434840" y="4041648"/>
            <a:ext cx="3319272" cy="1627632"/>
          </a:xfrm>
          <a:prstGeom prst="roundRect">
            <a:avLst>
              <a:gd name="adj" fmla="val 631"/>
            </a:avLst>
          </a:prstGeom>
          <a:solidFill>
            <a:srgbClr val="FCF8EF"/>
          </a:solidFill>
          <a:ln w="6350">
            <a:solidFill>
              <a:srgbClr val="D9CDB7"/>
            </a:solidFill>
            <a:prstDash val="solid"/>
          </a:ln>
        </p:spPr>
      </p:sp>
      <p:sp>
        <p:nvSpPr>
          <p:cNvPr id="31" name="Text 29"/>
          <p:cNvSpPr txBox="1"/>
          <p:nvPr/>
        </p:nvSpPr>
        <p:spPr>
          <a:xfrm>
            <a:off x="463600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32" name="Text 30"/>
          <p:cNvSpPr txBox="1"/>
          <p:nvPr/>
        </p:nvSpPr>
        <p:spPr>
          <a:xfrm>
            <a:off x="4636008" y="4443984"/>
            <a:ext cx="2916936" cy="448666"/>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is lost when a model is applied without systemic</a:t>
            </a:r>
            <a:endParaRPr lang="en-US" sz="920" dirty="0"/>
          </a:p>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assessment?</a:t>
            </a:r>
            <a:endParaRPr lang="en-US" sz="920" dirty="0"/>
          </a:p>
        </p:txBody>
      </p:sp>
      <p:sp>
        <p:nvSpPr>
          <p:cNvPr id="33" name="Shape 31"/>
          <p:cNvSpPr/>
          <p:nvPr/>
        </p:nvSpPr>
        <p:spPr>
          <a:xfrm>
            <a:off x="4636008" y="5248656"/>
            <a:ext cx="2916936" cy="91"/>
          </a:xfrm>
          <a:prstGeom prst="line">
            <a:avLst/>
          </a:prstGeom>
          <a:noFill/>
          <a:ln w="3810">
            <a:solidFill>
              <a:srgbClr val="D9CDB7">
                <a:alpha val="75000"/>
              </a:srgbClr>
            </a:solidFill>
            <a:prstDash val="sysDot"/>
            <a:headEnd type="none"/>
            <a:tailEnd type="none"/>
          </a:ln>
        </p:spPr>
      </p:sp>
      <p:sp>
        <p:nvSpPr>
          <p:cNvPr id="34" name="Shape 32"/>
          <p:cNvSpPr/>
          <p:nvPr/>
        </p:nvSpPr>
        <p:spPr>
          <a:xfrm>
            <a:off x="4636008" y="5468112"/>
            <a:ext cx="2916936" cy="91"/>
          </a:xfrm>
          <a:prstGeom prst="line">
            <a:avLst/>
          </a:prstGeom>
          <a:noFill/>
          <a:ln w="3810">
            <a:solidFill>
              <a:srgbClr val="D9CDB7">
                <a:alpha val="75000"/>
              </a:srgbClr>
            </a:solidFill>
            <a:prstDash val="sysDot"/>
            <a:headEnd type="none"/>
            <a:tailEnd type="none"/>
          </a:ln>
        </p:spPr>
      </p:sp>
      <p:sp>
        <p:nvSpPr>
          <p:cNvPr id="35" name="Shape 33"/>
          <p:cNvSpPr/>
          <p:nvPr/>
        </p:nvSpPr>
        <p:spPr>
          <a:xfrm>
            <a:off x="8046720" y="4041648"/>
            <a:ext cx="3319272" cy="1627632"/>
          </a:xfrm>
          <a:prstGeom prst="roundRect">
            <a:avLst>
              <a:gd name="adj" fmla="val 631"/>
            </a:avLst>
          </a:prstGeom>
          <a:solidFill>
            <a:srgbClr val="FCF8EF"/>
          </a:solidFill>
          <a:ln w="6350">
            <a:solidFill>
              <a:srgbClr val="D9CDB7"/>
            </a:solidFill>
            <a:prstDash val="solid"/>
          </a:ln>
        </p:spPr>
      </p:sp>
      <p:sp>
        <p:nvSpPr>
          <p:cNvPr id="36" name="Text 34"/>
          <p:cNvSpPr txBox="1"/>
          <p:nvPr/>
        </p:nvSpPr>
        <p:spPr>
          <a:xfrm>
            <a:off x="824788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7" name="Text 35"/>
          <p:cNvSpPr txBox="1"/>
          <p:nvPr/>
        </p:nvSpPr>
        <p:spPr>
          <a:xfrm>
            <a:off x="8247888" y="4443984"/>
            <a:ext cx="2916936" cy="448666"/>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How would you argue for relational assessment without</a:t>
            </a:r>
            <a:endParaRPr lang="en-US" sz="920" dirty="0"/>
          </a:p>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abandoning evidence?</a:t>
            </a:r>
            <a:endParaRPr lang="en-US" sz="920" dirty="0"/>
          </a:p>
        </p:txBody>
      </p:sp>
      <p:sp>
        <p:nvSpPr>
          <p:cNvPr id="38" name="Shape 36"/>
          <p:cNvSpPr/>
          <p:nvPr/>
        </p:nvSpPr>
        <p:spPr>
          <a:xfrm>
            <a:off x="8247888" y="5248656"/>
            <a:ext cx="2916936" cy="91"/>
          </a:xfrm>
          <a:prstGeom prst="line">
            <a:avLst/>
          </a:prstGeom>
          <a:noFill/>
          <a:ln w="3810">
            <a:solidFill>
              <a:srgbClr val="D9CDB7">
                <a:alpha val="75000"/>
              </a:srgbClr>
            </a:solidFill>
            <a:prstDash val="sysDot"/>
            <a:headEnd type="none"/>
            <a:tailEnd type="none"/>
          </a:ln>
        </p:spPr>
      </p:sp>
      <p:sp>
        <p:nvSpPr>
          <p:cNvPr id="39" name="Shape 37"/>
          <p:cNvSpPr/>
          <p:nvPr/>
        </p:nvSpPr>
        <p:spPr>
          <a:xfrm>
            <a:off x="8247888" y="5468112"/>
            <a:ext cx="2916936" cy="91"/>
          </a:xfrm>
          <a:prstGeom prst="line">
            <a:avLst/>
          </a:prstGeom>
          <a:noFill/>
          <a:ln w="3810">
            <a:solidFill>
              <a:srgbClr val="D9CDB7">
                <a:alpha val="75000"/>
              </a:srgbClr>
            </a:solidFill>
            <a:prstDash val="sysDot"/>
            <a:headEnd type="none"/>
            <a:tailEnd type="none"/>
          </a:ln>
        </p:spPr>
      </p:sp>
      <p:sp>
        <p:nvSpPr>
          <p:cNvPr id="40" name="Text 38"/>
          <p:cNvSpPr txBox="1"/>
          <p:nvPr/>
        </p:nvSpPr>
        <p:spPr>
          <a:xfrm>
            <a:off x="822960" y="5742432"/>
            <a:ext cx="9875520" cy="244729"/>
          </a:xfrm>
          <a:prstGeom prst="rect">
            <a:avLst/>
          </a:prstGeom>
          <a:noFill/>
          <a:ln/>
        </p:spPr>
        <p:txBody>
          <a:bodyPr wrap="square" lIns="0" tIns="0" rIns="0" bIns="0" rtlCol="0" anchor="t"/>
          <a:lstStyle/>
          <a:p>
            <a:pPr algn="l" indent="0" marL="0">
              <a:lnSpc>
                <a:spcPts val="1107"/>
              </a:lnSpc>
              <a:buNone/>
            </a:pPr>
            <a:r>
              <a:rPr lang="en-US" sz="820" i="1" dirty="0">
                <a:solidFill>
                  <a:srgbClr val="8B8375"/>
                </a:solidFill>
                <a:latin typeface="Calibri" pitchFamily="34" charset="0"/>
                <a:ea typeface="Calibri" pitchFamily="34" charset="-122"/>
                <a:cs typeface="Calibri" pitchFamily="34" charset="-120"/>
              </a:rPr>
              <a:t>Discuss in seminar · bring one formulation to supervision.</a:t>
            </a:r>
            <a:endParaRPr lang="en-US" sz="8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04 · PHASE I — FOUNDATIONS</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04</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Structural and Strategic</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Foundations</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476377"/>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If the problem lives in the organisation of the family, what exactly do we change?</a:t>
            </a:r>
            <a:endParaRPr lang="en-US" sz="1550" dirty="0"/>
          </a:p>
        </p:txBody>
      </p:sp>
      <p:sp>
        <p:nvSpPr>
          <p:cNvPr id="8" name="Shape 6"/>
          <p:cNvSpPr/>
          <p:nvPr/>
        </p:nvSpPr>
        <p:spPr>
          <a:xfrm>
            <a:off x="822960" y="3911219"/>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architecture of family life</a:t>
            </a:r>
            <a:endParaRPr lang="en-US" sz="850" dirty="0"/>
          </a:p>
        </p:txBody>
      </p:sp>
      <p:sp>
        <p:nvSpPr>
          <p:cNvPr id="11" name="Text 9"/>
          <p:cNvSpPr txBox="1"/>
          <p:nvPr/>
        </p:nvSpPr>
        <p:spPr>
          <a:xfrm>
            <a:off x="3282696"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A family, drawn as a system</a:t>
            </a:r>
            <a:endParaRPr lang="en-US" sz="850" dirty="0"/>
          </a:p>
        </p:txBody>
      </p:sp>
      <p:sp>
        <p:nvSpPr>
          <p:cNvPr id="13" name="Text 11"/>
          <p:cNvSpPr txBox="1"/>
          <p:nvPr/>
        </p:nvSpPr>
        <p:spPr>
          <a:xfrm>
            <a:off x="5742432"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CLINICAL CASE</a:t>
            </a:r>
            <a:endParaRPr lang="en-US" sz="620" dirty="0"/>
          </a:p>
        </p:txBody>
      </p:sp>
      <p:sp>
        <p:nvSpPr>
          <p:cNvPr id="14" name="Text 12"/>
          <p:cNvSpPr txBox="1"/>
          <p:nvPr/>
        </p:nvSpPr>
        <p:spPr>
          <a:xfrm>
            <a:off x="5742432"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A family that cannot agree on the problem</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Map boundaries, hierarchy and coalitions in a family.</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Distinguish structural from strategic clinical logic.</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Design and debrief one enactment.</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boundary · hierarchy · subsystem · enactment · directive</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Minuchin (1974), ch. 1–4 · Haley (1976) · Minuchin &amp; Fishman (1981)</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2862072" y="5696712"/>
            <a:ext cx="128016" cy="128016"/>
          </a:xfrm>
          <a:prstGeom prst="ellipse">
            <a:avLst/>
          </a:prstGeom>
          <a:solidFill>
            <a:srgbClr val="C2A05F"/>
          </a:solidFill>
          <a:ln w="8890">
            <a:solidFill>
              <a:srgbClr val="E7D3A9"/>
            </a:solidFill>
            <a:prstDash val="solid"/>
          </a:ln>
        </p:spPr>
      </p:sp>
      <p:sp>
        <p:nvSpPr>
          <p:cNvPr id="31" name="Shape 29"/>
          <p:cNvSpPr/>
          <p:nvPr/>
        </p:nvSpPr>
        <p:spPr>
          <a:xfrm>
            <a:off x="3597859" y="5731459"/>
            <a:ext cx="58522" cy="58522"/>
          </a:xfrm>
          <a:prstGeom prst="ellipse">
            <a:avLst/>
          </a:prstGeom>
          <a:solidFill>
            <a:srgbClr val="1E1913"/>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1E1913"/>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1E1913"/>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1E1913"/>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1E1913"/>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1E1913"/>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1E1913"/>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1E1913"/>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1E1913"/>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1E1913"/>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04 · LECTURE 04</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21</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The architecture of family life</a:t>
            </a:r>
            <a:endParaRPr lang="en-US" sz="2800" dirty="0"/>
          </a:p>
        </p:txBody>
      </p:sp>
      <p:sp>
        <p:nvSpPr>
          <p:cNvPr id="9" name="Text 7"/>
          <p:cNvSpPr txBox="1"/>
          <p:nvPr/>
        </p:nvSpPr>
        <p:spPr>
          <a:xfrm>
            <a:off x="822960" y="1486408"/>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Structural therapy reads the family as an organised body: who is close to whom, who holds authority, and where the</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boundaries fall.</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BOUNDARIES</a:t>
            </a:r>
            <a:endParaRPr lang="en-US" sz="750" dirty="0"/>
          </a:p>
        </p:txBody>
      </p:sp>
      <p:sp>
        <p:nvSpPr>
          <p:cNvPr id="13" name="Text 11"/>
          <p:cNvSpPr txBox="1"/>
          <p:nvPr/>
        </p:nvSpPr>
        <p:spPr>
          <a:xfrm>
            <a:off x="82296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Clear boundaries permit both closeness and separateness. Enmeshed</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boundaries dissolve autonomy; disengaged boundaries isolate.</a:t>
            </a:r>
            <a:endParaRPr lang="en-US" sz="900" dirty="0"/>
          </a:p>
        </p:txBody>
      </p:sp>
      <p:sp>
        <p:nvSpPr>
          <p:cNvPr id="14" name="Shape 12"/>
          <p:cNvSpPr/>
          <p:nvPr/>
        </p:nvSpPr>
        <p:spPr>
          <a:xfrm>
            <a:off x="822960" y="3364992"/>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Who knows what about whom?</a:t>
            </a:r>
            <a:endParaRPr lang="en-US" sz="880" dirty="0"/>
          </a:p>
        </p:txBody>
      </p:sp>
      <p:sp>
        <p:nvSpPr>
          <p:cNvPr id="16" name="Shape 14"/>
          <p:cNvSpPr/>
          <p:nvPr/>
        </p:nvSpPr>
        <p:spPr>
          <a:xfrm>
            <a:off x="822960" y="3610661"/>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Where does a conversation stop being private?</a:t>
            </a:r>
            <a:endParaRPr lang="en-US" sz="880" dirty="0"/>
          </a:p>
        </p:txBody>
      </p:sp>
      <p:sp>
        <p:nvSpPr>
          <p:cNvPr id="18" name="Shape 16"/>
          <p:cNvSpPr/>
          <p:nvPr/>
        </p:nvSpPr>
        <p:spPr>
          <a:xfrm>
            <a:off x="822960" y="3856330"/>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Which boundary is too thin, and which too thick?</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HIERARCHY AND SUBSYSTEMS</a:t>
            </a:r>
            <a:endParaRPr lang="en-US" sz="750" dirty="0"/>
          </a:p>
        </p:txBody>
      </p:sp>
      <p:sp>
        <p:nvSpPr>
          <p:cNvPr id="23" name="Text 21"/>
          <p:cNvSpPr txBox="1"/>
          <p:nvPr/>
        </p:nvSpPr>
        <p:spPr>
          <a:xfrm>
            <a:off x="446532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Parents need to exercise authority as a subsystem. Children need</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access to the sibling subsystem — not to the parental one.</a:t>
            </a:r>
            <a:endParaRPr lang="en-US" sz="900" dirty="0"/>
          </a:p>
        </p:txBody>
      </p:sp>
      <p:sp>
        <p:nvSpPr>
          <p:cNvPr id="24" name="Shape 22"/>
          <p:cNvSpPr/>
          <p:nvPr/>
        </p:nvSpPr>
        <p:spPr>
          <a:xfrm>
            <a:off x="4465320" y="3364992"/>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Spousal subsystem</a:t>
            </a:r>
            <a:endParaRPr lang="en-US" sz="880" dirty="0"/>
          </a:p>
        </p:txBody>
      </p:sp>
      <p:sp>
        <p:nvSpPr>
          <p:cNvPr id="26" name="Shape 24"/>
          <p:cNvSpPr/>
          <p:nvPr/>
        </p:nvSpPr>
        <p:spPr>
          <a:xfrm>
            <a:off x="4465320" y="3610661"/>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Parental subsystem</a:t>
            </a:r>
            <a:endParaRPr lang="en-US" sz="880" dirty="0"/>
          </a:p>
        </p:txBody>
      </p:sp>
      <p:sp>
        <p:nvSpPr>
          <p:cNvPr id="28" name="Shape 26"/>
          <p:cNvSpPr/>
          <p:nvPr/>
        </p:nvSpPr>
        <p:spPr>
          <a:xfrm>
            <a:off x="4465320" y="3856330"/>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Sibling subsystem</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COALITIONS</a:t>
            </a:r>
            <a:endParaRPr lang="en-US" sz="750" dirty="0"/>
          </a:p>
        </p:txBody>
      </p:sp>
      <p:sp>
        <p:nvSpPr>
          <p:cNvPr id="33" name="Text 31"/>
          <p:cNvSpPr txBox="1"/>
          <p:nvPr/>
        </p:nvSpPr>
        <p:spPr>
          <a:xfrm>
            <a:off x="810768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A cross-generational coalition — one parent allied with a child against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the other — is a structural signature of many presenting problems.</a:t>
            </a:r>
            <a:endParaRPr lang="en-US" sz="900" dirty="0"/>
          </a:p>
        </p:txBody>
      </p:sp>
      <p:sp>
        <p:nvSpPr>
          <p:cNvPr id="34" name="Shape 32"/>
          <p:cNvSpPr/>
          <p:nvPr/>
        </p:nvSpPr>
        <p:spPr>
          <a:xfrm>
            <a:off x="8107680" y="3364992"/>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Who is recruited into which conflict?</a:t>
            </a:r>
            <a:endParaRPr lang="en-US" sz="880" dirty="0"/>
          </a:p>
        </p:txBody>
      </p:sp>
      <p:sp>
        <p:nvSpPr>
          <p:cNvPr id="36" name="Shape 34"/>
          <p:cNvSpPr/>
          <p:nvPr/>
        </p:nvSpPr>
        <p:spPr>
          <a:xfrm>
            <a:off x="8107680" y="3610661"/>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What does the coalition protect?</a:t>
            </a:r>
            <a:endParaRPr lang="en-US" sz="880" dirty="0"/>
          </a:p>
        </p:txBody>
      </p:sp>
      <p:sp>
        <p:nvSpPr>
          <p:cNvPr id="38" name="Shape 36"/>
          <p:cNvSpPr/>
          <p:nvPr/>
        </p:nvSpPr>
        <p:spPr>
          <a:xfrm>
            <a:off x="8107680" y="3856330"/>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What would a stronger dyad make possible?</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MINUCHIN</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The map is not the family</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A structural map is a working hypothesis, drawn to be revised. It is a clinical instrument, not a verdict on the</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family.</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185039"/>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Minuchin (1974); Haley (1976).</a:t>
            </a:r>
            <a:endParaRPr lang="en-US" sz="6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04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22</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A family, drawn as a system</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Boundaries, hierarchy, coalition and symptom appear in a single view. The genogram is a hypothesis you can test in the room.</a:t>
            </a:r>
            <a:endParaRPr lang="en-US" sz="1060" dirty="0"/>
          </a:p>
        </p:txBody>
      </p:sp>
      <p:sp>
        <p:nvSpPr>
          <p:cNvPr id="10" name="Shape 8"/>
          <p:cNvSpPr/>
          <p:nvPr/>
        </p:nvSpPr>
        <p:spPr>
          <a:xfrm>
            <a:off x="2743200" y="2057400"/>
            <a:ext cx="457200" cy="457200"/>
          </a:xfrm>
          <a:prstGeom prst="ellipse">
            <a:avLst/>
          </a:prstGeom>
          <a:solidFill>
            <a:srgbClr val="FBF7EF"/>
          </a:solidFill>
          <a:ln w="12700">
            <a:solidFill>
              <a:srgbClr val="1B1815"/>
            </a:solidFill>
            <a:prstDash val="solid"/>
          </a:ln>
        </p:spPr>
      </p:sp>
      <p:sp>
        <p:nvSpPr>
          <p:cNvPr id="11" name="Shape 9"/>
          <p:cNvSpPr/>
          <p:nvPr/>
        </p:nvSpPr>
        <p:spPr>
          <a:xfrm>
            <a:off x="3566160" y="2057400"/>
            <a:ext cx="457200" cy="457200"/>
          </a:xfrm>
          <a:prstGeom prst="rect">
            <a:avLst/>
          </a:prstGeom>
          <a:solidFill>
            <a:srgbClr val="FBF7EF"/>
          </a:solidFill>
          <a:ln w="12700">
            <a:solidFill>
              <a:srgbClr val="1B1815"/>
            </a:solidFill>
            <a:prstDash val="solid"/>
          </a:ln>
        </p:spPr>
      </p:sp>
      <p:sp>
        <p:nvSpPr>
          <p:cNvPr id="12" name="Shape 10"/>
          <p:cNvSpPr/>
          <p:nvPr/>
        </p:nvSpPr>
        <p:spPr>
          <a:xfrm>
            <a:off x="3200400" y="2286000"/>
            <a:ext cx="365760" cy="91"/>
          </a:xfrm>
          <a:prstGeom prst="line">
            <a:avLst/>
          </a:prstGeom>
          <a:noFill/>
          <a:ln w="13970">
            <a:solidFill>
              <a:srgbClr val="1B1815"/>
            </a:solidFill>
            <a:prstDash val="solid"/>
            <a:headEnd type="none"/>
            <a:tailEnd type="none"/>
          </a:ln>
        </p:spPr>
      </p:sp>
      <p:sp>
        <p:nvSpPr>
          <p:cNvPr id="13" name="Text 11"/>
          <p:cNvSpPr txBox="1"/>
          <p:nvPr/>
        </p:nvSpPr>
        <p:spPr>
          <a:xfrm>
            <a:off x="2404872" y="1865376"/>
            <a:ext cx="1133856" cy="216154"/>
          </a:xfrm>
          <a:prstGeom prst="rect">
            <a:avLst/>
          </a:prstGeom>
          <a:noFill/>
          <a:ln/>
        </p:spPr>
        <p:txBody>
          <a:bodyPr wrap="square" lIns="0" tIns="0" rIns="0" bIns="0" rtlCol="0" anchor="t"/>
          <a:lstStyle/>
          <a:p>
            <a:pPr algn="ctr" indent="0" marL="0">
              <a:lnSpc>
                <a:spcPts val="962"/>
              </a:lnSpc>
              <a:buNone/>
            </a:pPr>
            <a:r>
              <a:rPr lang="en-US" sz="740" dirty="0">
                <a:solidFill>
                  <a:srgbClr val="5B544A"/>
                </a:solidFill>
                <a:latin typeface="Calibri" pitchFamily="34" charset="0"/>
                <a:ea typeface="Calibri" pitchFamily="34" charset="-122"/>
                <a:cs typeface="Calibri" pitchFamily="34" charset="-120"/>
              </a:rPr>
              <a:t>Grandmother</a:t>
            </a:r>
            <a:endParaRPr lang="en-US" sz="740" dirty="0"/>
          </a:p>
        </p:txBody>
      </p:sp>
      <p:sp>
        <p:nvSpPr>
          <p:cNvPr id="14" name="Text 12"/>
          <p:cNvSpPr txBox="1"/>
          <p:nvPr/>
        </p:nvSpPr>
        <p:spPr>
          <a:xfrm>
            <a:off x="3291840" y="1865376"/>
            <a:ext cx="1133856" cy="216154"/>
          </a:xfrm>
          <a:prstGeom prst="rect">
            <a:avLst/>
          </a:prstGeom>
          <a:noFill/>
          <a:ln/>
        </p:spPr>
        <p:txBody>
          <a:bodyPr wrap="square" lIns="0" tIns="0" rIns="0" bIns="0" rtlCol="0" anchor="t"/>
          <a:lstStyle/>
          <a:p>
            <a:pPr algn="ctr" indent="0" marL="0">
              <a:lnSpc>
                <a:spcPts val="962"/>
              </a:lnSpc>
              <a:buNone/>
            </a:pPr>
            <a:r>
              <a:rPr lang="en-US" sz="740" dirty="0">
                <a:solidFill>
                  <a:srgbClr val="5B544A"/>
                </a:solidFill>
                <a:latin typeface="Calibri" pitchFamily="34" charset="0"/>
                <a:ea typeface="Calibri" pitchFamily="34" charset="-122"/>
                <a:cs typeface="Calibri" pitchFamily="34" charset="-120"/>
              </a:rPr>
              <a:t>Grandfather</a:t>
            </a:r>
            <a:endParaRPr lang="en-US" sz="740" dirty="0"/>
          </a:p>
        </p:txBody>
      </p:sp>
      <p:sp>
        <p:nvSpPr>
          <p:cNvPr id="15" name="Shape 13"/>
          <p:cNvSpPr/>
          <p:nvPr/>
        </p:nvSpPr>
        <p:spPr>
          <a:xfrm>
            <a:off x="3383280" y="2514600"/>
            <a:ext cx="91" cy="374904"/>
          </a:xfrm>
          <a:prstGeom prst="line">
            <a:avLst/>
          </a:prstGeom>
          <a:noFill/>
          <a:ln w="11430">
            <a:solidFill>
              <a:srgbClr val="1B1815"/>
            </a:solidFill>
            <a:prstDash val="solid"/>
            <a:headEnd type="none"/>
            <a:tailEnd type="none"/>
          </a:ln>
        </p:spPr>
      </p:sp>
      <p:sp>
        <p:nvSpPr>
          <p:cNvPr id="16" name="Shape 14"/>
          <p:cNvSpPr/>
          <p:nvPr/>
        </p:nvSpPr>
        <p:spPr>
          <a:xfrm flipH="1">
            <a:off x="2971800" y="2889504"/>
            <a:ext cx="411480" cy="91"/>
          </a:xfrm>
          <a:prstGeom prst="line">
            <a:avLst/>
          </a:prstGeom>
          <a:noFill/>
          <a:ln w="11430">
            <a:solidFill>
              <a:srgbClr val="1B1815"/>
            </a:solidFill>
            <a:prstDash val="solid"/>
            <a:headEnd type="none"/>
            <a:tailEnd type="none"/>
          </a:ln>
        </p:spPr>
      </p:sp>
      <p:sp>
        <p:nvSpPr>
          <p:cNvPr id="17" name="Shape 15"/>
          <p:cNvSpPr/>
          <p:nvPr/>
        </p:nvSpPr>
        <p:spPr>
          <a:xfrm>
            <a:off x="2971800" y="2889504"/>
            <a:ext cx="91" cy="475488"/>
          </a:xfrm>
          <a:prstGeom prst="line">
            <a:avLst/>
          </a:prstGeom>
          <a:noFill/>
          <a:ln w="11430">
            <a:solidFill>
              <a:srgbClr val="1B1815"/>
            </a:solidFill>
            <a:prstDash val="solid"/>
            <a:headEnd type="none"/>
            <a:tailEnd type="none"/>
          </a:ln>
        </p:spPr>
      </p:sp>
      <p:sp>
        <p:nvSpPr>
          <p:cNvPr id="18" name="Shape 16"/>
          <p:cNvSpPr/>
          <p:nvPr/>
        </p:nvSpPr>
        <p:spPr>
          <a:xfrm>
            <a:off x="2743200" y="3364992"/>
            <a:ext cx="457200" cy="457200"/>
          </a:xfrm>
          <a:prstGeom prst="ellipse">
            <a:avLst/>
          </a:prstGeom>
          <a:solidFill>
            <a:srgbClr val="FBF7EF"/>
          </a:solidFill>
          <a:ln w="12700">
            <a:solidFill>
              <a:srgbClr val="1B1815"/>
            </a:solidFill>
            <a:prstDash val="solid"/>
          </a:ln>
        </p:spPr>
      </p:sp>
      <p:sp>
        <p:nvSpPr>
          <p:cNvPr id="19" name="Shape 17"/>
          <p:cNvSpPr/>
          <p:nvPr/>
        </p:nvSpPr>
        <p:spPr>
          <a:xfrm>
            <a:off x="3566160" y="3364992"/>
            <a:ext cx="457200" cy="457200"/>
          </a:xfrm>
          <a:prstGeom prst="rect">
            <a:avLst/>
          </a:prstGeom>
          <a:solidFill>
            <a:srgbClr val="FBF7EF"/>
          </a:solidFill>
          <a:ln w="12700">
            <a:solidFill>
              <a:srgbClr val="1B1815"/>
            </a:solidFill>
            <a:prstDash val="solid"/>
          </a:ln>
        </p:spPr>
      </p:sp>
      <p:sp>
        <p:nvSpPr>
          <p:cNvPr id="20" name="Shape 18"/>
          <p:cNvSpPr/>
          <p:nvPr/>
        </p:nvSpPr>
        <p:spPr>
          <a:xfrm>
            <a:off x="3200400" y="3593592"/>
            <a:ext cx="365760" cy="91"/>
          </a:xfrm>
          <a:prstGeom prst="line">
            <a:avLst/>
          </a:prstGeom>
          <a:noFill/>
          <a:ln w="13970">
            <a:solidFill>
              <a:srgbClr val="1B1815"/>
            </a:solidFill>
            <a:prstDash val="solid"/>
            <a:headEnd type="none"/>
            <a:tailEnd type="none"/>
          </a:ln>
        </p:spPr>
      </p:sp>
      <p:sp>
        <p:nvSpPr>
          <p:cNvPr id="21" name="Text 19"/>
          <p:cNvSpPr txBox="1"/>
          <p:nvPr/>
        </p:nvSpPr>
        <p:spPr>
          <a:xfrm>
            <a:off x="2011680" y="3511296"/>
            <a:ext cx="713232" cy="216154"/>
          </a:xfrm>
          <a:prstGeom prst="rect">
            <a:avLst/>
          </a:prstGeom>
          <a:noFill/>
          <a:ln/>
        </p:spPr>
        <p:txBody>
          <a:bodyPr wrap="square" lIns="0" tIns="0" rIns="0" bIns="0" rtlCol="0" anchor="t"/>
          <a:lstStyle/>
          <a:p>
            <a:pPr algn="r" indent="0" marL="0">
              <a:lnSpc>
                <a:spcPts val="962"/>
              </a:lnSpc>
              <a:buNone/>
            </a:pPr>
            <a:r>
              <a:rPr lang="en-US" sz="740" dirty="0">
                <a:solidFill>
                  <a:srgbClr val="5B544A"/>
                </a:solidFill>
                <a:latin typeface="Calibri" pitchFamily="34" charset="0"/>
                <a:ea typeface="Calibri" pitchFamily="34" charset="-122"/>
                <a:cs typeface="Calibri" pitchFamily="34" charset="-120"/>
              </a:rPr>
              <a:t>Mother</a:t>
            </a:r>
            <a:endParaRPr lang="en-US" sz="740" dirty="0"/>
          </a:p>
        </p:txBody>
      </p:sp>
      <p:sp>
        <p:nvSpPr>
          <p:cNvPr id="22" name="Text 20"/>
          <p:cNvSpPr txBox="1"/>
          <p:nvPr/>
        </p:nvSpPr>
        <p:spPr>
          <a:xfrm>
            <a:off x="4114800" y="3511296"/>
            <a:ext cx="822960" cy="216154"/>
          </a:xfrm>
          <a:prstGeom prst="rect">
            <a:avLst/>
          </a:prstGeom>
          <a:noFill/>
          <a:ln/>
        </p:spPr>
        <p:txBody>
          <a:bodyPr wrap="square" lIns="0" tIns="0" rIns="0" bIns="0" rtlCol="0" anchor="t"/>
          <a:lstStyle/>
          <a:p>
            <a:pPr algn="l" indent="0" marL="0">
              <a:lnSpc>
                <a:spcPts val="962"/>
              </a:lnSpc>
              <a:buNone/>
            </a:pPr>
            <a:r>
              <a:rPr lang="en-US" sz="740" dirty="0">
                <a:solidFill>
                  <a:srgbClr val="5B544A"/>
                </a:solidFill>
                <a:latin typeface="Calibri" pitchFamily="34" charset="0"/>
                <a:ea typeface="Calibri" pitchFamily="34" charset="-122"/>
                <a:cs typeface="Calibri" pitchFamily="34" charset="-120"/>
              </a:rPr>
              <a:t>Father</a:t>
            </a:r>
            <a:endParaRPr lang="en-US" sz="740" dirty="0"/>
          </a:p>
        </p:txBody>
      </p:sp>
      <p:sp>
        <p:nvSpPr>
          <p:cNvPr id="23" name="Shape 21"/>
          <p:cNvSpPr/>
          <p:nvPr/>
        </p:nvSpPr>
        <p:spPr>
          <a:xfrm>
            <a:off x="3355848" y="3648456"/>
            <a:ext cx="100584" cy="82296"/>
          </a:xfrm>
          <a:prstGeom prst="line">
            <a:avLst/>
          </a:prstGeom>
          <a:noFill/>
          <a:ln w="13970">
            <a:solidFill>
              <a:srgbClr val="A96A45"/>
            </a:solidFill>
            <a:prstDash val="solid"/>
            <a:headEnd type="none"/>
            <a:tailEnd type="none"/>
          </a:ln>
        </p:spPr>
      </p:sp>
      <p:sp>
        <p:nvSpPr>
          <p:cNvPr id="24" name="Shape 22"/>
          <p:cNvSpPr/>
          <p:nvPr/>
        </p:nvSpPr>
        <p:spPr>
          <a:xfrm flipH="1">
            <a:off x="3319272" y="3639312"/>
            <a:ext cx="137160" cy="137160"/>
          </a:xfrm>
          <a:prstGeom prst="line">
            <a:avLst/>
          </a:prstGeom>
          <a:noFill/>
          <a:ln w="13970">
            <a:solidFill>
              <a:srgbClr val="A96A45"/>
            </a:solidFill>
            <a:prstDash val="solid"/>
            <a:headEnd type="none"/>
            <a:tailEnd type="none"/>
          </a:ln>
        </p:spPr>
      </p:sp>
      <p:sp>
        <p:nvSpPr>
          <p:cNvPr id="25" name="Text 23"/>
          <p:cNvSpPr txBox="1"/>
          <p:nvPr/>
        </p:nvSpPr>
        <p:spPr>
          <a:xfrm>
            <a:off x="2331720" y="2843784"/>
            <a:ext cx="2148840" cy="188024"/>
          </a:xfrm>
          <a:prstGeom prst="rect">
            <a:avLst/>
          </a:prstGeom>
          <a:noFill/>
          <a:ln/>
        </p:spPr>
        <p:txBody>
          <a:bodyPr wrap="square" lIns="0" tIns="0" rIns="0" bIns="0" rtlCol="0" anchor="t"/>
          <a:lstStyle/>
          <a:p>
            <a:pPr algn="r" indent="0" marL="0">
              <a:lnSpc>
                <a:spcPts val="851"/>
              </a:lnSpc>
              <a:buNone/>
            </a:pPr>
            <a:r>
              <a:rPr lang="en-US" sz="630" spc="150" kern="0" dirty="0">
                <a:solidFill>
                  <a:srgbClr val="6E8274"/>
                </a:solidFill>
                <a:latin typeface="Calibri" pitchFamily="34" charset="0"/>
                <a:ea typeface="Calibri" pitchFamily="34" charset="-122"/>
                <a:cs typeface="Calibri" pitchFamily="34" charset="-120"/>
              </a:rPr>
              <a:t>PARENTAL SUBSYSTEM</a:t>
            </a:r>
            <a:endParaRPr lang="en-US" sz="630" dirty="0"/>
          </a:p>
        </p:txBody>
      </p:sp>
      <p:sp>
        <p:nvSpPr>
          <p:cNvPr id="26" name="Shape 24"/>
          <p:cNvSpPr/>
          <p:nvPr/>
        </p:nvSpPr>
        <p:spPr>
          <a:xfrm>
            <a:off x="3383280" y="3822192"/>
            <a:ext cx="91" cy="384048"/>
          </a:xfrm>
          <a:prstGeom prst="line">
            <a:avLst/>
          </a:prstGeom>
          <a:noFill/>
          <a:ln w="11430">
            <a:solidFill>
              <a:srgbClr val="1B1815"/>
            </a:solidFill>
            <a:prstDash val="solid"/>
            <a:headEnd type="none"/>
            <a:tailEnd type="none"/>
          </a:ln>
        </p:spPr>
      </p:sp>
      <p:sp>
        <p:nvSpPr>
          <p:cNvPr id="27" name="Shape 25"/>
          <p:cNvSpPr/>
          <p:nvPr/>
        </p:nvSpPr>
        <p:spPr>
          <a:xfrm>
            <a:off x="2532888" y="4206240"/>
            <a:ext cx="822960" cy="91"/>
          </a:xfrm>
          <a:prstGeom prst="line">
            <a:avLst/>
          </a:prstGeom>
          <a:noFill/>
          <a:ln w="11430">
            <a:solidFill>
              <a:srgbClr val="1B1815"/>
            </a:solidFill>
            <a:prstDash val="solid"/>
            <a:headEnd type="none"/>
            <a:tailEnd type="none"/>
          </a:ln>
        </p:spPr>
      </p:sp>
      <p:sp>
        <p:nvSpPr>
          <p:cNvPr id="28" name="Shape 26"/>
          <p:cNvSpPr/>
          <p:nvPr/>
        </p:nvSpPr>
        <p:spPr>
          <a:xfrm>
            <a:off x="2532888" y="4206240"/>
            <a:ext cx="91" cy="448056"/>
          </a:xfrm>
          <a:prstGeom prst="line">
            <a:avLst/>
          </a:prstGeom>
          <a:noFill/>
          <a:ln w="11430">
            <a:solidFill>
              <a:srgbClr val="1B1815"/>
            </a:solidFill>
            <a:prstDash val="solid"/>
            <a:headEnd type="none"/>
            <a:tailEnd type="none"/>
          </a:ln>
        </p:spPr>
      </p:sp>
      <p:sp>
        <p:nvSpPr>
          <p:cNvPr id="29" name="Shape 27"/>
          <p:cNvSpPr/>
          <p:nvPr/>
        </p:nvSpPr>
        <p:spPr>
          <a:xfrm>
            <a:off x="3355848" y="4206240"/>
            <a:ext cx="91" cy="448056"/>
          </a:xfrm>
          <a:prstGeom prst="line">
            <a:avLst/>
          </a:prstGeom>
          <a:noFill/>
          <a:ln w="11430">
            <a:solidFill>
              <a:srgbClr val="1B1815"/>
            </a:solidFill>
            <a:prstDash val="solid"/>
            <a:headEnd type="none"/>
            <a:tailEnd type="none"/>
          </a:ln>
        </p:spPr>
      </p:sp>
      <p:sp>
        <p:nvSpPr>
          <p:cNvPr id="30" name="Shape 28"/>
          <p:cNvSpPr/>
          <p:nvPr/>
        </p:nvSpPr>
        <p:spPr>
          <a:xfrm>
            <a:off x="2304288" y="4654296"/>
            <a:ext cx="457200" cy="457200"/>
          </a:xfrm>
          <a:prstGeom prst="ellipse">
            <a:avLst/>
          </a:prstGeom>
          <a:solidFill>
            <a:srgbClr val="FBF7EF"/>
          </a:solidFill>
          <a:ln w="12700">
            <a:solidFill>
              <a:srgbClr val="1B1815"/>
            </a:solidFill>
            <a:prstDash val="solid"/>
          </a:ln>
        </p:spPr>
      </p:sp>
      <p:sp>
        <p:nvSpPr>
          <p:cNvPr id="31" name="Shape 29"/>
          <p:cNvSpPr/>
          <p:nvPr/>
        </p:nvSpPr>
        <p:spPr>
          <a:xfrm>
            <a:off x="3127248" y="4654296"/>
            <a:ext cx="457200" cy="457200"/>
          </a:xfrm>
          <a:prstGeom prst="rect">
            <a:avLst/>
          </a:prstGeom>
          <a:solidFill>
            <a:srgbClr val="FBF7EF"/>
          </a:solidFill>
          <a:ln w="12700">
            <a:solidFill>
              <a:srgbClr val="1B1815"/>
            </a:solidFill>
            <a:prstDash val="solid"/>
          </a:ln>
        </p:spPr>
      </p:sp>
      <p:sp>
        <p:nvSpPr>
          <p:cNvPr id="32" name="Shape 30"/>
          <p:cNvSpPr/>
          <p:nvPr/>
        </p:nvSpPr>
        <p:spPr>
          <a:xfrm>
            <a:off x="3081528" y="4608576"/>
            <a:ext cx="548640" cy="548640"/>
          </a:xfrm>
          <a:prstGeom prst="rect">
            <a:avLst/>
          </a:prstGeom>
          <a:solidFill>
            <a:srgbClr val="FFFFFF">
              <a:alpha val="0"/>
            </a:srgbClr>
          </a:solidFill>
          <a:ln w="7620">
            <a:solidFill>
              <a:srgbClr val="1B1815"/>
            </a:solidFill>
            <a:prstDash val="solid"/>
          </a:ln>
        </p:spPr>
      </p:sp>
      <p:sp>
        <p:nvSpPr>
          <p:cNvPr id="33" name="Shape 31"/>
          <p:cNvSpPr/>
          <p:nvPr/>
        </p:nvSpPr>
        <p:spPr>
          <a:xfrm flipH="1">
            <a:off x="2486918" y="3386618"/>
            <a:ext cx="586251" cy="1722112"/>
          </a:xfrm>
          <a:prstGeom prst="line">
            <a:avLst/>
          </a:prstGeom>
          <a:noFill/>
          <a:ln w="6985">
            <a:solidFill>
              <a:srgbClr val="A96A45"/>
            </a:solidFill>
            <a:prstDash val="solid"/>
            <a:headEnd type="none"/>
            <a:tailEnd type="none"/>
          </a:ln>
        </p:spPr>
      </p:sp>
      <p:sp>
        <p:nvSpPr>
          <p:cNvPr id="34" name="Shape 32"/>
          <p:cNvSpPr/>
          <p:nvPr/>
        </p:nvSpPr>
        <p:spPr>
          <a:xfrm flipH="1">
            <a:off x="2459218" y="3377188"/>
            <a:ext cx="586251" cy="1722112"/>
          </a:xfrm>
          <a:prstGeom prst="line">
            <a:avLst/>
          </a:prstGeom>
          <a:noFill/>
          <a:ln w="6985">
            <a:solidFill>
              <a:srgbClr val="A96A45"/>
            </a:solidFill>
            <a:prstDash val="solid"/>
            <a:headEnd type="none"/>
            <a:tailEnd type="none"/>
          </a:ln>
        </p:spPr>
      </p:sp>
      <p:sp>
        <p:nvSpPr>
          <p:cNvPr id="35" name="Shape 33"/>
          <p:cNvSpPr/>
          <p:nvPr/>
        </p:nvSpPr>
        <p:spPr>
          <a:xfrm flipH="1">
            <a:off x="2431519" y="3367758"/>
            <a:ext cx="586251" cy="1722112"/>
          </a:xfrm>
          <a:prstGeom prst="line">
            <a:avLst/>
          </a:prstGeom>
          <a:noFill/>
          <a:ln w="6985">
            <a:solidFill>
              <a:srgbClr val="A96A45"/>
            </a:solidFill>
            <a:prstDash val="solid"/>
            <a:headEnd type="none"/>
            <a:tailEnd type="none"/>
          </a:ln>
        </p:spPr>
      </p:sp>
      <p:sp>
        <p:nvSpPr>
          <p:cNvPr id="36" name="Shape 34"/>
          <p:cNvSpPr/>
          <p:nvPr/>
        </p:nvSpPr>
        <p:spPr>
          <a:xfrm>
            <a:off x="2368296" y="3044952"/>
            <a:ext cx="2029968" cy="1133856"/>
          </a:xfrm>
          <a:prstGeom prst="roundRect">
            <a:avLst>
              <a:gd name="adj" fmla="val 10406"/>
            </a:avLst>
          </a:prstGeom>
          <a:solidFill>
            <a:srgbClr val="FFFFFF">
              <a:alpha val="0"/>
            </a:srgbClr>
          </a:solidFill>
          <a:ln w="10160">
            <a:solidFill>
              <a:srgbClr val="6E8274"/>
            </a:solidFill>
            <a:prstDash val="dash"/>
          </a:ln>
        </p:spPr>
      </p:sp>
      <p:sp>
        <p:nvSpPr>
          <p:cNvPr id="37" name="Shape 35"/>
          <p:cNvSpPr/>
          <p:nvPr/>
        </p:nvSpPr>
        <p:spPr>
          <a:xfrm>
            <a:off x="2075688" y="4407408"/>
            <a:ext cx="1737360" cy="969264"/>
          </a:xfrm>
          <a:prstGeom prst="roundRect">
            <a:avLst>
              <a:gd name="adj" fmla="val 14240"/>
            </a:avLst>
          </a:prstGeom>
          <a:solidFill>
            <a:srgbClr val="FFFFFF">
              <a:alpha val="0"/>
            </a:srgbClr>
          </a:solidFill>
          <a:ln w="10160">
            <a:solidFill>
              <a:srgbClr val="6E8274"/>
            </a:solidFill>
            <a:prstDash val="dash"/>
          </a:ln>
        </p:spPr>
      </p:sp>
      <p:sp>
        <p:nvSpPr>
          <p:cNvPr id="38" name="Text 36"/>
          <p:cNvSpPr txBox="1"/>
          <p:nvPr/>
        </p:nvSpPr>
        <p:spPr>
          <a:xfrm>
            <a:off x="2075688" y="5541264"/>
            <a:ext cx="1737360" cy="188024"/>
          </a:xfrm>
          <a:prstGeom prst="rect">
            <a:avLst/>
          </a:prstGeom>
          <a:noFill/>
          <a:ln/>
        </p:spPr>
        <p:txBody>
          <a:bodyPr wrap="square" lIns="0" tIns="0" rIns="0" bIns="0" rtlCol="0" anchor="t"/>
          <a:lstStyle/>
          <a:p>
            <a:pPr algn="ctr" indent="0" marL="0">
              <a:lnSpc>
                <a:spcPts val="851"/>
              </a:lnSpc>
              <a:buNone/>
            </a:pPr>
            <a:r>
              <a:rPr lang="en-US" sz="630" spc="150" kern="0" dirty="0">
                <a:solidFill>
                  <a:srgbClr val="6E8274"/>
                </a:solidFill>
                <a:latin typeface="Calibri" pitchFamily="34" charset="0"/>
                <a:ea typeface="Calibri" pitchFamily="34" charset="-122"/>
                <a:cs typeface="Calibri" pitchFamily="34" charset="-120"/>
              </a:rPr>
              <a:t>SIBLING SUBSYSTEM</a:t>
            </a:r>
            <a:endParaRPr lang="en-US" sz="630" dirty="0"/>
          </a:p>
        </p:txBody>
      </p:sp>
      <p:sp>
        <p:nvSpPr>
          <p:cNvPr id="39" name="Text 37"/>
          <p:cNvSpPr txBox="1"/>
          <p:nvPr/>
        </p:nvSpPr>
        <p:spPr>
          <a:xfrm>
            <a:off x="1984248" y="5193792"/>
            <a:ext cx="786384" cy="210312"/>
          </a:xfrm>
          <a:prstGeom prst="rect">
            <a:avLst/>
          </a:prstGeom>
          <a:noFill/>
          <a:ln/>
        </p:spPr>
        <p:txBody>
          <a:bodyPr wrap="square" lIns="0" tIns="0" rIns="0" bIns="0" rtlCol="0" anchor="t"/>
          <a:lstStyle/>
          <a:p>
            <a:pPr algn="ctr" indent="0" marL="0">
              <a:lnSpc>
                <a:spcPts val="936"/>
              </a:lnSpc>
              <a:buNone/>
            </a:pPr>
            <a:r>
              <a:rPr lang="en-US" sz="720" dirty="0">
                <a:solidFill>
                  <a:srgbClr val="5B544A"/>
                </a:solidFill>
                <a:latin typeface="Calibri" pitchFamily="34" charset="0"/>
                <a:ea typeface="Calibri" pitchFamily="34" charset="-122"/>
                <a:cs typeface="Calibri" pitchFamily="34" charset="-120"/>
              </a:rPr>
              <a:t>Daughter, 16</a:t>
            </a:r>
            <a:endParaRPr lang="en-US" sz="720" dirty="0"/>
          </a:p>
        </p:txBody>
      </p:sp>
      <p:sp>
        <p:nvSpPr>
          <p:cNvPr id="40" name="Text 38"/>
          <p:cNvSpPr txBox="1"/>
          <p:nvPr/>
        </p:nvSpPr>
        <p:spPr>
          <a:xfrm>
            <a:off x="2953512" y="5193792"/>
            <a:ext cx="896112" cy="210312"/>
          </a:xfrm>
          <a:prstGeom prst="rect">
            <a:avLst/>
          </a:prstGeom>
          <a:noFill/>
          <a:ln/>
        </p:spPr>
        <p:txBody>
          <a:bodyPr wrap="square" lIns="0" tIns="0" rIns="0" bIns="0" rtlCol="0" anchor="t"/>
          <a:lstStyle/>
          <a:p>
            <a:pPr algn="ctr" indent="0" marL="0">
              <a:lnSpc>
                <a:spcPts val="936"/>
              </a:lnSpc>
              <a:buNone/>
            </a:pPr>
            <a:r>
              <a:rPr lang="en-US" sz="720" dirty="0">
                <a:solidFill>
                  <a:srgbClr val="5B544A"/>
                </a:solidFill>
                <a:latin typeface="Calibri" pitchFamily="34" charset="0"/>
                <a:ea typeface="Calibri" pitchFamily="34" charset="-122"/>
                <a:cs typeface="Calibri" pitchFamily="34" charset="-120"/>
              </a:rPr>
              <a:t>Son, 11 · IP</a:t>
            </a:r>
            <a:endParaRPr lang="en-US" sz="720" dirty="0"/>
          </a:p>
        </p:txBody>
      </p:sp>
      <p:sp>
        <p:nvSpPr>
          <p:cNvPr id="41" name="Shape 39"/>
          <p:cNvSpPr/>
          <p:nvPr/>
        </p:nvSpPr>
        <p:spPr>
          <a:xfrm>
            <a:off x="6812280" y="1993392"/>
            <a:ext cx="4315968" cy="3246120"/>
          </a:xfrm>
          <a:prstGeom prst="roundRect">
            <a:avLst>
              <a:gd name="adj" fmla="val 357"/>
            </a:avLst>
          </a:prstGeom>
          <a:solidFill>
            <a:srgbClr val="FDFAF3"/>
          </a:solidFill>
          <a:ln w="8890">
            <a:solidFill>
              <a:srgbClr val="D9CDB7"/>
            </a:solidFill>
            <a:prstDash val="solid"/>
          </a:ln>
        </p:spPr>
      </p:sp>
      <p:sp>
        <p:nvSpPr>
          <p:cNvPr id="42" name="Text 40"/>
          <p:cNvSpPr txBox="1"/>
          <p:nvPr/>
        </p:nvSpPr>
        <p:spPr>
          <a:xfrm>
            <a:off x="7013448" y="2157984"/>
            <a:ext cx="3840480" cy="365125"/>
          </a:xfrm>
          <a:prstGeom prst="rect">
            <a:avLst/>
          </a:prstGeom>
          <a:noFill/>
          <a:ln/>
        </p:spPr>
        <p:txBody>
          <a:bodyPr wrap="square" lIns="0" tIns="0" rIns="0" bIns="0" rtlCol="0" anchor="t"/>
          <a:lstStyle/>
          <a:p>
            <a:pPr algn="l" indent="0" marL="0">
              <a:lnSpc>
                <a:spcPts val="1625"/>
              </a:lnSpc>
              <a:buNone/>
            </a:pPr>
            <a:r>
              <a:rPr lang="en-US" sz="1250" dirty="0">
                <a:solidFill>
                  <a:srgbClr val="1B1815"/>
                </a:solidFill>
                <a:latin typeface="Georgia" pitchFamily="34" charset="0"/>
                <a:ea typeface="Georgia" pitchFamily="34" charset="-122"/>
                <a:cs typeface="Georgia" pitchFamily="34" charset="-120"/>
              </a:rPr>
              <a:t>Reading the map</a:t>
            </a:r>
            <a:endParaRPr lang="en-US" sz="1250" dirty="0"/>
          </a:p>
        </p:txBody>
      </p:sp>
      <p:sp>
        <p:nvSpPr>
          <p:cNvPr id="43" name="Shape 41"/>
          <p:cNvSpPr/>
          <p:nvPr/>
        </p:nvSpPr>
        <p:spPr>
          <a:xfrm>
            <a:off x="7018020" y="2510028"/>
            <a:ext cx="137160" cy="137160"/>
          </a:xfrm>
          <a:prstGeom prst="rect">
            <a:avLst/>
          </a:prstGeom>
          <a:solidFill>
            <a:srgbClr val="FBF7EF"/>
          </a:solidFill>
          <a:ln w="8890">
            <a:solidFill>
              <a:srgbClr val="1B1815"/>
            </a:solidFill>
            <a:prstDash val="solid"/>
          </a:ln>
        </p:spPr>
      </p:sp>
      <p:sp>
        <p:nvSpPr>
          <p:cNvPr id="44" name="Text 42"/>
          <p:cNvSpPr txBox="1"/>
          <p:nvPr/>
        </p:nvSpPr>
        <p:spPr>
          <a:xfrm>
            <a:off x="7379208" y="2510028"/>
            <a:ext cx="3291840" cy="245364"/>
          </a:xfrm>
          <a:prstGeom prst="rect">
            <a:avLst/>
          </a:prstGeom>
          <a:noFill/>
          <a:ln/>
        </p:spPr>
        <p:txBody>
          <a:bodyPr wrap="square" lIns="0" tIns="0" rIns="0" bIns="0" rtlCol="0" anchor="t"/>
          <a:lstStyle/>
          <a:p>
            <a:pPr algn="l" indent="0" marL="0">
              <a:lnSpc>
                <a:spcPts val="1092"/>
              </a:lnSpc>
              <a:buNone/>
            </a:pPr>
            <a:r>
              <a:rPr lang="en-US" sz="840" dirty="0">
                <a:solidFill>
                  <a:srgbClr val="3F3A33"/>
                </a:solidFill>
                <a:latin typeface="Calibri" pitchFamily="34" charset="0"/>
                <a:ea typeface="Calibri" pitchFamily="34" charset="-122"/>
                <a:cs typeface="Calibri" pitchFamily="34" charset="-120"/>
              </a:rPr>
              <a:t>male</a:t>
            </a:r>
            <a:endParaRPr lang="en-US" sz="840" dirty="0"/>
          </a:p>
        </p:txBody>
      </p:sp>
      <p:sp>
        <p:nvSpPr>
          <p:cNvPr id="45" name="Shape 43"/>
          <p:cNvSpPr/>
          <p:nvPr/>
        </p:nvSpPr>
        <p:spPr>
          <a:xfrm>
            <a:off x="7015277" y="2836469"/>
            <a:ext cx="142646" cy="142646"/>
          </a:xfrm>
          <a:prstGeom prst="ellipse">
            <a:avLst/>
          </a:prstGeom>
          <a:solidFill>
            <a:srgbClr val="FBF7EF"/>
          </a:solidFill>
          <a:ln w="8890">
            <a:solidFill>
              <a:srgbClr val="1B1815"/>
            </a:solidFill>
            <a:prstDash val="solid"/>
          </a:ln>
        </p:spPr>
      </p:sp>
      <p:sp>
        <p:nvSpPr>
          <p:cNvPr id="46" name="Text 44"/>
          <p:cNvSpPr txBox="1"/>
          <p:nvPr/>
        </p:nvSpPr>
        <p:spPr>
          <a:xfrm>
            <a:off x="7379208" y="2839212"/>
            <a:ext cx="3291840" cy="245364"/>
          </a:xfrm>
          <a:prstGeom prst="rect">
            <a:avLst/>
          </a:prstGeom>
          <a:noFill/>
          <a:ln/>
        </p:spPr>
        <p:txBody>
          <a:bodyPr wrap="square" lIns="0" tIns="0" rIns="0" bIns="0" rtlCol="0" anchor="t"/>
          <a:lstStyle/>
          <a:p>
            <a:pPr algn="l" indent="0" marL="0">
              <a:lnSpc>
                <a:spcPts val="1092"/>
              </a:lnSpc>
              <a:buNone/>
            </a:pPr>
            <a:r>
              <a:rPr lang="en-US" sz="840" dirty="0">
                <a:solidFill>
                  <a:srgbClr val="3F3A33"/>
                </a:solidFill>
                <a:latin typeface="Calibri" pitchFamily="34" charset="0"/>
                <a:ea typeface="Calibri" pitchFamily="34" charset="-122"/>
                <a:cs typeface="Calibri" pitchFamily="34" charset="-120"/>
              </a:rPr>
              <a:t>female</a:t>
            </a:r>
            <a:endParaRPr lang="en-US" sz="840" dirty="0"/>
          </a:p>
        </p:txBody>
      </p:sp>
      <p:sp>
        <p:nvSpPr>
          <p:cNvPr id="47" name="Shape 45"/>
          <p:cNvSpPr/>
          <p:nvPr/>
        </p:nvSpPr>
        <p:spPr>
          <a:xfrm>
            <a:off x="7018020" y="3168396"/>
            <a:ext cx="137160" cy="137160"/>
          </a:xfrm>
          <a:prstGeom prst="rect">
            <a:avLst/>
          </a:prstGeom>
          <a:solidFill>
            <a:srgbClr val="FBF7EF"/>
          </a:solidFill>
          <a:ln w="8890">
            <a:solidFill>
              <a:srgbClr val="1B1815"/>
            </a:solidFill>
            <a:prstDash val="solid"/>
          </a:ln>
        </p:spPr>
      </p:sp>
      <p:sp>
        <p:nvSpPr>
          <p:cNvPr id="48" name="Shape 46"/>
          <p:cNvSpPr/>
          <p:nvPr/>
        </p:nvSpPr>
        <p:spPr>
          <a:xfrm>
            <a:off x="7018020" y="3168396"/>
            <a:ext cx="137160" cy="137160"/>
          </a:xfrm>
          <a:prstGeom prst="line">
            <a:avLst/>
          </a:prstGeom>
          <a:noFill/>
          <a:ln w="7620">
            <a:solidFill>
              <a:srgbClr val="1B1815"/>
            </a:solidFill>
            <a:prstDash val="solid"/>
            <a:headEnd type="none"/>
            <a:tailEnd type="none"/>
          </a:ln>
        </p:spPr>
      </p:sp>
      <p:sp>
        <p:nvSpPr>
          <p:cNvPr id="49" name="Shape 47"/>
          <p:cNvSpPr/>
          <p:nvPr/>
        </p:nvSpPr>
        <p:spPr>
          <a:xfrm flipV="1">
            <a:off x="7018020" y="3168396"/>
            <a:ext cx="137160" cy="137160"/>
          </a:xfrm>
          <a:prstGeom prst="line">
            <a:avLst/>
          </a:prstGeom>
          <a:noFill/>
          <a:ln w="7620">
            <a:solidFill>
              <a:srgbClr val="1B1815"/>
            </a:solidFill>
            <a:prstDash val="solid"/>
            <a:headEnd type="none"/>
            <a:tailEnd type="none"/>
          </a:ln>
        </p:spPr>
      </p:sp>
      <p:sp>
        <p:nvSpPr>
          <p:cNvPr id="50" name="Text 48"/>
          <p:cNvSpPr txBox="1"/>
          <p:nvPr/>
        </p:nvSpPr>
        <p:spPr>
          <a:xfrm>
            <a:off x="7379208" y="3168396"/>
            <a:ext cx="3291840" cy="245364"/>
          </a:xfrm>
          <a:prstGeom prst="rect">
            <a:avLst/>
          </a:prstGeom>
          <a:noFill/>
          <a:ln/>
        </p:spPr>
        <p:txBody>
          <a:bodyPr wrap="square" lIns="0" tIns="0" rIns="0" bIns="0" rtlCol="0" anchor="t"/>
          <a:lstStyle/>
          <a:p>
            <a:pPr algn="l" indent="0" marL="0">
              <a:lnSpc>
                <a:spcPts val="1092"/>
              </a:lnSpc>
              <a:buNone/>
            </a:pPr>
            <a:r>
              <a:rPr lang="en-US" sz="840" dirty="0">
                <a:solidFill>
                  <a:srgbClr val="3F3A33"/>
                </a:solidFill>
                <a:latin typeface="Calibri" pitchFamily="34" charset="0"/>
                <a:ea typeface="Calibri" pitchFamily="34" charset="-122"/>
                <a:cs typeface="Calibri" pitchFamily="34" charset="-120"/>
              </a:rPr>
              <a:t>deceased</a:t>
            </a:r>
            <a:endParaRPr lang="en-US" sz="840" dirty="0"/>
          </a:p>
        </p:txBody>
      </p:sp>
      <p:sp>
        <p:nvSpPr>
          <p:cNvPr id="51" name="Shape 49"/>
          <p:cNvSpPr/>
          <p:nvPr/>
        </p:nvSpPr>
        <p:spPr>
          <a:xfrm>
            <a:off x="6958584" y="3547872"/>
            <a:ext cx="256032" cy="91"/>
          </a:xfrm>
          <a:prstGeom prst="line">
            <a:avLst/>
          </a:prstGeom>
          <a:noFill/>
          <a:ln w="7620">
            <a:solidFill>
              <a:srgbClr val="1B1815"/>
            </a:solidFill>
            <a:prstDash val="solid"/>
            <a:headEnd type="none"/>
            <a:tailEnd type="none"/>
          </a:ln>
        </p:spPr>
      </p:sp>
      <p:sp>
        <p:nvSpPr>
          <p:cNvPr id="52" name="Shape 50"/>
          <p:cNvSpPr/>
          <p:nvPr/>
        </p:nvSpPr>
        <p:spPr>
          <a:xfrm>
            <a:off x="6958584" y="3593592"/>
            <a:ext cx="256032" cy="91"/>
          </a:xfrm>
          <a:prstGeom prst="line">
            <a:avLst/>
          </a:prstGeom>
          <a:noFill/>
          <a:ln w="7620">
            <a:solidFill>
              <a:srgbClr val="1B1815"/>
            </a:solidFill>
            <a:prstDash val="solid"/>
            <a:headEnd type="none"/>
            <a:tailEnd type="none"/>
          </a:ln>
        </p:spPr>
      </p:sp>
      <p:sp>
        <p:nvSpPr>
          <p:cNvPr id="53" name="Text 51"/>
          <p:cNvSpPr txBox="1"/>
          <p:nvPr/>
        </p:nvSpPr>
        <p:spPr>
          <a:xfrm>
            <a:off x="7379208" y="3497580"/>
            <a:ext cx="3291840" cy="245364"/>
          </a:xfrm>
          <a:prstGeom prst="rect">
            <a:avLst/>
          </a:prstGeom>
          <a:noFill/>
          <a:ln/>
        </p:spPr>
        <p:txBody>
          <a:bodyPr wrap="square" lIns="0" tIns="0" rIns="0" bIns="0" rtlCol="0" anchor="t"/>
          <a:lstStyle/>
          <a:p>
            <a:pPr algn="l" indent="0" marL="0">
              <a:lnSpc>
                <a:spcPts val="1092"/>
              </a:lnSpc>
              <a:buNone/>
            </a:pPr>
            <a:r>
              <a:rPr lang="en-US" sz="840" dirty="0">
                <a:solidFill>
                  <a:srgbClr val="3F3A33"/>
                </a:solidFill>
                <a:latin typeface="Calibri" pitchFamily="34" charset="0"/>
                <a:ea typeface="Calibri" pitchFamily="34" charset="-122"/>
                <a:cs typeface="Calibri" pitchFamily="34" charset="-120"/>
              </a:rPr>
              <a:t>marriage</a:t>
            </a:r>
            <a:endParaRPr lang="en-US" sz="840" dirty="0"/>
          </a:p>
        </p:txBody>
      </p:sp>
      <p:sp>
        <p:nvSpPr>
          <p:cNvPr id="54" name="Shape 52"/>
          <p:cNvSpPr/>
          <p:nvPr/>
        </p:nvSpPr>
        <p:spPr>
          <a:xfrm>
            <a:off x="7059168" y="3849624"/>
            <a:ext cx="82296" cy="73152"/>
          </a:xfrm>
          <a:prstGeom prst="line">
            <a:avLst/>
          </a:prstGeom>
          <a:noFill/>
          <a:ln w="11430">
            <a:solidFill>
              <a:srgbClr val="A96A45"/>
            </a:solidFill>
            <a:prstDash val="solid"/>
            <a:headEnd type="none"/>
            <a:tailEnd type="none"/>
          </a:ln>
        </p:spPr>
      </p:sp>
      <p:sp>
        <p:nvSpPr>
          <p:cNvPr id="55" name="Shape 53"/>
          <p:cNvSpPr/>
          <p:nvPr/>
        </p:nvSpPr>
        <p:spPr>
          <a:xfrm flipH="1">
            <a:off x="7040880" y="3849624"/>
            <a:ext cx="100584" cy="100584"/>
          </a:xfrm>
          <a:prstGeom prst="line">
            <a:avLst/>
          </a:prstGeom>
          <a:noFill/>
          <a:ln w="11430">
            <a:solidFill>
              <a:srgbClr val="A96A45"/>
            </a:solidFill>
            <a:prstDash val="solid"/>
            <a:headEnd type="none"/>
            <a:tailEnd type="none"/>
          </a:ln>
        </p:spPr>
      </p:sp>
      <p:sp>
        <p:nvSpPr>
          <p:cNvPr id="56" name="Text 54"/>
          <p:cNvSpPr txBox="1"/>
          <p:nvPr/>
        </p:nvSpPr>
        <p:spPr>
          <a:xfrm>
            <a:off x="7379208" y="3826764"/>
            <a:ext cx="3291840" cy="245364"/>
          </a:xfrm>
          <a:prstGeom prst="rect">
            <a:avLst/>
          </a:prstGeom>
          <a:noFill/>
          <a:ln/>
        </p:spPr>
        <p:txBody>
          <a:bodyPr wrap="square" lIns="0" tIns="0" rIns="0" bIns="0" rtlCol="0" anchor="t"/>
          <a:lstStyle/>
          <a:p>
            <a:pPr algn="l" indent="0" marL="0">
              <a:lnSpc>
                <a:spcPts val="1092"/>
              </a:lnSpc>
              <a:buNone/>
            </a:pPr>
            <a:r>
              <a:rPr lang="en-US" sz="840" dirty="0">
                <a:solidFill>
                  <a:srgbClr val="3F3A33"/>
                </a:solidFill>
                <a:latin typeface="Calibri" pitchFamily="34" charset="0"/>
                <a:ea typeface="Calibri" pitchFamily="34" charset="-122"/>
                <a:cs typeface="Calibri" pitchFamily="34" charset="-120"/>
              </a:rPr>
              <a:t>conflict</a:t>
            </a:r>
            <a:endParaRPr lang="en-US" sz="840" dirty="0"/>
          </a:p>
        </p:txBody>
      </p:sp>
      <p:sp>
        <p:nvSpPr>
          <p:cNvPr id="57" name="Shape 55"/>
          <p:cNvSpPr/>
          <p:nvPr/>
        </p:nvSpPr>
        <p:spPr>
          <a:xfrm>
            <a:off x="6958584" y="4195267"/>
            <a:ext cx="256032" cy="91"/>
          </a:xfrm>
          <a:prstGeom prst="line">
            <a:avLst/>
          </a:prstGeom>
          <a:noFill/>
          <a:ln w="6350">
            <a:solidFill>
              <a:srgbClr val="A96A45"/>
            </a:solidFill>
            <a:prstDash val="solid"/>
            <a:headEnd type="none"/>
            <a:tailEnd type="none"/>
          </a:ln>
        </p:spPr>
      </p:sp>
      <p:sp>
        <p:nvSpPr>
          <p:cNvPr id="58" name="Shape 56"/>
          <p:cNvSpPr/>
          <p:nvPr/>
        </p:nvSpPr>
        <p:spPr>
          <a:xfrm>
            <a:off x="6958584" y="4224528"/>
            <a:ext cx="256032" cy="91"/>
          </a:xfrm>
          <a:prstGeom prst="line">
            <a:avLst/>
          </a:prstGeom>
          <a:noFill/>
          <a:ln w="6350">
            <a:solidFill>
              <a:srgbClr val="A96A45"/>
            </a:solidFill>
            <a:prstDash val="solid"/>
            <a:headEnd type="none"/>
            <a:tailEnd type="none"/>
          </a:ln>
        </p:spPr>
      </p:sp>
      <p:sp>
        <p:nvSpPr>
          <p:cNvPr id="59" name="Shape 57"/>
          <p:cNvSpPr/>
          <p:nvPr/>
        </p:nvSpPr>
        <p:spPr>
          <a:xfrm>
            <a:off x="6958584" y="4253789"/>
            <a:ext cx="256032" cy="91"/>
          </a:xfrm>
          <a:prstGeom prst="line">
            <a:avLst/>
          </a:prstGeom>
          <a:noFill/>
          <a:ln w="6350">
            <a:solidFill>
              <a:srgbClr val="A96A45"/>
            </a:solidFill>
            <a:prstDash val="solid"/>
            <a:headEnd type="none"/>
            <a:tailEnd type="none"/>
          </a:ln>
        </p:spPr>
      </p:sp>
      <p:sp>
        <p:nvSpPr>
          <p:cNvPr id="60" name="Text 58"/>
          <p:cNvSpPr txBox="1"/>
          <p:nvPr/>
        </p:nvSpPr>
        <p:spPr>
          <a:xfrm>
            <a:off x="7379208" y="4155948"/>
            <a:ext cx="3291840" cy="245364"/>
          </a:xfrm>
          <a:prstGeom prst="rect">
            <a:avLst/>
          </a:prstGeom>
          <a:noFill/>
          <a:ln/>
        </p:spPr>
        <p:txBody>
          <a:bodyPr wrap="square" lIns="0" tIns="0" rIns="0" bIns="0" rtlCol="0" anchor="t"/>
          <a:lstStyle/>
          <a:p>
            <a:pPr algn="l" indent="0" marL="0">
              <a:lnSpc>
                <a:spcPts val="1092"/>
              </a:lnSpc>
              <a:buNone/>
            </a:pPr>
            <a:r>
              <a:rPr lang="en-US" sz="840" dirty="0">
                <a:solidFill>
                  <a:srgbClr val="3F3A33"/>
                </a:solidFill>
                <a:latin typeface="Calibri" pitchFamily="34" charset="0"/>
                <a:ea typeface="Calibri" pitchFamily="34" charset="-122"/>
                <a:cs typeface="Calibri" pitchFamily="34" charset="-120"/>
              </a:rPr>
              <a:t>enmeshment</a:t>
            </a:r>
            <a:endParaRPr lang="en-US" sz="840" dirty="0"/>
          </a:p>
        </p:txBody>
      </p:sp>
      <p:sp>
        <p:nvSpPr>
          <p:cNvPr id="61" name="Shape 59"/>
          <p:cNvSpPr/>
          <p:nvPr/>
        </p:nvSpPr>
        <p:spPr>
          <a:xfrm>
            <a:off x="6940296" y="4553712"/>
            <a:ext cx="292608" cy="91"/>
          </a:xfrm>
          <a:prstGeom prst="line">
            <a:avLst/>
          </a:prstGeom>
          <a:noFill/>
          <a:ln w="10160">
            <a:solidFill>
              <a:srgbClr val="6E8274"/>
            </a:solidFill>
            <a:prstDash val="dash"/>
            <a:headEnd type="none"/>
            <a:tailEnd type="none"/>
          </a:ln>
        </p:spPr>
      </p:sp>
      <p:sp>
        <p:nvSpPr>
          <p:cNvPr id="62" name="Text 60"/>
          <p:cNvSpPr txBox="1"/>
          <p:nvPr/>
        </p:nvSpPr>
        <p:spPr>
          <a:xfrm>
            <a:off x="7379208" y="4485132"/>
            <a:ext cx="3291840" cy="245364"/>
          </a:xfrm>
          <a:prstGeom prst="rect">
            <a:avLst/>
          </a:prstGeom>
          <a:noFill/>
          <a:ln/>
        </p:spPr>
        <p:txBody>
          <a:bodyPr wrap="square" lIns="0" tIns="0" rIns="0" bIns="0" rtlCol="0" anchor="t"/>
          <a:lstStyle/>
          <a:p>
            <a:pPr algn="l" indent="0" marL="0">
              <a:lnSpc>
                <a:spcPts val="1092"/>
              </a:lnSpc>
              <a:buNone/>
            </a:pPr>
            <a:r>
              <a:rPr lang="en-US" sz="840" dirty="0">
                <a:solidFill>
                  <a:srgbClr val="3F3A33"/>
                </a:solidFill>
                <a:latin typeface="Calibri" pitchFamily="34" charset="0"/>
                <a:ea typeface="Calibri" pitchFamily="34" charset="-122"/>
                <a:cs typeface="Calibri" pitchFamily="34" charset="-120"/>
              </a:rPr>
              <a:t>subsystem boundary</a:t>
            </a:r>
            <a:endParaRPr lang="en-US" sz="840" dirty="0"/>
          </a:p>
        </p:txBody>
      </p:sp>
      <p:sp>
        <p:nvSpPr>
          <p:cNvPr id="63" name="Shape 61"/>
          <p:cNvSpPr/>
          <p:nvPr/>
        </p:nvSpPr>
        <p:spPr>
          <a:xfrm>
            <a:off x="7008876" y="4805172"/>
            <a:ext cx="155448" cy="155448"/>
          </a:xfrm>
          <a:prstGeom prst="rect">
            <a:avLst/>
          </a:prstGeom>
          <a:solidFill>
            <a:srgbClr val="FFFFFF">
              <a:alpha val="0"/>
            </a:srgbClr>
          </a:solidFill>
          <a:ln w="6985">
            <a:solidFill>
              <a:srgbClr val="1B1815"/>
            </a:solidFill>
            <a:prstDash val="solid"/>
          </a:ln>
        </p:spPr>
      </p:sp>
      <p:sp>
        <p:nvSpPr>
          <p:cNvPr id="64" name="Shape 62"/>
          <p:cNvSpPr/>
          <p:nvPr/>
        </p:nvSpPr>
        <p:spPr>
          <a:xfrm>
            <a:off x="7031736" y="4828032"/>
            <a:ext cx="109728" cy="109728"/>
          </a:xfrm>
          <a:prstGeom prst="rect">
            <a:avLst/>
          </a:prstGeom>
          <a:solidFill>
            <a:srgbClr val="FFFFFF">
              <a:alpha val="0"/>
            </a:srgbClr>
          </a:solidFill>
          <a:ln w="6985">
            <a:solidFill>
              <a:srgbClr val="1B1815"/>
            </a:solidFill>
            <a:prstDash val="solid"/>
          </a:ln>
        </p:spPr>
      </p:sp>
      <p:sp>
        <p:nvSpPr>
          <p:cNvPr id="65" name="Text 63"/>
          <p:cNvSpPr txBox="1"/>
          <p:nvPr/>
        </p:nvSpPr>
        <p:spPr>
          <a:xfrm>
            <a:off x="7379208" y="4814316"/>
            <a:ext cx="3291840" cy="245364"/>
          </a:xfrm>
          <a:prstGeom prst="rect">
            <a:avLst/>
          </a:prstGeom>
          <a:noFill/>
          <a:ln/>
        </p:spPr>
        <p:txBody>
          <a:bodyPr wrap="square" lIns="0" tIns="0" rIns="0" bIns="0" rtlCol="0" anchor="t"/>
          <a:lstStyle/>
          <a:p>
            <a:pPr algn="l" indent="0" marL="0">
              <a:lnSpc>
                <a:spcPts val="1092"/>
              </a:lnSpc>
              <a:buNone/>
            </a:pPr>
            <a:r>
              <a:rPr lang="en-US" sz="840" dirty="0">
                <a:solidFill>
                  <a:srgbClr val="3F3A33"/>
                </a:solidFill>
                <a:latin typeface="Calibri" pitchFamily="34" charset="0"/>
                <a:ea typeface="Calibri" pitchFamily="34" charset="-122"/>
                <a:cs typeface="Calibri" pitchFamily="34" charset="-120"/>
              </a:rPr>
              <a:t>index patient</a:t>
            </a:r>
            <a:endParaRPr lang="en-US" sz="840" dirty="0"/>
          </a:p>
        </p:txBody>
      </p:sp>
      <p:sp>
        <p:nvSpPr>
          <p:cNvPr id="66" name="Text 64"/>
          <p:cNvSpPr txBox="1"/>
          <p:nvPr/>
        </p:nvSpPr>
        <p:spPr>
          <a:xfrm>
            <a:off x="7013448" y="5047488"/>
            <a:ext cx="3931920" cy="198628"/>
          </a:xfrm>
          <a:prstGeom prst="rect">
            <a:avLst/>
          </a:prstGeom>
          <a:noFill/>
          <a:ln/>
        </p:spPr>
        <p:txBody>
          <a:bodyPr wrap="square" lIns="0" tIns="0" rIns="0" bIns="0" rtlCol="0" anchor="t"/>
          <a:lstStyle/>
          <a:p>
            <a:pPr algn="l" indent="0" marL="0">
              <a:lnSpc>
                <a:spcPts val="884"/>
              </a:lnSpc>
              <a:buNone/>
            </a:pPr>
            <a:r>
              <a:rPr lang="en-US" sz="680" i="1" dirty="0">
                <a:solidFill>
                  <a:srgbClr val="5B544A"/>
                </a:solidFill>
                <a:latin typeface="Calibri" pitchFamily="34" charset="0"/>
                <a:ea typeface="Calibri" pitchFamily="34" charset="-122"/>
                <a:cs typeface="Calibri" pitchFamily="34" charset="-120"/>
              </a:rPr>
              <a:t>Conventions after McGoldrick, Gerson &amp; Petry (2008).</a:t>
            </a:r>
            <a:endParaRPr lang="en-US" sz="680" dirty="0"/>
          </a:p>
        </p:txBody>
      </p:sp>
      <p:sp>
        <p:nvSpPr>
          <p:cNvPr id="67" name="Text 65"/>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Symbols follow McGoldrick, Gerson &amp; Petry (2008).</a:t>
            </a:r>
            <a:endParaRPr lang="en-US" sz="74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04 · CLINICAL APPLICATION</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23</a:t>
            </a:r>
            <a:endParaRPr lang="en-US" sz="950" dirty="0"/>
          </a:p>
        </p:txBody>
      </p:sp>
      <p:sp>
        <p:nvSpPr>
          <p:cNvPr id="8" name="Text 6"/>
          <p:cNvSpPr txBox="1"/>
          <p:nvPr/>
        </p:nvSpPr>
        <p:spPr>
          <a:xfrm>
            <a:off x="822960" y="932688"/>
            <a:ext cx="9509760" cy="775970"/>
          </a:xfrm>
          <a:prstGeom prst="rect">
            <a:avLst/>
          </a:prstGeom>
          <a:noFill/>
          <a:ln/>
        </p:spPr>
        <p:txBody>
          <a:bodyPr wrap="square" lIns="0" tIns="0" rIns="0" bIns="0" rtlCol="0" anchor="t"/>
          <a:lstStyle/>
          <a:p>
            <a:pPr algn="l" indent="0" marL="0">
              <a:lnSpc>
                <a:spcPts val="3510"/>
              </a:lnSpc>
              <a:buNone/>
            </a:pPr>
            <a:r>
              <a:rPr lang="en-US" sz="2600" dirty="0">
                <a:solidFill>
                  <a:srgbClr val="1B1815"/>
                </a:solidFill>
                <a:latin typeface="Georgia" pitchFamily="34" charset="0"/>
                <a:ea typeface="Georgia" pitchFamily="34" charset="-122"/>
                <a:cs typeface="Georgia" pitchFamily="34" charset="-120"/>
              </a:rPr>
              <a:t>A family that cannot agree on the problem</a:t>
            </a:r>
            <a:endParaRPr lang="en-US" sz="2600" dirty="0"/>
          </a:p>
        </p:txBody>
      </p:sp>
      <p:sp>
        <p:nvSpPr>
          <p:cNvPr id="9" name="Shape 7"/>
          <p:cNvSpPr/>
          <p:nvPr/>
        </p:nvSpPr>
        <p:spPr>
          <a:xfrm>
            <a:off x="822960" y="1463040"/>
            <a:ext cx="7059168" cy="1847088"/>
          </a:xfrm>
          <a:prstGeom prst="roundRect">
            <a:avLst>
              <a:gd name="adj" fmla="val 490"/>
            </a:avLst>
          </a:prstGeom>
          <a:solidFill>
            <a:srgbClr val="EFE5D3">
              <a:alpha val="50000"/>
            </a:srgbClr>
          </a:solidFill>
          <a:ln w="12700">
            <a:solidFill>
              <a:srgbClr val="FFFFFF">
                <a:alpha val="0"/>
              </a:srgbClr>
            </a:solidFill>
            <a:prstDash val="solid"/>
          </a:ln>
        </p:spPr>
      </p:sp>
      <p:sp>
        <p:nvSpPr>
          <p:cNvPr id="10" name="Shape 8"/>
          <p:cNvSpPr/>
          <p:nvPr/>
        </p:nvSpPr>
        <p:spPr>
          <a:xfrm>
            <a:off x="822960" y="1463040"/>
            <a:ext cx="45720" cy="1847088"/>
          </a:xfrm>
          <a:prstGeom prst="rect">
            <a:avLst/>
          </a:prstGeom>
          <a:solidFill>
            <a:srgbClr val="A96A45"/>
          </a:solidFill>
          <a:ln w="12700">
            <a:solidFill>
              <a:srgbClr val="FFFFFF">
                <a:alpha val="0"/>
              </a:srgbClr>
            </a:solidFill>
            <a:prstDash val="solid"/>
          </a:ln>
        </p:spPr>
      </p:sp>
      <p:sp>
        <p:nvSpPr>
          <p:cNvPr id="11" name="Text 9"/>
          <p:cNvSpPr txBox="1"/>
          <p:nvPr/>
        </p:nvSpPr>
        <p:spPr>
          <a:xfrm>
            <a:off x="1115568" y="1627632"/>
            <a:ext cx="2743200" cy="202946"/>
          </a:xfrm>
          <a:prstGeom prst="rect">
            <a:avLst/>
          </a:prstGeom>
          <a:noFill/>
          <a:ln/>
        </p:spPr>
        <p:txBody>
          <a:bodyPr wrap="square" lIns="0" tIns="0" rIns="0" bIns="0" rtlCol="0" anchor="t"/>
          <a:lstStyle/>
          <a:p>
            <a:pPr algn="l" indent="0" marL="0">
              <a:lnSpc>
                <a:spcPts val="918"/>
              </a:lnSpc>
              <a:buNone/>
            </a:pPr>
            <a:r>
              <a:rPr lang="en-US" sz="680" b="1" spc="200" kern="0" dirty="0">
                <a:solidFill>
                  <a:srgbClr val="A96A45"/>
                </a:solidFill>
                <a:latin typeface="Calibri" pitchFamily="34" charset="0"/>
                <a:ea typeface="Calibri" pitchFamily="34" charset="-122"/>
                <a:cs typeface="Calibri" pitchFamily="34" charset="-120"/>
              </a:rPr>
              <a:t>CLINICAL VIGNETTE</a:t>
            </a:r>
            <a:endParaRPr lang="en-US" sz="680" dirty="0"/>
          </a:p>
        </p:txBody>
      </p:sp>
      <p:sp>
        <p:nvSpPr>
          <p:cNvPr id="12" name="Text 10"/>
          <p:cNvSpPr txBox="1"/>
          <p:nvPr/>
        </p:nvSpPr>
        <p:spPr>
          <a:xfrm>
            <a:off x="1115568" y="2187854"/>
            <a:ext cx="6446520" cy="1280160"/>
          </a:xfrm>
          <a:prstGeom prst="rect">
            <a:avLst/>
          </a:prstGeom>
          <a:noFill/>
          <a:ln/>
        </p:spPr>
        <p:txBody>
          <a:bodyPr wrap="square" lIns="0" tIns="0" rIns="0" bIns="0" rtlCol="0" anchor="t"/>
          <a:lstStyle/>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A mother complains that her husband “undermines” her with their 15-year-old daughter. The</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father says the mother is “too strict”. The daughter says nothing. When the parents begin to</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argue, the daughter interrupts with a headache and the argument stops.</a:t>
            </a:r>
            <a:endParaRPr lang="en-US" sz="1160" dirty="0"/>
          </a:p>
        </p:txBody>
      </p:sp>
      <p:sp>
        <p:nvSpPr>
          <p:cNvPr id="13" name="Shape 11"/>
          <p:cNvSpPr/>
          <p:nvPr/>
        </p:nvSpPr>
        <p:spPr>
          <a:xfrm>
            <a:off x="8101584" y="1463040"/>
            <a:ext cx="3264408" cy="1847088"/>
          </a:xfrm>
          <a:prstGeom prst="roundRect">
            <a:avLst>
              <a:gd name="adj" fmla="val 490"/>
            </a:avLst>
          </a:prstGeom>
          <a:solidFill>
            <a:srgbClr val="FFFFFF">
              <a:alpha val="0"/>
            </a:srgbClr>
          </a:solidFill>
          <a:ln w="7620">
            <a:solidFill>
              <a:srgbClr val="D9CDB7"/>
            </a:solidFill>
            <a:prstDash val="solid"/>
          </a:ln>
        </p:spPr>
      </p:sp>
      <p:sp>
        <p:nvSpPr>
          <p:cNvPr id="14" name="Text 12"/>
          <p:cNvSpPr txBox="1"/>
          <p:nvPr/>
        </p:nvSpPr>
        <p:spPr>
          <a:xfrm>
            <a:off x="8302752" y="1627632"/>
            <a:ext cx="2898648" cy="196977"/>
          </a:xfrm>
          <a:prstGeom prst="rect">
            <a:avLst/>
          </a:prstGeom>
          <a:noFill/>
          <a:ln/>
        </p:spPr>
        <p:txBody>
          <a:bodyPr wrap="square" lIns="0" tIns="0" rIns="0" bIns="0" rtlCol="0" anchor="t"/>
          <a:lstStyle/>
          <a:p>
            <a:pPr algn="l" indent="0" marL="0">
              <a:lnSpc>
                <a:spcPts val="891"/>
              </a:lnSpc>
              <a:buNone/>
            </a:pPr>
            <a:r>
              <a:rPr lang="en-US" sz="660" b="1" spc="180" kern="0" dirty="0">
                <a:solidFill>
                  <a:srgbClr val="6E8274"/>
                </a:solidFill>
                <a:latin typeface="Calibri" pitchFamily="34" charset="0"/>
                <a:ea typeface="Calibri" pitchFamily="34" charset="-122"/>
                <a:cs typeface="Calibri" pitchFamily="34" charset="-120"/>
              </a:rPr>
              <a:t>APPLY THIS WEEK</a:t>
            </a:r>
            <a:endParaRPr lang="en-US" sz="660" dirty="0"/>
          </a:p>
        </p:txBody>
      </p:sp>
      <p:sp>
        <p:nvSpPr>
          <p:cNvPr id="15" name="Shape 13"/>
          <p:cNvSpPr/>
          <p:nvPr/>
        </p:nvSpPr>
        <p:spPr>
          <a:xfrm>
            <a:off x="8322869" y="1967789"/>
            <a:ext cx="51206" cy="51206"/>
          </a:xfrm>
          <a:prstGeom prst="ellipse">
            <a:avLst/>
          </a:prstGeom>
          <a:solidFill>
            <a:srgbClr val="6E8274"/>
          </a:solidFill>
          <a:ln w="12700">
            <a:solidFill>
              <a:srgbClr val="FFFFFF">
                <a:alpha val="0"/>
              </a:srgbClr>
            </a:solidFill>
            <a:prstDash val="solid"/>
          </a:ln>
        </p:spPr>
      </p:sp>
      <p:sp>
        <p:nvSpPr>
          <p:cNvPr id="16" name="Text 14"/>
          <p:cNvSpPr txBox="1"/>
          <p:nvPr/>
        </p:nvSpPr>
        <p:spPr>
          <a:xfrm>
            <a:off x="8485632" y="1911096"/>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boundary</a:t>
            </a:r>
            <a:endParaRPr lang="en-US" sz="830" dirty="0"/>
          </a:p>
        </p:txBody>
      </p:sp>
      <p:sp>
        <p:nvSpPr>
          <p:cNvPr id="17" name="Shape 15"/>
          <p:cNvSpPr/>
          <p:nvPr/>
        </p:nvSpPr>
        <p:spPr>
          <a:xfrm>
            <a:off x="8322869" y="2296973"/>
            <a:ext cx="51206" cy="51206"/>
          </a:xfrm>
          <a:prstGeom prst="ellipse">
            <a:avLst/>
          </a:prstGeom>
          <a:solidFill>
            <a:srgbClr val="6E8274"/>
          </a:solidFill>
          <a:ln w="12700">
            <a:solidFill>
              <a:srgbClr val="FFFFFF">
                <a:alpha val="0"/>
              </a:srgbClr>
            </a:solidFill>
            <a:prstDash val="solid"/>
          </a:ln>
        </p:spPr>
      </p:sp>
      <p:sp>
        <p:nvSpPr>
          <p:cNvPr id="18" name="Text 16"/>
          <p:cNvSpPr txBox="1"/>
          <p:nvPr/>
        </p:nvSpPr>
        <p:spPr>
          <a:xfrm>
            <a:off x="8485632" y="2240280"/>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hierarchy</a:t>
            </a:r>
            <a:endParaRPr lang="en-US" sz="830" dirty="0"/>
          </a:p>
        </p:txBody>
      </p:sp>
      <p:sp>
        <p:nvSpPr>
          <p:cNvPr id="19" name="Shape 17"/>
          <p:cNvSpPr/>
          <p:nvPr/>
        </p:nvSpPr>
        <p:spPr>
          <a:xfrm>
            <a:off x="8322869" y="2626157"/>
            <a:ext cx="51206" cy="51206"/>
          </a:xfrm>
          <a:prstGeom prst="ellipse">
            <a:avLst/>
          </a:prstGeom>
          <a:solidFill>
            <a:srgbClr val="6E8274"/>
          </a:solidFill>
          <a:ln w="12700">
            <a:solidFill>
              <a:srgbClr val="FFFFFF">
                <a:alpha val="0"/>
              </a:srgbClr>
            </a:solidFill>
            <a:prstDash val="solid"/>
          </a:ln>
        </p:spPr>
      </p:sp>
      <p:sp>
        <p:nvSpPr>
          <p:cNvPr id="20" name="Text 18"/>
          <p:cNvSpPr txBox="1"/>
          <p:nvPr/>
        </p:nvSpPr>
        <p:spPr>
          <a:xfrm>
            <a:off x="8485632" y="2569464"/>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subsystem</a:t>
            </a:r>
            <a:endParaRPr lang="en-US" sz="830" dirty="0"/>
          </a:p>
        </p:txBody>
      </p:sp>
      <p:sp>
        <p:nvSpPr>
          <p:cNvPr id="21" name="Shape 19"/>
          <p:cNvSpPr/>
          <p:nvPr/>
        </p:nvSpPr>
        <p:spPr>
          <a:xfrm>
            <a:off x="8322869" y="2955341"/>
            <a:ext cx="51206" cy="51206"/>
          </a:xfrm>
          <a:prstGeom prst="ellipse">
            <a:avLst/>
          </a:prstGeom>
          <a:solidFill>
            <a:srgbClr val="6E8274"/>
          </a:solidFill>
          <a:ln w="12700">
            <a:solidFill>
              <a:srgbClr val="FFFFFF">
                <a:alpha val="0"/>
              </a:srgbClr>
            </a:solidFill>
            <a:prstDash val="solid"/>
          </a:ln>
        </p:spPr>
      </p:sp>
      <p:sp>
        <p:nvSpPr>
          <p:cNvPr id="22" name="Text 20"/>
          <p:cNvSpPr txBox="1"/>
          <p:nvPr/>
        </p:nvSpPr>
        <p:spPr>
          <a:xfrm>
            <a:off x="8485632" y="2898648"/>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enactment</a:t>
            </a:r>
            <a:endParaRPr lang="en-US" sz="830" dirty="0"/>
          </a:p>
        </p:txBody>
      </p:sp>
      <p:sp>
        <p:nvSpPr>
          <p:cNvPr id="23" name="Text 21"/>
          <p:cNvSpPr txBox="1"/>
          <p:nvPr/>
        </p:nvSpPr>
        <p:spPr>
          <a:xfrm>
            <a:off x="822960" y="3675888"/>
            <a:ext cx="3657600" cy="214884"/>
          </a:xfrm>
          <a:prstGeom prst="rect">
            <a:avLst/>
          </a:prstGeom>
          <a:noFill/>
          <a:ln/>
        </p:spPr>
        <p:txBody>
          <a:bodyPr wrap="square" lIns="0" tIns="0" rIns="0" bIns="0" rtlCol="0" anchor="t"/>
          <a:lstStyle/>
          <a:p>
            <a:pPr algn="l" indent="0" marL="0">
              <a:lnSpc>
                <a:spcPts val="972"/>
              </a:lnSpc>
              <a:buNone/>
            </a:pPr>
            <a:r>
              <a:rPr lang="en-US" sz="720" b="1" spc="200" kern="0" dirty="0">
                <a:solidFill>
                  <a:srgbClr val="96733C"/>
                </a:solidFill>
                <a:latin typeface="Calibri" pitchFamily="34" charset="0"/>
                <a:ea typeface="Calibri" pitchFamily="34" charset="-122"/>
                <a:cs typeface="Calibri" pitchFamily="34" charset="-120"/>
              </a:rPr>
              <a:t>REFLECTION</a:t>
            </a:r>
            <a:endParaRPr lang="en-US" sz="720" dirty="0"/>
          </a:p>
        </p:txBody>
      </p:sp>
      <p:sp>
        <p:nvSpPr>
          <p:cNvPr id="24" name="Shape 22"/>
          <p:cNvSpPr/>
          <p:nvPr/>
        </p:nvSpPr>
        <p:spPr>
          <a:xfrm>
            <a:off x="1828800" y="3730752"/>
            <a:ext cx="548640" cy="91"/>
          </a:xfrm>
          <a:prstGeom prst="line">
            <a:avLst/>
          </a:prstGeom>
          <a:noFill/>
          <a:ln w="10160">
            <a:solidFill>
              <a:srgbClr val="C2A05F"/>
            </a:solidFill>
            <a:prstDash val="solid"/>
            <a:headEnd type="none"/>
            <a:tailEnd type="none"/>
          </a:ln>
        </p:spPr>
      </p:sp>
      <p:sp>
        <p:nvSpPr>
          <p:cNvPr id="25" name="Shape 23"/>
          <p:cNvSpPr/>
          <p:nvPr/>
        </p:nvSpPr>
        <p:spPr>
          <a:xfrm>
            <a:off x="822960" y="4041648"/>
            <a:ext cx="3319272" cy="1627632"/>
          </a:xfrm>
          <a:prstGeom prst="roundRect">
            <a:avLst>
              <a:gd name="adj" fmla="val 631"/>
            </a:avLst>
          </a:prstGeom>
          <a:solidFill>
            <a:srgbClr val="FCF8EF"/>
          </a:solidFill>
          <a:ln w="6350">
            <a:solidFill>
              <a:srgbClr val="D9CDB7"/>
            </a:solidFill>
            <a:prstDash val="solid"/>
          </a:ln>
        </p:spPr>
      </p:sp>
      <p:sp>
        <p:nvSpPr>
          <p:cNvPr id="26" name="Text 24"/>
          <p:cNvSpPr txBox="1"/>
          <p:nvPr/>
        </p:nvSpPr>
        <p:spPr>
          <a:xfrm>
            <a:off x="102412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27" name="Text 25"/>
          <p:cNvSpPr txBox="1"/>
          <p:nvPr/>
        </p:nvSpPr>
        <p:spPr>
          <a:xfrm>
            <a:off x="102412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Draw the subsystem boundaries and the triangle.</a:t>
            </a:r>
            <a:endParaRPr lang="en-US" sz="920" dirty="0"/>
          </a:p>
        </p:txBody>
      </p:sp>
      <p:sp>
        <p:nvSpPr>
          <p:cNvPr id="28" name="Shape 26"/>
          <p:cNvSpPr/>
          <p:nvPr/>
        </p:nvSpPr>
        <p:spPr>
          <a:xfrm>
            <a:off x="1024128" y="5248656"/>
            <a:ext cx="2916936" cy="91"/>
          </a:xfrm>
          <a:prstGeom prst="line">
            <a:avLst/>
          </a:prstGeom>
          <a:noFill/>
          <a:ln w="3810">
            <a:solidFill>
              <a:srgbClr val="D9CDB7">
                <a:alpha val="75000"/>
              </a:srgbClr>
            </a:solidFill>
            <a:prstDash val="sysDot"/>
            <a:headEnd type="none"/>
            <a:tailEnd type="none"/>
          </a:ln>
        </p:spPr>
      </p:sp>
      <p:sp>
        <p:nvSpPr>
          <p:cNvPr id="29" name="Shape 27"/>
          <p:cNvSpPr/>
          <p:nvPr/>
        </p:nvSpPr>
        <p:spPr>
          <a:xfrm>
            <a:off x="1024128" y="5468112"/>
            <a:ext cx="2916936" cy="91"/>
          </a:xfrm>
          <a:prstGeom prst="line">
            <a:avLst/>
          </a:prstGeom>
          <a:noFill/>
          <a:ln w="3810">
            <a:solidFill>
              <a:srgbClr val="D9CDB7">
                <a:alpha val="75000"/>
              </a:srgbClr>
            </a:solidFill>
            <a:prstDash val="sysDot"/>
            <a:headEnd type="none"/>
            <a:tailEnd type="none"/>
          </a:ln>
        </p:spPr>
      </p:sp>
      <p:sp>
        <p:nvSpPr>
          <p:cNvPr id="30" name="Shape 28"/>
          <p:cNvSpPr/>
          <p:nvPr/>
        </p:nvSpPr>
        <p:spPr>
          <a:xfrm>
            <a:off x="4434840" y="4041648"/>
            <a:ext cx="3319272" cy="1627632"/>
          </a:xfrm>
          <a:prstGeom prst="roundRect">
            <a:avLst>
              <a:gd name="adj" fmla="val 631"/>
            </a:avLst>
          </a:prstGeom>
          <a:solidFill>
            <a:srgbClr val="FCF8EF"/>
          </a:solidFill>
          <a:ln w="6350">
            <a:solidFill>
              <a:srgbClr val="D9CDB7"/>
            </a:solidFill>
            <a:prstDash val="solid"/>
          </a:ln>
        </p:spPr>
      </p:sp>
      <p:sp>
        <p:nvSpPr>
          <p:cNvPr id="31" name="Text 29"/>
          <p:cNvSpPr txBox="1"/>
          <p:nvPr/>
        </p:nvSpPr>
        <p:spPr>
          <a:xfrm>
            <a:off x="463600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32" name="Text 30"/>
          <p:cNvSpPr txBox="1"/>
          <p:nvPr/>
        </p:nvSpPr>
        <p:spPr>
          <a:xfrm>
            <a:off x="463600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is the daughter’s headache doing in the system?</a:t>
            </a:r>
            <a:endParaRPr lang="en-US" sz="920" dirty="0"/>
          </a:p>
        </p:txBody>
      </p:sp>
      <p:sp>
        <p:nvSpPr>
          <p:cNvPr id="33" name="Shape 31"/>
          <p:cNvSpPr/>
          <p:nvPr/>
        </p:nvSpPr>
        <p:spPr>
          <a:xfrm>
            <a:off x="4636008" y="5248656"/>
            <a:ext cx="2916936" cy="91"/>
          </a:xfrm>
          <a:prstGeom prst="line">
            <a:avLst/>
          </a:prstGeom>
          <a:noFill/>
          <a:ln w="3810">
            <a:solidFill>
              <a:srgbClr val="D9CDB7">
                <a:alpha val="75000"/>
              </a:srgbClr>
            </a:solidFill>
            <a:prstDash val="sysDot"/>
            <a:headEnd type="none"/>
            <a:tailEnd type="none"/>
          </a:ln>
        </p:spPr>
      </p:sp>
      <p:sp>
        <p:nvSpPr>
          <p:cNvPr id="34" name="Shape 32"/>
          <p:cNvSpPr/>
          <p:nvPr/>
        </p:nvSpPr>
        <p:spPr>
          <a:xfrm>
            <a:off x="4636008" y="5468112"/>
            <a:ext cx="2916936" cy="91"/>
          </a:xfrm>
          <a:prstGeom prst="line">
            <a:avLst/>
          </a:prstGeom>
          <a:noFill/>
          <a:ln w="3810">
            <a:solidFill>
              <a:srgbClr val="D9CDB7">
                <a:alpha val="75000"/>
              </a:srgbClr>
            </a:solidFill>
            <a:prstDash val="sysDot"/>
            <a:headEnd type="none"/>
            <a:tailEnd type="none"/>
          </a:ln>
        </p:spPr>
      </p:sp>
      <p:sp>
        <p:nvSpPr>
          <p:cNvPr id="35" name="Shape 33"/>
          <p:cNvSpPr/>
          <p:nvPr/>
        </p:nvSpPr>
        <p:spPr>
          <a:xfrm>
            <a:off x="8046720" y="4041648"/>
            <a:ext cx="3319272" cy="1627632"/>
          </a:xfrm>
          <a:prstGeom prst="roundRect">
            <a:avLst>
              <a:gd name="adj" fmla="val 631"/>
            </a:avLst>
          </a:prstGeom>
          <a:solidFill>
            <a:srgbClr val="FCF8EF"/>
          </a:solidFill>
          <a:ln w="6350">
            <a:solidFill>
              <a:srgbClr val="D9CDB7"/>
            </a:solidFill>
            <a:prstDash val="solid"/>
          </a:ln>
        </p:spPr>
      </p:sp>
      <p:sp>
        <p:nvSpPr>
          <p:cNvPr id="36" name="Text 34"/>
          <p:cNvSpPr txBox="1"/>
          <p:nvPr/>
        </p:nvSpPr>
        <p:spPr>
          <a:xfrm>
            <a:off x="824788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7" name="Text 35"/>
          <p:cNvSpPr txBox="1"/>
          <p:nvPr/>
        </p:nvSpPr>
        <p:spPr>
          <a:xfrm>
            <a:off x="824788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Which dyad would you strengthen first — and why?</a:t>
            </a:r>
            <a:endParaRPr lang="en-US" sz="920" dirty="0"/>
          </a:p>
        </p:txBody>
      </p:sp>
      <p:sp>
        <p:nvSpPr>
          <p:cNvPr id="38" name="Shape 36"/>
          <p:cNvSpPr/>
          <p:nvPr/>
        </p:nvSpPr>
        <p:spPr>
          <a:xfrm>
            <a:off x="8247888" y="5248656"/>
            <a:ext cx="2916936" cy="91"/>
          </a:xfrm>
          <a:prstGeom prst="line">
            <a:avLst/>
          </a:prstGeom>
          <a:noFill/>
          <a:ln w="3810">
            <a:solidFill>
              <a:srgbClr val="D9CDB7">
                <a:alpha val="75000"/>
              </a:srgbClr>
            </a:solidFill>
            <a:prstDash val="sysDot"/>
            <a:headEnd type="none"/>
            <a:tailEnd type="none"/>
          </a:ln>
        </p:spPr>
      </p:sp>
      <p:sp>
        <p:nvSpPr>
          <p:cNvPr id="39" name="Shape 37"/>
          <p:cNvSpPr/>
          <p:nvPr/>
        </p:nvSpPr>
        <p:spPr>
          <a:xfrm>
            <a:off x="8247888" y="5468112"/>
            <a:ext cx="2916936" cy="91"/>
          </a:xfrm>
          <a:prstGeom prst="line">
            <a:avLst/>
          </a:prstGeom>
          <a:noFill/>
          <a:ln w="3810">
            <a:solidFill>
              <a:srgbClr val="D9CDB7">
                <a:alpha val="75000"/>
              </a:srgbClr>
            </a:solidFill>
            <a:prstDash val="sysDot"/>
            <a:headEnd type="none"/>
            <a:tailEnd type="none"/>
          </a:ln>
        </p:spPr>
      </p:sp>
      <p:sp>
        <p:nvSpPr>
          <p:cNvPr id="40" name="Text 38"/>
          <p:cNvSpPr txBox="1"/>
          <p:nvPr/>
        </p:nvSpPr>
        <p:spPr>
          <a:xfrm>
            <a:off x="822960" y="5742432"/>
            <a:ext cx="9875520" cy="244729"/>
          </a:xfrm>
          <a:prstGeom prst="rect">
            <a:avLst/>
          </a:prstGeom>
          <a:noFill/>
          <a:ln/>
        </p:spPr>
        <p:txBody>
          <a:bodyPr wrap="square" lIns="0" tIns="0" rIns="0" bIns="0" rtlCol="0" anchor="t"/>
          <a:lstStyle/>
          <a:p>
            <a:pPr algn="l" indent="0" marL="0">
              <a:lnSpc>
                <a:spcPts val="1107"/>
              </a:lnSpc>
              <a:buNone/>
            </a:pPr>
            <a:r>
              <a:rPr lang="en-US" sz="820" i="1" dirty="0">
                <a:solidFill>
                  <a:srgbClr val="8B8375"/>
                </a:solidFill>
                <a:latin typeface="Calibri" pitchFamily="34" charset="0"/>
                <a:ea typeface="Calibri" pitchFamily="34" charset="-122"/>
                <a:cs typeface="Calibri" pitchFamily="34" charset="-120"/>
              </a:rPr>
              <a:t>Discuss in seminar · bring one formulation to supervision.</a:t>
            </a:r>
            <a:endParaRPr lang="en-US" sz="8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48640"/>
            <a:ext cx="6400800" cy="238760"/>
          </a:xfrm>
          <a:prstGeom prst="rect">
            <a:avLst/>
          </a:prstGeom>
          <a:noFill/>
          <a:ln/>
        </p:spPr>
        <p:txBody>
          <a:bodyPr wrap="square" lIns="0" tIns="0" rIns="0" bIns="0" rtlCol="0" anchor="t"/>
          <a:lstStyle/>
          <a:p>
            <a:pPr algn="l" indent="0" marL="0">
              <a:lnSpc>
                <a:spcPts val="1080"/>
              </a:lnSpc>
              <a:buNone/>
            </a:pPr>
            <a:r>
              <a:rPr lang="en-US" sz="800" spc="300" kern="0" dirty="0">
                <a:solidFill>
                  <a:srgbClr val="C2A05F"/>
                </a:solidFill>
                <a:latin typeface="Calibri" pitchFamily="34" charset="0"/>
                <a:ea typeface="Calibri" pitchFamily="34" charset="-122"/>
                <a:cs typeface="Calibri" pitchFamily="34" charset="-120"/>
              </a:rPr>
              <a:t>PHASE II · WEEKS 5–8</a:t>
            </a:r>
            <a:endParaRPr lang="en-US" sz="800" dirty="0"/>
          </a:p>
        </p:txBody>
      </p:sp>
      <p:sp>
        <p:nvSpPr>
          <p:cNvPr id="3" name="Text 1"/>
          <p:cNvSpPr txBox="1"/>
          <p:nvPr/>
        </p:nvSpPr>
        <p:spPr>
          <a:xfrm>
            <a:off x="6035040" y="-457200"/>
            <a:ext cx="5486400" cy="7620000"/>
          </a:xfrm>
          <a:prstGeom prst="rect">
            <a:avLst/>
          </a:prstGeom>
          <a:noFill/>
          <a:ln/>
        </p:spPr>
        <p:txBody>
          <a:bodyPr wrap="square" lIns="0" tIns="0" rIns="0" bIns="0" rtlCol="0" anchor="t"/>
          <a:lstStyle/>
          <a:p>
            <a:pPr algn="r" indent="0" marL="0">
              <a:lnSpc>
                <a:spcPts val="30000"/>
              </a:lnSpc>
              <a:buNone/>
            </a:pPr>
            <a:r>
              <a:rPr lang="en-US" sz="30000" dirty="0">
                <a:solidFill>
                  <a:srgbClr val="181611"/>
                </a:solidFill>
                <a:latin typeface="Georgia" pitchFamily="34" charset="0"/>
                <a:ea typeface="Georgia" pitchFamily="34" charset="-122"/>
                <a:cs typeface="Georgia" pitchFamily="34" charset="-120"/>
              </a:rPr>
              <a:t>05</a:t>
            </a:r>
            <a:endParaRPr lang="en-US" sz="30000" dirty="0"/>
          </a:p>
        </p:txBody>
      </p:sp>
      <p:sp>
        <p:nvSpPr>
          <p:cNvPr id="4" name="Text 2"/>
          <p:cNvSpPr txBox="1"/>
          <p:nvPr/>
        </p:nvSpPr>
        <p:spPr>
          <a:xfrm>
            <a:off x="822960" y="1874520"/>
            <a:ext cx="6766560" cy="1215136"/>
          </a:xfrm>
          <a:prstGeom prst="rect">
            <a:avLst/>
          </a:prstGeom>
          <a:noFill/>
          <a:ln/>
        </p:spPr>
        <p:txBody>
          <a:bodyPr wrap="square" lIns="0" tIns="0" rIns="0" bIns="0" rtlCol="0" anchor="t"/>
          <a:lstStyle/>
          <a:p>
            <a:pPr algn="l" indent="0" marL="0">
              <a:lnSpc>
                <a:spcPts val="4968"/>
              </a:lnSpc>
              <a:buNone/>
            </a:pPr>
            <a:r>
              <a:rPr lang="en-US" sz="4600" dirty="0">
                <a:solidFill>
                  <a:srgbClr val="F8F3E9"/>
                </a:solidFill>
                <a:latin typeface="Georgia" pitchFamily="34" charset="0"/>
                <a:ea typeface="Georgia" pitchFamily="34" charset="-122"/>
                <a:cs typeface="Georgia" pitchFamily="34" charset="-120"/>
              </a:rPr>
              <a:t>Theoretical Cartography</a:t>
            </a:r>
            <a:endParaRPr lang="en-US" sz="4600" dirty="0"/>
          </a:p>
        </p:txBody>
      </p:sp>
      <p:sp>
        <p:nvSpPr>
          <p:cNvPr id="5" name="Text 3"/>
          <p:cNvSpPr txBox="1"/>
          <p:nvPr/>
        </p:nvSpPr>
        <p:spPr>
          <a:xfrm>
            <a:off x="822960" y="3429000"/>
            <a:ext cx="6035040" cy="736600"/>
          </a:xfrm>
          <a:prstGeom prst="rect">
            <a:avLst/>
          </a:prstGeom>
          <a:noFill/>
          <a:ln/>
        </p:spPr>
        <p:txBody>
          <a:bodyPr wrap="square" lIns="0" tIns="0" rIns="0" bIns="0" rtlCol="0" anchor="t"/>
          <a:lstStyle/>
          <a:p>
            <a:pPr algn="l" indent="0" marL="0">
              <a:lnSpc>
                <a:spcPts val="2175"/>
              </a:lnSpc>
              <a:buNone/>
            </a:pPr>
            <a:r>
              <a:rPr lang="en-US" sz="1450" i="1" dirty="0">
                <a:solidFill>
                  <a:srgbClr val="E7D3A9"/>
                </a:solidFill>
                <a:latin typeface="Georgia" pitchFamily="34" charset="0"/>
                <a:ea typeface="Georgia" pitchFamily="34" charset="-122"/>
                <a:cs typeface="Georgia" pitchFamily="34" charset="-120"/>
              </a:rPr>
              <a:t>The major traditions, held side by side — intergenerational, experiential,</a:t>
            </a:r>
            <a:endParaRPr lang="en-US" sz="1450" dirty="0"/>
          </a:p>
          <a:p>
            <a:pPr algn="l" indent="0" marL="0">
              <a:lnSpc>
                <a:spcPts val="2175"/>
              </a:lnSpc>
              <a:buNone/>
            </a:pPr>
            <a:r>
              <a:rPr lang="en-US" sz="1450" i="1" dirty="0">
                <a:solidFill>
                  <a:srgbClr val="E7D3A9"/>
                </a:solidFill>
                <a:latin typeface="Georgia" pitchFamily="34" charset="0"/>
                <a:ea typeface="Georgia" pitchFamily="34" charset="-122"/>
                <a:cs typeface="Georgia" pitchFamily="34" charset="-120"/>
              </a:rPr>
              <a:t>postmodern, and the discipline of integration.</a:t>
            </a:r>
            <a:endParaRPr lang="en-US" sz="1450" dirty="0"/>
          </a:p>
        </p:txBody>
      </p:sp>
      <p:sp>
        <p:nvSpPr>
          <p:cNvPr id="6" name="Shape 4"/>
          <p:cNvSpPr/>
          <p:nvPr/>
        </p:nvSpPr>
        <p:spPr>
          <a:xfrm>
            <a:off x="822960" y="4572000"/>
            <a:ext cx="1554480" cy="91"/>
          </a:xfrm>
          <a:prstGeom prst="line">
            <a:avLst/>
          </a:prstGeom>
          <a:noFill/>
          <a:ln w="10160">
            <a:solidFill>
              <a:srgbClr val="C2A05F"/>
            </a:solidFill>
            <a:prstDash val="solid"/>
            <a:headEnd type="none"/>
            <a:tailEnd type="none"/>
          </a:ln>
        </p:spPr>
      </p:sp>
      <p:sp>
        <p:nvSpPr>
          <p:cNvPr id="7" name="Text 5"/>
          <p:cNvSpPr txBox="1"/>
          <p:nvPr/>
        </p:nvSpPr>
        <p:spPr>
          <a:xfrm>
            <a:off x="82296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05</a:t>
            </a:r>
            <a:endParaRPr lang="en-US" sz="1000" dirty="0"/>
          </a:p>
        </p:txBody>
      </p:sp>
      <p:sp>
        <p:nvSpPr>
          <p:cNvPr id="8" name="Text 6"/>
          <p:cNvSpPr txBox="1"/>
          <p:nvPr/>
        </p:nvSpPr>
        <p:spPr>
          <a:xfrm>
            <a:off x="822960" y="5074920"/>
            <a:ext cx="1234440" cy="21717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Intergenerational &amp; contextual</a:t>
            </a:r>
            <a:endParaRPr lang="en-US" sz="760" dirty="0"/>
          </a:p>
        </p:txBody>
      </p:sp>
      <p:sp>
        <p:nvSpPr>
          <p:cNvPr id="9" name="Text 7"/>
          <p:cNvSpPr txBox="1"/>
          <p:nvPr/>
        </p:nvSpPr>
        <p:spPr>
          <a:xfrm>
            <a:off x="224028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06</a:t>
            </a:r>
            <a:endParaRPr lang="en-US" sz="1000" dirty="0"/>
          </a:p>
        </p:txBody>
      </p:sp>
      <p:sp>
        <p:nvSpPr>
          <p:cNvPr id="10" name="Text 8"/>
          <p:cNvSpPr txBox="1"/>
          <p:nvPr/>
        </p:nvSpPr>
        <p:spPr>
          <a:xfrm>
            <a:off x="2240280" y="5074920"/>
            <a:ext cx="1234440" cy="21717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Experiential &amp; humanistic</a:t>
            </a:r>
            <a:endParaRPr lang="en-US" sz="760" dirty="0"/>
          </a:p>
        </p:txBody>
      </p:sp>
      <p:sp>
        <p:nvSpPr>
          <p:cNvPr id="11" name="Text 9"/>
          <p:cNvSpPr txBox="1"/>
          <p:nvPr/>
        </p:nvSpPr>
        <p:spPr>
          <a:xfrm>
            <a:off x="365760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07</a:t>
            </a:r>
            <a:endParaRPr lang="en-US" sz="1000" dirty="0"/>
          </a:p>
        </p:txBody>
      </p:sp>
      <p:sp>
        <p:nvSpPr>
          <p:cNvPr id="12" name="Text 10"/>
          <p:cNvSpPr txBox="1"/>
          <p:nvPr/>
        </p:nvSpPr>
        <p:spPr>
          <a:xfrm>
            <a:off x="3657600" y="5074920"/>
            <a:ext cx="1234440" cy="21717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Postmodern &amp; constructivist</a:t>
            </a:r>
            <a:endParaRPr lang="en-US" sz="760" dirty="0"/>
          </a:p>
        </p:txBody>
      </p:sp>
      <p:sp>
        <p:nvSpPr>
          <p:cNvPr id="13" name="Text 11"/>
          <p:cNvSpPr txBox="1"/>
          <p:nvPr/>
        </p:nvSpPr>
        <p:spPr>
          <a:xfrm>
            <a:off x="507492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08</a:t>
            </a:r>
            <a:endParaRPr lang="en-US" sz="1000" dirty="0"/>
          </a:p>
        </p:txBody>
      </p:sp>
      <p:sp>
        <p:nvSpPr>
          <p:cNvPr id="14" name="Text 12"/>
          <p:cNvSpPr txBox="1"/>
          <p:nvPr/>
        </p:nvSpPr>
        <p:spPr>
          <a:xfrm>
            <a:off x="5074920" y="5074920"/>
            <a:ext cx="1234440" cy="21717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Integrative formulation</a:t>
            </a:r>
            <a:endParaRPr lang="en-US" sz="760" dirty="0"/>
          </a:p>
        </p:txBody>
      </p:sp>
      <p:sp>
        <p:nvSpPr>
          <p:cNvPr id="15" name="Shape 13"/>
          <p:cNvSpPr/>
          <p:nvPr/>
        </p:nvSpPr>
        <p:spPr>
          <a:xfrm>
            <a:off x="822960" y="5742432"/>
            <a:ext cx="10515600" cy="91"/>
          </a:xfrm>
          <a:prstGeom prst="line">
            <a:avLst/>
          </a:prstGeom>
          <a:noFill/>
          <a:ln w="10160">
            <a:solidFill>
              <a:srgbClr val="3A332A"/>
            </a:solidFill>
            <a:prstDash val="solid"/>
            <a:headEnd type="none"/>
            <a:tailEnd type="none"/>
          </a:ln>
        </p:spPr>
      </p:sp>
      <p:sp>
        <p:nvSpPr>
          <p:cNvPr id="16" name="Shape 14"/>
          <p:cNvSpPr/>
          <p:nvPr/>
        </p:nvSpPr>
        <p:spPr>
          <a:xfrm>
            <a:off x="793699" y="5713171"/>
            <a:ext cx="58522" cy="58522"/>
          </a:xfrm>
          <a:prstGeom prst="ellipse">
            <a:avLst/>
          </a:prstGeom>
          <a:solidFill>
            <a:srgbClr val="96733C"/>
          </a:solidFill>
          <a:ln w="12700">
            <a:solidFill>
              <a:srgbClr val="FFFFFF">
                <a:alpha val="0"/>
              </a:srgbClr>
            </a:solidFill>
            <a:prstDash val="solid"/>
          </a:ln>
        </p:spPr>
      </p:sp>
      <p:sp>
        <p:nvSpPr>
          <p:cNvPr id="17" name="Shape 15"/>
          <p:cNvSpPr/>
          <p:nvPr/>
        </p:nvSpPr>
        <p:spPr>
          <a:xfrm>
            <a:off x="1494739" y="5713171"/>
            <a:ext cx="58522" cy="58522"/>
          </a:xfrm>
          <a:prstGeom prst="ellipse">
            <a:avLst/>
          </a:prstGeom>
          <a:solidFill>
            <a:srgbClr val="96733C"/>
          </a:solidFill>
          <a:ln w="12700">
            <a:solidFill>
              <a:srgbClr val="FFFFFF">
                <a:alpha val="0"/>
              </a:srgbClr>
            </a:solidFill>
            <a:prstDash val="solid"/>
          </a:ln>
        </p:spPr>
      </p:sp>
      <p:sp>
        <p:nvSpPr>
          <p:cNvPr id="18" name="Shape 16"/>
          <p:cNvSpPr/>
          <p:nvPr/>
        </p:nvSpPr>
        <p:spPr>
          <a:xfrm>
            <a:off x="2195779" y="5713171"/>
            <a:ext cx="58522" cy="58522"/>
          </a:xfrm>
          <a:prstGeom prst="ellipse">
            <a:avLst/>
          </a:prstGeom>
          <a:solidFill>
            <a:srgbClr val="96733C"/>
          </a:solidFill>
          <a:ln w="12700">
            <a:solidFill>
              <a:srgbClr val="FFFFFF">
                <a:alpha val="0"/>
              </a:srgbClr>
            </a:solidFill>
            <a:prstDash val="solid"/>
          </a:ln>
        </p:spPr>
      </p:sp>
      <p:sp>
        <p:nvSpPr>
          <p:cNvPr id="19" name="Shape 17"/>
          <p:cNvSpPr/>
          <p:nvPr/>
        </p:nvSpPr>
        <p:spPr>
          <a:xfrm>
            <a:off x="2896819" y="5713171"/>
            <a:ext cx="58522" cy="58522"/>
          </a:xfrm>
          <a:prstGeom prst="ellipse">
            <a:avLst/>
          </a:prstGeom>
          <a:solidFill>
            <a:srgbClr val="96733C"/>
          </a:solidFill>
          <a:ln w="12700">
            <a:solidFill>
              <a:srgbClr val="FFFFFF">
                <a:alpha val="0"/>
              </a:srgbClr>
            </a:solidFill>
            <a:prstDash val="solid"/>
          </a:ln>
        </p:spPr>
      </p:sp>
      <p:sp>
        <p:nvSpPr>
          <p:cNvPr id="20" name="Shape 18"/>
          <p:cNvSpPr/>
          <p:nvPr/>
        </p:nvSpPr>
        <p:spPr>
          <a:xfrm>
            <a:off x="3597859" y="5713171"/>
            <a:ext cx="58522" cy="58522"/>
          </a:xfrm>
          <a:prstGeom prst="ellipse">
            <a:avLst/>
          </a:prstGeom>
          <a:solidFill>
            <a:srgbClr val="96733C"/>
          </a:solidFill>
          <a:ln w="12700">
            <a:solidFill>
              <a:srgbClr val="FFFFFF">
                <a:alpha val="0"/>
              </a:srgbClr>
            </a:solidFill>
            <a:prstDash val="solid"/>
          </a:ln>
        </p:spPr>
      </p:sp>
      <p:sp>
        <p:nvSpPr>
          <p:cNvPr id="21" name="Shape 19"/>
          <p:cNvSpPr/>
          <p:nvPr/>
        </p:nvSpPr>
        <p:spPr>
          <a:xfrm>
            <a:off x="4298899" y="5713171"/>
            <a:ext cx="58522" cy="58522"/>
          </a:xfrm>
          <a:prstGeom prst="ellipse">
            <a:avLst/>
          </a:prstGeom>
          <a:solidFill>
            <a:srgbClr val="96733C"/>
          </a:solidFill>
          <a:ln w="12700">
            <a:solidFill>
              <a:srgbClr val="FFFFFF">
                <a:alpha val="0"/>
              </a:srgbClr>
            </a:solidFill>
            <a:prstDash val="solid"/>
          </a:ln>
        </p:spPr>
      </p:sp>
      <p:sp>
        <p:nvSpPr>
          <p:cNvPr id="22" name="Shape 20"/>
          <p:cNvSpPr/>
          <p:nvPr/>
        </p:nvSpPr>
        <p:spPr>
          <a:xfrm>
            <a:off x="4999939" y="5713171"/>
            <a:ext cx="58522" cy="58522"/>
          </a:xfrm>
          <a:prstGeom prst="ellipse">
            <a:avLst/>
          </a:prstGeom>
          <a:solidFill>
            <a:srgbClr val="96733C"/>
          </a:solidFill>
          <a:ln w="12700">
            <a:solidFill>
              <a:srgbClr val="FFFFFF">
                <a:alpha val="0"/>
              </a:srgbClr>
            </a:solidFill>
            <a:prstDash val="solid"/>
          </a:ln>
        </p:spPr>
      </p:sp>
      <p:sp>
        <p:nvSpPr>
          <p:cNvPr id="23" name="Shape 21"/>
          <p:cNvSpPr/>
          <p:nvPr/>
        </p:nvSpPr>
        <p:spPr>
          <a:xfrm>
            <a:off x="5666232" y="5678424"/>
            <a:ext cx="128016" cy="128016"/>
          </a:xfrm>
          <a:prstGeom prst="ellipse">
            <a:avLst/>
          </a:prstGeom>
          <a:solidFill>
            <a:srgbClr val="C2A05F"/>
          </a:solidFill>
          <a:ln w="8890">
            <a:solidFill>
              <a:srgbClr val="E7D3A9"/>
            </a:solidFill>
            <a:prstDash val="solid"/>
          </a:ln>
        </p:spPr>
      </p:sp>
      <p:sp>
        <p:nvSpPr>
          <p:cNvPr id="24" name="Shape 22"/>
          <p:cNvSpPr/>
          <p:nvPr/>
        </p:nvSpPr>
        <p:spPr>
          <a:xfrm>
            <a:off x="6402019" y="5713171"/>
            <a:ext cx="58522" cy="58522"/>
          </a:xfrm>
          <a:prstGeom prst="ellipse">
            <a:avLst/>
          </a:prstGeom>
          <a:solidFill>
            <a:srgbClr val="1E1913"/>
          </a:solidFill>
          <a:ln w="12700">
            <a:solidFill>
              <a:srgbClr val="FFFFFF">
                <a:alpha val="0"/>
              </a:srgbClr>
            </a:solidFill>
            <a:prstDash val="solid"/>
          </a:ln>
        </p:spPr>
      </p:sp>
      <p:sp>
        <p:nvSpPr>
          <p:cNvPr id="25" name="Shape 23"/>
          <p:cNvSpPr/>
          <p:nvPr/>
        </p:nvSpPr>
        <p:spPr>
          <a:xfrm>
            <a:off x="7103059" y="5713171"/>
            <a:ext cx="58522" cy="58522"/>
          </a:xfrm>
          <a:prstGeom prst="ellipse">
            <a:avLst/>
          </a:prstGeom>
          <a:solidFill>
            <a:srgbClr val="1E1913"/>
          </a:solidFill>
          <a:ln w="12700">
            <a:solidFill>
              <a:srgbClr val="FFFFFF">
                <a:alpha val="0"/>
              </a:srgbClr>
            </a:solidFill>
            <a:prstDash val="solid"/>
          </a:ln>
        </p:spPr>
      </p:sp>
      <p:sp>
        <p:nvSpPr>
          <p:cNvPr id="26" name="Shape 24"/>
          <p:cNvSpPr/>
          <p:nvPr/>
        </p:nvSpPr>
        <p:spPr>
          <a:xfrm>
            <a:off x="7804099" y="5713171"/>
            <a:ext cx="58522" cy="58522"/>
          </a:xfrm>
          <a:prstGeom prst="ellipse">
            <a:avLst/>
          </a:prstGeom>
          <a:solidFill>
            <a:srgbClr val="1E1913"/>
          </a:solidFill>
          <a:ln w="12700">
            <a:solidFill>
              <a:srgbClr val="FFFFFF">
                <a:alpha val="0"/>
              </a:srgbClr>
            </a:solidFill>
            <a:prstDash val="solid"/>
          </a:ln>
        </p:spPr>
      </p:sp>
      <p:sp>
        <p:nvSpPr>
          <p:cNvPr id="27" name="Shape 25"/>
          <p:cNvSpPr/>
          <p:nvPr/>
        </p:nvSpPr>
        <p:spPr>
          <a:xfrm>
            <a:off x="8505139" y="5713171"/>
            <a:ext cx="58522" cy="58522"/>
          </a:xfrm>
          <a:prstGeom prst="ellipse">
            <a:avLst/>
          </a:prstGeom>
          <a:solidFill>
            <a:srgbClr val="1E1913"/>
          </a:solidFill>
          <a:ln w="12700">
            <a:solidFill>
              <a:srgbClr val="FFFFFF">
                <a:alpha val="0"/>
              </a:srgbClr>
            </a:solidFill>
            <a:prstDash val="solid"/>
          </a:ln>
        </p:spPr>
      </p:sp>
      <p:sp>
        <p:nvSpPr>
          <p:cNvPr id="28" name="Shape 26"/>
          <p:cNvSpPr/>
          <p:nvPr/>
        </p:nvSpPr>
        <p:spPr>
          <a:xfrm>
            <a:off x="9206179" y="5713171"/>
            <a:ext cx="58522" cy="58522"/>
          </a:xfrm>
          <a:prstGeom prst="ellipse">
            <a:avLst/>
          </a:prstGeom>
          <a:solidFill>
            <a:srgbClr val="1E1913"/>
          </a:solidFill>
          <a:ln w="12700">
            <a:solidFill>
              <a:srgbClr val="FFFFFF">
                <a:alpha val="0"/>
              </a:srgbClr>
            </a:solidFill>
            <a:prstDash val="solid"/>
          </a:ln>
        </p:spPr>
      </p:sp>
      <p:sp>
        <p:nvSpPr>
          <p:cNvPr id="29" name="Shape 27"/>
          <p:cNvSpPr/>
          <p:nvPr/>
        </p:nvSpPr>
        <p:spPr>
          <a:xfrm>
            <a:off x="9907219" y="5713171"/>
            <a:ext cx="58522" cy="58522"/>
          </a:xfrm>
          <a:prstGeom prst="ellipse">
            <a:avLst/>
          </a:prstGeom>
          <a:solidFill>
            <a:srgbClr val="1E1913"/>
          </a:solidFill>
          <a:ln w="12700">
            <a:solidFill>
              <a:srgbClr val="FFFFFF">
                <a:alpha val="0"/>
              </a:srgbClr>
            </a:solidFill>
            <a:prstDash val="solid"/>
          </a:ln>
        </p:spPr>
      </p:sp>
      <p:sp>
        <p:nvSpPr>
          <p:cNvPr id="30" name="Shape 28"/>
          <p:cNvSpPr/>
          <p:nvPr/>
        </p:nvSpPr>
        <p:spPr>
          <a:xfrm>
            <a:off x="10608259" y="5713171"/>
            <a:ext cx="58522" cy="58522"/>
          </a:xfrm>
          <a:prstGeom prst="ellipse">
            <a:avLst/>
          </a:prstGeom>
          <a:solidFill>
            <a:srgbClr val="1E1913"/>
          </a:solidFill>
          <a:ln w="12700">
            <a:solidFill>
              <a:srgbClr val="FFFFFF">
                <a:alpha val="0"/>
              </a:srgbClr>
            </a:solidFill>
            <a:prstDash val="solid"/>
          </a:ln>
        </p:spPr>
      </p:sp>
      <p:sp>
        <p:nvSpPr>
          <p:cNvPr id="31" name="Shape 29"/>
          <p:cNvSpPr/>
          <p:nvPr/>
        </p:nvSpPr>
        <p:spPr>
          <a:xfrm>
            <a:off x="11309299" y="5713171"/>
            <a:ext cx="58522" cy="58522"/>
          </a:xfrm>
          <a:prstGeom prst="ellipse">
            <a:avLst/>
          </a:prstGeom>
          <a:solidFill>
            <a:srgbClr val="1E1913"/>
          </a:solidFill>
          <a:ln w="12700">
            <a:solidFill>
              <a:srgbClr val="FFFFFF">
                <a:alpha val="0"/>
              </a:srgbClr>
            </a:solidFill>
            <a:prstDash val="solid"/>
          </a:ln>
        </p:spPr>
      </p:sp>
      <p:sp>
        <p:nvSpPr>
          <p:cNvPr id="32" name="Shape 30"/>
          <p:cNvSpPr/>
          <p:nvPr/>
        </p:nvSpPr>
        <p:spPr>
          <a:xfrm>
            <a:off x="822960" y="722376"/>
            <a:ext cx="10546050" cy="91"/>
          </a:xfrm>
          <a:prstGeom prst="line">
            <a:avLst/>
          </a:prstGeom>
          <a:noFill/>
          <a:ln w="6350">
            <a:solidFill>
              <a:srgbClr val="3A332A"/>
            </a:solidFill>
            <a:prstDash val="solid"/>
            <a:headEnd type="none"/>
            <a:tailEnd type="none"/>
          </a:ln>
        </p:spPr>
      </p:sp>
      <p:sp>
        <p:nvSpPr>
          <p:cNvPr id="33" name="Text 31"/>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34" name="Text 32"/>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05 · PHASE II — THEORETICAL CARTOGRAPHY</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05</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Intergenerational and Contextual</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Approaches</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476377"/>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How does the past continue to speak in the present — and who is loyal to whom?</a:t>
            </a:r>
            <a:endParaRPr lang="en-US" sz="1550" dirty="0"/>
          </a:p>
        </p:txBody>
      </p:sp>
      <p:sp>
        <p:nvSpPr>
          <p:cNvPr id="8" name="Shape 6"/>
          <p:cNvSpPr/>
          <p:nvPr/>
        </p:nvSpPr>
        <p:spPr>
          <a:xfrm>
            <a:off x="822960" y="3911219"/>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emotional process that travels</a:t>
            </a:r>
            <a:endParaRPr lang="en-US" sz="850" dirty="0"/>
          </a:p>
        </p:txBody>
      </p:sp>
      <p:sp>
        <p:nvSpPr>
          <p:cNvPr id="11" name="Text 9"/>
          <p:cNvSpPr txBox="1"/>
          <p:nvPr/>
        </p:nvSpPr>
        <p:spPr>
          <a:xfrm>
            <a:off x="3282696"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triangle as the unit of emotional process</a:t>
            </a:r>
            <a:endParaRPr lang="en-US" sz="850" dirty="0"/>
          </a:p>
        </p:txBody>
      </p:sp>
      <p:sp>
        <p:nvSpPr>
          <p:cNvPr id="13" name="Text 11"/>
          <p:cNvSpPr txBox="1"/>
          <p:nvPr/>
        </p:nvSpPr>
        <p:spPr>
          <a:xfrm>
            <a:off x="5742432"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SEMINAR</a:t>
            </a:r>
            <a:endParaRPr lang="en-US" sz="620" dirty="0"/>
          </a:p>
        </p:txBody>
      </p:sp>
      <p:sp>
        <p:nvSpPr>
          <p:cNvPr id="14" name="Text 12"/>
          <p:cNvSpPr txBox="1"/>
          <p:nvPr/>
        </p:nvSpPr>
        <p:spPr>
          <a:xfrm>
            <a:off x="5742432"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ledger of loyalty</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Explain differentiation of self and triangulation.</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Construct and interpret a three-generation</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genogram.</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Apply the concepts of legacy, entitlement and</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loyalty.</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differentiation · triangle · multigenerational transmission · legacy · loyalty</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Bowen (1978), ch. 1–3 · Kerr &amp; Bowen (1988) · Boszormenyi-Nagy &amp; Spark (1973)</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96733C"/>
          </a:solidFill>
          <a:ln w="12700">
            <a:solidFill>
              <a:srgbClr val="FFFFFF">
                <a:alpha val="0"/>
              </a:srgbClr>
            </a:solidFill>
            <a:prstDash val="solid"/>
          </a:ln>
        </p:spPr>
      </p:sp>
      <p:sp>
        <p:nvSpPr>
          <p:cNvPr id="31" name="Shape 29"/>
          <p:cNvSpPr/>
          <p:nvPr/>
        </p:nvSpPr>
        <p:spPr>
          <a:xfrm>
            <a:off x="3563112" y="5696712"/>
            <a:ext cx="128016" cy="128016"/>
          </a:xfrm>
          <a:prstGeom prst="ellipse">
            <a:avLst/>
          </a:prstGeom>
          <a:solidFill>
            <a:srgbClr val="C2A05F"/>
          </a:solidFill>
          <a:ln w="8890">
            <a:solidFill>
              <a:srgbClr val="E7D3A9"/>
            </a:solidFill>
            <a:prstDash val="solid"/>
          </a:ln>
        </p:spPr>
      </p:sp>
      <p:sp>
        <p:nvSpPr>
          <p:cNvPr id="32" name="Shape 30"/>
          <p:cNvSpPr/>
          <p:nvPr/>
        </p:nvSpPr>
        <p:spPr>
          <a:xfrm>
            <a:off x="4298899" y="5731459"/>
            <a:ext cx="58522" cy="58522"/>
          </a:xfrm>
          <a:prstGeom prst="ellipse">
            <a:avLst/>
          </a:prstGeom>
          <a:solidFill>
            <a:srgbClr val="1E1913"/>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1E1913"/>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1E1913"/>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1E1913"/>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1E1913"/>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1E1913"/>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1E1913"/>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1E1913"/>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1E1913"/>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25</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05 · LECTURE 05</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26</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The emotional process that travels</a:t>
            </a:r>
            <a:endParaRPr lang="en-US" sz="2800" dirty="0"/>
          </a:p>
        </p:txBody>
      </p:sp>
      <p:sp>
        <p:nvSpPr>
          <p:cNvPr id="9" name="Text 7"/>
          <p:cNvSpPr txBox="1"/>
          <p:nvPr/>
        </p:nvSpPr>
        <p:spPr>
          <a:xfrm>
            <a:off x="822960" y="1486408"/>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Bowen shifted attention from the presenting symptom to the emotional process that moves through generations — and to</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the therapist’s own family as an instrument of understanding.</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DIFFERENTIATION OF SELF</a:t>
            </a:r>
            <a:endParaRPr lang="en-US" sz="750" dirty="0"/>
          </a:p>
        </p:txBody>
      </p:sp>
      <p:sp>
        <p:nvSpPr>
          <p:cNvPr id="13" name="Text 11"/>
          <p:cNvSpPr txBox="1"/>
          <p:nvPr/>
        </p:nvSpPr>
        <p:spPr>
          <a:xfrm>
            <a:off x="82296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The capacity to stay connected while maintaining one’s own thinking.</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Low differentiation produces fusion, reactivity and the feeling that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one cannot survive the other’s disapproval.</a:t>
            </a:r>
            <a:endParaRPr lang="en-US" sz="900" dirty="0"/>
          </a:p>
        </p:txBody>
      </p:sp>
      <p:sp>
        <p:nvSpPr>
          <p:cNvPr id="14" name="Shape 12"/>
          <p:cNvSpPr/>
          <p:nvPr/>
        </p:nvSpPr>
        <p:spPr>
          <a:xfrm>
            <a:off x="822960" y="3529584"/>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Thinking versus feeling</a:t>
            </a:r>
            <a:endParaRPr lang="en-US" sz="880" dirty="0"/>
          </a:p>
        </p:txBody>
      </p:sp>
      <p:sp>
        <p:nvSpPr>
          <p:cNvPr id="16" name="Shape 14"/>
          <p:cNvSpPr/>
          <p:nvPr/>
        </p:nvSpPr>
        <p:spPr>
          <a:xfrm>
            <a:off x="822960" y="3775253"/>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Solid self versus pseudo-self</a:t>
            </a:r>
            <a:endParaRPr lang="en-US" sz="880" dirty="0"/>
          </a:p>
        </p:txBody>
      </p:sp>
      <p:sp>
        <p:nvSpPr>
          <p:cNvPr id="18" name="Shape 16"/>
          <p:cNvSpPr/>
          <p:nvPr/>
        </p:nvSpPr>
        <p:spPr>
          <a:xfrm>
            <a:off x="822960" y="4020922"/>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The goal is connection, not distance</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TRIANGLES</a:t>
            </a:r>
            <a:endParaRPr lang="en-US" sz="750" dirty="0"/>
          </a:p>
        </p:txBody>
      </p:sp>
      <p:sp>
        <p:nvSpPr>
          <p:cNvPr id="23" name="Text 21"/>
          <p:cNvSpPr txBox="1"/>
          <p:nvPr/>
        </p:nvSpPr>
        <p:spPr>
          <a:xfrm>
            <a:off x="446532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Under tension, dyads recruit a third. Triangles distribute anxiety —</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and freeze conflict in place.</a:t>
            </a:r>
            <a:endParaRPr lang="en-US" sz="900" dirty="0"/>
          </a:p>
        </p:txBody>
      </p:sp>
      <p:sp>
        <p:nvSpPr>
          <p:cNvPr id="24" name="Shape 22"/>
          <p:cNvSpPr/>
          <p:nvPr/>
        </p:nvSpPr>
        <p:spPr>
          <a:xfrm>
            <a:off x="4465320" y="3364992"/>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Who is recruited when tension rises?</a:t>
            </a:r>
            <a:endParaRPr lang="en-US" sz="880" dirty="0"/>
          </a:p>
        </p:txBody>
      </p:sp>
      <p:sp>
        <p:nvSpPr>
          <p:cNvPr id="26" name="Shape 24"/>
          <p:cNvSpPr/>
          <p:nvPr/>
        </p:nvSpPr>
        <p:spPr>
          <a:xfrm>
            <a:off x="4465320" y="3610661"/>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Which side carries the symptom?</a:t>
            </a:r>
            <a:endParaRPr lang="en-US" sz="880" dirty="0"/>
          </a:p>
        </p:txBody>
      </p:sp>
      <p:sp>
        <p:nvSpPr>
          <p:cNvPr id="28" name="Shape 26"/>
          <p:cNvSpPr/>
          <p:nvPr/>
        </p:nvSpPr>
        <p:spPr>
          <a:xfrm>
            <a:off x="4465320" y="3856330"/>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Can each dyad be strengthened without the third?</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LEGACY AND LOYALTY</a:t>
            </a:r>
            <a:endParaRPr lang="en-US" sz="750" dirty="0"/>
          </a:p>
        </p:txBody>
      </p:sp>
      <p:sp>
        <p:nvSpPr>
          <p:cNvPr id="33" name="Text 31"/>
          <p:cNvSpPr txBox="1"/>
          <p:nvPr/>
        </p:nvSpPr>
        <p:spPr>
          <a:xfrm>
            <a:off x="810768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Boszormenyi-Nagy added an ethical dimension: families keep a ledger</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of give-and-take. Entitlement, loyalty and invisible debts shape what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members feel they owe.</a:t>
            </a:r>
            <a:endParaRPr lang="en-US" sz="900" dirty="0"/>
          </a:p>
        </p:txBody>
      </p:sp>
      <p:sp>
        <p:nvSpPr>
          <p:cNvPr id="34" name="Shape 32"/>
          <p:cNvSpPr/>
          <p:nvPr/>
        </p:nvSpPr>
        <p:spPr>
          <a:xfrm>
            <a:off x="8107680" y="3529584"/>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What was handed down that was not chosen?</a:t>
            </a:r>
            <a:endParaRPr lang="en-US" sz="880" dirty="0"/>
          </a:p>
        </p:txBody>
      </p:sp>
      <p:sp>
        <p:nvSpPr>
          <p:cNvPr id="36" name="Shape 34"/>
          <p:cNvSpPr/>
          <p:nvPr/>
        </p:nvSpPr>
        <p:spPr>
          <a:xfrm>
            <a:off x="8107680" y="3775253"/>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What loyalty would change require?</a:t>
            </a:r>
            <a:endParaRPr lang="en-US" sz="880" dirty="0"/>
          </a:p>
        </p:txBody>
      </p:sp>
      <p:sp>
        <p:nvSpPr>
          <p:cNvPr id="38" name="Shape 36"/>
          <p:cNvSpPr/>
          <p:nvPr/>
        </p:nvSpPr>
        <p:spPr>
          <a:xfrm>
            <a:off x="8107680" y="4020922"/>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Where is fairness being negotiated?</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A CAUTION</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Explaining is not excusing</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Intergenerational work describes transmission. It does not absolve responsibility, and it must never be used to</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blame a previous generation for a present choice.</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291338"/>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Bowen (1978); Kerr &amp; Bowen (1988);</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Boszormenyi-Nagy &amp; Spark (1973).</a:t>
            </a:r>
            <a:endParaRPr lang="en-US" sz="6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05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27</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The triangle as the unit of emotional process</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Bowen’s smallest stable relational system is not the dyad but the triangle. Anxiety moves; the third person absorbs it.</a:t>
            </a:r>
            <a:endParaRPr lang="en-US" sz="1060" dirty="0"/>
          </a:p>
        </p:txBody>
      </p:sp>
      <p:sp>
        <p:nvSpPr>
          <p:cNvPr id="10" name="Shape 8"/>
          <p:cNvSpPr/>
          <p:nvPr/>
        </p:nvSpPr>
        <p:spPr>
          <a:xfrm>
            <a:off x="3749040" y="2313432"/>
            <a:ext cx="2057400" cy="2560320"/>
          </a:xfrm>
          <a:prstGeom prst="line">
            <a:avLst/>
          </a:prstGeom>
          <a:noFill/>
          <a:ln w="15240">
            <a:solidFill>
              <a:srgbClr val="D9CDB7"/>
            </a:solidFill>
            <a:prstDash val="solid"/>
            <a:headEnd type="none"/>
            <a:tailEnd type="none"/>
          </a:ln>
        </p:spPr>
      </p:sp>
      <p:sp>
        <p:nvSpPr>
          <p:cNvPr id="11" name="Shape 9"/>
          <p:cNvSpPr/>
          <p:nvPr/>
        </p:nvSpPr>
        <p:spPr>
          <a:xfrm flipH="1">
            <a:off x="1691640" y="4873752"/>
            <a:ext cx="4114800" cy="91"/>
          </a:xfrm>
          <a:prstGeom prst="line">
            <a:avLst/>
          </a:prstGeom>
          <a:noFill/>
          <a:ln w="15240">
            <a:solidFill>
              <a:srgbClr val="D9CDB7"/>
            </a:solidFill>
            <a:prstDash val="solid"/>
            <a:headEnd type="none"/>
            <a:tailEnd type="none"/>
          </a:ln>
        </p:spPr>
      </p:sp>
      <p:sp>
        <p:nvSpPr>
          <p:cNvPr id="12" name="Shape 10"/>
          <p:cNvSpPr/>
          <p:nvPr/>
        </p:nvSpPr>
        <p:spPr>
          <a:xfrm>
            <a:off x="4104159" y="2755357"/>
            <a:ext cx="1347163" cy="1676469"/>
          </a:xfrm>
          <a:prstGeom prst="line">
            <a:avLst/>
          </a:prstGeom>
          <a:noFill/>
          <a:ln w="11430">
            <a:solidFill>
              <a:srgbClr val="96733C"/>
            </a:solidFill>
            <a:prstDash val="solid"/>
            <a:headEnd type="triangle"/>
            <a:tailEnd type="triangle"/>
          </a:ln>
        </p:spPr>
      </p:sp>
      <p:sp>
        <p:nvSpPr>
          <p:cNvPr id="13" name="Shape 11"/>
          <p:cNvSpPr/>
          <p:nvPr/>
        </p:nvSpPr>
        <p:spPr>
          <a:xfrm flipH="1">
            <a:off x="2258568" y="4873752"/>
            <a:ext cx="2980944" cy="91"/>
          </a:xfrm>
          <a:prstGeom prst="line">
            <a:avLst/>
          </a:prstGeom>
          <a:noFill/>
          <a:ln w="11430">
            <a:solidFill>
              <a:srgbClr val="96733C"/>
            </a:solidFill>
            <a:prstDash val="solid"/>
            <a:headEnd type="triangle"/>
            <a:tailEnd type="triangle"/>
          </a:ln>
        </p:spPr>
      </p:sp>
      <p:sp>
        <p:nvSpPr>
          <p:cNvPr id="14" name="Shape 12"/>
          <p:cNvSpPr/>
          <p:nvPr/>
        </p:nvSpPr>
        <p:spPr>
          <a:xfrm flipV="1">
            <a:off x="2046759" y="2755357"/>
            <a:ext cx="1347163" cy="1676469"/>
          </a:xfrm>
          <a:prstGeom prst="line">
            <a:avLst/>
          </a:prstGeom>
          <a:noFill/>
          <a:ln w="11430">
            <a:solidFill>
              <a:srgbClr val="96733C"/>
            </a:solidFill>
            <a:prstDash val="solid"/>
            <a:headEnd type="triangle"/>
            <a:tailEnd type="triangle"/>
          </a:ln>
        </p:spPr>
      </p:sp>
      <p:sp>
        <p:nvSpPr>
          <p:cNvPr id="15" name="Shape 13"/>
          <p:cNvSpPr/>
          <p:nvPr/>
        </p:nvSpPr>
        <p:spPr>
          <a:xfrm>
            <a:off x="3182112" y="1746504"/>
            <a:ext cx="1133856" cy="1133856"/>
          </a:xfrm>
          <a:prstGeom prst="ellipse">
            <a:avLst/>
          </a:prstGeom>
          <a:solidFill>
            <a:srgbClr val="FBF7EF"/>
          </a:solidFill>
          <a:ln w="11430">
            <a:solidFill>
              <a:srgbClr val="C2A05F"/>
            </a:solidFill>
            <a:prstDash val="solid"/>
          </a:ln>
        </p:spPr>
      </p:sp>
      <p:sp>
        <p:nvSpPr>
          <p:cNvPr id="16" name="Text 14"/>
          <p:cNvSpPr txBox="1"/>
          <p:nvPr/>
        </p:nvSpPr>
        <p:spPr>
          <a:xfrm>
            <a:off x="3182112" y="2112264"/>
            <a:ext cx="1133856" cy="328295"/>
          </a:xfrm>
          <a:prstGeom prst="rect">
            <a:avLst/>
          </a:prstGeom>
          <a:noFill/>
          <a:ln/>
        </p:spPr>
        <p:txBody>
          <a:bodyPr wrap="square" lIns="0" tIns="0" rIns="0" bIns="0" rtlCol="0" anchor="t"/>
          <a:lstStyle/>
          <a:p>
            <a:pPr algn="ctr" indent="0" marL="0">
              <a:lnSpc>
                <a:spcPts val="1485"/>
              </a:lnSpc>
              <a:buNone/>
            </a:pPr>
            <a:r>
              <a:rPr lang="en-US" sz="1100" dirty="0">
                <a:solidFill>
                  <a:srgbClr val="1B1815"/>
                </a:solidFill>
                <a:latin typeface="Georgia" pitchFamily="34" charset="0"/>
                <a:ea typeface="Georgia" pitchFamily="34" charset="-122"/>
                <a:cs typeface="Georgia" pitchFamily="34" charset="-120"/>
              </a:rPr>
              <a:t>Spouse A</a:t>
            </a:r>
            <a:endParaRPr lang="en-US" sz="1100" dirty="0"/>
          </a:p>
        </p:txBody>
      </p:sp>
      <p:sp>
        <p:nvSpPr>
          <p:cNvPr id="17" name="Text 15"/>
          <p:cNvSpPr txBox="1"/>
          <p:nvPr/>
        </p:nvSpPr>
        <p:spPr>
          <a:xfrm>
            <a:off x="3182112" y="2340864"/>
            <a:ext cx="1133856" cy="210312"/>
          </a:xfrm>
          <a:prstGeom prst="rect">
            <a:avLst/>
          </a:prstGeom>
          <a:noFill/>
          <a:ln/>
        </p:spPr>
        <p:txBody>
          <a:bodyPr wrap="square" lIns="0" tIns="0" rIns="0" bIns="0" rtlCol="0" anchor="t"/>
          <a:lstStyle/>
          <a:p>
            <a:pPr algn="ctr" indent="0" marL="0">
              <a:lnSpc>
                <a:spcPts val="936"/>
              </a:lnSpc>
              <a:buNone/>
            </a:pPr>
            <a:r>
              <a:rPr lang="en-US" sz="720" spc="80" kern="0" dirty="0">
                <a:solidFill>
                  <a:srgbClr val="5B544A"/>
                </a:solidFill>
                <a:latin typeface="Calibri" pitchFamily="34" charset="0"/>
                <a:ea typeface="Calibri" pitchFamily="34" charset="-122"/>
                <a:cs typeface="Calibri" pitchFamily="34" charset="-120"/>
              </a:rPr>
              <a:t>PURSUER</a:t>
            </a:r>
            <a:endParaRPr lang="en-US" sz="720" dirty="0"/>
          </a:p>
        </p:txBody>
      </p:sp>
      <p:sp>
        <p:nvSpPr>
          <p:cNvPr id="18" name="Shape 16"/>
          <p:cNvSpPr/>
          <p:nvPr/>
        </p:nvSpPr>
        <p:spPr>
          <a:xfrm>
            <a:off x="5239512" y="4306824"/>
            <a:ext cx="1133856" cy="1133856"/>
          </a:xfrm>
          <a:prstGeom prst="ellipse">
            <a:avLst/>
          </a:prstGeom>
          <a:solidFill>
            <a:srgbClr val="FBF7EF"/>
          </a:solidFill>
          <a:ln w="11430">
            <a:solidFill>
              <a:srgbClr val="C2A05F"/>
            </a:solidFill>
            <a:prstDash val="solid"/>
          </a:ln>
        </p:spPr>
      </p:sp>
      <p:sp>
        <p:nvSpPr>
          <p:cNvPr id="19" name="Text 17"/>
          <p:cNvSpPr txBox="1"/>
          <p:nvPr/>
        </p:nvSpPr>
        <p:spPr>
          <a:xfrm>
            <a:off x="5239512" y="4672584"/>
            <a:ext cx="1133856" cy="328295"/>
          </a:xfrm>
          <a:prstGeom prst="rect">
            <a:avLst/>
          </a:prstGeom>
          <a:noFill/>
          <a:ln/>
        </p:spPr>
        <p:txBody>
          <a:bodyPr wrap="square" lIns="0" tIns="0" rIns="0" bIns="0" rtlCol="0" anchor="t"/>
          <a:lstStyle/>
          <a:p>
            <a:pPr algn="ctr" indent="0" marL="0">
              <a:lnSpc>
                <a:spcPts val="1485"/>
              </a:lnSpc>
              <a:buNone/>
            </a:pPr>
            <a:r>
              <a:rPr lang="en-US" sz="1100" dirty="0">
                <a:solidFill>
                  <a:srgbClr val="1B1815"/>
                </a:solidFill>
                <a:latin typeface="Georgia" pitchFamily="34" charset="0"/>
                <a:ea typeface="Georgia" pitchFamily="34" charset="-122"/>
                <a:cs typeface="Georgia" pitchFamily="34" charset="-120"/>
              </a:rPr>
              <a:t>Child</a:t>
            </a:r>
            <a:endParaRPr lang="en-US" sz="1100" dirty="0"/>
          </a:p>
        </p:txBody>
      </p:sp>
      <p:sp>
        <p:nvSpPr>
          <p:cNvPr id="20" name="Text 18"/>
          <p:cNvSpPr txBox="1"/>
          <p:nvPr/>
        </p:nvSpPr>
        <p:spPr>
          <a:xfrm>
            <a:off x="5239512" y="4901184"/>
            <a:ext cx="1133856" cy="210312"/>
          </a:xfrm>
          <a:prstGeom prst="rect">
            <a:avLst/>
          </a:prstGeom>
          <a:noFill/>
          <a:ln/>
        </p:spPr>
        <p:txBody>
          <a:bodyPr wrap="square" lIns="0" tIns="0" rIns="0" bIns="0" rtlCol="0" anchor="t"/>
          <a:lstStyle/>
          <a:p>
            <a:pPr algn="ctr" indent="0" marL="0">
              <a:lnSpc>
                <a:spcPts val="936"/>
              </a:lnSpc>
              <a:buNone/>
            </a:pPr>
            <a:r>
              <a:rPr lang="en-US" sz="720" spc="80" kern="0" dirty="0">
                <a:solidFill>
                  <a:srgbClr val="5B544A"/>
                </a:solidFill>
                <a:latin typeface="Calibri" pitchFamily="34" charset="0"/>
                <a:ea typeface="Calibri" pitchFamily="34" charset="-122"/>
                <a:cs typeface="Calibri" pitchFamily="34" charset="-120"/>
              </a:rPr>
              <a:t>THE THIRD POINT</a:t>
            </a:r>
            <a:endParaRPr lang="en-US" sz="720" dirty="0"/>
          </a:p>
        </p:txBody>
      </p:sp>
      <p:sp>
        <p:nvSpPr>
          <p:cNvPr id="21" name="Shape 19"/>
          <p:cNvSpPr/>
          <p:nvPr/>
        </p:nvSpPr>
        <p:spPr>
          <a:xfrm>
            <a:off x="1124712" y="4306824"/>
            <a:ext cx="1133856" cy="1133856"/>
          </a:xfrm>
          <a:prstGeom prst="ellipse">
            <a:avLst/>
          </a:prstGeom>
          <a:solidFill>
            <a:srgbClr val="FBF7EF"/>
          </a:solidFill>
          <a:ln w="11430">
            <a:solidFill>
              <a:srgbClr val="C2A05F"/>
            </a:solidFill>
            <a:prstDash val="solid"/>
          </a:ln>
        </p:spPr>
      </p:sp>
      <p:sp>
        <p:nvSpPr>
          <p:cNvPr id="22" name="Text 20"/>
          <p:cNvSpPr txBox="1"/>
          <p:nvPr/>
        </p:nvSpPr>
        <p:spPr>
          <a:xfrm>
            <a:off x="1124712" y="4672584"/>
            <a:ext cx="1133856" cy="328295"/>
          </a:xfrm>
          <a:prstGeom prst="rect">
            <a:avLst/>
          </a:prstGeom>
          <a:noFill/>
          <a:ln/>
        </p:spPr>
        <p:txBody>
          <a:bodyPr wrap="square" lIns="0" tIns="0" rIns="0" bIns="0" rtlCol="0" anchor="t"/>
          <a:lstStyle/>
          <a:p>
            <a:pPr algn="ctr" indent="0" marL="0">
              <a:lnSpc>
                <a:spcPts val="1485"/>
              </a:lnSpc>
              <a:buNone/>
            </a:pPr>
            <a:r>
              <a:rPr lang="en-US" sz="1100" dirty="0">
                <a:solidFill>
                  <a:srgbClr val="1B1815"/>
                </a:solidFill>
                <a:latin typeface="Georgia" pitchFamily="34" charset="0"/>
                <a:ea typeface="Georgia" pitchFamily="34" charset="-122"/>
                <a:cs typeface="Georgia" pitchFamily="34" charset="-120"/>
              </a:rPr>
              <a:t>Spouse B</a:t>
            </a:r>
            <a:endParaRPr lang="en-US" sz="1100" dirty="0"/>
          </a:p>
        </p:txBody>
      </p:sp>
      <p:sp>
        <p:nvSpPr>
          <p:cNvPr id="23" name="Text 21"/>
          <p:cNvSpPr txBox="1"/>
          <p:nvPr/>
        </p:nvSpPr>
        <p:spPr>
          <a:xfrm>
            <a:off x="1124712" y="4901184"/>
            <a:ext cx="1133856" cy="210312"/>
          </a:xfrm>
          <a:prstGeom prst="rect">
            <a:avLst/>
          </a:prstGeom>
          <a:noFill/>
          <a:ln/>
        </p:spPr>
        <p:txBody>
          <a:bodyPr wrap="square" lIns="0" tIns="0" rIns="0" bIns="0" rtlCol="0" anchor="t"/>
          <a:lstStyle/>
          <a:p>
            <a:pPr algn="ctr" indent="0" marL="0">
              <a:lnSpc>
                <a:spcPts val="936"/>
              </a:lnSpc>
              <a:buNone/>
            </a:pPr>
            <a:r>
              <a:rPr lang="en-US" sz="720" spc="80" kern="0" dirty="0">
                <a:solidFill>
                  <a:srgbClr val="5B544A"/>
                </a:solidFill>
                <a:latin typeface="Calibri" pitchFamily="34" charset="0"/>
                <a:ea typeface="Calibri" pitchFamily="34" charset="-122"/>
                <a:cs typeface="Calibri" pitchFamily="34" charset="-120"/>
              </a:rPr>
              <a:t>DISTANCER</a:t>
            </a:r>
            <a:endParaRPr lang="en-US" sz="720" dirty="0"/>
          </a:p>
        </p:txBody>
      </p:sp>
      <p:sp>
        <p:nvSpPr>
          <p:cNvPr id="24" name="Text 22"/>
          <p:cNvSpPr txBox="1"/>
          <p:nvPr/>
        </p:nvSpPr>
        <p:spPr>
          <a:xfrm>
            <a:off x="2651760" y="3502152"/>
            <a:ext cx="2194560" cy="220853"/>
          </a:xfrm>
          <a:prstGeom prst="rect">
            <a:avLst/>
          </a:prstGeom>
          <a:noFill/>
          <a:ln/>
        </p:spPr>
        <p:txBody>
          <a:bodyPr wrap="square" lIns="0" tIns="0" rIns="0" bIns="0" rtlCol="0" anchor="t"/>
          <a:lstStyle/>
          <a:p>
            <a:pPr algn="ctr" indent="0" marL="0">
              <a:lnSpc>
                <a:spcPts val="999"/>
              </a:lnSpc>
              <a:buNone/>
            </a:pPr>
            <a:r>
              <a:rPr lang="en-US" sz="740" b="1" spc="200" kern="0" dirty="0">
                <a:solidFill>
                  <a:srgbClr val="96733C"/>
                </a:solidFill>
                <a:latin typeface="Calibri" pitchFamily="34" charset="0"/>
                <a:ea typeface="Calibri" pitchFamily="34" charset="-122"/>
                <a:cs typeface="Calibri" pitchFamily="34" charset="-120"/>
              </a:rPr>
              <a:t>TRIANGULATION</a:t>
            </a:r>
            <a:endParaRPr lang="en-US" sz="740" dirty="0"/>
          </a:p>
        </p:txBody>
      </p:sp>
      <p:sp>
        <p:nvSpPr>
          <p:cNvPr id="25" name="Text 23"/>
          <p:cNvSpPr txBox="1"/>
          <p:nvPr/>
        </p:nvSpPr>
        <p:spPr>
          <a:xfrm>
            <a:off x="2514600" y="3712464"/>
            <a:ext cx="2468880" cy="375920"/>
          </a:xfrm>
          <a:prstGeom prst="rect">
            <a:avLst/>
          </a:prstGeom>
          <a:noFill/>
          <a:ln/>
        </p:spPr>
        <p:txBody>
          <a:bodyPr wrap="square" lIns="0" tIns="0" rIns="0" bIns="0" rtlCol="0" anchor="t"/>
          <a:lstStyle/>
          <a:p>
            <a:pPr algn="ctr" indent="0" marL="0">
              <a:lnSpc>
                <a:spcPts val="1080"/>
              </a:lnSpc>
              <a:buNone/>
            </a:pPr>
            <a:r>
              <a:rPr lang="en-US" sz="800" i="1" dirty="0">
                <a:solidFill>
                  <a:srgbClr val="5B544A"/>
                </a:solidFill>
                <a:latin typeface="Calibri" pitchFamily="34" charset="0"/>
                <a:ea typeface="Calibri" pitchFamily="34" charset="-122"/>
                <a:cs typeface="Calibri" pitchFamily="34" charset="-120"/>
              </a:rPr>
              <a:t>Anxiety between two people recruits a third. The triangle</a:t>
            </a:r>
            <a:endParaRPr lang="en-US" sz="800" dirty="0"/>
          </a:p>
          <a:p>
            <a:pPr algn="ctr" indent="0" marL="0">
              <a:lnSpc>
                <a:spcPts val="1080"/>
              </a:lnSpc>
              <a:buNone/>
            </a:pPr>
            <a:r>
              <a:rPr lang="en-US" sz="800" i="1" dirty="0">
                <a:solidFill>
                  <a:srgbClr val="5B544A"/>
                </a:solidFill>
                <a:latin typeface="Calibri" pitchFamily="34" charset="0"/>
                <a:ea typeface="Calibri" pitchFamily="34" charset="-122"/>
                <a:cs typeface="Calibri" pitchFamily="34" charset="-120"/>
              </a:rPr>
              <a:t>stabilises the system — and freezes the symptom.</a:t>
            </a:r>
            <a:endParaRPr lang="en-US" sz="800" dirty="0"/>
          </a:p>
        </p:txBody>
      </p:sp>
      <p:sp>
        <p:nvSpPr>
          <p:cNvPr id="26" name="Text 24"/>
          <p:cNvSpPr txBox="1"/>
          <p:nvPr/>
        </p:nvSpPr>
        <p:spPr>
          <a:xfrm>
            <a:off x="7726680" y="2221992"/>
            <a:ext cx="3520440" cy="394335"/>
          </a:xfrm>
          <a:prstGeom prst="rect">
            <a:avLst/>
          </a:prstGeom>
          <a:noFill/>
          <a:ln/>
        </p:spPr>
        <p:txBody>
          <a:bodyPr wrap="square" lIns="0" tIns="0" rIns="0" bIns="0" rtlCol="0" anchor="t"/>
          <a:lstStyle/>
          <a:p>
            <a:pPr algn="l" indent="0" marL="0">
              <a:lnSpc>
                <a:spcPts val="1755"/>
              </a:lnSpc>
              <a:buNone/>
            </a:pPr>
            <a:r>
              <a:rPr lang="en-US" sz="1350" dirty="0">
                <a:solidFill>
                  <a:srgbClr val="1B1815"/>
                </a:solidFill>
                <a:latin typeface="Georgia" pitchFamily="34" charset="0"/>
                <a:ea typeface="Georgia" pitchFamily="34" charset="-122"/>
                <a:cs typeface="Georgia" pitchFamily="34" charset="-120"/>
              </a:rPr>
              <a:t>What the therapist watches</a:t>
            </a:r>
            <a:endParaRPr lang="en-US" sz="1350" dirty="0"/>
          </a:p>
        </p:txBody>
      </p:sp>
      <p:sp>
        <p:nvSpPr>
          <p:cNvPr id="27" name="Shape 25"/>
          <p:cNvSpPr/>
          <p:nvPr/>
        </p:nvSpPr>
        <p:spPr>
          <a:xfrm>
            <a:off x="7708392" y="2724912"/>
            <a:ext cx="237744" cy="237744"/>
          </a:xfrm>
          <a:prstGeom prst="ellipse">
            <a:avLst/>
          </a:prstGeom>
          <a:solidFill>
            <a:srgbClr val="FFFFFF">
              <a:alpha val="0"/>
            </a:srgbClr>
          </a:solidFill>
          <a:ln w="7620">
            <a:solidFill>
              <a:srgbClr val="C2A05F"/>
            </a:solidFill>
            <a:prstDash val="solid"/>
          </a:ln>
        </p:spPr>
      </p:sp>
      <p:sp>
        <p:nvSpPr>
          <p:cNvPr id="28" name="Text 26"/>
          <p:cNvSpPr txBox="1"/>
          <p:nvPr/>
        </p:nvSpPr>
        <p:spPr>
          <a:xfrm>
            <a:off x="7708392" y="2795524"/>
            <a:ext cx="237744" cy="237744"/>
          </a:xfrm>
          <a:prstGeom prst="rect">
            <a:avLst/>
          </a:prstGeom>
          <a:noFill/>
          <a:ln/>
        </p:spPr>
        <p:txBody>
          <a:bodyPr wrap="square" lIns="0" tIns="0" rIns="0" bIns="0" rtlCol="0" anchor="t"/>
          <a:lstStyle/>
          <a:p>
            <a:pPr algn="ctr" indent="0" marL="0">
              <a:lnSpc>
                <a:spcPts val="760"/>
              </a:lnSpc>
              <a:buNone/>
            </a:pPr>
            <a:r>
              <a:rPr lang="en-US" sz="760" b="1" dirty="0">
                <a:solidFill>
                  <a:srgbClr val="96733C"/>
                </a:solidFill>
                <a:latin typeface="Calibri" pitchFamily="34" charset="0"/>
                <a:ea typeface="Calibri" pitchFamily="34" charset="-122"/>
                <a:cs typeface="Calibri" pitchFamily="34" charset="-120"/>
              </a:rPr>
              <a:t>1</a:t>
            </a:r>
            <a:endParaRPr lang="en-US" sz="760" dirty="0"/>
          </a:p>
        </p:txBody>
      </p:sp>
      <p:sp>
        <p:nvSpPr>
          <p:cNvPr id="29" name="Text 27"/>
          <p:cNvSpPr txBox="1"/>
          <p:nvPr/>
        </p:nvSpPr>
        <p:spPr>
          <a:xfrm>
            <a:off x="8074152" y="2724912"/>
            <a:ext cx="2971800" cy="274574"/>
          </a:xfrm>
          <a:prstGeom prst="rect">
            <a:avLst/>
          </a:prstGeom>
          <a:noFill/>
          <a:ln/>
        </p:spPr>
        <p:txBody>
          <a:bodyPr wrap="square" lIns="0" tIns="0" rIns="0" bIns="0" rtlCol="0" anchor="t"/>
          <a:lstStyle/>
          <a:p>
            <a:pPr algn="l" indent="0" marL="0">
              <a:lnSpc>
                <a:spcPts val="1242"/>
              </a:lnSpc>
              <a:buNone/>
            </a:pPr>
            <a:r>
              <a:rPr lang="en-US" sz="920" dirty="0">
                <a:solidFill>
                  <a:srgbClr val="3F3A33"/>
                </a:solidFill>
                <a:latin typeface="Calibri" pitchFamily="34" charset="0"/>
                <a:ea typeface="Calibri" pitchFamily="34" charset="-122"/>
                <a:cs typeface="Calibri" pitchFamily="34" charset="-120"/>
              </a:rPr>
              <a:t>Who is drawn in when tension rises?</a:t>
            </a:r>
            <a:endParaRPr lang="en-US" sz="920" dirty="0"/>
          </a:p>
        </p:txBody>
      </p:sp>
      <p:sp>
        <p:nvSpPr>
          <p:cNvPr id="30" name="Shape 28"/>
          <p:cNvSpPr/>
          <p:nvPr/>
        </p:nvSpPr>
        <p:spPr>
          <a:xfrm>
            <a:off x="7708392" y="3694176"/>
            <a:ext cx="237744" cy="237744"/>
          </a:xfrm>
          <a:prstGeom prst="ellipse">
            <a:avLst/>
          </a:prstGeom>
          <a:solidFill>
            <a:srgbClr val="FFFFFF">
              <a:alpha val="0"/>
            </a:srgbClr>
          </a:solidFill>
          <a:ln w="7620">
            <a:solidFill>
              <a:srgbClr val="C2A05F"/>
            </a:solidFill>
            <a:prstDash val="solid"/>
          </a:ln>
        </p:spPr>
      </p:sp>
      <p:sp>
        <p:nvSpPr>
          <p:cNvPr id="31" name="Text 29"/>
          <p:cNvSpPr txBox="1"/>
          <p:nvPr/>
        </p:nvSpPr>
        <p:spPr>
          <a:xfrm>
            <a:off x="7708392" y="3764788"/>
            <a:ext cx="237744" cy="237744"/>
          </a:xfrm>
          <a:prstGeom prst="rect">
            <a:avLst/>
          </a:prstGeom>
          <a:noFill/>
          <a:ln/>
        </p:spPr>
        <p:txBody>
          <a:bodyPr wrap="square" lIns="0" tIns="0" rIns="0" bIns="0" rtlCol="0" anchor="t"/>
          <a:lstStyle/>
          <a:p>
            <a:pPr algn="ctr" indent="0" marL="0">
              <a:lnSpc>
                <a:spcPts val="760"/>
              </a:lnSpc>
              <a:buNone/>
            </a:pPr>
            <a:r>
              <a:rPr lang="en-US" sz="760" b="1" dirty="0">
                <a:solidFill>
                  <a:srgbClr val="96733C"/>
                </a:solidFill>
                <a:latin typeface="Calibri" pitchFamily="34" charset="0"/>
                <a:ea typeface="Calibri" pitchFamily="34" charset="-122"/>
                <a:cs typeface="Calibri" pitchFamily="34" charset="-120"/>
              </a:rPr>
              <a:t>2</a:t>
            </a:r>
            <a:endParaRPr lang="en-US" sz="760" dirty="0"/>
          </a:p>
        </p:txBody>
      </p:sp>
      <p:sp>
        <p:nvSpPr>
          <p:cNvPr id="32" name="Text 30"/>
          <p:cNvSpPr txBox="1"/>
          <p:nvPr/>
        </p:nvSpPr>
        <p:spPr>
          <a:xfrm>
            <a:off x="8074152" y="3694176"/>
            <a:ext cx="2971800" cy="274574"/>
          </a:xfrm>
          <a:prstGeom prst="rect">
            <a:avLst/>
          </a:prstGeom>
          <a:noFill/>
          <a:ln/>
        </p:spPr>
        <p:txBody>
          <a:bodyPr wrap="square" lIns="0" tIns="0" rIns="0" bIns="0" rtlCol="0" anchor="t"/>
          <a:lstStyle/>
          <a:p>
            <a:pPr algn="l" indent="0" marL="0">
              <a:lnSpc>
                <a:spcPts val="1242"/>
              </a:lnSpc>
              <a:buNone/>
            </a:pPr>
            <a:r>
              <a:rPr lang="en-US" sz="920" dirty="0">
                <a:solidFill>
                  <a:srgbClr val="3F3A33"/>
                </a:solidFill>
                <a:latin typeface="Calibri" pitchFamily="34" charset="0"/>
                <a:ea typeface="Calibri" pitchFamily="34" charset="-122"/>
                <a:cs typeface="Calibri" pitchFamily="34" charset="-120"/>
              </a:rPr>
              <a:t>Which side of the triangle carries the symptom?</a:t>
            </a:r>
            <a:endParaRPr lang="en-US" sz="920" dirty="0"/>
          </a:p>
        </p:txBody>
      </p:sp>
      <p:sp>
        <p:nvSpPr>
          <p:cNvPr id="33" name="Shape 31"/>
          <p:cNvSpPr/>
          <p:nvPr/>
        </p:nvSpPr>
        <p:spPr>
          <a:xfrm>
            <a:off x="7708392" y="4663440"/>
            <a:ext cx="237744" cy="237744"/>
          </a:xfrm>
          <a:prstGeom prst="ellipse">
            <a:avLst/>
          </a:prstGeom>
          <a:solidFill>
            <a:srgbClr val="FFFFFF">
              <a:alpha val="0"/>
            </a:srgbClr>
          </a:solidFill>
          <a:ln w="7620">
            <a:solidFill>
              <a:srgbClr val="C2A05F"/>
            </a:solidFill>
            <a:prstDash val="solid"/>
          </a:ln>
        </p:spPr>
      </p:sp>
      <p:sp>
        <p:nvSpPr>
          <p:cNvPr id="34" name="Text 32"/>
          <p:cNvSpPr txBox="1"/>
          <p:nvPr/>
        </p:nvSpPr>
        <p:spPr>
          <a:xfrm>
            <a:off x="7708392" y="4734052"/>
            <a:ext cx="237744" cy="237744"/>
          </a:xfrm>
          <a:prstGeom prst="rect">
            <a:avLst/>
          </a:prstGeom>
          <a:noFill/>
          <a:ln/>
        </p:spPr>
        <p:txBody>
          <a:bodyPr wrap="square" lIns="0" tIns="0" rIns="0" bIns="0" rtlCol="0" anchor="t"/>
          <a:lstStyle/>
          <a:p>
            <a:pPr algn="ctr" indent="0" marL="0">
              <a:lnSpc>
                <a:spcPts val="760"/>
              </a:lnSpc>
              <a:buNone/>
            </a:pPr>
            <a:r>
              <a:rPr lang="en-US" sz="760" b="1" dirty="0">
                <a:solidFill>
                  <a:srgbClr val="96733C"/>
                </a:solidFill>
                <a:latin typeface="Calibri" pitchFamily="34" charset="0"/>
                <a:ea typeface="Calibri" pitchFamily="34" charset="-122"/>
                <a:cs typeface="Calibri" pitchFamily="34" charset="-120"/>
              </a:rPr>
              <a:t>3</a:t>
            </a:r>
            <a:endParaRPr lang="en-US" sz="760" dirty="0"/>
          </a:p>
        </p:txBody>
      </p:sp>
      <p:sp>
        <p:nvSpPr>
          <p:cNvPr id="35" name="Text 33"/>
          <p:cNvSpPr txBox="1"/>
          <p:nvPr/>
        </p:nvSpPr>
        <p:spPr>
          <a:xfrm>
            <a:off x="8074152" y="4663440"/>
            <a:ext cx="2971800" cy="274574"/>
          </a:xfrm>
          <a:prstGeom prst="rect">
            <a:avLst/>
          </a:prstGeom>
          <a:noFill/>
          <a:ln/>
        </p:spPr>
        <p:txBody>
          <a:bodyPr wrap="square" lIns="0" tIns="0" rIns="0" bIns="0" rtlCol="0" anchor="t"/>
          <a:lstStyle/>
          <a:p>
            <a:pPr algn="l" indent="0" marL="0">
              <a:lnSpc>
                <a:spcPts val="1242"/>
              </a:lnSpc>
              <a:buNone/>
            </a:pPr>
            <a:r>
              <a:rPr lang="en-US" sz="920" dirty="0">
                <a:solidFill>
                  <a:srgbClr val="3F3A33"/>
                </a:solidFill>
                <a:latin typeface="Calibri" pitchFamily="34" charset="0"/>
                <a:ea typeface="Calibri" pitchFamily="34" charset="-122"/>
                <a:cs typeface="Calibri" pitchFamily="34" charset="-120"/>
              </a:rPr>
              <a:t>Can each dyad be strengthened without the third?</a:t>
            </a:r>
            <a:endParaRPr lang="en-US" sz="920" dirty="0"/>
          </a:p>
        </p:txBody>
      </p:sp>
      <p:sp>
        <p:nvSpPr>
          <p:cNvPr id="36" name="Shape 34"/>
          <p:cNvSpPr/>
          <p:nvPr/>
        </p:nvSpPr>
        <p:spPr>
          <a:xfrm>
            <a:off x="7726680" y="5193792"/>
            <a:ext cx="3108960" cy="91"/>
          </a:xfrm>
          <a:prstGeom prst="line">
            <a:avLst/>
          </a:prstGeom>
          <a:noFill/>
          <a:ln w="7620">
            <a:solidFill>
              <a:srgbClr val="D9CDB7"/>
            </a:solidFill>
            <a:prstDash val="solid"/>
            <a:headEnd type="none"/>
            <a:tailEnd type="none"/>
          </a:ln>
        </p:spPr>
      </p:sp>
      <p:sp>
        <p:nvSpPr>
          <p:cNvPr id="37" name="Text 35"/>
          <p:cNvSpPr txBox="1"/>
          <p:nvPr/>
        </p:nvSpPr>
        <p:spPr>
          <a:xfrm>
            <a:off x="7726680" y="5303520"/>
            <a:ext cx="3200400" cy="232791"/>
          </a:xfrm>
          <a:prstGeom prst="rect">
            <a:avLst/>
          </a:prstGeom>
          <a:noFill/>
          <a:ln/>
        </p:spPr>
        <p:txBody>
          <a:bodyPr wrap="square" lIns="0" tIns="0" rIns="0" bIns="0" rtlCol="0" anchor="t"/>
          <a:lstStyle/>
          <a:p>
            <a:pPr algn="l" indent="0" marL="0">
              <a:lnSpc>
                <a:spcPts val="1053"/>
              </a:lnSpc>
              <a:buNone/>
            </a:pPr>
            <a:r>
              <a:rPr lang="en-US" sz="780" i="1" dirty="0">
                <a:solidFill>
                  <a:srgbClr val="5B544A"/>
                </a:solidFill>
                <a:latin typeface="Calibri" pitchFamily="34" charset="0"/>
                <a:ea typeface="Calibri" pitchFamily="34" charset="-122"/>
                <a:cs typeface="Calibri" pitchFamily="34" charset="-120"/>
              </a:rPr>
              <a:t>Detriangling begins with the therapist staying out of the triangle.</a:t>
            </a:r>
            <a:endParaRPr lang="en-US" sz="780" dirty="0"/>
          </a:p>
        </p:txBody>
      </p:sp>
      <p:sp>
        <p:nvSpPr>
          <p:cNvPr id="38" name="Text 36"/>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After Bowen (1978); see also Kerr &amp; Bowen (1988).</a:t>
            </a:r>
            <a:endParaRPr lang="en-US" sz="74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48640"/>
            <a:ext cx="82296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05 · SEMINAR</a:t>
            </a:r>
            <a:endParaRPr lang="en-US" sz="760" dirty="0"/>
          </a:p>
        </p:txBody>
      </p:sp>
      <p:sp>
        <p:nvSpPr>
          <p:cNvPr id="3" name="Text 1"/>
          <p:cNvSpPr txBox="1"/>
          <p:nvPr/>
        </p:nvSpPr>
        <p:spPr>
          <a:xfrm>
            <a:off x="822960" y="1417320"/>
            <a:ext cx="7863840" cy="915416"/>
          </a:xfrm>
          <a:prstGeom prst="rect">
            <a:avLst/>
          </a:prstGeom>
          <a:noFill/>
          <a:ln/>
        </p:spPr>
        <p:txBody>
          <a:bodyPr wrap="square" lIns="0" tIns="0" rIns="0" bIns="0" rtlCol="0" anchor="t"/>
          <a:lstStyle/>
          <a:p>
            <a:pPr algn="l" indent="0" marL="0">
              <a:lnSpc>
                <a:spcPts val="3808"/>
              </a:lnSpc>
              <a:buNone/>
            </a:pPr>
            <a:r>
              <a:rPr lang="en-US" sz="3400" dirty="0">
                <a:solidFill>
                  <a:srgbClr val="F8F3E9"/>
                </a:solidFill>
                <a:latin typeface="Georgia" pitchFamily="34" charset="0"/>
                <a:ea typeface="Georgia" pitchFamily="34" charset="-122"/>
                <a:cs typeface="Georgia" pitchFamily="34" charset="-120"/>
              </a:rPr>
              <a:t>The ledger of loyalty</a:t>
            </a:r>
            <a:endParaRPr lang="en-US" sz="3400" dirty="0"/>
          </a:p>
        </p:txBody>
      </p:sp>
      <p:sp>
        <p:nvSpPr>
          <p:cNvPr id="4" name="Shape 2"/>
          <p:cNvSpPr/>
          <p:nvPr/>
        </p:nvSpPr>
        <p:spPr>
          <a:xfrm>
            <a:off x="822960" y="2395728"/>
            <a:ext cx="1280160" cy="91"/>
          </a:xfrm>
          <a:prstGeom prst="line">
            <a:avLst/>
          </a:prstGeom>
          <a:noFill/>
          <a:ln w="11430">
            <a:solidFill>
              <a:srgbClr val="C2A05F"/>
            </a:solidFill>
            <a:prstDash val="solid"/>
            <a:headEnd type="none"/>
            <a:tailEnd type="none"/>
          </a:ln>
        </p:spPr>
      </p:sp>
      <p:sp>
        <p:nvSpPr>
          <p:cNvPr id="5" name="Text 3"/>
          <p:cNvSpPr txBox="1"/>
          <p:nvPr/>
        </p:nvSpPr>
        <p:spPr>
          <a:xfrm>
            <a:off x="822960" y="2651760"/>
            <a:ext cx="6949440" cy="643890"/>
          </a:xfrm>
          <a:prstGeom prst="rect">
            <a:avLst/>
          </a:prstGeom>
          <a:noFill/>
          <a:ln/>
        </p:spPr>
        <p:txBody>
          <a:bodyPr wrap="square" lIns="0" tIns="0" rIns="0" bIns="0" rtlCol="0" anchor="t"/>
          <a:lstStyle/>
          <a:p>
            <a:pPr algn="l" indent="0" marL="0">
              <a:lnSpc>
                <a:spcPts val="1885"/>
              </a:lnSpc>
              <a:buNone/>
            </a:pPr>
            <a:r>
              <a:rPr lang="en-US" sz="1300" i="1" dirty="0">
                <a:solidFill>
                  <a:srgbClr val="E7D3A9"/>
                </a:solidFill>
                <a:latin typeface="Georgia" pitchFamily="34" charset="0"/>
                <a:ea typeface="Georgia" pitchFamily="34" charset="-122"/>
                <a:cs typeface="Georgia" pitchFamily="34" charset="-120"/>
              </a:rPr>
              <a:t>This is a reflective seminar. Speak only to what you are willing to share; the exercise is about</a:t>
            </a:r>
            <a:endParaRPr lang="en-US" sz="1300" dirty="0"/>
          </a:p>
          <a:p>
            <a:pPr algn="l" indent="0" marL="0">
              <a:lnSpc>
                <a:spcPts val="1885"/>
              </a:lnSpc>
              <a:buNone/>
            </a:pPr>
            <a:r>
              <a:rPr lang="en-US" sz="1300" i="1" dirty="0">
                <a:solidFill>
                  <a:srgbClr val="E7D3A9"/>
                </a:solidFill>
                <a:latin typeface="Georgia" pitchFamily="34" charset="0"/>
                <a:ea typeface="Georgia" pitchFamily="34" charset="-122"/>
                <a:cs typeface="Georgia" pitchFamily="34" charset="-120"/>
              </a:rPr>
              <a:t>seeing, not disclosing.</a:t>
            </a:r>
            <a:endParaRPr lang="en-US" sz="1300" dirty="0"/>
          </a:p>
        </p:txBody>
      </p:sp>
      <p:sp>
        <p:nvSpPr>
          <p:cNvPr id="6" name="Text 4"/>
          <p:cNvSpPr txBox="1"/>
          <p:nvPr/>
        </p:nvSpPr>
        <p:spPr>
          <a:xfrm>
            <a:off x="822960" y="374904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01</a:t>
            </a:r>
            <a:endParaRPr lang="en-US" sz="1500" dirty="0"/>
          </a:p>
        </p:txBody>
      </p:sp>
      <p:sp>
        <p:nvSpPr>
          <p:cNvPr id="7" name="Text 5"/>
          <p:cNvSpPr txBox="1"/>
          <p:nvPr/>
        </p:nvSpPr>
        <p:spPr>
          <a:xfrm>
            <a:off x="1280160" y="374904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What was handed down to you that you did not choose?</a:t>
            </a:r>
            <a:endParaRPr lang="en-US" sz="980" dirty="0"/>
          </a:p>
        </p:txBody>
      </p:sp>
      <p:sp>
        <p:nvSpPr>
          <p:cNvPr id="8" name="Text 6"/>
          <p:cNvSpPr txBox="1"/>
          <p:nvPr/>
        </p:nvSpPr>
        <p:spPr>
          <a:xfrm>
            <a:off x="6400800" y="374904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02</a:t>
            </a:r>
            <a:endParaRPr lang="en-US" sz="1500" dirty="0"/>
          </a:p>
        </p:txBody>
      </p:sp>
      <p:sp>
        <p:nvSpPr>
          <p:cNvPr id="9" name="Text 7"/>
          <p:cNvSpPr txBox="1"/>
          <p:nvPr/>
        </p:nvSpPr>
        <p:spPr>
          <a:xfrm>
            <a:off x="6858000" y="374904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What loyalty would be tested if you changed one pattern?</a:t>
            </a:r>
            <a:endParaRPr lang="en-US" sz="980" dirty="0"/>
          </a:p>
        </p:txBody>
      </p:sp>
      <p:sp>
        <p:nvSpPr>
          <p:cNvPr id="10" name="Text 8"/>
          <p:cNvSpPr txBox="1"/>
          <p:nvPr/>
        </p:nvSpPr>
        <p:spPr>
          <a:xfrm>
            <a:off x="822960" y="480060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03</a:t>
            </a:r>
            <a:endParaRPr lang="en-US" sz="1500" dirty="0"/>
          </a:p>
        </p:txBody>
      </p:sp>
      <p:sp>
        <p:nvSpPr>
          <p:cNvPr id="11" name="Text 9"/>
          <p:cNvSpPr txBox="1"/>
          <p:nvPr/>
        </p:nvSpPr>
        <p:spPr>
          <a:xfrm>
            <a:off x="1280160" y="480060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Where does “undifferentiated” appear in your own family?</a:t>
            </a:r>
            <a:endParaRPr lang="en-US" sz="980" dirty="0"/>
          </a:p>
        </p:txBody>
      </p:sp>
      <p:sp>
        <p:nvSpPr>
          <p:cNvPr id="12" name="Text 10"/>
          <p:cNvSpPr txBox="1"/>
          <p:nvPr/>
        </p:nvSpPr>
        <p:spPr>
          <a:xfrm>
            <a:off x="6400800" y="480060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04</a:t>
            </a:r>
            <a:endParaRPr lang="en-US" sz="1500" dirty="0"/>
          </a:p>
        </p:txBody>
      </p:sp>
      <p:sp>
        <p:nvSpPr>
          <p:cNvPr id="13" name="Text 11"/>
          <p:cNvSpPr txBox="1"/>
          <p:nvPr/>
        </p:nvSpPr>
        <p:spPr>
          <a:xfrm>
            <a:off x="6858000" y="480060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How would you ask about legacy without pathologising it?</a:t>
            </a:r>
            <a:endParaRPr lang="en-US" sz="980" dirty="0"/>
          </a:p>
        </p:txBody>
      </p:sp>
      <p:sp>
        <p:nvSpPr>
          <p:cNvPr id="14" name="Shape 12"/>
          <p:cNvSpPr/>
          <p:nvPr/>
        </p:nvSpPr>
        <p:spPr>
          <a:xfrm>
            <a:off x="822960" y="5340096"/>
            <a:ext cx="10546050" cy="91"/>
          </a:xfrm>
          <a:prstGeom prst="line">
            <a:avLst/>
          </a:prstGeom>
          <a:noFill/>
          <a:ln w="6350">
            <a:solidFill>
              <a:srgbClr val="3A332A"/>
            </a:solidFill>
            <a:prstDash val="solid"/>
            <a:headEnd type="none"/>
            <a:tailEnd type="none"/>
          </a:ln>
        </p:spPr>
      </p:sp>
      <p:sp>
        <p:nvSpPr>
          <p:cNvPr id="15" name="Text 13"/>
          <p:cNvSpPr txBox="1"/>
          <p:nvPr/>
        </p:nvSpPr>
        <p:spPr>
          <a:xfrm>
            <a:off x="82296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05</a:t>
            </a:r>
            <a:endParaRPr lang="en-US" sz="1100" dirty="0"/>
          </a:p>
        </p:txBody>
      </p:sp>
      <p:sp>
        <p:nvSpPr>
          <p:cNvPr id="16" name="Text 14"/>
          <p:cNvSpPr txBox="1"/>
          <p:nvPr/>
        </p:nvSpPr>
        <p:spPr>
          <a:xfrm>
            <a:off x="120700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SILENT WRITING</a:t>
            </a:r>
            <a:endParaRPr lang="en-US" sz="680" dirty="0"/>
          </a:p>
        </p:txBody>
      </p:sp>
      <p:sp>
        <p:nvSpPr>
          <p:cNvPr id="17" name="Text 15"/>
          <p:cNvSpPr txBox="1"/>
          <p:nvPr/>
        </p:nvSpPr>
        <p:spPr>
          <a:xfrm>
            <a:off x="352044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10</a:t>
            </a:r>
            <a:endParaRPr lang="en-US" sz="1100" dirty="0"/>
          </a:p>
        </p:txBody>
      </p:sp>
      <p:sp>
        <p:nvSpPr>
          <p:cNvPr id="18" name="Text 16"/>
          <p:cNvSpPr txBox="1"/>
          <p:nvPr/>
        </p:nvSpPr>
        <p:spPr>
          <a:xfrm>
            <a:off x="390448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PAIRS</a:t>
            </a:r>
            <a:endParaRPr lang="en-US" sz="680" dirty="0"/>
          </a:p>
        </p:txBody>
      </p:sp>
      <p:sp>
        <p:nvSpPr>
          <p:cNvPr id="19" name="Text 17"/>
          <p:cNvSpPr txBox="1"/>
          <p:nvPr/>
        </p:nvSpPr>
        <p:spPr>
          <a:xfrm>
            <a:off x="621792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20</a:t>
            </a:r>
            <a:endParaRPr lang="en-US" sz="1100" dirty="0"/>
          </a:p>
        </p:txBody>
      </p:sp>
      <p:sp>
        <p:nvSpPr>
          <p:cNvPr id="20" name="Text 18"/>
          <p:cNvSpPr txBox="1"/>
          <p:nvPr/>
        </p:nvSpPr>
        <p:spPr>
          <a:xfrm>
            <a:off x="660196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PLENARY</a:t>
            </a:r>
            <a:endParaRPr lang="en-US" sz="680" dirty="0"/>
          </a:p>
        </p:txBody>
      </p:sp>
      <p:sp>
        <p:nvSpPr>
          <p:cNvPr id="21" name="Text 19"/>
          <p:cNvSpPr txBox="1"/>
          <p:nvPr/>
        </p:nvSpPr>
        <p:spPr>
          <a:xfrm>
            <a:off x="891540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05</a:t>
            </a:r>
            <a:endParaRPr lang="en-US" sz="1100" dirty="0"/>
          </a:p>
        </p:txBody>
      </p:sp>
      <p:sp>
        <p:nvSpPr>
          <p:cNvPr id="22" name="Text 20"/>
          <p:cNvSpPr txBox="1"/>
          <p:nvPr/>
        </p:nvSpPr>
        <p:spPr>
          <a:xfrm>
            <a:off x="929944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CLOSE</a:t>
            </a:r>
            <a:endParaRPr lang="en-US" sz="680" dirty="0"/>
          </a:p>
        </p:txBody>
      </p:sp>
      <p:sp>
        <p:nvSpPr>
          <p:cNvPr id="23" name="Text 21"/>
          <p:cNvSpPr txBox="1"/>
          <p:nvPr/>
        </p:nvSpPr>
        <p:spPr>
          <a:xfrm>
            <a:off x="8442930" y="5522976"/>
            <a:ext cx="2926080" cy="191008"/>
          </a:xfrm>
          <a:prstGeom prst="rect">
            <a:avLst/>
          </a:prstGeom>
          <a:noFill/>
          <a:ln/>
        </p:spPr>
        <p:txBody>
          <a:bodyPr wrap="square" lIns="0" tIns="0" rIns="0" bIns="0" rtlCol="0" anchor="t"/>
          <a:lstStyle/>
          <a:p>
            <a:pPr algn="r" indent="0" marL="0">
              <a:lnSpc>
                <a:spcPts val="864"/>
              </a:lnSpc>
              <a:buNone/>
            </a:pPr>
            <a:r>
              <a:rPr lang="en-US" sz="640" spc="160" kern="0" dirty="0">
                <a:solidFill>
                  <a:srgbClr val="8B8375"/>
                </a:solidFill>
                <a:latin typeface="Calibri" pitchFamily="34" charset="0"/>
                <a:ea typeface="Calibri" pitchFamily="34" charset="-122"/>
                <a:cs typeface="Calibri" pitchFamily="34" charset="-120"/>
              </a:rPr>
              <a:t>MINUTES</a:t>
            </a:r>
            <a:endParaRPr lang="en-US" sz="640" dirty="0"/>
          </a:p>
        </p:txBody>
      </p:sp>
      <p:sp>
        <p:nvSpPr>
          <p:cNvPr id="24" name="Shape 22"/>
          <p:cNvSpPr/>
          <p:nvPr/>
        </p:nvSpPr>
        <p:spPr>
          <a:xfrm>
            <a:off x="822960" y="722376"/>
            <a:ext cx="10546050" cy="91"/>
          </a:xfrm>
          <a:prstGeom prst="line">
            <a:avLst/>
          </a:prstGeom>
          <a:noFill/>
          <a:ln w="6350">
            <a:solidFill>
              <a:srgbClr val="3A332A"/>
            </a:solidFill>
            <a:prstDash val="solid"/>
            <a:headEnd type="none"/>
            <a:tailEnd type="none"/>
          </a:ln>
        </p:spPr>
      </p:sp>
      <p:sp>
        <p:nvSpPr>
          <p:cNvPr id="25" name="Text 23"/>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26" name="Text 24"/>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06 · PHASE II — THEORETICAL CARTOGRAPHY</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06</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Experiential and Humanistic</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Traditions</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476377"/>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What happens when the therapist stops explaining and starts experiencing?</a:t>
            </a:r>
            <a:endParaRPr lang="en-US" sz="1550" dirty="0"/>
          </a:p>
        </p:txBody>
      </p:sp>
      <p:sp>
        <p:nvSpPr>
          <p:cNvPr id="8" name="Shape 6"/>
          <p:cNvSpPr/>
          <p:nvPr/>
        </p:nvSpPr>
        <p:spPr>
          <a:xfrm>
            <a:off x="822960" y="3911219"/>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person of the therapist</a:t>
            </a:r>
            <a:endParaRPr lang="en-US" sz="850" dirty="0"/>
          </a:p>
        </p:txBody>
      </p:sp>
      <p:sp>
        <p:nvSpPr>
          <p:cNvPr id="11" name="Text 9"/>
          <p:cNvSpPr txBox="1"/>
          <p:nvPr/>
        </p:nvSpPr>
        <p:spPr>
          <a:xfrm>
            <a:off x="3282696"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Four stances, one cost each</a:t>
            </a:r>
            <a:endParaRPr lang="en-US" sz="850" dirty="0"/>
          </a:p>
        </p:txBody>
      </p:sp>
      <p:sp>
        <p:nvSpPr>
          <p:cNvPr id="13" name="Text 11"/>
          <p:cNvSpPr txBox="1"/>
          <p:nvPr/>
        </p:nvSpPr>
        <p:spPr>
          <a:xfrm>
            <a:off x="5742432"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CLINICAL CASE</a:t>
            </a:r>
            <a:endParaRPr lang="en-US" sz="620" dirty="0"/>
          </a:p>
        </p:txBody>
      </p:sp>
      <p:sp>
        <p:nvSpPr>
          <p:cNvPr id="14" name="Text 12"/>
          <p:cNvSpPr txBox="1"/>
          <p:nvPr/>
        </p:nvSpPr>
        <p:spPr>
          <a:xfrm>
            <a:off x="5742432"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family that explains everything</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Describe Satir’s communication stances and the goal</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of congruence.</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Explain the symbolic-experiential use of the</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therapist’s self.</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Practise immediacy without shaming.</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congruence · sculpting · immediacy · symbolic-experiential · self-of-the-therapist</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Satir (1967) · Whitaker (1989) · Greenberg &amp; Johnson (1988)</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96733C"/>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96733C"/>
          </a:solidFill>
          <a:ln w="12700">
            <a:solidFill>
              <a:srgbClr val="FFFFFF">
                <a:alpha val="0"/>
              </a:srgbClr>
            </a:solidFill>
            <a:prstDash val="solid"/>
          </a:ln>
        </p:spPr>
      </p:sp>
      <p:sp>
        <p:nvSpPr>
          <p:cNvPr id="32" name="Shape 30"/>
          <p:cNvSpPr/>
          <p:nvPr/>
        </p:nvSpPr>
        <p:spPr>
          <a:xfrm>
            <a:off x="4264152" y="5696712"/>
            <a:ext cx="128016" cy="128016"/>
          </a:xfrm>
          <a:prstGeom prst="ellipse">
            <a:avLst/>
          </a:prstGeom>
          <a:solidFill>
            <a:srgbClr val="C2A05F"/>
          </a:solidFill>
          <a:ln w="8890">
            <a:solidFill>
              <a:srgbClr val="E7D3A9"/>
            </a:solidFill>
            <a:prstDash val="solid"/>
          </a:ln>
        </p:spPr>
      </p:sp>
      <p:sp>
        <p:nvSpPr>
          <p:cNvPr id="33" name="Shape 31"/>
          <p:cNvSpPr/>
          <p:nvPr/>
        </p:nvSpPr>
        <p:spPr>
          <a:xfrm>
            <a:off x="4999939" y="5731459"/>
            <a:ext cx="58522" cy="58522"/>
          </a:xfrm>
          <a:prstGeom prst="ellipse">
            <a:avLst/>
          </a:prstGeom>
          <a:solidFill>
            <a:srgbClr val="1E1913"/>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1E1913"/>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1E1913"/>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1E1913"/>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1E1913"/>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1E1913"/>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1E1913"/>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1E1913"/>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06 · LECTURE 06</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30</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The person of the therapist</a:t>
            </a:r>
            <a:endParaRPr lang="en-US" sz="2800" dirty="0"/>
          </a:p>
        </p:txBody>
      </p:sp>
      <p:sp>
        <p:nvSpPr>
          <p:cNvPr id="9" name="Text 7"/>
          <p:cNvSpPr txBox="1"/>
          <p:nvPr/>
        </p:nvSpPr>
        <p:spPr>
          <a:xfrm>
            <a:off x="822960" y="1486408"/>
            <a:ext cx="8138160" cy="387248"/>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Experiential models insist that change happens in the encounter — not in the explanation of the encounter.</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SATIR · COMMUNICATION AND CONGRUENCE</a:t>
            </a:r>
            <a:endParaRPr lang="en-US" sz="750" dirty="0"/>
          </a:p>
        </p:txBody>
      </p:sp>
      <p:sp>
        <p:nvSpPr>
          <p:cNvPr id="13" name="Text 11"/>
          <p:cNvSpPr txBox="1"/>
          <p:nvPr/>
        </p:nvSpPr>
        <p:spPr>
          <a:xfrm>
            <a:off x="82296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Stances are survival strategies learned early: placating, blaming, being</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super-reasonable, being irrelevant. Congruence is the goal — the</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body, the words and the feeling agreeing.</a:t>
            </a:r>
            <a:endParaRPr lang="en-US" sz="900" dirty="0"/>
          </a:p>
        </p:txBody>
      </p:sp>
      <p:sp>
        <p:nvSpPr>
          <p:cNvPr id="14" name="Shape 12"/>
          <p:cNvSpPr/>
          <p:nvPr/>
        </p:nvSpPr>
        <p:spPr>
          <a:xfrm>
            <a:off x="822960" y="3529584"/>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Sculpting makes structure visible in space</a:t>
            </a:r>
            <a:endParaRPr lang="en-US" sz="880" dirty="0"/>
          </a:p>
        </p:txBody>
      </p:sp>
      <p:sp>
        <p:nvSpPr>
          <p:cNvPr id="16" name="Shape 14"/>
          <p:cNvSpPr/>
          <p:nvPr/>
        </p:nvSpPr>
        <p:spPr>
          <a:xfrm>
            <a:off x="822960" y="3775253"/>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The therapist models congruence rather than teaching it</a:t>
            </a:r>
            <a:endParaRPr lang="en-US" sz="880" dirty="0"/>
          </a:p>
        </p:txBody>
      </p:sp>
      <p:sp>
        <p:nvSpPr>
          <p:cNvPr id="18" name="Shape 16"/>
          <p:cNvSpPr/>
          <p:nvPr/>
        </p:nvSpPr>
        <p:spPr>
          <a:xfrm>
            <a:off x="822960" y="4020922"/>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Family maps trace three generations of coping</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WHITAKER · SYMBOLIC-EXPERIENTIAL</a:t>
            </a:r>
            <a:endParaRPr lang="en-US" sz="750" dirty="0"/>
          </a:p>
        </p:txBody>
      </p:sp>
      <p:sp>
        <p:nvSpPr>
          <p:cNvPr id="23" name="Text 21"/>
          <p:cNvSpPr txBox="1"/>
          <p:nvPr/>
        </p:nvSpPr>
        <p:spPr>
          <a:xfrm>
            <a:off x="446532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Therapy trusts the family’s own process. The therapist joins,</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provokes, plays and uses their own experience as part of the field.</a:t>
            </a:r>
            <a:endParaRPr lang="en-US" sz="900" dirty="0"/>
          </a:p>
        </p:txBody>
      </p:sp>
      <p:sp>
        <p:nvSpPr>
          <p:cNvPr id="24" name="Shape 22"/>
          <p:cNvSpPr/>
          <p:nvPr/>
        </p:nvSpPr>
        <p:spPr>
          <a:xfrm>
            <a:off x="4465320" y="3364992"/>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The therapist’s growth is part of the treatment</a:t>
            </a:r>
            <a:endParaRPr lang="en-US" sz="880" dirty="0"/>
          </a:p>
        </p:txBody>
      </p:sp>
      <p:sp>
        <p:nvSpPr>
          <p:cNvPr id="26" name="Shape 24"/>
          <p:cNvSpPr/>
          <p:nvPr/>
        </p:nvSpPr>
        <p:spPr>
          <a:xfrm>
            <a:off x="4465320" y="3610661"/>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Symptoms can be understood symbolically</a:t>
            </a:r>
            <a:endParaRPr lang="en-US" sz="880" dirty="0"/>
          </a:p>
        </p:txBody>
      </p:sp>
      <p:sp>
        <p:nvSpPr>
          <p:cNvPr id="28" name="Shape 26"/>
          <p:cNvSpPr/>
          <p:nvPr/>
        </p:nvSpPr>
        <p:spPr>
          <a:xfrm>
            <a:off x="4465320" y="3856330"/>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Play is a serious clinical method</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THE EMOTION-FOCUSED LINEAGE</a:t>
            </a:r>
            <a:endParaRPr lang="en-US" sz="750" dirty="0"/>
          </a:p>
        </p:txBody>
      </p:sp>
      <p:sp>
        <p:nvSpPr>
          <p:cNvPr id="33" name="Text 31"/>
          <p:cNvSpPr txBox="1"/>
          <p:nvPr/>
        </p:nvSpPr>
        <p:spPr>
          <a:xfrm>
            <a:off x="810768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Greenberg and Johnson moved experiential work toward affect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regulation and attachment, making it researchable without losing its</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human centre.</a:t>
            </a:r>
            <a:endParaRPr lang="en-US" sz="900" dirty="0"/>
          </a:p>
        </p:txBody>
      </p:sp>
      <p:sp>
        <p:nvSpPr>
          <p:cNvPr id="34" name="Shape 32"/>
          <p:cNvSpPr/>
          <p:nvPr/>
        </p:nvSpPr>
        <p:spPr>
          <a:xfrm>
            <a:off x="8107680" y="3529584"/>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Emotion as information</a:t>
            </a:r>
            <a:endParaRPr lang="en-US" sz="880" dirty="0"/>
          </a:p>
        </p:txBody>
      </p:sp>
      <p:sp>
        <p:nvSpPr>
          <p:cNvPr id="36" name="Shape 34"/>
          <p:cNvSpPr/>
          <p:nvPr/>
        </p:nvSpPr>
        <p:spPr>
          <a:xfrm>
            <a:off x="8107680" y="3775253"/>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Therapeutic presence</a:t>
            </a:r>
            <a:endParaRPr lang="en-US" sz="880" dirty="0"/>
          </a:p>
        </p:txBody>
      </p:sp>
      <p:sp>
        <p:nvSpPr>
          <p:cNvPr id="38" name="Shape 36"/>
          <p:cNvSpPr/>
          <p:nvPr/>
        </p:nvSpPr>
        <p:spPr>
          <a:xfrm>
            <a:off x="8107680" y="4020922"/>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A bridge to process research</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WHITAKER</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The self as instrument</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Personal therapy and supervision are not extras added to training. They are the means by which the therapist</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becomes usable.</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291338"/>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Satir (1967); Whitaker (1989); Greenberg &amp;</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Johnson (1988).</a:t>
            </a:r>
            <a:endParaRPr lang="en-US" sz="6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06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31</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Four stances, one cost each</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Each stance solves an immediate problem and purchases a longer one. The clinical task is to make the cost visible without contempt.</a:t>
            </a:r>
            <a:endParaRPr lang="en-US" sz="1060" dirty="0"/>
          </a:p>
        </p:txBody>
      </p:sp>
      <p:sp>
        <p:nvSpPr>
          <p:cNvPr id="10" name="Shape 8"/>
          <p:cNvSpPr/>
          <p:nvPr/>
        </p:nvSpPr>
        <p:spPr>
          <a:xfrm>
            <a:off x="914400" y="1920240"/>
            <a:ext cx="2425446" cy="2880360"/>
          </a:xfrm>
          <a:prstGeom prst="roundRect">
            <a:avLst>
              <a:gd name="adj" fmla="val 640"/>
            </a:avLst>
          </a:prstGeom>
          <a:solidFill>
            <a:srgbClr val="FDFAF3"/>
          </a:solidFill>
          <a:ln w="8890">
            <a:solidFill>
              <a:srgbClr val="D9CDB7"/>
            </a:solidFill>
            <a:prstDash val="solid"/>
          </a:ln>
        </p:spPr>
      </p:sp>
      <p:sp>
        <p:nvSpPr>
          <p:cNvPr id="11" name="Shape 9"/>
          <p:cNvSpPr/>
          <p:nvPr/>
        </p:nvSpPr>
        <p:spPr>
          <a:xfrm>
            <a:off x="2021967" y="2409444"/>
            <a:ext cx="210312" cy="210312"/>
          </a:xfrm>
          <a:prstGeom prst="ellipse">
            <a:avLst/>
          </a:prstGeom>
          <a:solidFill>
            <a:srgbClr val="FFFFFF">
              <a:alpha val="0"/>
            </a:srgbClr>
          </a:solidFill>
          <a:ln w="11430">
            <a:solidFill>
              <a:srgbClr val="96733C"/>
            </a:solidFill>
            <a:prstDash val="solid"/>
          </a:ln>
        </p:spPr>
      </p:sp>
      <p:sp>
        <p:nvSpPr>
          <p:cNvPr id="12" name="Shape 10"/>
          <p:cNvSpPr/>
          <p:nvPr/>
        </p:nvSpPr>
        <p:spPr>
          <a:xfrm>
            <a:off x="2127123" y="2624328"/>
            <a:ext cx="309628" cy="542610"/>
          </a:xfrm>
          <a:prstGeom prst="line">
            <a:avLst/>
          </a:prstGeom>
          <a:noFill/>
          <a:ln w="12700">
            <a:solidFill>
              <a:srgbClr val="96733C"/>
            </a:solidFill>
            <a:prstDash val="solid"/>
            <a:headEnd type="none"/>
            <a:tailEnd type="none"/>
          </a:ln>
        </p:spPr>
      </p:sp>
      <p:sp>
        <p:nvSpPr>
          <p:cNvPr id="13" name="Shape 11"/>
          <p:cNvSpPr/>
          <p:nvPr/>
        </p:nvSpPr>
        <p:spPr>
          <a:xfrm>
            <a:off x="1797939" y="2185416"/>
            <a:ext cx="658368" cy="658368"/>
          </a:xfrm>
          <a:prstGeom prst="ellipse">
            <a:avLst/>
          </a:prstGeom>
          <a:solidFill>
            <a:srgbClr val="FFFFFF">
              <a:alpha val="0"/>
            </a:srgbClr>
          </a:solidFill>
          <a:ln w="6350">
            <a:solidFill>
              <a:srgbClr val="D9CDB7"/>
            </a:solidFill>
            <a:prstDash val="solid"/>
          </a:ln>
        </p:spPr>
      </p:sp>
      <p:sp>
        <p:nvSpPr>
          <p:cNvPr id="14" name="Text 12"/>
          <p:cNvSpPr txBox="1"/>
          <p:nvPr/>
        </p:nvSpPr>
        <p:spPr>
          <a:xfrm>
            <a:off x="1042416" y="2066544"/>
            <a:ext cx="2169414" cy="204470"/>
          </a:xfrm>
          <a:prstGeom prst="rect">
            <a:avLst/>
          </a:prstGeom>
          <a:noFill/>
          <a:ln/>
        </p:spPr>
        <p:txBody>
          <a:bodyPr wrap="square" lIns="0" tIns="0" rIns="0" bIns="0" rtlCol="0" anchor="t"/>
          <a:lstStyle/>
          <a:p>
            <a:pPr algn="l" indent="0" marL="0">
              <a:lnSpc>
                <a:spcPts val="910"/>
              </a:lnSpc>
              <a:buNone/>
            </a:pPr>
            <a:r>
              <a:rPr lang="en-US" sz="700" spc="160" kern="0" dirty="0">
                <a:solidFill>
                  <a:srgbClr val="96733C"/>
                </a:solidFill>
                <a:latin typeface="Calibri" pitchFamily="34" charset="0"/>
                <a:ea typeface="Calibri" pitchFamily="34" charset="-122"/>
                <a:cs typeface="Calibri" pitchFamily="34" charset="-120"/>
              </a:rPr>
              <a:t>01</a:t>
            </a:r>
            <a:endParaRPr lang="en-US" sz="700" dirty="0"/>
          </a:p>
        </p:txBody>
      </p:sp>
      <p:sp>
        <p:nvSpPr>
          <p:cNvPr id="15" name="Text 13"/>
          <p:cNvSpPr txBox="1"/>
          <p:nvPr/>
        </p:nvSpPr>
        <p:spPr>
          <a:xfrm>
            <a:off x="1042416" y="3291840"/>
            <a:ext cx="2169414" cy="432753"/>
          </a:xfrm>
          <a:prstGeom prst="rect">
            <a:avLst/>
          </a:prstGeom>
          <a:noFill/>
          <a:ln/>
        </p:spPr>
        <p:txBody>
          <a:bodyPr wrap="square" lIns="0" tIns="0" rIns="0" bIns="0" rtlCol="0" anchor="t"/>
          <a:lstStyle/>
          <a:p>
            <a:pPr algn="l" indent="0" marL="0">
              <a:lnSpc>
                <a:spcPts val="1958"/>
              </a:lnSpc>
              <a:buNone/>
            </a:pPr>
            <a:r>
              <a:rPr lang="en-US" sz="1450" dirty="0">
                <a:solidFill>
                  <a:srgbClr val="1B1815"/>
                </a:solidFill>
                <a:latin typeface="Georgia" pitchFamily="34" charset="0"/>
                <a:ea typeface="Georgia" pitchFamily="34" charset="-122"/>
                <a:cs typeface="Georgia" pitchFamily="34" charset="-120"/>
              </a:rPr>
              <a:t>Placator</a:t>
            </a:r>
            <a:endParaRPr lang="en-US" sz="1450" dirty="0"/>
          </a:p>
        </p:txBody>
      </p:sp>
      <p:sp>
        <p:nvSpPr>
          <p:cNvPr id="16" name="Text 14"/>
          <p:cNvSpPr txBox="1"/>
          <p:nvPr/>
        </p:nvSpPr>
        <p:spPr>
          <a:xfrm>
            <a:off x="1042416" y="3621024"/>
            <a:ext cx="2169414" cy="251206"/>
          </a:xfrm>
          <a:prstGeom prst="rect">
            <a:avLst/>
          </a:prstGeom>
          <a:noFill/>
          <a:ln/>
        </p:spPr>
        <p:txBody>
          <a:bodyPr wrap="square" lIns="0" tIns="0" rIns="0" bIns="0" rtlCol="0" anchor="t"/>
          <a:lstStyle/>
          <a:p>
            <a:pPr algn="l" indent="0" marL="0">
              <a:lnSpc>
                <a:spcPts val="1118"/>
              </a:lnSpc>
              <a:buNone/>
            </a:pPr>
            <a:r>
              <a:rPr lang="en-US" sz="860" i="1" dirty="0">
                <a:solidFill>
                  <a:srgbClr val="96733C"/>
                </a:solidFill>
                <a:latin typeface="Calibri" pitchFamily="34" charset="0"/>
                <a:ea typeface="Calibri" pitchFamily="34" charset="-122"/>
                <a:cs typeface="Calibri" pitchFamily="34" charset="-120"/>
              </a:rPr>
              <a:t>“Whatever you want.”</a:t>
            </a:r>
            <a:endParaRPr lang="en-US" sz="860" dirty="0"/>
          </a:p>
        </p:txBody>
      </p:sp>
      <p:sp>
        <p:nvSpPr>
          <p:cNvPr id="17" name="Shape 15"/>
          <p:cNvSpPr/>
          <p:nvPr/>
        </p:nvSpPr>
        <p:spPr>
          <a:xfrm>
            <a:off x="1042416" y="4023360"/>
            <a:ext cx="438912" cy="91"/>
          </a:xfrm>
          <a:prstGeom prst="line">
            <a:avLst/>
          </a:prstGeom>
          <a:noFill/>
          <a:ln w="7620">
            <a:solidFill>
              <a:srgbClr val="D9CDB7"/>
            </a:solidFill>
            <a:prstDash val="solid"/>
            <a:headEnd type="none"/>
            <a:tailEnd type="none"/>
          </a:ln>
        </p:spPr>
      </p:sp>
      <p:sp>
        <p:nvSpPr>
          <p:cNvPr id="18" name="Text 16"/>
          <p:cNvSpPr txBox="1"/>
          <p:nvPr/>
        </p:nvSpPr>
        <p:spPr>
          <a:xfrm>
            <a:off x="1042416" y="4142232"/>
            <a:ext cx="2169414" cy="233680"/>
          </a:xfrm>
          <a:prstGeom prst="rect">
            <a:avLst/>
          </a:prstGeom>
          <a:noFill/>
          <a:ln/>
        </p:spPr>
        <p:txBody>
          <a:bodyPr wrap="square" lIns="0" tIns="0" rIns="0" bIns="0" rtlCol="0" anchor="t"/>
          <a:lstStyle/>
          <a:p>
            <a:pPr algn="l" indent="0" marL="0">
              <a:lnSpc>
                <a:spcPts val="1040"/>
              </a:lnSpc>
              <a:buNone/>
            </a:pPr>
            <a:r>
              <a:rPr lang="en-US" sz="800" dirty="0">
                <a:solidFill>
                  <a:srgbClr val="5B544A"/>
                </a:solidFill>
                <a:latin typeface="Calibri" pitchFamily="34" charset="0"/>
                <a:ea typeface="Calibri" pitchFamily="34" charset="-122"/>
                <a:cs typeface="Calibri" pitchFamily="34" charset="-120"/>
              </a:rPr>
              <a:t>Self erased to keep the peace.</a:t>
            </a:r>
            <a:endParaRPr lang="en-US" sz="800" dirty="0"/>
          </a:p>
        </p:txBody>
      </p:sp>
      <p:sp>
        <p:nvSpPr>
          <p:cNvPr id="19" name="Shape 17"/>
          <p:cNvSpPr/>
          <p:nvPr/>
        </p:nvSpPr>
        <p:spPr>
          <a:xfrm>
            <a:off x="3559302" y="1920240"/>
            <a:ext cx="2425446" cy="2880360"/>
          </a:xfrm>
          <a:prstGeom prst="roundRect">
            <a:avLst>
              <a:gd name="adj" fmla="val 640"/>
            </a:avLst>
          </a:prstGeom>
          <a:solidFill>
            <a:srgbClr val="FDFAF3"/>
          </a:solidFill>
          <a:ln w="8890">
            <a:solidFill>
              <a:srgbClr val="D9CDB7"/>
            </a:solidFill>
            <a:prstDash val="solid"/>
          </a:ln>
        </p:spPr>
      </p:sp>
      <p:sp>
        <p:nvSpPr>
          <p:cNvPr id="20" name="Shape 18"/>
          <p:cNvSpPr/>
          <p:nvPr/>
        </p:nvSpPr>
        <p:spPr>
          <a:xfrm>
            <a:off x="4666869" y="2409444"/>
            <a:ext cx="210312" cy="210312"/>
          </a:xfrm>
          <a:prstGeom prst="ellipse">
            <a:avLst/>
          </a:prstGeom>
          <a:solidFill>
            <a:srgbClr val="FFFFFF">
              <a:alpha val="0"/>
            </a:srgbClr>
          </a:solidFill>
          <a:ln w="11430">
            <a:solidFill>
              <a:srgbClr val="96733C"/>
            </a:solidFill>
            <a:prstDash val="solid"/>
          </a:ln>
        </p:spPr>
      </p:sp>
      <p:sp>
        <p:nvSpPr>
          <p:cNvPr id="21" name="Shape 19"/>
          <p:cNvSpPr/>
          <p:nvPr/>
        </p:nvSpPr>
        <p:spPr>
          <a:xfrm flipH="1">
            <a:off x="4462397" y="2624328"/>
            <a:ext cx="309628" cy="542610"/>
          </a:xfrm>
          <a:prstGeom prst="line">
            <a:avLst/>
          </a:prstGeom>
          <a:noFill/>
          <a:ln w="12700">
            <a:solidFill>
              <a:srgbClr val="96733C"/>
            </a:solidFill>
            <a:prstDash val="solid"/>
            <a:headEnd type="none"/>
            <a:tailEnd type="none"/>
          </a:ln>
        </p:spPr>
      </p:sp>
      <p:sp>
        <p:nvSpPr>
          <p:cNvPr id="22" name="Shape 20"/>
          <p:cNvSpPr/>
          <p:nvPr/>
        </p:nvSpPr>
        <p:spPr>
          <a:xfrm>
            <a:off x="4442841" y="2185416"/>
            <a:ext cx="658368" cy="658368"/>
          </a:xfrm>
          <a:prstGeom prst="ellipse">
            <a:avLst/>
          </a:prstGeom>
          <a:solidFill>
            <a:srgbClr val="FFFFFF">
              <a:alpha val="0"/>
            </a:srgbClr>
          </a:solidFill>
          <a:ln w="6350">
            <a:solidFill>
              <a:srgbClr val="D9CDB7"/>
            </a:solidFill>
            <a:prstDash val="solid"/>
          </a:ln>
        </p:spPr>
      </p:sp>
      <p:sp>
        <p:nvSpPr>
          <p:cNvPr id="23" name="Text 21"/>
          <p:cNvSpPr txBox="1"/>
          <p:nvPr/>
        </p:nvSpPr>
        <p:spPr>
          <a:xfrm>
            <a:off x="3687318" y="2066544"/>
            <a:ext cx="2169414" cy="204470"/>
          </a:xfrm>
          <a:prstGeom prst="rect">
            <a:avLst/>
          </a:prstGeom>
          <a:noFill/>
          <a:ln/>
        </p:spPr>
        <p:txBody>
          <a:bodyPr wrap="square" lIns="0" tIns="0" rIns="0" bIns="0" rtlCol="0" anchor="t"/>
          <a:lstStyle/>
          <a:p>
            <a:pPr algn="l" indent="0" marL="0">
              <a:lnSpc>
                <a:spcPts val="910"/>
              </a:lnSpc>
              <a:buNone/>
            </a:pPr>
            <a:r>
              <a:rPr lang="en-US" sz="700" spc="160" kern="0" dirty="0">
                <a:solidFill>
                  <a:srgbClr val="96733C"/>
                </a:solidFill>
                <a:latin typeface="Calibri" pitchFamily="34" charset="0"/>
                <a:ea typeface="Calibri" pitchFamily="34" charset="-122"/>
                <a:cs typeface="Calibri" pitchFamily="34" charset="-120"/>
              </a:rPr>
              <a:t>02</a:t>
            </a:r>
            <a:endParaRPr lang="en-US" sz="700" dirty="0"/>
          </a:p>
        </p:txBody>
      </p:sp>
      <p:sp>
        <p:nvSpPr>
          <p:cNvPr id="24" name="Text 22"/>
          <p:cNvSpPr txBox="1"/>
          <p:nvPr/>
        </p:nvSpPr>
        <p:spPr>
          <a:xfrm>
            <a:off x="3687318" y="3291840"/>
            <a:ext cx="2169414" cy="432753"/>
          </a:xfrm>
          <a:prstGeom prst="rect">
            <a:avLst/>
          </a:prstGeom>
          <a:noFill/>
          <a:ln/>
        </p:spPr>
        <p:txBody>
          <a:bodyPr wrap="square" lIns="0" tIns="0" rIns="0" bIns="0" rtlCol="0" anchor="t"/>
          <a:lstStyle/>
          <a:p>
            <a:pPr algn="l" indent="0" marL="0">
              <a:lnSpc>
                <a:spcPts val="1958"/>
              </a:lnSpc>
              <a:buNone/>
            </a:pPr>
            <a:r>
              <a:rPr lang="en-US" sz="1450" dirty="0">
                <a:solidFill>
                  <a:srgbClr val="1B1815"/>
                </a:solidFill>
                <a:latin typeface="Georgia" pitchFamily="34" charset="0"/>
                <a:ea typeface="Georgia" pitchFamily="34" charset="-122"/>
                <a:cs typeface="Georgia" pitchFamily="34" charset="-120"/>
              </a:rPr>
              <a:t>Blamer</a:t>
            </a:r>
            <a:endParaRPr lang="en-US" sz="1450" dirty="0"/>
          </a:p>
        </p:txBody>
      </p:sp>
      <p:sp>
        <p:nvSpPr>
          <p:cNvPr id="25" name="Text 23"/>
          <p:cNvSpPr txBox="1"/>
          <p:nvPr/>
        </p:nvSpPr>
        <p:spPr>
          <a:xfrm>
            <a:off x="3687318" y="3621024"/>
            <a:ext cx="2169414" cy="251206"/>
          </a:xfrm>
          <a:prstGeom prst="rect">
            <a:avLst/>
          </a:prstGeom>
          <a:noFill/>
          <a:ln/>
        </p:spPr>
        <p:txBody>
          <a:bodyPr wrap="square" lIns="0" tIns="0" rIns="0" bIns="0" rtlCol="0" anchor="t"/>
          <a:lstStyle/>
          <a:p>
            <a:pPr algn="l" indent="0" marL="0">
              <a:lnSpc>
                <a:spcPts val="1118"/>
              </a:lnSpc>
              <a:buNone/>
            </a:pPr>
            <a:r>
              <a:rPr lang="en-US" sz="860" i="1" dirty="0">
                <a:solidFill>
                  <a:srgbClr val="96733C"/>
                </a:solidFill>
                <a:latin typeface="Calibri" pitchFamily="34" charset="0"/>
                <a:ea typeface="Calibri" pitchFamily="34" charset="-122"/>
                <a:cs typeface="Calibri" pitchFamily="34" charset="-120"/>
              </a:rPr>
              <a:t>“It is all your fault.”</a:t>
            </a:r>
            <a:endParaRPr lang="en-US" sz="860" dirty="0"/>
          </a:p>
        </p:txBody>
      </p:sp>
      <p:sp>
        <p:nvSpPr>
          <p:cNvPr id="26" name="Shape 24"/>
          <p:cNvSpPr/>
          <p:nvPr/>
        </p:nvSpPr>
        <p:spPr>
          <a:xfrm>
            <a:off x="3687318" y="4023360"/>
            <a:ext cx="438912" cy="91"/>
          </a:xfrm>
          <a:prstGeom prst="line">
            <a:avLst/>
          </a:prstGeom>
          <a:noFill/>
          <a:ln w="7620">
            <a:solidFill>
              <a:srgbClr val="D9CDB7"/>
            </a:solidFill>
            <a:prstDash val="solid"/>
            <a:headEnd type="none"/>
            <a:tailEnd type="none"/>
          </a:ln>
        </p:spPr>
      </p:sp>
      <p:sp>
        <p:nvSpPr>
          <p:cNvPr id="27" name="Text 25"/>
          <p:cNvSpPr txBox="1"/>
          <p:nvPr/>
        </p:nvSpPr>
        <p:spPr>
          <a:xfrm>
            <a:off x="3687318" y="4142232"/>
            <a:ext cx="2169414" cy="233680"/>
          </a:xfrm>
          <a:prstGeom prst="rect">
            <a:avLst/>
          </a:prstGeom>
          <a:noFill/>
          <a:ln/>
        </p:spPr>
        <p:txBody>
          <a:bodyPr wrap="square" lIns="0" tIns="0" rIns="0" bIns="0" rtlCol="0" anchor="t"/>
          <a:lstStyle/>
          <a:p>
            <a:pPr algn="l" indent="0" marL="0">
              <a:lnSpc>
                <a:spcPts val="1040"/>
              </a:lnSpc>
              <a:buNone/>
            </a:pPr>
            <a:r>
              <a:rPr lang="en-US" sz="800" dirty="0">
                <a:solidFill>
                  <a:srgbClr val="5B544A"/>
                </a:solidFill>
                <a:latin typeface="Calibri" pitchFamily="34" charset="0"/>
                <a:ea typeface="Calibri" pitchFamily="34" charset="-122"/>
                <a:cs typeface="Calibri" pitchFamily="34" charset="-120"/>
              </a:rPr>
              <a:t>Connection traded for control.</a:t>
            </a:r>
            <a:endParaRPr lang="en-US" sz="800" dirty="0"/>
          </a:p>
        </p:txBody>
      </p:sp>
      <p:sp>
        <p:nvSpPr>
          <p:cNvPr id="28" name="Shape 26"/>
          <p:cNvSpPr/>
          <p:nvPr/>
        </p:nvSpPr>
        <p:spPr>
          <a:xfrm>
            <a:off x="6204204" y="1920240"/>
            <a:ext cx="2425446" cy="2880360"/>
          </a:xfrm>
          <a:prstGeom prst="roundRect">
            <a:avLst>
              <a:gd name="adj" fmla="val 640"/>
            </a:avLst>
          </a:prstGeom>
          <a:solidFill>
            <a:srgbClr val="FDFAF3"/>
          </a:solidFill>
          <a:ln w="8890">
            <a:solidFill>
              <a:srgbClr val="D9CDB7"/>
            </a:solidFill>
            <a:prstDash val="solid"/>
          </a:ln>
        </p:spPr>
      </p:sp>
      <p:sp>
        <p:nvSpPr>
          <p:cNvPr id="29" name="Shape 27"/>
          <p:cNvSpPr/>
          <p:nvPr/>
        </p:nvSpPr>
        <p:spPr>
          <a:xfrm>
            <a:off x="7311771" y="2409444"/>
            <a:ext cx="210312" cy="210312"/>
          </a:xfrm>
          <a:prstGeom prst="ellipse">
            <a:avLst/>
          </a:prstGeom>
          <a:solidFill>
            <a:srgbClr val="FFFFFF">
              <a:alpha val="0"/>
            </a:srgbClr>
          </a:solidFill>
          <a:ln w="11430">
            <a:solidFill>
              <a:srgbClr val="96733C"/>
            </a:solidFill>
            <a:prstDash val="solid"/>
          </a:ln>
        </p:spPr>
      </p:sp>
      <p:sp>
        <p:nvSpPr>
          <p:cNvPr id="30" name="Shape 28"/>
          <p:cNvSpPr/>
          <p:nvPr/>
        </p:nvSpPr>
        <p:spPr>
          <a:xfrm>
            <a:off x="7416927" y="2624328"/>
            <a:ext cx="91" cy="649224"/>
          </a:xfrm>
          <a:prstGeom prst="line">
            <a:avLst/>
          </a:prstGeom>
          <a:noFill/>
          <a:ln w="12700">
            <a:solidFill>
              <a:srgbClr val="96733C"/>
            </a:solidFill>
            <a:prstDash val="solid"/>
            <a:headEnd type="none"/>
            <a:tailEnd type="none"/>
          </a:ln>
        </p:spPr>
      </p:sp>
      <p:sp>
        <p:nvSpPr>
          <p:cNvPr id="31" name="Shape 29"/>
          <p:cNvSpPr/>
          <p:nvPr/>
        </p:nvSpPr>
        <p:spPr>
          <a:xfrm>
            <a:off x="7087743" y="2185416"/>
            <a:ext cx="658368" cy="658368"/>
          </a:xfrm>
          <a:prstGeom prst="ellipse">
            <a:avLst/>
          </a:prstGeom>
          <a:solidFill>
            <a:srgbClr val="FFFFFF">
              <a:alpha val="0"/>
            </a:srgbClr>
          </a:solidFill>
          <a:ln w="6350">
            <a:solidFill>
              <a:srgbClr val="D9CDB7"/>
            </a:solidFill>
            <a:prstDash val="solid"/>
          </a:ln>
        </p:spPr>
      </p:sp>
      <p:sp>
        <p:nvSpPr>
          <p:cNvPr id="32" name="Text 30"/>
          <p:cNvSpPr txBox="1"/>
          <p:nvPr/>
        </p:nvSpPr>
        <p:spPr>
          <a:xfrm>
            <a:off x="6332220" y="2066544"/>
            <a:ext cx="2169414" cy="204470"/>
          </a:xfrm>
          <a:prstGeom prst="rect">
            <a:avLst/>
          </a:prstGeom>
          <a:noFill/>
          <a:ln/>
        </p:spPr>
        <p:txBody>
          <a:bodyPr wrap="square" lIns="0" tIns="0" rIns="0" bIns="0" rtlCol="0" anchor="t"/>
          <a:lstStyle/>
          <a:p>
            <a:pPr algn="l" indent="0" marL="0">
              <a:lnSpc>
                <a:spcPts val="910"/>
              </a:lnSpc>
              <a:buNone/>
            </a:pPr>
            <a:r>
              <a:rPr lang="en-US" sz="700" spc="160" kern="0" dirty="0">
                <a:solidFill>
                  <a:srgbClr val="96733C"/>
                </a:solidFill>
                <a:latin typeface="Calibri" pitchFamily="34" charset="0"/>
                <a:ea typeface="Calibri" pitchFamily="34" charset="-122"/>
                <a:cs typeface="Calibri" pitchFamily="34" charset="-120"/>
              </a:rPr>
              <a:t>03</a:t>
            </a:r>
            <a:endParaRPr lang="en-US" sz="700" dirty="0"/>
          </a:p>
        </p:txBody>
      </p:sp>
      <p:sp>
        <p:nvSpPr>
          <p:cNvPr id="33" name="Text 31"/>
          <p:cNvSpPr txBox="1"/>
          <p:nvPr/>
        </p:nvSpPr>
        <p:spPr>
          <a:xfrm>
            <a:off x="6332220" y="3291840"/>
            <a:ext cx="2169414" cy="432753"/>
          </a:xfrm>
          <a:prstGeom prst="rect">
            <a:avLst/>
          </a:prstGeom>
          <a:noFill/>
          <a:ln/>
        </p:spPr>
        <p:txBody>
          <a:bodyPr wrap="square" lIns="0" tIns="0" rIns="0" bIns="0" rtlCol="0" anchor="t"/>
          <a:lstStyle/>
          <a:p>
            <a:pPr algn="l" indent="0" marL="0">
              <a:lnSpc>
                <a:spcPts val="1958"/>
              </a:lnSpc>
              <a:buNone/>
            </a:pPr>
            <a:r>
              <a:rPr lang="en-US" sz="1450" dirty="0">
                <a:solidFill>
                  <a:srgbClr val="1B1815"/>
                </a:solidFill>
                <a:latin typeface="Georgia" pitchFamily="34" charset="0"/>
                <a:ea typeface="Georgia" pitchFamily="34" charset="-122"/>
                <a:cs typeface="Georgia" pitchFamily="34" charset="-120"/>
              </a:rPr>
              <a:t>Super-reasonable</a:t>
            </a:r>
            <a:endParaRPr lang="en-US" sz="1450" dirty="0"/>
          </a:p>
        </p:txBody>
      </p:sp>
      <p:sp>
        <p:nvSpPr>
          <p:cNvPr id="34" name="Text 32"/>
          <p:cNvSpPr txBox="1"/>
          <p:nvPr/>
        </p:nvSpPr>
        <p:spPr>
          <a:xfrm>
            <a:off x="6332220" y="3621024"/>
            <a:ext cx="2169414" cy="251206"/>
          </a:xfrm>
          <a:prstGeom prst="rect">
            <a:avLst/>
          </a:prstGeom>
          <a:noFill/>
          <a:ln/>
        </p:spPr>
        <p:txBody>
          <a:bodyPr wrap="square" lIns="0" tIns="0" rIns="0" bIns="0" rtlCol="0" anchor="t"/>
          <a:lstStyle/>
          <a:p>
            <a:pPr algn="l" indent="0" marL="0">
              <a:lnSpc>
                <a:spcPts val="1118"/>
              </a:lnSpc>
              <a:buNone/>
            </a:pPr>
            <a:r>
              <a:rPr lang="en-US" sz="860" i="1" dirty="0">
                <a:solidFill>
                  <a:srgbClr val="96733C"/>
                </a:solidFill>
                <a:latin typeface="Calibri" pitchFamily="34" charset="0"/>
                <a:ea typeface="Calibri" pitchFamily="34" charset="-122"/>
                <a:cs typeface="Calibri" pitchFamily="34" charset="-120"/>
              </a:rPr>
              <a:t>“Let us be logical.”</a:t>
            </a:r>
            <a:endParaRPr lang="en-US" sz="860" dirty="0"/>
          </a:p>
        </p:txBody>
      </p:sp>
      <p:sp>
        <p:nvSpPr>
          <p:cNvPr id="35" name="Shape 33"/>
          <p:cNvSpPr/>
          <p:nvPr/>
        </p:nvSpPr>
        <p:spPr>
          <a:xfrm>
            <a:off x="6332220" y="4023360"/>
            <a:ext cx="438912" cy="91"/>
          </a:xfrm>
          <a:prstGeom prst="line">
            <a:avLst/>
          </a:prstGeom>
          <a:noFill/>
          <a:ln w="7620">
            <a:solidFill>
              <a:srgbClr val="D9CDB7"/>
            </a:solidFill>
            <a:prstDash val="solid"/>
            <a:headEnd type="none"/>
            <a:tailEnd type="none"/>
          </a:ln>
        </p:spPr>
      </p:sp>
      <p:sp>
        <p:nvSpPr>
          <p:cNvPr id="36" name="Text 34"/>
          <p:cNvSpPr txBox="1"/>
          <p:nvPr/>
        </p:nvSpPr>
        <p:spPr>
          <a:xfrm>
            <a:off x="6332220" y="4142232"/>
            <a:ext cx="2169414" cy="233680"/>
          </a:xfrm>
          <a:prstGeom prst="rect">
            <a:avLst/>
          </a:prstGeom>
          <a:noFill/>
          <a:ln/>
        </p:spPr>
        <p:txBody>
          <a:bodyPr wrap="square" lIns="0" tIns="0" rIns="0" bIns="0" rtlCol="0" anchor="t"/>
          <a:lstStyle/>
          <a:p>
            <a:pPr algn="l" indent="0" marL="0">
              <a:lnSpc>
                <a:spcPts val="1040"/>
              </a:lnSpc>
              <a:buNone/>
            </a:pPr>
            <a:r>
              <a:rPr lang="en-US" sz="800" dirty="0">
                <a:solidFill>
                  <a:srgbClr val="5B544A"/>
                </a:solidFill>
                <a:latin typeface="Calibri" pitchFamily="34" charset="0"/>
                <a:ea typeface="Calibri" pitchFamily="34" charset="-122"/>
                <a:cs typeface="Calibri" pitchFamily="34" charset="-120"/>
              </a:rPr>
              <a:t>Feeling exiled from the room.</a:t>
            </a:r>
            <a:endParaRPr lang="en-US" sz="800" dirty="0"/>
          </a:p>
        </p:txBody>
      </p:sp>
      <p:sp>
        <p:nvSpPr>
          <p:cNvPr id="37" name="Shape 35"/>
          <p:cNvSpPr/>
          <p:nvPr/>
        </p:nvSpPr>
        <p:spPr>
          <a:xfrm>
            <a:off x="8849106" y="1920240"/>
            <a:ext cx="2425446" cy="2880360"/>
          </a:xfrm>
          <a:prstGeom prst="roundRect">
            <a:avLst>
              <a:gd name="adj" fmla="val 640"/>
            </a:avLst>
          </a:prstGeom>
          <a:solidFill>
            <a:srgbClr val="FDFAF3"/>
          </a:solidFill>
          <a:ln w="8890">
            <a:solidFill>
              <a:srgbClr val="D9CDB7"/>
            </a:solidFill>
            <a:prstDash val="solid"/>
          </a:ln>
        </p:spPr>
      </p:sp>
      <p:sp>
        <p:nvSpPr>
          <p:cNvPr id="38" name="Shape 36"/>
          <p:cNvSpPr/>
          <p:nvPr/>
        </p:nvSpPr>
        <p:spPr>
          <a:xfrm>
            <a:off x="9956673" y="2409444"/>
            <a:ext cx="210312" cy="210312"/>
          </a:xfrm>
          <a:prstGeom prst="ellipse">
            <a:avLst/>
          </a:prstGeom>
          <a:solidFill>
            <a:srgbClr val="FFFFFF">
              <a:alpha val="0"/>
            </a:srgbClr>
          </a:solidFill>
          <a:ln w="11430">
            <a:solidFill>
              <a:srgbClr val="96733C"/>
            </a:solidFill>
            <a:prstDash val="solid"/>
          </a:ln>
        </p:spPr>
      </p:sp>
      <p:sp>
        <p:nvSpPr>
          <p:cNvPr id="39" name="Shape 37"/>
          <p:cNvSpPr/>
          <p:nvPr/>
        </p:nvSpPr>
        <p:spPr>
          <a:xfrm>
            <a:off x="10061829" y="2624328"/>
            <a:ext cx="444052" cy="382411"/>
          </a:xfrm>
          <a:prstGeom prst="line">
            <a:avLst/>
          </a:prstGeom>
          <a:noFill/>
          <a:ln w="12700">
            <a:solidFill>
              <a:srgbClr val="96733C"/>
            </a:solidFill>
            <a:prstDash val="solid"/>
            <a:headEnd type="none"/>
            <a:tailEnd type="none"/>
          </a:ln>
        </p:spPr>
      </p:sp>
      <p:sp>
        <p:nvSpPr>
          <p:cNvPr id="40" name="Shape 38"/>
          <p:cNvSpPr/>
          <p:nvPr/>
        </p:nvSpPr>
        <p:spPr>
          <a:xfrm>
            <a:off x="9732645" y="2185416"/>
            <a:ext cx="658368" cy="658368"/>
          </a:xfrm>
          <a:prstGeom prst="ellipse">
            <a:avLst/>
          </a:prstGeom>
          <a:solidFill>
            <a:srgbClr val="FFFFFF">
              <a:alpha val="0"/>
            </a:srgbClr>
          </a:solidFill>
          <a:ln w="6350">
            <a:solidFill>
              <a:srgbClr val="D9CDB7"/>
            </a:solidFill>
            <a:prstDash val="solid"/>
          </a:ln>
        </p:spPr>
      </p:sp>
      <p:sp>
        <p:nvSpPr>
          <p:cNvPr id="41" name="Text 39"/>
          <p:cNvSpPr txBox="1"/>
          <p:nvPr/>
        </p:nvSpPr>
        <p:spPr>
          <a:xfrm>
            <a:off x="8977122" y="2066544"/>
            <a:ext cx="2169414" cy="204470"/>
          </a:xfrm>
          <a:prstGeom prst="rect">
            <a:avLst/>
          </a:prstGeom>
          <a:noFill/>
          <a:ln/>
        </p:spPr>
        <p:txBody>
          <a:bodyPr wrap="square" lIns="0" tIns="0" rIns="0" bIns="0" rtlCol="0" anchor="t"/>
          <a:lstStyle/>
          <a:p>
            <a:pPr algn="l" indent="0" marL="0">
              <a:lnSpc>
                <a:spcPts val="910"/>
              </a:lnSpc>
              <a:buNone/>
            </a:pPr>
            <a:r>
              <a:rPr lang="en-US" sz="700" spc="160" kern="0" dirty="0">
                <a:solidFill>
                  <a:srgbClr val="96733C"/>
                </a:solidFill>
                <a:latin typeface="Calibri" pitchFamily="34" charset="0"/>
                <a:ea typeface="Calibri" pitchFamily="34" charset="-122"/>
                <a:cs typeface="Calibri" pitchFamily="34" charset="-120"/>
              </a:rPr>
              <a:t>04</a:t>
            </a:r>
            <a:endParaRPr lang="en-US" sz="700" dirty="0"/>
          </a:p>
        </p:txBody>
      </p:sp>
      <p:sp>
        <p:nvSpPr>
          <p:cNvPr id="42" name="Text 40"/>
          <p:cNvSpPr txBox="1"/>
          <p:nvPr/>
        </p:nvSpPr>
        <p:spPr>
          <a:xfrm>
            <a:off x="8977122" y="3291840"/>
            <a:ext cx="2169414" cy="432753"/>
          </a:xfrm>
          <a:prstGeom prst="rect">
            <a:avLst/>
          </a:prstGeom>
          <a:noFill/>
          <a:ln/>
        </p:spPr>
        <p:txBody>
          <a:bodyPr wrap="square" lIns="0" tIns="0" rIns="0" bIns="0" rtlCol="0" anchor="t"/>
          <a:lstStyle/>
          <a:p>
            <a:pPr algn="l" indent="0" marL="0">
              <a:lnSpc>
                <a:spcPts val="1958"/>
              </a:lnSpc>
              <a:buNone/>
            </a:pPr>
            <a:r>
              <a:rPr lang="en-US" sz="1450" dirty="0">
                <a:solidFill>
                  <a:srgbClr val="1B1815"/>
                </a:solidFill>
                <a:latin typeface="Georgia" pitchFamily="34" charset="0"/>
                <a:ea typeface="Georgia" pitchFamily="34" charset="-122"/>
                <a:cs typeface="Georgia" pitchFamily="34" charset="-120"/>
              </a:rPr>
              <a:t>Irrelevant</a:t>
            </a:r>
            <a:endParaRPr lang="en-US" sz="1450" dirty="0"/>
          </a:p>
        </p:txBody>
      </p:sp>
      <p:sp>
        <p:nvSpPr>
          <p:cNvPr id="43" name="Text 41"/>
          <p:cNvSpPr txBox="1"/>
          <p:nvPr/>
        </p:nvSpPr>
        <p:spPr>
          <a:xfrm>
            <a:off x="8977122" y="3621024"/>
            <a:ext cx="2169414" cy="251206"/>
          </a:xfrm>
          <a:prstGeom prst="rect">
            <a:avLst/>
          </a:prstGeom>
          <a:noFill/>
          <a:ln/>
        </p:spPr>
        <p:txBody>
          <a:bodyPr wrap="square" lIns="0" tIns="0" rIns="0" bIns="0" rtlCol="0" anchor="t"/>
          <a:lstStyle/>
          <a:p>
            <a:pPr algn="l" indent="0" marL="0">
              <a:lnSpc>
                <a:spcPts val="1118"/>
              </a:lnSpc>
              <a:buNone/>
            </a:pPr>
            <a:r>
              <a:rPr lang="en-US" sz="860" i="1" dirty="0">
                <a:solidFill>
                  <a:srgbClr val="96733C"/>
                </a:solidFill>
                <a:latin typeface="Calibri" pitchFamily="34" charset="0"/>
                <a:ea typeface="Calibri" pitchFamily="34" charset="-122"/>
                <a:cs typeface="Calibri" pitchFamily="34" charset="-120"/>
              </a:rPr>
              <a:t>“Anyway — did you see…?”</a:t>
            </a:r>
            <a:endParaRPr lang="en-US" sz="860" dirty="0"/>
          </a:p>
        </p:txBody>
      </p:sp>
      <p:sp>
        <p:nvSpPr>
          <p:cNvPr id="44" name="Shape 42"/>
          <p:cNvSpPr/>
          <p:nvPr/>
        </p:nvSpPr>
        <p:spPr>
          <a:xfrm>
            <a:off x="8977122" y="4023360"/>
            <a:ext cx="438912" cy="91"/>
          </a:xfrm>
          <a:prstGeom prst="line">
            <a:avLst/>
          </a:prstGeom>
          <a:noFill/>
          <a:ln w="7620">
            <a:solidFill>
              <a:srgbClr val="D9CDB7"/>
            </a:solidFill>
            <a:prstDash val="solid"/>
            <a:headEnd type="none"/>
            <a:tailEnd type="none"/>
          </a:ln>
        </p:spPr>
      </p:sp>
      <p:sp>
        <p:nvSpPr>
          <p:cNvPr id="45" name="Text 43"/>
          <p:cNvSpPr txBox="1"/>
          <p:nvPr/>
        </p:nvSpPr>
        <p:spPr>
          <a:xfrm>
            <a:off x="8977122" y="4142232"/>
            <a:ext cx="2169414" cy="233680"/>
          </a:xfrm>
          <a:prstGeom prst="rect">
            <a:avLst/>
          </a:prstGeom>
          <a:noFill/>
          <a:ln/>
        </p:spPr>
        <p:txBody>
          <a:bodyPr wrap="square" lIns="0" tIns="0" rIns="0" bIns="0" rtlCol="0" anchor="t"/>
          <a:lstStyle/>
          <a:p>
            <a:pPr algn="l" indent="0" marL="0">
              <a:lnSpc>
                <a:spcPts val="1040"/>
              </a:lnSpc>
              <a:buNone/>
            </a:pPr>
            <a:r>
              <a:rPr lang="en-US" sz="800" dirty="0">
                <a:solidFill>
                  <a:srgbClr val="5B544A"/>
                </a:solidFill>
                <a:latin typeface="Calibri" pitchFamily="34" charset="0"/>
                <a:ea typeface="Calibri" pitchFamily="34" charset="-122"/>
                <a:cs typeface="Calibri" pitchFamily="34" charset="-120"/>
              </a:rPr>
              <a:t>The real subject never lands.</a:t>
            </a:r>
            <a:endParaRPr lang="en-US" sz="800" dirty="0"/>
          </a:p>
        </p:txBody>
      </p:sp>
      <p:sp>
        <p:nvSpPr>
          <p:cNvPr id="46" name="Text 44"/>
          <p:cNvSpPr txBox="1"/>
          <p:nvPr/>
        </p:nvSpPr>
        <p:spPr>
          <a:xfrm>
            <a:off x="914400" y="5120640"/>
            <a:ext cx="10360152" cy="256667"/>
          </a:xfrm>
          <a:prstGeom prst="rect">
            <a:avLst/>
          </a:prstGeom>
          <a:noFill/>
          <a:ln/>
        </p:spPr>
        <p:txBody>
          <a:bodyPr wrap="square" lIns="0" tIns="0" rIns="0" bIns="0" rtlCol="0" anchor="t"/>
          <a:lstStyle/>
          <a:p>
            <a:pPr algn="ctr" indent="0" marL="0">
              <a:lnSpc>
                <a:spcPts val="1161"/>
              </a:lnSpc>
              <a:buNone/>
            </a:pPr>
            <a:r>
              <a:rPr lang="en-US" sz="860" i="1" dirty="0">
                <a:solidFill>
                  <a:srgbClr val="96733C"/>
                </a:solidFill>
                <a:latin typeface="Calibri" pitchFamily="34" charset="0"/>
                <a:ea typeface="Calibri" pitchFamily="34" charset="-122"/>
                <a:cs typeface="Calibri" pitchFamily="34" charset="-120"/>
              </a:rPr>
              <a:t>The goal is not a fifth stance but congruence — the body, the words and the feeling saying the same thing.</a:t>
            </a:r>
            <a:endParaRPr lang="en-US" sz="860" dirty="0"/>
          </a:p>
        </p:txBody>
      </p:sp>
      <p:sp>
        <p:nvSpPr>
          <p:cNvPr id="47" name="Text 45"/>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After Virginia Satir’s communication stances.</a:t>
            </a:r>
            <a:endParaRPr lang="en-US" sz="74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06 · CLINICAL APPLICATION</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32</a:t>
            </a:r>
            <a:endParaRPr lang="en-US" sz="950" dirty="0"/>
          </a:p>
        </p:txBody>
      </p:sp>
      <p:sp>
        <p:nvSpPr>
          <p:cNvPr id="8" name="Text 6"/>
          <p:cNvSpPr txBox="1"/>
          <p:nvPr/>
        </p:nvSpPr>
        <p:spPr>
          <a:xfrm>
            <a:off x="822960" y="932688"/>
            <a:ext cx="9509760" cy="775970"/>
          </a:xfrm>
          <a:prstGeom prst="rect">
            <a:avLst/>
          </a:prstGeom>
          <a:noFill/>
          <a:ln/>
        </p:spPr>
        <p:txBody>
          <a:bodyPr wrap="square" lIns="0" tIns="0" rIns="0" bIns="0" rtlCol="0" anchor="t"/>
          <a:lstStyle/>
          <a:p>
            <a:pPr algn="l" indent="0" marL="0">
              <a:lnSpc>
                <a:spcPts val="3510"/>
              </a:lnSpc>
              <a:buNone/>
            </a:pPr>
            <a:r>
              <a:rPr lang="en-US" sz="2600" dirty="0">
                <a:solidFill>
                  <a:srgbClr val="1B1815"/>
                </a:solidFill>
                <a:latin typeface="Georgia" pitchFamily="34" charset="0"/>
                <a:ea typeface="Georgia" pitchFamily="34" charset="-122"/>
                <a:cs typeface="Georgia" pitchFamily="34" charset="-120"/>
              </a:rPr>
              <a:t>The family that explains everything</a:t>
            </a:r>
            <a:endParaRPr lang="en-US" sz="2600" dirty="0"/>
          </a:p>
        </p:txBody>
      </p:sp>
      <p:sp>
        <p:nvSpPr>
          <p:cNvPr id="9" name="Shape 7"/>
          <p:cNvSpPr/>
          <p:nvPr/>
        </p:nvSpPr>
        <p:spPr>
          <a:xfrm>
            <a:off x="822960" y="1463040"/>
            <a:ext cx="7059168" cy="1847088"/>
          </a:xfrm>
          <a:prstGeom prst="roundRect">
            <a:avLst>
              <a:gd name="adj" fmla="val 490"/>
            </a:avLst>
          </a:prstGeom>
          <a:solidFill>
            <a:srgbClr val="EFE5D3">
              <a:alpha val="50000"/>
            </a:srgbClr>
          </a:solidFill>
          <a:ln w="12700">
            <a:solidFill>
              <a:srgbClr val="FFFFFF">
                <a:alpha val="0"/>
              </a:srgbClr>
            </a:solidFill>
            <a:prstDash val="solid"/>
          </a:ln>
        </p:spPr>
      </p:sp>
      <p:sp>
        <p:nvSpPr>
          <p:cNvPr id="10" name="Shape 8"/>
          <p:cNvSpPr/>
          <p:nvPr/>
        </p:nvSpPr>
        <p:spPr>
          <a:xfrm>
            <a:off x="822960" y="1463040"/>
            <a:ext cx="45720" cy="1847088"/>
          </a:xfrm>
          <a:prstGeom prst="rect">
            <a:avLst/>
          </a:prstGeom>
          <a:solidFill>
            <a:srgbClr val="A96A45"/>
          </a:solidFill>
          <a:ln w="12700">
            <a:solidFill>
              <a:srgbClr val="FFFFFF">
                <a:alpha val="0"/>
              </a:srgbClr>
            </a:solidFill>
            <a:prstDash val="solid"/>
          </a:ln>
        </p:spPr>
      </p:sp>
      <p:sp>
        <p:nvSpPr>
          <p:cNvPr id="11" name="Text 9"/>
          <p:cNvSpPr txBox="1"/>
          <p:nvPr/>
        </p:nvSpPr>
        <p:spPr>
          <a:xfrm>
            <a:off x="1115568" y="1627632"/>
            <a:ext cx="2743200" cy="202946"/>
          </a:xfrm>
          <a:prstGeom prst="rect">
            <a:avLst/>
          </a:prstGeom>
          <a:noFill/>
          <a:ln/>
        </p:spPr>
        <p:txBody>
          <a:bodyPr wrap="square" lIns="0" tIns="0" rIns="0" bIns="0" rtlCol="0" anchor="t"/>
          <a:lstStyle/>
          <a:p>
            <a:pPr algn="l" indent="0" marL="0">
              <a:lnSpc>
                <a:spcPts val="918"/>
              </a:lnSpc>
              <a:buNone/>
            </a:pPr>
            <a:r>
              <a:rPr lang="en-US" sz="680" b="1" spc="200" kern="0" dirty="0">
                <a:solidFill>
                  <a:srgbClr val="A96A45"/>
                </a:solidFill>
                <a:latin typeface="Calibri" pitchFamily="34" charset="0"/>
                <a:ea typeface="Calibri" pitchFamily="34" charset="-122"/>
                <a:cs typeface="Calibri" pitchFamily="34" charset="-120"/>
              </a:rPr>
              <a:t>CLINICAL VIGNETTE</a:t>
            </a:r>
            <a:endParaRPr lang="en-US" sz="680" dirty="0"/>
          </a:p>
        </p:txBody>
      </p:sp>
      <p:sp>
        <p:nvSpPr>
          <p:cNvPr id="12" name="Text 10"/>
          <p:cNvSpPr txBox="1"/>
          <p:nvPr/>
        </p:nvSpPr>
        <p:spPr>
          <a:xfrm>
            <a:off x="1115568" y="2187854"/>
            <a:ext cx="6446520" cy="1280160"/>
          </a:xfrm>
          <a:prstGeom prst="rect">
            <a:avLst/>
          </a:prstGeom>
          <a:noFill/>
          <a:ln/>
        </p:spPr>
        <p:txBody>
          <a:bodyPr wrap="square" lIns="0" tIns="0" rIns="0" bIns="0" rtlCol="0" anchor="t"/>
          <a:lstStyle/>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A couple arrives with a spreadsheet of grievances. Each has rehearsed their account. When you</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ask what each felt during the argument, both answer with the other’s motives. The session is</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calm, articulate, and completely stuck.</a:t>
            </a:r>
            <a:endParaRPr lang="en-US" sz="1160" dirty="0"/>
          </a:p>
        </p:txBody>
      </p:sp>
      <p:sp>
        <p:nvSpPr>
          <p:cNvPr id="13" name="Shape 11"/>
          <p:cNvSpPr/>
          <p:nvPr/>
        </p:nvSpPr>
        <p:spPr>
          <a:xfrm>
            <a:off x="8101584" y="1463040"/>
            <a:ext cx="3264408" cy="1847088"/>
          </a:xfrm>
          <a:prstGeom prst="roundRect">
            <a:avLst>
              <a:gd name="adj" fmla="val 490"/>
            </a:avLst>
          </a:prstGeom>
          <a:solidFill>
            <a:srgbClr val="FFFFFF">
              <a:alpha val="0"/>
            </a:srgbClr>
          </a:solidFill>
          <a:ln w="7620">
            <a:solidFill>
              <a:srgbClr val="D9CDB7"/>
            </a:solidFill>
            <a:prstDash val="solid"/>
          </a:ln>
        </p:spPr>
      </p:sp>
      <p:sp>
        <p:nvSpPr>
          <p:cNvPr id="14" name="Text 12"/>
          <p:cNvSpPr txBox="1"/>
          <p:nvPr/>
        </p:nvSpPr>
        <p:spPr>
          <a:xfrm>
            <a:off x="8302752" y="1627632"/>
            <a:ext cx="2898648" cy="196977"/>
          </a:xfrm>
          <a:prstGeom prst="rect">
            <a:avLst/>
          </a:prstGeom>
          <a:noFill/>
          <a:ln/>
        </p:spPr>
        <p:txBody>
          <a:bodyPr wrap="square" lIns="0" tIns="0" rIns="0" bIns="0" rtlCol="0" anchor="t"/>
          <a:lstStyle/>
          <a:p>
            <a:pPr algn="l" indent="0" marL="0">
              <a:lnSpc>
                <a:spcPts val="891"/>
              </a:lnSpc>
              <a:buNone/>
            </a:pPr>
            <a:r>
              <a:rPr lang="en-US" sz="660" b="1" spc="180" kern="0" dirty="0">
                <a:solidFill>
                  <a:srgbClr val="6E8274"/>
                </a:solidFill>
                <a:latin typeface="Calibri" pitchFamily="34" charset="0"/>
                <a:ea typeface="Calibri" pitchFamily="34" charset="-122"/>
                <a:cs typeface="Calibri" pitchFamily="34" charset="-120"/>
              </a:rPr>
              <a:t>APPLY THIS WEEK</a:t>
            </a:r>
            <a:endParaRPr lang="en-US" sz="660" dirty="0"/>
          </a:p>
        </p:txBody>
      </p:sp>
      <p:sp>
        <p:nvSpPr>
          <p:cNvPr id="15" name="Shape 13"/>
          <p:cNvSpPr/>
          <p:nvPr/>
        </p:nvSpPr>
        <p:spPr>
          <a:xfrm>
            <a:off x="8322869" y="1967789"/>
            <a:ext cx="51206" cy="51206"/>
          </a:xfrm>
          <a:prstGeom prst="ellipse">
            <a:avLst/>
          </a:prstGeom>
          <a:solidFill>
            <a:srgbClr val="6E8274"/>
          </a:solidFill>
          <a:ln w="12700">
            <a:solidFill>
              <a:srgbClr val="FFFFFF">
                <a:alpha val="0"/>
              </a:srgbClr>
            </a:solidFill>
            <a:prstDash val="solid"/>
          </a:ln>
        </p:spPr>
      </p:sp>
      <p:sp>
        <p:nvSpPr>
          <p:cNvPr id="16" name="Text 14"/>
          <p:cNvSpPr txBox="1"/>
          <p:nvPr/>
        </p:nvSpPr>
        <p:spPr>
          <a:xfrm>
            <a:off x="8485632" y="1911096"/>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congruence</a:t>
            </a:r>
            <a:endParaRPr lang="en-US" sz="830" dirty="0"/>
          </a:p>
        </p:txBody>
      </p:sp>
      <p:sp>
        <p:nvSpPr>
          <p:cNvPr id="17" name="Shape 15"/>
          <p:cNvSpPr/>
          <p:nvPr/>
        </p:nvSpPr>
        <p:spPr>
          <a:xfrm>
            <a:off x="8322869" y="2296973"/>
            <a:ext cx="51206" cy="51206"/>
          </a:xfrm>
          <a:prstGeom prst="ellipse">
            <a:avLst/>
          </a:prstGeom>
          <a:solidFill>
            <a:srgbClr val="6E8274"/>
          </a:solidFill>
          <a:ln w="12700">
            <a:solidFill>
              <a:srgbClr val="FFFFFF">
                <a:alpha val="0"/>
              </a:srgbClr>
            </a:solidFill>
            <a:prstDash val="solid"/>
          </a:ln>
        </p:spPr>
      </p:sp>
      <p:sp>
        <p:nvSpPr>
          <p:cNvPr id="18" name="Text 16"/>
          <p:cNvSpPr txBox="1"/>
          <p:nvPr/>
        </p:nvSpPr>
        <p:spPr>
          <a:xfrm>
            <a:off x="8485632" y="2240280"/>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sculpting</a:t>
            </a:r>
            <a:endParaRPr lang="en-US" sz="830" dirty="0"/>
          </a:p>
        </p:txBody>
      </p:sp>
      <p:sp>
        <p:nvSpPr>
          <p:cNvPr id="19" name="Shape 17"/>
          <p:cNvSpPr/>
          <p:nvPr/>
        </p:nvSpPr>
        <p:spPr>
          <a:xfrm>
            <a:off x="8322869" y="2626157"/>
            <a:ext cx="51206" cy="51206"/>
          </a:xfrm>
          <a:prstGeom prst="ellipse">
            <a:avLst/>
          </a:prstGeom>
          <a:solidFill>
            <a:srgbClr val="6E8274"/>
          </a:solidFill>
          <a:ln w="12700">
            <a:solidFill>
              <a:srgbClr val="FFFFFF">
                <a:alpha val="0"/>
              </a:srgbClr>
            </a:solidFill>
            <a:prstDash val="solid"/>
          </a:ln>
        </p:spPr>
      </p:sp>
      <p:sp>
        <p:nvSpPr>
          <p:cNvPr id="20" name="Text 18"/>
          <p:cNvSpPr txBox="1"/>
          <p:nvPr/>
        </p:nvSpPr>
        <p:spPr>
          <a:xfrm>
            <a:off x="8485632" y="2569464"/>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immediacy</a:t>
            </a:r>
            <a:endParaRPr lang="en-US" sz="830" dirty="0"/>
          </a:p>
        </p:txBody>
      </p:sp>
      <p:sp>
        <p:nvSpPr>
          <p:cNvPr id="21" name="Shape 19"/>
          <p:cNvSpPr/>
          <p:nvPr/>
        </p:nvSpPr>
        <p:spPr>
          <a:xfrm>
            <a:off x="8322869" y="2955341"/>
            <a:ext cx="51206" cy="51206"/>
          </a:xfrm>
          <a:prstGeom prst="ellipse">
            <a:avLst/>
          </a:prstGeom>
          <a:solidFill>
            <a:srgbClr val="6E8274"/>
          </a:solidFill>
          <a:ln w="12700">
            <a:solidFill>
              <a:srgbClr val="FFFFFF">
                <a:alpha val="0"/>
              </a:srgbClr>
            </a:solidFill>
            <a:prstDash val="solid"/>
          </a:ln>
        </p:spPr>
      </p:sp>
      <p:sp>
        <p:nvSpPr>
          <p:cNvPr id="22" name="Text 20"/>
          <p:cNvSpPr txBox="1"/>
          <p:nvPr/>
        </p:nvSpPr>
        <p:spPr>
          <a:xfrm>
            <a:off x="8485632" y="2898648"/>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symbolic-experiential</a:t>
            </a:r>
            <a:endParaRPr lang="en-US" sz="830" dirty="0"/>
          </a:p>
        </p:txBody>
      </p:sp>
      <p:sp>
        <p:nvSpPr>
          <p:cNvPr id="23" name="Text 21"/>
          <p:cNvSpPr txBox="1"/>
          <p:nvPr/>
        </p:nvSpPr>
        <p:spPr>
          <a:xfrm>
            <a:off x="822960" y="3675888"/>
            <a:ext cx="3657600" cy="214884"/>
          </a:xfrm>
          <a:prstGeom prst="rect">
            <a:avLst/>
          </a:prstGeom>
          <a:noFill/>
          <a:ln/>
        </p:spPr>
        <p:txBody>
          <a:bodyPr wrap="square" lIns="0" tIns="0" rIns="0" bIns="0" rtlCol="0" anchor="t"/>
          <a:lstStyle/>
          <a:p>
            <a:pPr algn="l" indent="0" marL="0">
              <a:lnSpc>
                <a:spcPts val="972"/>
              </a:lnSpc>
              <a:buNone/>
            </a:pPr>
            <a:r>
              <a:rPr lang="en-US" sz="720" b="1" spc="200" kern="0" dirty="0">
                <a:solidFill>
                  <a:srgbClr val="96733C"/>
                </a:solidFill>
                <a:latin typeface="Calibri" pitchFamily="34" charset="0"/>
                <a:ea typeface="Calibri" pitchFamily="34" charset="-122"/>
                <a:cs typeface="Calibri" pitchFamily="34" charset="-120"/>
              </a:rPr>
              <a:t>REFLECTION</a:t>
            </a:r>
            <a:endParaRPr lang="en-US" sz="720" dirty="0"/>
          </a:p>
        </p:txBody>
      </p:sp>
      <p:sp>
        <p:nvSpPr>
          <p:cNvPr id="24" name="Shape 22"/>
          <p:cNvSpPr/>
          <p:nvPr/>
        </p:nvSpPr>
        <p:spPr>
          <a:xfrm>
            <a:off x="1828800" y="3730752"/>
            <a:ext cx="548640" cy="91"/>
          </a:xfrm>
          <a:prstGeom prst="line">
            <a:avLst/>
          </a:prstGeom>
          <a:noFill/>
          <a:ln w="10160">
            <a:solidFill>
              <a:srgbClr val="C2A05F"/>
            </a:solidFill>
            <a:prstDash val="solid"/>
            <a:headEnd type="none"/>
            <a:tailEnd type="none"/>
          </a:ln>
        </p:spPr>
      </p:sp>
      <p:sp>
        <p:nvSpPr>
          <p:cNvPr id="25" name="Shape 23"/>
          <p:cNvSpPr/>
          <p:nvPr/>
        </p:nvSpPr>
        <p:spPr>
          <a:xfrm>
            <a:off x="822960" y="4041648"/>
            <a:ext cx="3319272" cy="1627632"/>
          </a:xfrm>
          <a:prstGeom prst="roundRect">
            <a:avLst>
              <a:gd name="adj" fmla="val 631"/>
            </a:avLst>
          </a:prstGeom>
          <a:solidFill>
            <a:srgbClr val="FCF8EF"/>
          </a:solidFill>
          <a:ln w="6350">
            <a:solidFill>
              <a:srgbClr val="D9CDB7"/>
            </a:solidFill>
            <a:prstDash val="solid"/>
          </a:ln>
        </p:spPr>
      </p:sp>
      <p:sp>
        <p:nvSpPr>
          <p:cNvPr id="26" name="Text 24"/>
          <p:cNvSpPr txBox="1"/>
          <p:nvPr/>
        </p:nvSpPr>
        <p:spPr>
          <a:xfrm>
            <a:off x="102412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27" name="Text 25"/>
          <p:cNvSpPr txBox="1"/>
          <p:nvPr/>
        </p:nvSpPr>
        <p:spPr>
          <a:xfrm>
            <a:off x="102412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is the function of the explanation?</a:t>
            </a:r>
            <a:endParaRPr lang="en-US" sz="920" dirty="0"/>
          </a:p>
        </p:txBody>
      </p:sp>
      <p:sp>
        <p:nvSpPr>
          <p:cNvPr id="28" name="Shape 26"/>
          <p:cNvSpPr/>
          <p:nvPr/>
        </p:nvSpPr>
        <p:spPr>
          <a:xfrm>
            <a:off x="1024128" y="5248656"/>
            <a:ext cx="2916936" cy="91"/>
          </a:xfrm>
          <a:prstGeom prst="line">
            <a:avLst/>
          </a:prstGeom>
          <a:noFill/>
          <a:ln w="3810">
            <a:solidFill>
              <a:srgbClr val="D9CDB7">
                <a:alpha val="75000"/>
              </a:srgbClr>
            </a:solidFill>
            <a:prstDash val="sysDot"/>
            <a:headEnd type="none"/>
            <a:tailEnd type="none"/>
          </a:ln>
        </p:spPr>
      </p:sp>
      <p:sp>
        <p:nvSpPr>
          <p:cNvPr id="29" name="Shape 27"/>
          <p:cNvSpPr/>
          <p:nvPr/>
        </p:nvSpPr>
        <p:spPr>
          <a:xfrm>
            <a:off x="1024128" y="5468112"/>
            <a:ext cx="2916936" cy="91"/>
          </a:xfrm>
          <a:prstGeom prst="line">
            <a:avLst/>
          </a:prstGeom>
          <a:noFill/>
          <a:ln w="3810">
            <a:solidFill>
              <a:srgbClr val="D9CDB7">
                <a:alpha val="75000"/>
              </a:srgbClr>
            </a:solidFill>
            <a:prstDash val="sysDot"/>
            <a:headEnd type="none"/>
            <a:tailEnd type="none"/>
          </a:ln>
        </p:spPr>
      </p:sp>
      <p:sp>
        <p:nvSpPr>
          <p:cNvPr id="30" name="Shape 28"/>
          <p:cNvSpPr/>
          <p:nvPr/>
        </p:nvSpPr>
        <p:spPr>
          <a:xfrm>
            <a:off x="4434840" y="4041648"/>
            <a:ext cx="3319272" cy="1627632"/>
          </a:xfrm>
          <a:prstGeom prst="roundRect">
            <a:avLst>
              <a:gd name="adj" fmla="val 631"/>
            </a:avLst>
          </a:prstGeom>
          <a:solidFill>
            <a:srgbClr val="FCF8EF"/>
          </a:solidFill>
          <a:ln w="6350">
            <a:solidFill>
              <a:srgbClr val="D9CDB7"/>
            </a:solidFill>
            <a:prstDash val="solid"/>
          </a:ln>
        </p:spPr>
      </p:sp>
      <p:sp>
        <p:nvSpPr>
          <p:cNvPr id="31" name="Text 29"/>
          <p:cNvSpPr txBox="1"/>
          <p:nvPr/>
        </p:nvSpPr>
        <p:spPr>
          <a:xfrm>
            <a:off x="463600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32" name="Text 30"/>
          <p:cNvSpPr txBox="1"/>
          <p:nvPr/>
        </p:nvSpPr>
        <p:spPr>
          <a:xfrm>
            <a:off x="463600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How would you move from story to affect without shaming?</a:t>
            </a:r>
            <a:endParaRPr lang="en-US" sz="920" dirty="0"/>
          </a:p>
        </p:txBody>
      </p:sp>
      <p:sp>
        <p:nvSpPr>
          <p:cNvPr id="33" name="Shape 31"/>
          <p:cNvSpPr/>
          <p:nvPr/>
        </p:nvSpPr>
        <p:spPr>
          <a:xfrm>
            <a:off x="4636008" y="5248656"/>
            <a:ext cx="2916936" cy="91"/>
          </a:xfrm>
          <a:prstGeom prst="line">
            <a:avLst/>
          </a:prstGeom>
          <a:noFill/>
          <a:ln w="3810">
            <a:solidFill>
              <a:srgbClr val="D9CDB7">
                <a:alpha val="75000"/>
              </a:srgbClr>
            </a:solidFill>
            <a:prstDash val="sysDot"/>
            <a:headEnd type="none"/>
            <a:tailEnd type="none"/>
          </a:ln>
        </p:spPr>
      </p:sp>
      <p:sp>
        <p:nvSpPr>
          <p:cNvPr id="34" name="Shape 32"/>
          <p:cNvSpPr/>
          <p:nvPr/>
        </p:nvSpPr>
        <p:spPr>
          <a:xfrm>
            <a:off x="4636008" y="5468112"/>
            <a:ext cx="2916936" cy="91"/>
          </a:xfrm>
          <a:prstGeom prst="line">
            <a:avLst/>
          </a:prstGeom>
          <a:noFill/>
          <a:ln w="3810">
            <a:solidFill>
              <a:srgbClr val="D9CDB7">
                <a:alpha val="75000"/>
              </a:srgbClr>
            </a:solidFill>
            <a:prstDash val="sysDot"/>
            <a:headEnd type="none"/>
            <a:tailEnd type="none"/>
          </a:ln>
        </p:spPr>
      </p:sp>
      <p:sp>
        <p:nvSpPr>
          <p:cNvPr id="35" name="Shape 33"/>
          <p:cNvSpPr/>
          <p:nvPr/>
        </p:nvSpPr>
        <p:spPr>
          <a:xfrm>
            <a:off x="8046720" y="4041648"/>
            <a:ext cx="3319272" cy="1627632"/>
          </a:xfrm>
          <a:prstGeom prst="roundRect">
            <a:avLst>
              <a:gd name="adj" fmla="val 631"/>
            </a:avLst>
          </a:prstGeom>
          <a:solidFill>
            <a:srgbClr val="FCF8EF"/>
          </a:solidFill>
          <a:ln w="6350">
            <a:solidFill>
              <a:srgbClr val="D9CDB7"/>
            </a:solidFill>
            <a:prstDash val="solid"/>
          </a:ln>
        </p:spPr>
      </p:sp>
      <p:sp>
        <p:nvSpPr>
          <p:cNvPr id="36" name="Text 34"/>
          <p:cNvSpPr txBox="1"/>
          <p:nvPr/>
        </p:nvSpPr>
        <p:spPr>
          <a:xfrm>
            <a:off x="824788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7" name="Text 35"/>
          <p:cNvSpPr txBox="1"/>
          <p:nvPr/>
        </p:nvSpPr>
        <p:spPr>
          <a:xfrm>
            <a:off x="824788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would immediacy look like here?</a:t>
            </a:r>
            <a:endParaRPr lang="en-US" sz="920" dirty="0"/>
          </a:p>
        </p:txBody>
      </p:sp>
      <p:sp>
        <p:nvSpPr>
          <p:cNvPr id="38" name="Shape 36"/>
          <p:cNvSpPr/>
          <p:nvPr/>
        </p:nvSpPr>
        <p:spPr>
          <a:xfrm>
            <a:off x="8247888" y="5248656"/>
            <a:ext cx="2916936" cy="91"/>
          </a:xfrm>
          <a:prstGeom prst="line">
            <a:avLst/>
          </a:prstGeom>
          <a:noFill/>
          <a:ln w="3810">
            <a:solidFill>
              <a:srgbClr val="D9CDB7">
                <a:alpha val="75000"/>
              </a:srgbClr>
            </a:solidFill>
            <a:prstDash val="sysDot"/>
            <a:headEnd type="none"/>
            <a:tailEnd type="none"/>
          </a:ln>
        </p:spPr>
      </p:sp>
      <p:sp>
        <p:nvSpPr>
          <p:cNvPr id="39" name="Shape 37"/>
          <p:cNvSpPr/>
          <p:nvPr/>
        </p:nvSpPr>
        <p:spPr>
          <a:xfrm>
            <a:off x="8247888" y="5468112"/>
            <a:ext cx="2916936" cy="91"/>
          </a:xfrm>
          <a:prstGeom prst="line">
            <a:avLst/>
          </a:prstGeom>
          <a:noFill/>
          <a:ln w="3810">
            <a:solidFill>
              <a:srgbClr val="D9CDB7">
                <a:alpha val="75000"/>
              </a:srgbClr>
            </a:solidFill>
            <a:prstDash val="sysDot"/>
            <a:headEnd type="none"/>
            <a:tailEnd type="none"/>
          </a:ln>
        </p:spPr>
      </p:sp>
      <p:sp>
        <p:nvSpPr>
          <p:cNvPr id="40" name="Text 38"/>
          <p:cNvSpPr txBox="1"/>
          <p:nvPr/>
        </p:nvSpPr>
        <p:spPr>
          <a:xfrm>
            <a:off x="822960" y="5742432"/>
            <a:ext cx="9875520" cy="244729"/>
          </a:xfrm>
          <a:prstGeom prst="rect">
            <a:avLst/>
          </a:prstGeom>
          <a:noFill/>
          <a:ln/>
        </p:spPr>
        <p:txBody>
          <a:bodyPr wrap="square" lIns="0" tIns="0" rIns="0" bIns="0" rtlCol="0" anchor="t"/>
          <a:lstStyle/>
          <a:p>
            <a:pPr algn="l" indent="0" marL="0">
              <a:lnSpc>
                <a:spcPts val="1107"/>
              </a:lnSpc>
              <a:buNone/>
            </a:pPr>
            <a:r>
              <a:rPr lang="en-US" sz="820" i="1" dirty="0">
                <a:solidFill>
                  <a:srgbClr val="8B8375"/>
                </a:solidFill>
                <a:latin typeface="Calibri" pitchFamily="34" charset="0"/>
                <a:ea typeface="Calibri" pitchFamily="34" charset="-122"/>
                <a:cs typeface="Calibri" pitchFamily="34" charset="-120"/>
              </a:rPr>
              <a:t>Discuss in seminar · bring one formulation to supervision.</a:t>
            </a:r>
            <a:endParaRPr lang="en-US" sz="82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07 · PHASE II — THEORETICAL CARTOGRAPHY</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07</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Postmodern and Constructivist</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Turns</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476377"/>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If meaning is made in language, what is therapy making?</a:t>
            </a:r>
            <a:endParaRPr lang="en-US" sz="1550" dirty="0"/>
          </a:p>
        </p:txBody>
      </p:sp>
      <p:sp>
        <p:nvSpPr>
          <p:cNvPr id="8" name="Shape 6"/>
          <p:cNvSpPr/>
          <p:nvPr/>
        </p:nvSpPr>
        <p:spPr>
          <a:xfrm>
            <a:off x="822960" y="3911219"/>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Meaning as the material of therapy</a:t>
            </a:r>
            <a:endParaRPr lang="en-US" sz="850" dirty="0"/>
          </a:p>
        </p:txBody>
      </p:sp>
      <p:sp>
        <p:nvSpPr>
          <p:cNvPr id="11" name="Text 9"/>
          <p:cNvSpPr txBox="1"/>
          <p:nvPr/>
        </p:nvSpPr>
        <p:spPr>
          <a:xfrm>
            <a:off x="3282696"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Two epistemologies, held side by side</a:t>
            </a:r>
            <a:endParaRPr lang="en-US" sz="850" dirty="0"/>
          </a:p>
        </p:txBody>
      </p:sp>
      <p:sp>
        <p:nvSpPr>
          <p:cNvPr id="13" name="Text 11"/>
          <p:cNvSpPr txBox="1"/>
          <p:nvPr/>
        </p:nvSpPr>
        <p:spPr>
          <a:xfrm>
            <a:off x="5742432"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CLINICAL CASE</a:t>
            </a:r>
            <a:endParaRPr lang="en-US" sz="620" dirty="0"/>
          </a:p>
        </p:txBody>
      </p:sp>
      <p:sp>
        <p:nvSpPr>
          <p:cNvPr id="14" name="Text 12"/>
          <p:cNvSpPr txBox="1"/>
          <p:nvPr/>
        </p:nvSpPr>
        <p:spPr>
          <a:xfrm>
            <a:off x="5742432"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Externalising a diagnosis</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Compare first-order systemic and postmodern</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practice.</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Describe solution-focused and narrative methods.</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Use an externalising question in a role-play.</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social constructionism · externalising · exception · not-knowing · reflecting team</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White &amp; Epston (1990), ch. 2–4 · de Shazer (1985) · Andersen (1991)</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96733C"/>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96733C"/>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96733C"/>
          </a:solidFill>
          <a:ln w="12700">
            <a:solidFill>
              <a:srgbClr val="FFFFFF">
                <a:alpha val="0"/>
              </a:srgbClr>
            </a:solidFill>
            <a:prstDash val="solid"/>
          </a:ln>
        </p:spPr>
      </p:sp>
      <p:sp>
        <p:nvSpPr>
          <p:cNvPr id="33" name="Shape 31"/>
          <p:cNvSpPr/>
          <p:nvPr/>
        </p:nvSpPr>
        <p:spPr>
          <a:xfrm>
            <a:off x="4965192" y="5696712"/>
            <a:ext cx="128016" cy="128016"/>
          </a:xfrm>
          <a:prstGeom prst="ellipse">
            <a:avLst/>
          </a:prstGeom>
          <a:solidFill>
            <a:srgbClr val="C2A05F"/>
          </a:solidFill>
          <a:ln w="8890">
            <a:solidFill>
              <a:srgbClr val="E7D3A9"/>
            </a:solidFill>
            <a:prstDash val="solid"/>
          </a:ln>
        </p:spPr>
      </p:sp>
      <p:sp>
        <p:nvSpPr>
          <p:cNvPr id="34" name="Shape 32"/>
          <p:cNvSpPr/>
          <p:nvPr/>
        </p:nvSpPr>
        <p:spPr>
          <a:xfrm>
            <a:off x="5700979" y="5731459"/>
            <a:ext cx="58522" cy="58522"/>
          </a:xfrm>
          <a:prstGeom prst="ellipse">
            <a:avLst/>
          </a:prstGeom>
          <a:solidFill>
            <a:srgbClr val="1E1913"/>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1E1913"/>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1E1913"/>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1E1913"/>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1E1913"/>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1E1913"/>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1E1913"/>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33</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07 · LECTURE 07</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34</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Meaning as the material of therapy</a:t>
            </a:r>
            <a:endParaRPr lang="en-US" sz="2800" dirty="0"/>
          </a:p>
        </p:txBody>
      </p:sp>
      <p:sp>
        <p:nvSpPr>
          <p:cNvPr id="9" name="Text 7"/>
          <p:cNvSpPr txBox="1"/>
          <p:nvPr/>
        </p:nvSpPr>
        <p:spPr>
          <a:xfrm>
            <a:off x="822960" y="1486408"/>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Postmodern practice shifted the therapist’s authority from diagnosis to curiosity — and made the family’s language the</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central clinical material.</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MILAN SYSTEMIC</a:t>
            </a:r>
            <a:endParaRPr lang="en-US" sz="750" dirty="0"/>
          </a:p>
        </p:txBody>
      </p:sp>
      <p:sp>
        <p:nvSpPr>
          <p:cNvPr id="13" name="Text 11"/>
          <p:cNvSpPr txBox="1"/>
          <p:nvPr/>
        </p:nvSpPr>
        <p:spPr>
          <a:xfrm>
            <a:off x="82296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Hypothesising, circularity and neutrality: the team’s ideas are</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provisional, and difference is the engine of change.</a:t>
            </a:r>
            <a:endParaRPr lang="en-US" sz="900" dirty="0"/>
          </a:p>
        </p:txBody>
      </p:sp>
      <p:sp>
        <p:nvSpPr>
          <p:cNvPr id="14" name="Shape 12"/>
          <p:cNvSpPr/>
          <p:nvPr/>
        </p:nvSpPr>
        <p:spPr>
          <a:xfrm>
            <a:off x="822960" y="3364992"/>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Hypotheses are held, not owned</a:t>
            </a:r>
            <a:endParaRPr lang="en-US" sz="880" dirty="0"/>
          </a:p>
        </p:txBody>
      </p:sp>
      <p:sp>
        <p:nvSpPr>
          <p:cNvPr id="16" name="Shape 14"/>
          <p:cNvSpPr/>
          <p:nvPr/>
        </p:nvSpPr>
        <p:spPr>
          <a:xfrm>
            <a:off x="822960" y="3610661"/>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Circular questions reveal difference</a:t>
            </a:r>
            <a:endParaRPr lang="en-US" sz="880" dirty="0"/>
          </a:p>
        </p:txBody>
      </p:sp>
      <p:sp>
        <p:nvSpPr>
          <p:cNvPr id="18" name="Shape 16"/>
          <p:cNvSpPr/>
          <p:nvPr/>
        </p:nvSpPr>
        <p:spPr>
          <a:xfrm>
            <a:off x="822960" y="3856330"/>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Neutrality is curiosity in action</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SOLUTION-FOCUSED</a:t>
            </a:r>
            <a:endParaRPr lang="en-US" sz="750" dirty="0"/>
          </a:p>
        </p:txBody>
      </p:sp>
      <p:sp>
        <p:nvSpPr>
          <p:cNvPr id="23" name="Text 21"/>
          <p:cNvSpPr txBox="1"/>
          <p:nvPr/>
        </p:nvSpPr>
        <p:spPr>
          <a:xfrm>
            <a:off x="446532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Problems have exceptions; change is already occurring. The miracle</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question, scaling and exception-finding orient the family toward what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already works.</a:t>
            </a:r>
            <a:endParaRPr lang="en-US" sz="900" dirty="0"/>
          </a:p>
        </p:txBody>
      </p:sp>
      <p:sp>
        <p:nvSpPr>
          <p:cNvPr id="24" name="Shape 22"/>
          <p:cNvSpPr/>
          <p:nvPr/>
        </p:nvSpPr>
        <p:spPr>
          <a:xfrm>
            <a:off x="4465320" y="3529584"/>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Assume competence</a:t>
            </a:r>
            <a:endParaRPr lang="en-US" sz="880" dirty="0"/>
          </a:p>
        </p:txBody>
      </p:sp>
      <p:sp>
        <p:nvSpPr>
          <p:cNvPr id="26" name="Shape 24"/>
          <p:cNvSpPr/>
          <p:nvPr/>
        </p:nvSpPr>
        <p:spPr>
          <a:xfrm>
            <a:off x="4465320" y="3775253"/>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Amplify exceptions</a:t>
            </a:r>
            <a:endParaRPr lang="en-US" sz="880" dirty="0"/>
          </a:p>
        </p:txBody>
      </p:sp>
      <p:sp>
        <p:nvSpPr>
          <p:cNvPr id="28" name="Shape 26"/>
          <p:cNvSpPr/>
          <p:nvPr/>
        </p:nvSpPr>
        <p:spPr>
          <a:xfrm>
            <a:off x="4465320" y="4020922"/>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Small change is enough to begin</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NARRATIVE</a:t>
            </a:r>
            <a:endParaRPr lang="en-US" sz="750" dirty="0"/>
          </a:p>
        </p:txBody>
      </p:sp>
      <p:sp>
        <p:nvSpPr>
          <p:cNvPr id="33" name="Text 31"/>
          <p:cNvSpPr txBox="1"/>
          <p:nvPr/>
        </p:nvSpPr>
        <p:spPr>
          <a:xfrm>
            <a:off x="810768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Problems are stories, not essences. Externalising separates the person</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from the problem; unique outcomes open a preferred story.</a:t>
            </a:r>
            <a:endParaRPr lang="en-US" sz="900" dirty="0"/>
          </a:p>
        </p:txBody>
      </p:sp>
      <p:sp>
        <p:nvSpPr>
          <p:cNvPr id="34" name="Shape 32"/>
          <p:cNvSpPr/>
          <p:nvPr/>
        </p:nvSpPr>
        <p:spPr>
          <a:xfrm>
            <a:off x="8107680" y="3364992"/>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“The anxiety visits you” rather than “you are anxious”</a:t>
            </a:r>
            <a:endParaRPr lang="en-US" sz="880" dirty="0"/>
          </a:p>
        </p:txBody>
      </p:sp>
      <p:sp>
        <p:nvSpPr>
          <p:cNvPr id="36" name="Shape 34"/>
          <p:cNvSpPr/>
          <p:nvPr/>
        </p:nvSpPr>
        <p:spPr>
          <a:xfrm>
            <a:off x="8107680" y="3610661"/>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Deconstruct the dominant story</a:t>
            </a:r>
            <a:endParaRPr lang="en-US" sz="880" dirty="0"/>
          </a:p>
        </p:txBody>
      </p:sp>
      <p:sp>
        <p:nvSpPr>
          <p:cNvPr id="38" name="Shape 36"/>
          <p:cNvSpPr/>
          <p:nvPr/>
        </p:nvSpPr>
        <p:spPr>
          <a:xfrm>
            <a:off x="8107680" y="3856330"/>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Re-author in the family’s own language</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CRITIQUE</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Not-knowing is not ignorance</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The therapist remains accountable for power, ethics and outcome. Curiosity does not suspend responsibility for</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safety.</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397637"/>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Selvini Palazzoli et al. (1978); de Shazer</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(1985); White &amp; Epston (1990); Andersen</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(1991).</a:t>
            </a:r>
            <a:endParaRPr lang="en-US" sz="62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07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35</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Two epistemologies, held side by side</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The distinction is not a war. Most contemporary practitioners move between these positions within a single session.</a:t>
            </a:r>
            <a:endParaRPr lang="en-US" sz="1060" dirty="0"/>
          </a:p>
        </p:txBody>
      </p:sp>
      <p:sp>
        <p:nvSpPr>
          <p:cNvPr id="10" name="Text 8"/>
          <p:cNvSpPr txBox="1"/>
          <p:nvPr/>
        </p:nvSpPr>
        <p:spPr>
          <a:xfrm>
            <a:off x="3200400" y="1901952"/>
            <a:ext cx="4059936" cy="447675"/>
          </a:xfrm>
          <a:prstGeom prst="rect">
            <a:avLst/>
          </a:prstGeom>
          <a:noFill/>
          <a:ln/>
        </p:spPr>
        <p:txBody>
          <a:bodyPr wrap="square" lIns="0" tIns="0" rIns="0" bIns="0" rtlCol="0" anchor="t"/>
          <a:lstStyle/>
          <a:p>
            <a:pPr algn="l" indent="0" marL="0">
              <a:lnSpc>
                <a:spcPts val="2025"/>
              </a:lnSpc>
              <a:buNone/>
            </a:pPr>
            <a:r>
              <a:rPr lang="en-US" sz="1500" dirty="0">
                <a:solidFill>
                  <a:srgbClr val="1B1815"/>
                </a:solidFill>
                <a:latin typeface="Georgia" pitchFamily="34" charset="0"/>
                <a:ea typeface="Georgia" pitchFamily="34" charset="-122"/>
                <a:cs typeface="Georgia" pitchFamily="34" charset="-120"/>
              </a:rPr>
              <a:t>First-order systemic</a:t>
            </a:r>
            <a:endParaRPr lang="en-US" sz="1500" dirty="0"/>
          </a:p>
        </p:txBody>
      </p:sp>
      <p:sp>
        <p:nvSpPr>
          <p:cNvPr id="11" name="Text 9"/>
          <p:cNvSpPr txBox="1"/>
          <p:nvPr/>
        </p:nvSpPr>
        <p:spPr>
          <a:xfrm>
            <a:off x="7260336" y="1901952"/>
            <a:ext cx="4059936" cy="447675"/>
          </a:xfrm>
          <a:prstGeom prst="rect">
            <a:avLst/>
          </a:prstGeom>
          <a:noFill/>
          <a:ln/>
        </p:spPr>
        <p:txBody>
          <a:bodyPr wrap="square" lIns="0" tIns="0" rIns="0" bIns="0" rtlCol="0" anchor="t"/>
          <a:lstStyle/>
          <a:p>
            <a:pPr algn="l" indent="0" marL="0">
              <a:lnSpc>
                <a:spcPts val="2025"/>
              </a:lnSpc>
              <a:buNone/>
            </a:pPr>
            <a:r>
              <a:rPr lang="en-US" sz="1500" dirty="0">
                <a:solidFill>
                  <a:srgbClr val="1B1815"/>
                </a:solidFill>
                <a:latin typeface="Georgia" pitchFamily="34" charset="0"/>
                <a:ea typeface="Georgia" pitchFamily="34" charset="-122"/>
                <a:cs typeface="Georgia" pitchFamily="34" charset="-120"/>
              </a:rPr>
              <a:t>Postmodern / constructivist</a:t>
            </a:r>
            <a:endParaRPr lang="en-US" sz="1500" dirty="0"/>
          </a:p>
        </p:txBody>
      </p:sp>
      <p:sp>
        <p:nvSpPr>
          <p:cNvPr id="12" name="Shape 10"/>
          <p:cNvSpPr/>
          <p:nvPr/>
        </p:nvSpPr>
        <p:spPr>
          <a:xfrm>
            <a:off x="3200400" y="2286000"/>
            <a:ext cx="8165592" cy="91"/>
          </a:xfrm>
          <a:prstGeom prst="line">
            <a:avLst/>
          </a:prstGeom>
          <a:noFill/>
          <a:ln w="11430">
            <a:solidFill>
              <a:srgbClr val="C2A05F"/>
            </a:solidFill>
            <a:prstDash val="solid"/>
            <a:headEnd type="none"/>
            <a:tailEnd type="none"/>
          </a:ln>
        </p:spPr>
      </p:sp>
      <p:sp>
        <p:nvSpPr>
          <p:cNvPr id="13" name="Shape 11"/>
          <p:cNvSpPr/>
          <p:nvPr/>
        </p:nvSpPr>
        <p:spPr>
          <a:xfrm>
            <a:off x="914400" y="2395728"/>
            <a:ext cx="10451592" cy="640080"/>
          </a:xfrm>
          <a:prstGeom prst="rect">
            <a:avLst/>
          </a:prstGeom>
          <a:solidFill>
            <a:srgbClr val="EFE5D3">
              <a:alpha val="28000"/>
            </a:srgbClr>
          </a:solidFill>
          <a:ln w="12700">
            <a:solidFill>
              <a:srgbClr val="FFFFFF">
                <a:alpha val="0"/>
              </a:srgbClr>
            </a:solidFill>
            <a:prstDash val="solid"/>
          </a:ln>
        </p:spPr>
      </p:sp>
      <p:sp>
        <p:nvSpPr>
          <p:cNvPr id="14" name="Text 12"/>
          <p:cNvSpPr txBox="1"/>
          <p:nvPr/>
        </p:nvSpPr>
        <p:spPr>
          <a:xfrm>
            <a:off x="914400" y="2514600"/>
            <a:ext cx="2057400" cy="250698"/>
          </a:xfrm>
          <a:prstGeom prst="rect">
            <a:avLst/>
          </a:prstGeom>
          <a:noFill/>
          <a:ln/>
        </p:spPr>
        <p:txBody>
          <a:bodyPr wrap="square" lIns="0" tIns="0" rIns="0" bIns="0" rtlCol="0" anchor="t"/>
          <a:lstStyle/>
          <a:p>
            <a:pPr algn="l" indent="0" marL="0">
              <a:lnSpc>
                <a:spcPts val="1134"/>
              </a:lnSpc>
              <a:buNone/>
            </a:pPr>
            <a:r>
              <a:rPr lang="en-US" sz="840" b="1" spc="90" kern="0" dirty="0">
                <a:solidFill>
                  <a:srgbClr val="96733C"/>
                </a:solidFill>
                <a:latin typeface="Calibri" pitchFamily="34" charset="0"/>
                <a:ea typeface="Calibri" pitchFamily="34" charset="-122"/>
                <a:cs typeface="Calibri" pitchFamily="34" charset="-120"/>
              </a:rPr>
              <a:t>LOCUS OF MEANING</a:t>
            </a:r>
            <a:endParaRPr lang="en-US" sz="840" dirty="0"/>
          </a:p>
        </p:txBody>
      </p:sp>
      <p:sp>
        <p:nvSpPr>
          <p:cNvPr id="15" name="Text 13"/>
          <p:cNvSpPr txBox="1"/>
          <p:nvPr/>
        </p:nvSpPr>
        <p:spPr>
          <a:xfrm>
            <a:off x="3200400" y="2468880"/>
            <a:ext cx="3877056" cy="251206"/>
          </a:xfrm>
          <a:prstGeom prst="rect">
            <a:avLst/>
          </a:prstGeom>
          <a:noFill/>
          <a:ln/>
        </p:spPr>
        <p:txBody>
          <a:bodyPr wrap="square" lIns="0" tIns="0" rIns="0" bIns="0" rtlCol="0" anchor="t"/>
          <a:lstStyle/>
          <a:p>
            <a:pPr algn="l" indent="0" marL="0">
              <a:lnSpc>
                <a:spcPts val="1118"/>
              </a:lnSpc>
              <a:buNone/>
            </a:pPr>
            <a:r>
              <a:rPr lang="en-US" sz="860" dirty="0">
                <a:solidFill>
                  <a:srgbClr val="3F3A33"/>
                </a:solidFill>
                <a:latin typeface="Calibri" pitchFamily="34" charset="0"/>
                <a:ea typeface="Calibri" pitchFamily="34" charset="-122"/>
                <a:cs typeface="Calibri" pitchFamily="34" charset="-120"/>
              </a:rPr>
              <a:t>In structure and interaction patterns observable by the therapist</a:t>
            </a:r>
            <a:endParaRPr lang="en-US" sz="860" dirty="0"/>
          </a:p>
        </p:txBody>
      </p:sp>
      <p:sp>
        <p:nvSpPr>
          <p:cNvPr id="16" name="Text 14"/>
          <p:cNvSpPr txBox="1"/>
          <p:nvPr/>
        </p:nvSpPr>
        <p:spPr>
          <a:xfrm>
            <a:off x="7260336" y="2468880"/>
            <a:ext cx="3877056" cy="251206"/>
          </a:xfrm>
          <a:prstGeom prst="rect">
            <a:avLst/>
          </a:prstGeom>
          <a:noFill/>
          <a:ln/>
        </p:spPr>
        <p:txBody>
          <a:bodyPr wrap="square" lIns="0" tIns="0" rIns="0" bIns="0" rtlCol="0" anchor="t"/>
          <a:lstStyle/>
          <a:p>
            <a:pPr algn="l" indent="0" marL="0">
              <a:lnSpc>
                <a:spcPts val="1118"/>
              </a:lnSpc>
              <a:buNone/>
            </a:pPr>
            <a:r>
              <a:rPr lang="en-US" sz="860" dirty="0">
                <a:solidFill>
                  <a:srgbClr val="3F3A33"/>
                </a:solidFill>
                <a:latin typeface="Calibri" pitchFamily="34" charset="0"/>
                <a:ea typeface="Calibri" pitchFamily="34" charset="-122"/>
                <a:cs typeface="Calibri" pitchFamily="34" charset="-120"/>
              </a:rPr>
              <a:t>In language, story and relationship; meanings are co-created</a:t>
            </a:r>
            <a:endParaRPr lang="en-US" sz="860" dirty="0"/>
          </a:p>
        </p:txBody>
      </p:sp>
      <p:sp>
        <p:nvSpPr>
          <p:cNvPr id="17" name="Shape 15"/>
          <p:cNvSpPr/>
          <p:nvPr/>
        </p:nvSpPr>
        <p:spPr>
          <a:xfrm>
            <a:off x="914400" y="3035808"/>
            <a:ext cx="10451592" cy="91"/>
          </a:xfrm>
          <a:prstGeom prst="line">
            <a:avLst/>
          </a:prstGeom>
          <a:noFill/>
          <a:ln w="6350">
            <a:solidFill>
              <a:srgbClr val="D9CDB7">
                <a:alpha val="70000"/>
              </a:srgbClr>
            </a:solidFill>
            <a:prstDash val="solid"/>
            <a:headEnd type="none"/>
            <a:tailEnd type="none"/>
          </a:ln>
        </p:spPr>
      </p:sp>
      <p:sp>
        <p:nvSpPr>
          <p:cNvPr id="18" name="Text 16"/>
          <p:cNvSpPr txBox="1"/>
          <p:nvPr/>
        </p:nvSpPr>
        <p:spPr>
          <a:xfrm>
            <a:off x="914400" y="3191256"/>
            <a:ext cx="2057400" cy="250698"/>
          </a:xfrm>
          <a:prstGeom prst="rect">
            <a:avLst/>
          </a:prstGeom>
          <a:noFill/>
          <a:ln/>
        </p:spPr>
        <p:txBody>
          <a:bodyPr wrap="square" lIns="0" tIns="0" rIns="0" bIns="0" rtlCol="0" anchor="t"/>
          <a:lstStyle/>
          <a:p>
            <a:pPr algn="l" indent="0" marL="0">
              <a:lnSpc>
                <a:spcPts val="1134"/>
              </a:lnSpc>
              <a:buNone/>
            </a:pPr>
            <a:r>
              <a:rPr lang="en-US" sz="840" b="1" spc="90" kern="0" dirty="0">
                <a:solidFill>
                  <a:srgbClr val="96733C"/>
                </a:solidFill>
                <a:latin typeface="Calibri" pitchFamily="34" charset="0"/>
                <a:ea typeface="Calibri" pitchFamily="34" charset="-122"/>
                <a:cs typeface="Calibri" pitchFamily="34" charset="-120"/>
              </a:rPr>
              <a:t>THERAPIST STANCE</a:t>
            </a:r>
            <a:endParaRPr lang="en-US" sz="840" dirty="0"/>
          </a:p>
        </p:txBody>
      </p:sp>
      <p:sp>
        <p:nvSpPr>
          <p:cNvPr id="19" name="Text 17"/>
          <p:cNvSpPr txBox="1"/>
          <p:nvPr/>
        </p:nvSpPr>
        <p:spPr>
          <a:xfrm>
            <a:off x="3200400" y="3145536"/>
            <a:ext cx="3877056" cy="251206"/>
          </a:xfrm>
          <a:prstGeom prst="rect">
            <a:avLst/>
          </a:prstGeom>
          <a:noFill/>
          <a:ln/>
        </p:spPr>
        <p:txBody>
          <a:bodyPr wrap="square" lIns="0" tIns="0" rIns="0" bIns="0" rtlCol="0" anchor="t"/>
          <a:lstStyle/>
          <a:p>
            <a:pPr algn="l" indent="0" marL="0">
              <a:lnSpc>
                <a:spcPts val="1118"/>
              </a:lnSpc>
              <a:buNone/>
            </a:pPr>
            <a:r>
              <a:rPr lang="en-US" sz="860" dirty="0">
                <a:solidFill>
                  <a:srgbClr val="3F3A33"/>
                </a:solidFill>
                <a:latin typeface="Calibri" pitchFamily="34" charset="0"/>
                <a:ea typeface="Calibri" pitchFamily="34" charset="-122"/>
                <a:cs typeface="Calibri" pitchFamily="34" charset="-120"/>
              </a:rPr>
              <a:t>Expert observer and agent of change</a:t>
            </a:r>
            <a:endParaRPr lang="en-US" sz="860" dirty="0"/>
          </a:p>
        </p:txBody>
      </p:sp>
      <p:sp>
        <p:nvSpPr>
          <p:cNvPr id="20" name="Text 18"/>
          <p:cNvSpPr txBox="1"/>
          <p:nvPr/>
        </p:nvSpPr>
        <p:spPr>
          <a:xfrm>
            <a:off x="7260336" y="3145536"/>
            <a:ext cx="3877056" cy="251206"/>
          </a:xfrm>
          <a:prstGeom prst="rect">
            <a:avLst/>
          </a:prstGeom>
          <a:noFill/>
          <a:ln/>
        </p:spPr>
        <p:txBody>
          <a:bodyPr wrap="square" lIns="0" tIns="0" rIns="0" bIns="0" rtlCol="0" anchor="t"/>
          <a:lstStyle/>
          <a:p>
            <a:pPr algn="l" indent="0" marL="0">
              <a:lnSpc>
                <a:spcPts val="1118"/>
              </a:lnSpc>
              <a:buNone/>
            </a:pPr>
            <a:r>
              <a:rPr lang="en-US" sz="860" dirty="0">
                <a:solidFill>
                  <a:srgbClr val="3F3A33"/>
                </a:solidFill>
                <a:latin typeface="Calibri" pitchFamily="34" charset="0"/>
                <a:ea typeface="Calibri" pitchFamily="34" charset="-122"/>
                <a:cs typeface="Calibri" pitchFamily="34" charset="-120"/>
              </a:rPr>
              <a:t>Curious co-author; not-knowing</a:t>
            </a:r>
            <a:endParaRPr lang="en-US" sz="860" dirty="0"/>
          </a:p>
        </p:txBody>
      </p:sp>
      <p:sp>
        <p:nvSpPr>
          <p:cNvPr id="21" name="Shape 19"/>
          <p:cNvSpPr/>
          <p:nvPr/>
        </p:nvSpPr>
        <p:spPr>
          <a:xfrm>
            <a:off x="914400" y="3712464"/>
            <a:ext cx="10451592" cy="91"/>
          </a:xfrm>
          <a:prstGeom prst="line">
            <a:avLst/>
          </a:prstGeom>
          <a:noFill/>
          <a:ln w="6350">
            <a:solidFill>
              <a:srgbClr val="D9CDB7">
                <a:alpha val="70000"/>
              </a:srgbClr>
            </a:solidFill>
            <a:prstDash val="solid"/>
            <a:headEnd type="none"/>
            <a:tailEnd type="none"/>
          </a:ln>
        </p:spPr>
      </p:sp>
      <p:sp>
        <p:nvSpPr>
          <p:cNvPr id="22" name="Shape 20"/>
          <p:cNvSpPr/>
          <p:nvPr/>
        </p:nvSpPr>
        <p:spPr>
          <a:xfrm>
            <a:off x="914400" y="3749040"/>
            <a:ext cx="10451592" cy="640080"/>
          </a:xfrm>
          <a:prstGeom prst="rect">
            <a:avLst/>
          </a:prstGeom>
          <a:solidFill>
            <a:srgbClr val="EFE5D3">
              <a:alpha val="28000"/>
            </a:srgbClr>
          </a:solidFill>
          <a:ln w="12700">
            <a:solidFill>
              <a:srgbClr val="FFFFFF">
                <a:alpha val="0"/>
              </a:srgbClr>
            </a:solidFill>
            <a:prstDash val="solid"/>
          </a:ln>
        </p:spPr>
      </p:sp>
      <p:sp>
        <p:nvSpPr>
          <p:cNvPr id="23" name="Text 21"/>
          <p:cNvSpPr txBox="1"/>
          <p:nvPr/>
        </p:nvSpPr>
        <p:spPr>
          <a:xfrm>
            <a:off x="914400" y="3867912"/>
            <a:ext cx="2057400" cy="250698"/>
          </a:xfrm>
          <a:prstGeom prst="rect">
            <a:avLst/>
          </a:prstGeom>
          <a:noFill/>
          <a:ln/>
        </p:spPr>
        <p:txBody>
          <a:bodyPr wrap="square" lIns="0" tIns="0" rIns="0" bIns="0" rtlCol="0" anchor="t"/>
          <a:lstStyle/>
          <a:p>
            <a:pPr algn="l" indent="0" marL="0">
              <a:lnSpc>
                <a:spcPts val="1134"/>
              </a:lnSpc>
              <a:buNone/>
            </a:pPr>
            <a:r>
              <a:rPr lang="en-US" sz="840" b="1" spc="90" kern="0" dirty="0">
                <a:solidFill>
                  <a:srgbClr val="96733C"/>
                </a:solidFill>
                <a:latin typeface="Calibri" pitchFamily="34" charset="0"/>
                <a:ea typeface="Calibri" pitchFamily="34" charset="-122"/>
                <a:cs typeface="Calibri" pitchFamily="34" charset="-120"/>
              </a:rPr>
              <a:t>USE OF DIAGNOSIS</a:t>
            </a:r>
            <a:endParaRPr lang="en-US" sz="840" dirty="0"/>
          </a:p>
        </p:txBody>
      </p:sp>
      <p:sp>
        <p:nvSpPr>
          <p:cNvPr id="24" name="Text 22"/>
          <p:cNvSpPr txBox="1"/>
          <p:nvPr/>
        </p:nvSpPr>
        <p:spPr>
          <a:xfrm>
            <a:off x="3200400" y="3822192"/>
            <a:ext cx="3877056" cy="251206"/>
          </a:xfrm>
          <a:prstGeom prst="rect">
            <a:avLst/>
          </a:prstGeom>
          <a:noFill/>
          <a:ln/>
        </p:spPr>
        <p:txBody>
          <a:bodyPr wrap="square" lIns="0" tIns="0" rIns="0" bIns="0" rtlCol="0" anchor="t"/>
          <a:lstStyle/>
          <a:p>
            <a:pPr algn="l" indent="0" marL="0">
              <a:lnSpc>
                <a:spcPts val="1118"/>
              </a:lnSpc>
              <a:buNone/>
            </a:pPr>
            <a:r>
              <a:rPr lang="en-US" sz="860" dirty="0">
                <a:solidFill>
                  <a:srgbClr val="3F3A33"/>
                </a:solidFill>
                <a:latin typeface="Calibri" pitchFamily="34" charset="0"/>
                <a:ea typeface="Calibri" pitchFamily="34" charset="-122"/>
                <a:cs typeface="Calibri" pitchFamily="34" charset="-120"/>
              </a:rPr>
              <a:t>Descriptive; guides systemic intervention</a:t>
            </a:r>
            <a:endParaRPr lang="en-US" sz="860" dirty="0"/>
          </a:p>
        </p:txBody>
      </p:sp>
      <p:sp>
        <p:nvSpPr>
          <p:cNvPr id="25" name="Text 23"/>
          <p:cNvSpPr txBox="1"/>
          <p:nvPr/>
        </p:nvSpPr>
        <p:spPr>
          <a:xfrm>
            <a:off x="7260336" y="3822192"/>
            <a:ext cx="3877056" cy="251206"/>
          </a:xfrm>
          <a:prstGeom prst="rect">
            <a:avLst/>
          </a:prstGeom>
          <a:noFill/>
          <a:ln/>
        </p:spPr>
        <p:txBody>
          <a:bodyPr wrap="square" lIns="0" tIns="0" rIns="0" bIns="0" rtlCol="0" anchor="t"/>
          <a:lstStyle/>
          <a:p>
            <a:pPr algn="l" indent="0" marL="0">
              <a:lnSpc>
                <a:spcPts val="1118"/>
              </a:lnSpc>
              <a:buNone/>
            </a:pPr>
            <a:r>
              <a:rPr lang="en-US" sz="860" dirty="0">
                <a:solidFill>
                  <a:srgbClr val="3F3A33"/>
                </a:solidFill>
                <a:latin typeface="Calibri" pitchFamily="34" charset="0"/>
                <a:ea typeface="Calibri" pitchFamily="34" charset="-122"/>
                <a:cs typeface="Calibri" pitchFamily="34" charset="-120"/>
              </a:rPr>
              <a:t>Provisional; risks totalising the family</a:t>
            </a:r>
            <a:endParaRPr lang="en-US" sz="860" dirty="0"/>
          </a:p>
        </p:txBody>
      </p:sp>
      <p:sp>
        <p:nvSpPr>
          <p:cNvPr id="26" name="Shape 24"/>
          <p:cNvSpPr/>
          <p:nvPr/>
        </p:nvSpPr>
        <p:spPr>
          <a:xfrm>
            <a:off x="914400" y="4389120"/>
            <a:ext cx="10451592" cy="91"/>
          </a:xfrm>
          <a:prstGeom prst="line">
            <a:avLst/>
          </a:prstGeom>
          <a:noFill/>
          <a:ln w="6350">
            <a:solidFill>
              <a:srgbClr val="D9CDB7">
                <a:alpha val="70000"/>
              </a:srgbClr>
            </a:solidFill>
            <a:prstDash val="solid"/>
            <a:headEnd type="none"/>
            <a:tailEnd type="none"/>
          </a:ln>
        </p:spPr>
      </p:sp>
      <p:sp>
        <p:nvSpPr>
          <p:cNvPr id="27" name="Text 25"/>
          <p:cNvSpPr txBox="1"/>
          <p:nvPr/>
        </p:nvSpPr>
        <p:spPr>
          <a:xfrm>
            <a:off x="914400" y="4544568"/>
            <a:ext cx="2057400" cy="250698"/>
          </a:xfrm>
          <a:prstGeom prst="rect">
            <a:avLst/>
          </a:prstGeom>
          <a:noFill/>
          <a:ln/>
        </p:spPr>
        <p:txBody>
          <a:bodyPr wrap="square" lIns="0" tIns="0" rIns="0" bIns="0" rtlCol="0" anchor="t"/>
          <a:lstStyle/>
          <a:p>
            <a:pPr algn="l" indent="0" marL="0">
              <a:lnSpc>
                <a:spcPts val="1134"/>
              </a:lnSpc>
              <a:buNone/>
            </a:pPr>
            <a:r>
              <a:rPr lang="en-US" sz="840" b="1" spc="90" kern="0" dirty="0">
                <a:solidFill>
                  <a:srgbClr val="96733C"/>
                </a:solidFill>
                <a:latin typeface="Calibri" pitchFamily="34" charset="0"/>
                <a:ea typeface="Calibri" pitchFamily="34" charset="-122"/>
                <a:cs typeface="Calibri" pitchFamily="34" charset="-120"/>
              </a:rPr>
              <a:t>MECHANISM OF CHANGE</a:t>
            </a:r>
            <a:endParaRPr lang="en-US" sz="840" dirty="0"/>
          </a:p>
        </p:txBody>
      </p:sp>
      <p:sp>
        <p:nvSpPr>
          <p:cNvPr id="28" name="Text 26"/>
          <p:cNvSpPr txBox="1"/>
          <p:nvPr/>
        </p:nvSpPr>
        <p:spPr>
          <a:xfrm>
            <a:off x="3200400" y="4498848"/>
            <a:ext cx="3877056" cy="251206"/>
          </a:xfrm>
          <a:prstGeom prst="rect">
            <a:avLst/>
          </a:prstGeom>
          <a:noFill/>
          <a:ln/>
        </p:spPr>
        <p:txBody>
          <a:bodyPr wrap="square" lIns="0" tIns="0" rIns="0" bIns="0" rtlCol="0" anchor="t"/>
          <a:lstStyle/>
          <a:p>
            <a:pPr algn="l" indent="0" marL="0">
              <a:lnSpc>
                <a:spcPts val="1118"/>
              </a:lnSpc>
              <a:buNone/>
            </a:pPr>
            <a:r>
              <a:rPr lang="en-US" sz="860" dirty="0">
                <a:solidFill>
                  <a:srgbClr val="3F3A33"/>
                </a:solidFill>
                <a:latin typeface="Calibri" pitchFamily="34" charset="0"/>
                <a:ea typeface="Calibri" pitchFamily="34" charset="-122"/>
                <a:cs typeface="Calibri" pitchFamily="34" charset="-120"/>
              </a:rPr>
              <a:t>Restructure, reframe, interrupt sequences</a:t>
            </a:r>
            <a:endParaRPr lang="en-US" sz="860" dirty="0"/>
          </a:p>
        </p:txBody>
      </p:sp>
      <p:sp>
        <p:nvSpPr>
          <p:cNvPr id="29" name="Text 27"/>
          <p:cNvSpPr txBox="1"/>
          <p:nvPr/>
        </p:nvSpPr>
        <p:spPr>
          <a:xfrm>
            <a:off x="7260336" y="4498848"/>
            <a:ext cx="3877056" cy="251206"/>
          </a:xfrm>
          <a:prstGeom prst="rect">
            <a:avLst/>
          </a:prstGeom>
          <a:noFill/>
          <a:ln/>
        </p:spPr>
        <p:txBody>
          <a:bodyPr wrap="square" lIns="0" tIns="0" rIns="0" bIns="0" rtlCol="0" anchor="t"/>
          <a:lstStyle/>
          <a:p>
            <a:pPr algn="l" indent="0" marL="0">
              <a:lnSpc>
                <a:spcPts val="1118"/>
              </a:lnSpc>
              <a:buNone/>
            </a:pPr>
            <a:r>
              <a:rPr lang="en-US" sz="860" dirty="0">
                <a:solidFill>
                  <a:srgbClr val="3F3A33"/>
                </a:solidFill>
                <a:latin typeface="Calibri" pitchFamily="34" charset="0"/>
                <a:ea typeface="Calibri" pitchFamily="34" charset="-122"/>
                <a:cs typeface="Calibri" pitchFamily="34" charset="-120"/>
              </a:rPr>
              <a:t>Deconstruct, re-author, open new meanings</a:t>
            </a:r>
            <a:endParaRPr lang="en-US" sz="860" dirty="0"/>
          </a:p>
        </p:txBody>
      </p:sp>
      <p:sp>
        <p:nvSpPr>
          <p:cNvPr id="30" name="Shape 28"/>
          <p:cNvSpPr/>
          <p:nvPr/>
        </p:nvSpPr>
        <p:spPr>
          <a:xfrm>
            <a:off x="914400" y="5065776"/>
            <a:ext cx="10451592" cy="91"/>
          </a:xfrm>
          <a:prstGeom prst="line">
            <a:avLst/>
          </a:prstGeom>
          <a:noFill/>
          <a:ln w="6350">
            <a:solidFill>
              <a:srgbClr val="D9CDB7">
                <a:alpha val="70000"/>
              </a:srgbClr>
            </a:solidFill>
            <a:prstDash val="solid"/>
            <a:headEnd type="none"/>
            <a:tailEnd type="none"/>
          </a:ln>
        </p:spPr>
      </p:sp>
      <p:sp>
        <p:nvSpPr>
          <p:cNvPr id="31" name="Shape 29"/>
          <p:cNvSpPr/>
          <p:nvPr/>
        </p:nvSpPr>
        <p:spPr>
          <a:xfrm>
            <a:off x="914400" y="5102352"/>
            <a:ext cx="10451592" cy="640080"/>
          </a:xfrm>
          <a:prstGeom prst="rect">
            <a:avLst/>
          </a:prstGeom>
          <a:solidFill>
            <a:srgbClr val="EFE5D3">
              <a:alpha val="28000"/>
            </a:srgbClr>
          </a:solidFill>
          <a:ln w="12700">
            <a:solidFill>
              <a:srgbClr val="FFFFFF">
                <a:alpha val="0"/>
              </a:srgbClr>
            </a:solidFill>
            <a:prstDash val="solid"/>
          </a:ln>
        </p:spPr>
      </p:sp>
      <p:sp>
        <p:nvSpPr>
          <p:cNvPr id="32" name="Text 30"/>
          <p:cNvSpPr txBox="1"/>
          <p:nvPr/>
        </p:nvSpPr>
        <p:spPr>
          <a:xfrm>
            <a:off x="914400" y="5221224"/>
            <a:ext cx="2057400" cy="250698"/>
          </a:xfrm>
          <a:prstGeom prst="rect">
            <a:avLst/>
          </a:prstGeom>
          <a:noFill/>
          <a:ln/>
        </p:spPr>
        <p:txBody>
          <a:bodyPr wrap="square" lIns="0" tIns="0" rIns="0" bIns="0" rtlCol="0" anchor="t"/>
          <a:lstStyle/>
          <a:p>
            <a:pPr algn="l" indent="0" marL="0">
              <a:lnSpc>
                <a:spcPts val="1134"/>
              </a:lnSpc>
              <a:buNone/>
            </a:pPr>
            <a:r>
              <a:rPr lang="en-US" sz="840" b="1" spc="90" kern="0" dirty="0">
                <a:solidFill>
                  <a:srgbClr val="96733C"/>
                </a:solidFill>
                <a:latin typeface="Calibri" pitchFamily="34" charset="0"/>
                <a:ea typeface="Calibri" pitchFamily="34" charset="-122"/>
                <a:cs typeface="Calibri" pitchFamily="34" charset="-120"/>
              </a:rPr>
              <a:t>SIGNATURE METHODS</a:t>
            </a:r>
            <a:endParaRPr lang="en-US" sz="840" dirty="0"/>
          </a:p>
        </p:txBody>
      </p:sp>
      <p:sp>
        <p:nvSpPr>
          <p:cNvPr id="33" name="Text 31"/>
          <p:cNvSpPr txBox="1"/>
          <p:nvPr/>
        </p:nvSpPr>
        <p:spPr>
          <a:xfrm>
            <a:off x="3200400" y="5175504"/>
            <a:ext cx="3877056" cy="251206"/>
          </a:xfrm>
          <a:prstGeom prst="rect">
            <a:avLst/>
          </a:prstGeom>
          <a:noFill/>
          <a:ln/>
        </p:spPr>
        <p:txBody>
          <a:bodyPr wrap="square" lIns="0" tIns="0" rIns="0" bIns="0" rtlCol="0" anchor="t"/>
          <a:lstStyle/>
          <a:p>
            <a:pPr algn="l" indent="0" marL="0">
              <a:lnSpc>
                <a:spcPts val="1118"/>
              </a:lnSpc>
              <a:buNone/>
            </a:pPr>
            <a:r>
              <a:rPr lang="en-US" sz="860" dirty="0">
                <a:solidFill>
                  <a:srgbClr val="3F3A33"/>
                </a:solidFill>
                <a:latin typeface="Calibri" pitchFamily="34" charset="0"/>
                <a:ea typeface="Calibri" pitchFamily="34" charset="-122"/>
                <a:cs typeface="Calibri" pitchFamily="34" charset="-120"/>
              </a:rPr>
              <a:t>Enactment, directives, genograms, boundaries</a:t>
            </a:r>
            <a:endParaRPr lang="en-US" sz="860" dirty="0"/>
          </a:p>
        </p:txBody>
      </p:sp>
      <p:sp>
        <p:nvSpPr>
          <p:cNvPr id="34" name="Text 32"/>
          <p:cNvSpPr txBox="1"/>
          <p:nvPr/>
        </p:nvSpPr>
        <p:spPr>
          <a:xfrm>
            <a:off x="7260336" y="5175504"/>
            <a:ext cx="3877056" cy="251206"/>
          </a:xfrm>
          <a:prstGeom prst="rect">
            <a:avLst/>
          </a:prstGeom>
          <a:noFill/>
          <a:ln/>
        </p:spPr>
        <p:txBody>
          <a:bodyPr wrap="square" lIns="0" tIns="0" rIns="0" bIns="0" rtlCol="0" anchor="t"/>
          <a:lstStyle/>
          <a:p>
            <a:pPr algn="l" indent="0" marL="0">
              <a:lnSpc>
                <a:spcPts val="1118"/>
              </a:lnSpc>
              <a:buNone/>
            </a:pPr>
            <a:r>
              <a:rPr lang="en-US" sz="860" dirty="0">
                <a:solidFill>
                  <a:srgbClr val="3F3A33"/>
                </a:solidFill>
                <a:latin typeface="Calibri" pitchFamily="34" charset="0"/>
                <a:ea typeface="Calibri" pitchFamily="34" charset="-122"/>
                <a:cs typeface="Calibri" pitchFamily="34" charset="-120"/>
              </a:rPr>
              <a:t>Reflecting teams, externalising, miracle question</a:t>
            </a:r>
            <a:endParaRPr lang="en-US" sz="860" dirty="0"/>
          </a:p>
        </p:txBody>
      </p:sp>
      <p:sp>
        <p:nvSpPr>
          <p:cNvPr id="35" name="Shape 33"/>
          <p:cNvSpPr/>
          <p:nvPr/>
        </p:nvSpPr>
        <p:spPr>
          <a:xfrm>
            <a:off x="914400" y="5742432"/>
            <a:ext cx="10451592" cy="91"/>
          </a:xfrm>
          <a:prstGeom prst="line">
            <a:avLst/>
          </a:prstGeom>
          <a:noFill/>
          <a:ln w="6350">
            <a:solidFill>
              <a:srgbClr val="D9CDB7">
                <a:alpha val="70000"/>
              </a:srgbClr>
            </a:solidFill>
            <a:prstDash val="solid"/>
            <a:headEnd type="none"/>
            <a:tailEnd type="none"/>
          </a:ln>
        </p:spPr>
      </p:sp>
      <p:sp>
        <p:nvSpPr>
          <p:cNvPr id="36" name="Shape 34"/>
          <p:cNvSpPr/>
          <p:nvPr/>
        </p:nvSpPr>
        <p:spPr>
          <a:xfrm>
            <a:off x="3063240" y="2468880"/>
            <a:ext cx="91" cy="3291840"/>
          </a:xfrm>
          <a:prstGeom prst="line">
            <a:avLst/>
          </a:prstGeom>
          <a:noFill/>
          <a:ln w="7620">
            <a:solidFill>
              <a:srgbClr val="D9CDB7"/>
            </a:solidFill>
            <a:prstDash val="solid"/>
            <a:headEnd type="none"/>
            <a:tailEnd type="none"/>
          </a:ln>
        </p:spPr>
      </p:sp>
      <p:sp>
        <p:nvSpPr>
          <p:cNvPr id="37" name="Shape 35"/>
          <p:cNvSpPr/>
          <p:nvPr/>
        </p:nvSpPr>
        <p:spPr>
          <a:xfrm>
            <a:off x="7260336" y="2468880"/>
            <a:ext cx="91" cy="3291840"/>
          </a:xfrm>
          <a:prstGeom prst="line">
            <a:avLst/>
          </a:prstGeom>
          <a:noFill/>
          <a:ln w="7620">
            <a:solidFill>
              <a:srgbClr val="D9CDB7"/>
            </a:solidFill>
            <a:prstDash val="solid"/>
            <a:headEnd type="none"/>
            <a:tailEnd type="none"/>
          </a:ln>
        </p:spPr>
      </p:sp>
      <p:sp>
        <p:nvSpPr>
          <p:cNvPr id="38" name="Text 36"/>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After Cecchin (1987) and White &amp; Epston (1990).</a:t>
            </a:r>
            <a:endParaRPr lang="en-US" sz="74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07 · CLINICAL APPLICATION</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36</a:t>
            </a:r>
            <a:endParaRPr lang="en-US" sz="950" dirty="0"/>
          </a:p>
        </p:txBody>
      </p:sp>
      <p:sp>
        <p:nvSpPr>
          <p:cNvPr id="8" name="Text 6"/>
          <p:cNvSpPr txBox="1"/>
          <p:nvPr/>
        </p:nvSpPr>
        <p:spPr>
          <a:xfrm>
            <a:off x="822960" y="932688"/>
            <a:ext cx="9509760" cy="775970"/>
          </a:xfrm>
          <a:prstGeom prst="rect">
            <a:avLst/>
          </a:prstGeom>
          <a:noFill/>
          <a:ln/>
        </p:spPr>
        <p:txBody>
          <a:bodyPr wrap="square" lIns="0" tIns="0" rIns="0" bIns="0" rtlCol="0" anchor="t"/>
          <a:lstStyle/>
          <a:p>
            <a:pPr algn="l" indent="0" marL="0">
              <a:lnSpc>
                <a:spcPts val="3510"/>
              </a:lnSpc>
              <a:buNone/>
            </a:pPr>
            <a:r>
              <a:rPr lang="en-US" sz="2600" dirty="0">
                <a:solidFill>
                  <a:srgbClr val="1B1815"/>
                </a:solidFill>
                <a:latin typeface="Georgia" pitchFamily="34" charset="0"/>
                <a:ea typeface="Georgia" pitchFamily="34" charset="-122"/>
                <a:cs typeface="Georgia" pitchFamily="34" charset="-120"/>
              </a:rPr>
              <a:t>Externalising a diagnosis</a:t>
            </a:r>
            <a:endParaRPr lang="en-US" sz="2600" dirty="0"/>
          </a:p>
        </p:txBody>
      </p:sp>
      <p:sp>
        <p:nvSpPr>
          <p:cNvPr id="9" name="Shape 7"/>
          <p:cNvSpPr/>
          <p:nvPr/>
        </p:nvSpPr>
        <p:spPr>
          <a:xfrm>
            <a:off x="822960" y="1463040"/>
            <a:ext cx="7059168" cy="1847088"/>
          </a:xfrm>
          <a:prstGeom prst="roundRect">
            <a:avLst>
              <a:gd name="adj" fmla="val 490"/>
            </a:avLst>
          </a:prstGeom>
          <a:solidFill>
            <a:srgbClr val="EFE5D3">
              <a:alpha val="50000"/>
            </a:srgbClr>
          </a:solidFill>
          <a:ln w="12700">
            <a:solidFill>
              <a:srgbClr val="FFFFFF">
                <a:alpha val="0"/>
              </a:srgbClr>
            </a:solidFill>
            <a:prstDash val="solid"/>
          </a:ln>
        </p:spPr>
      </p:sp>
      <p:sp>
        <p:nvSpPr>
          <p:cNvPr id="10" name="Shape 8"/>
          <p:cNvSpPr/>
          <p:nvPr/>
        </p:nvSpPr>
        <p:spPr>
          <a:xfrm>
            <a:off x="822960" y="1463040"/>
            <a:ext cx="45720" cy="1847088"/>
          </a:xfrm>
          <a:prstGeom prst="rect">
            <a:avLst/>
          </a:prstGeom>
          <a:solidFill>
            <a:srgbClr val="A96A45"/>
          </a:solidFill>
          <a:ln w="12700">
            <a:solidFill>
              <a:srgbClr val="FFFFFF">
                <a:alpha val="0"/>
              </a:srgbClr>
            </a:solidFill>
            <a:prstDash val="solid"/>
          </a:ln>
        </p:spPr>
      </p:sp>
      <p:sp>
        <p:nvSpPr>
          <p:cNvPr id="11" name="Text 9"/>
          <p:cNvSpPr txBox="1"/>
          <p:nvPr/>
        </p:nvSpPr>
        <p:spPr>
          <a:xfrm>
            <a:off x="1115568" y="1627632"/>
            <a:ext cx="2743200" cy="202946"/>
          </a:xfrm>
          <a:prstGeom prst="rect">
            <a:avLst/>
          </a:prstGeom>
          <a:noFill/>
          <a:ln/>
        </p:spPr>
        <p:txBody>
          <a:bodyPr wrap="square" lIns="0" tIns="0" rIns="0" bIns="0" rtlCol="0" anchor="t"/>
          <a:lstStyle/>
          <a:p>
            <a:pPr algn="l" indent="0" marL="0">
              <a:lnSpc>
                <a:spcPts val="918"/>
              </a:lnSpc>
              <a:buNone/>
            </a:pPr>
            <a:r>
              <a:rPr lang="en-US" sz="680" b="1" spc="200" kern="0" dirty="0">
                <a:solidFill>
                  <a:srgbClr val="A96A45"/>
                </a:solidFill>
                <a:latin typeface="Calibri" pitchFamily="34" charset="0"/>
                <a:ea typeface="Calibri" pitchFamily="34" charset="-122"/>
                <a:cs typeface="Calibri" pitchFamily="34" charset="-120"/>
              </a:rPr>
              <a:t>CLINICAL VIGNETTE</a:t>
            </a:r>
            <a:endParaRPr lang="en-US" sz="680" dirty="0"/>
          </a:p>
        </p:txBody>
      </p:sp>
      <p:sp>
        <p:nvSpPr>
          <p:cNvPr id="12" name="Text 10"/>
          <p:cNvSpPr txBox="1"/>
          <p:nvPr/>
        </p:nvSpPr>
        <p:spPr>
          <a:xfrm>
            <a:off x="1115568" y="2299818"/>
            <a:ext cx="6446520" cy="1280160"/>
          </a:xfrm>
          <a:prstGeom prst="rect">
            <a:avLst/>
          </a:prstGeom>
          <a:noFill/>
          <a:ln/>
        </p:spPr>
        <p:txBody>
          <a:bodyPr wrap="square" lIns="0" tIns="0" rIns="0" bIns="0" rtlCol="0" anchor="t"/>
          <a:lstStyle/>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Parents describe their 10-year-old as “the ADHD child”. School reports dominate dinner-table</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conversation. The boy says, “I’m the naughty one.”</a:t>
            </a:r>
            <a:endParaRPr lang="en-US" sz="1160" dirty="0"/>
          </a:p>
        </p:txBody>
      </p:sp>
      <p:sp>
        <p:nvSpPr>
          <p:cNvPr id="13" name="Shape 11"/>
          <p:cNvSpPr/>
          <p:nvPr/>
        </p:nvSpPr>
        <p:spPr>
          <a:xfrm>
            <a:off x="8101584" y="1463040"/>
            <a:ext cx="3264408" cy="1847088"/>
          </a:xfrm>
          <a:prstGeom prst="roundRect">
            <a:avLst>
              <a:gd name="adj" fmla="val 490"/>
            </a:avLst>
          </a:prstGeom>
          <a:solidFill>
            <a:srgbClr val="FFFFFF">
              <a:alpha val="0"/>
            </a:srgbClr>
          </a:solidFill>
          <a:ln w="7620">
            <a:solidFill>
              <a:srgbClr val="D9CDB7"/>
            </a:solidFill>
            <a:prstDash val="solid"/>
          </a:ln>
        </p:spPr>
      </p:sp>
      <p:sp>
        <p:nvSpPr>
          <p:cNvPr id="14" name="Text 12"/>
          <p:cNvSpPr txBox="1"/>
          <p:nvPr/>
        </p:nvSpPr>
        <p:spPr>
          <a:xfrm>
            <a:off x="8302752" y="1627632"/>
            <a:ext cx="2898648" cy="196977"/>
          </a:xfrm>
          <a:prstGeom prst="rect">
            <a:avLst/>
          </a:prstGeom>
          <a:noFill/>
          <a:ln/>
        </p:spPr>
        <p:txBody>
          <a:bodyPr wrap="square" lIns="0" tIns="0" rIns="0" bIns="0" rtlCol="0" anchor="t"/>
          <a:lstStyle/>
          <a:p>
            <a:pPr algn="l" indent="0" marL="0">
              <a:lnSpc>
                <a:spcPts val="891"/>
              </a:lnSpc>
              <a:buNone/>
            </a:pPr>
            <a:r>
              <a:rPr lang="en-US" sz="660" b="1" spc="180" kern="0" dirty="0">
                <a:solidFill>
                  <a:srgbClr val="6E8274"/>
                </a:solidFill>
                <a:latin typeface="Calibri" pitchFamily="34" charset="0"/>
                <a:ea typeface="Calibri" pitchFamily="34" charset="-122"/>
                <a:cs typeface="Calibri" pitchFamily="34" charset="-120"/>
              </a:rPr>
              <a:t>APPLY THIS WEEK</a:t>
            </a:r>
            <a:endParaRPr lang="en-US" sz="660" dirty="0"/>
          </a:p>
        </p:txBody>
      </p:sp>
      <p:sp>
        <p:nvSpPr>
          <p:cNvPr id="15" name="Shape 13"/>
          <p:cNvSpPr/>
          <p:nvPr/>
        </p:nvSpPr>
        <p:spPr>
          <a:xfrm>
            <a:off x="8322869" y="1967789"/>
            <a:ext cx="51206" cy="51206"/>
          </a:xfrm>
          <a:prstGeom prst="ellipse">
            <a:avLst/>
          </a:prstGeom>
          <a:solidFill>
            <a:srgbClr val="6E8274"/>
          </a:solidFill>
          <a:ln w="12700">
            <a:solidFill>
              <a:srgbClr val="FFFFFF">
                <a:alpha val="0"/>
              </a:srgbClr>
            </a:solidFill>
            <a:prstDash val="solid"/>
          </a:ln>
        </p:spPr>
      </p:sp>
      <p:sp>
        <p:nvSpPr>
          <p:cNvPr id="16" name="Text 14"/>
          <p:cNvSpPr txBox="1"/>
          <p:nvPr/>
        </p:nvSpPr>
        <p:spPr>
          <a:xfrm>
            <a:off x="8485632" y="1911096"/>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social constructionism</a:t>
            </a:r>
            <a:endParaRPr lang="en-US" sz="830" dirty="0"/>
          </a:p>
        </p:txBody>
      </p:sp>
      <p:sp>
        <p:nvSpPr>
          <p:cNvPr id="17" name="Shape 15"/>
          <p:cNvSpPr/>
          <p:nvPr/>
        </p:nvSpPr>
        <p:spPr>
          <a:xfrm>
            <a:off x="8322869" y="2296973"/>
            <a:ext cx="51206" cy="51206"/>
          </a:xfrm>
          <a:prstGeom prst="ellipse">
            <a:avLst/>
          </a:prstGeom>
          <a:solidFill>
            <a:srgbClr val="6E8274"/>
          </a:solidFill>
          <a:ln w="12700">
            <a:solidFill>
              <a:srgbClr val="FFFFFF">
                <a:alpha val="0"/>
              </a:srgbClr>
            </a:solidFill>
            <a:prstDash val="solid"/>
          </a:ln>
        </p:spPr>
      </p:sp>
      <p:sp>
        <p:nvSpPr>
          <p:cNvPr id="18" name="Text 16"/>
          <p:cNvSpPr txBox="1"/>
          <p:nvPr/>
        </p:nvSpPr>
        <p:spPr>
          <a:xfrm>
            <a:off x="8485632" y="2240280"/>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externalising</a:t>
            </a:r>
            <a:endParaRPr lang="en-US" sz="830" dirty="0"/>
          </a:p>
        </p:txBody>
      </p:sp>
      <p:sp>
        <p:nvSpPr>
          <p:cNvPr id="19" name="Shape 17"/>
          <p:cNvSpPr/>
          <p:nvPr/>
        </p:nvSpPr>
        <p:spPr>
          <a:xfrm>
            <a:off x="8322869" y="2626157"/>
            <a:ext cx="51206" cy="51206"/>
          </a:xfrm>
          <a:prstGeom prst="ellipse">
            <a:avLst/>
          </a:prstGeom>
          <a:solidFill>
            <a:srgbClr val="6E8274"/>
          </a:solidFill>
          <a:ln w="12700">
            <a:solidFill>
              <a:srgbClr val="FFFFFF">
                <a:alpha val="0"/>
              </a:srgbClr>
            </a:solidFill>
            <a:prstDash val="solid"/>
          </a:ln>
        </p:spPr>
      </p:sp>
      <p:sp>
        <p:nvSpPr>
          <p:cNvPr id="20" name="Text 18"/>
          <p:cNvSpPr txBox="1"/>
          <p:nvPr/>
        </p:nvSpPr>
        <p:spPr>
          <a:xfrm>
            <a:off x="8485632" y="2569464"/>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exception</a:t>
            </a:r>
            <a:endParaRPr lang="en-US" sz="830" dirty="0"/>
          </a:p>
        </p:txBody>
      </p:sp>
      <p:sp>
        <p:nvSpPr>
          <p:cNvPr id="21" name="Shape 19"/>
          <p:cNvSpPr/>
          <p:nvPr/>
        </p:nvSpPr>
        <p:spPr>
          <a:xfrm>
            <a:off x="8322869" y="2955341"/>
            <a:ext cx="51206" cy="51206"/>
          </a:xfrm>
          <a:prstGeom prst="ellipse">
            <a:avLst/>
          </a:prstGeom>
          <a:solidFill>
            <a:srgbClr val="6E8274"/>
          </a:solidFill>
          <a:ln w="12700">
            <a:solidFill>
              <a:srgbClr val="FFFFFF">
                <a:alpha val="0"/>
              </a:srgbClr>
            </a:solidFill>
            <a:prstDash val="solid"/>
          </a:ln>
        </p:spPr>
      </p:sp>
      <p:sp>
        <p:nvSpPr>
          <p:cNvPr id="22" name="Text 20"/>
          <p:cNvSpPr txBox="1"/>
          <p:nvPr/>
        </p:nvSpPr>
        <p:spPr>
          <a:xfrm>
            <a:off x="8485632" y="2898648"/>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not-knowing</a:t>
            </a:r>
            <a:endParaRPr lang="en-US" sz="830" dirty="0"/>
          </a:p>
        </p:txBody>
      </p:sp>
      <p:sp>
        <p:nvSpPr>
          <p:cNvPr id="23" name="Text 21"/>
          <p:cNvSpPr txBox="1"/>
          <p:nvPr/>
        </p:nvSpPr>
        <p:spPr>
          <a:xfrm>
            <a:off x="822960" y="3675888"/>
            <a:ext cx="3657600" cy="214884"/>
          </a:xfrm>
          <a:prstGeom prst="rect">
            <a:avLst/>
          </a:prstGeom>
          <a:noFill/>
          <a:ln/>
        </p:spPr>
        <p:txBody>
          <a:bodyPr wrap="square" lIns="0" tIns="0" rIns="0" bIns="0" rtlCol="0" anchor="t"/>
          <a:lstStyle/>
          <a:p>
            <a:pPr algn="l" indent="0" marL="0">
              <a:lnSpc>
                <a:spcPts val="972"/>
              </a:lnSpc>
              <a:buNone/>
            </a:pPr>
            <a:r>
              <a:rPr lang="en-US" sz="720" b="1" spc="200" kern="0" dirty="0">
                <a:solidFill>
                  <a:srgbClr val="96733C"/>
                </a:solidFill>
                <a:latin typeface="Calibri" pitchFamily="34" charset="0"/>
                <a:ea typeface="Calibri" pitchFamily="34" charset="-122"/>
                <a:cs typeface="Calibri" pitchFamily="34" charset="-120"/>
              </a:rPr>
              <a:t>REFLECTION</a:t>
            </a:r>
            <a:endParaRPr lang="en-US" sz="720" dirty="0"/>
          </a:p>
        </p:txBody>
      </p:sp>
      <p:sp>
        <p:nvSpPr>
          <p:cNvPr id="24" name="Shape 22"/>
          <p:cNvSpPr/>
          <p:nvPr/>
        </p:nvSpPr>
        <p:spPr>
          <a:xfrm>
            <a:off x="1828800" y="3730752"/>
            <a:ext cx="548640" cy="91"/>
          </a:xfrm>
          <a:prstGeom prst="line">
            <a:avLst/>
          </a:prstGeom>
          <a:noFill/>
          <a:ln w="10160">
            <a:solidFill>
              <a:srgbClr val="C2A05F"/>
            </a:solidFill>
            <a:prstDash val="solid"/>
            <a:headEnd type="none"/>
            <a:tailEnd type="none"/>
          </a:ln>
        </p:spPr>
      </p:sp>
      <p:sp>
        <p:nvSpPr>
          <p:cNvPr id="25" name="Shape 23"/>
          <p:cNvSpPr/>
          <p:nvPr/>
        </p:nvSpPr>
        <p:spPr>
          <a:xfrm>
            <a:off x="822960" y="4041648"/>
            <a:ext cx="3319272" cy="1627632"/>
          </a:xfrm>
          <a:prstGeom prst="roundRect">
            <a:avLst>
              <a:gd name="adj" fmla="val 631"/>
            </a:avLst>
          </a:prstGeom>
          <a:solidFill>
            <a:srgbClr val="FCF8EF"/>
          </a:solidFill>
          <a:ln w="6350">
            <a:solidFill>
              <a:srgbClr val="D9CDB7"/>
            </a:solidFill>
            <a:prstDash val="solid"/>
          </a:ln>
        </p:spPr>
      </p:sp>
      <p:sp>
        <p:nvSpPr>
          <p:cNvPr id="26" name="Text 24"/>
          <p:cNvSpPr txBox="1"/>
          <p:nvPr/>
        </p:nvSpPr>
        <p:spPr>
          <a:xfrm>
            <a:off x="102412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27" name="Text 25"/>
          <p:cNvSpPr txBox="1"/>
          <p:nvPr/>
        </p:nvSpPr>
        <p:spPr>
          <a:xfrm>
            <a:off x="1024128" y="4443984"/>
            <a:ext cx="2916936" cy="448666"/>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might it mean to externalise ADHD without dismissing</a:t>
            </a:r>
            <a:endParaRPr lang="en-US" sz="920" dirty="0"/>
          </a:p>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it?</a:t>
            </a:r>
            <a:endParaRPr lang="en-US" sz="920" dirty="0"/>
          </a:p>
        </p:txBody>
      </p:sp>
      <p:sp>
        <p:nvSpPr>
          <p:cNvPr id="28" name="Shape 26"/>
          <p:cNvSpPr/>
          <p:nvPr/>
        </p:nvSpPr>
        <p:spPr>
          <a:xfrm>
            <a:off x="1024128" y="5248656"/>
            <a:ext cx="2916936" cy="91"/>
          </a:xfrm>
          <a:prstGeom prst="line">
            <a:avLst/>
          </a:prstGeom>
          <a:noFill/>
          <a:ln w="3810">
            <a:solidFill>
              <a:srgbClr val="D9CDB7">
                <a:alpha val="75000"/>
              </a:srgbClr>
            </a:solidFill>
            <a:prstDash val="sysDot"/>
            <a:headEnd type="none"/>
            <a:tailEnd type="none"/>
          </a:ln>
        </p:spPr>
      </p:sp>
      <p:sp>
        <p:nvSpPr>
          <p:cNvPr id="29" name="Shape 27"/>
          <p:cNvSpPr/>
          <p:nvPr/>
        </p:nvSpPr>
        <p:spPr>
          <a:xfrm>
            <a:off x="1024128" y="5468112"/>
            <a:ext cx="2916936" cy="91"/>
          </a:xfrm>
          <a:prstGeom prst="line">
            <a:avLst/>
          </a:prstGeom>
          <a:noFill/>
          <a:ln w="3810">
            <a:solidFill>
              <a:srgbClr val="D9CDB7">
                <a:alpha val="75000"/>
              </a:srgbClr>
            </a:solidFill>
            <a:prstDash val="sysDot"/>
            <a:headEnd type="none"/>
            <a:tailEnd type="none"/>
          </a:ln>
        </p:spPr>
      </p:sp>
      <p:sp>
        <p:nvSpPr>
          <p:cNvPr id="30" name="Shape 28"/>
          <p:cNvSpPr/>
          <p:nvPr/>
        </p:nvSpPr>
        <p:spPr>
          <a:xfrm>
            <a:off x="4434840" y="4041648"/>
            <a:ext cx="3319272" cy="1627632"/>
          </a:xfrm>
          <a:prstGeom prst="roundRect">
            <a:avLst>
              <a:gd name="adj" fmla="val 631"/>
            </a:avLst>
          </a:prstGeom>
          <a:solidFill>
            <a:srgbClr val="FCF8EF"/>
          </a:solidFill>
          <a:ln w="6350">
            <a:solidFill>
              <a:srgbClr val="D9CDB7"/>
            </a:solidFill>
            <a:prstDash val="solid"/>
          </a:ln>
        </p:spPr>
      </p:sp>
      <p:sp>
        <p:nvSpPr>
          <p:cNvPr id="31" name="Text 29"/>
          <p:cNvSpPr txBox="1"/>
          <p:nvPr/>
        </p:nvSpPr>
        <p:spPr>
          <a:xfrm>
            <a:off x="463600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32" name="Text 30"/>
          <p:cNvSpPr txBox="1"/>
          <p:nvPr/>
        </p:nvSpPr>
        <p:spPr>
          <a:xfrm>
            <a:off x="463600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unique outcomes exist in the family’s own account?</a:t>
            </a:r>
            <a:endParaRPr lang="en-US" sz="920" dirty="0"/>
          </a:p>
        </p:txBody>
      </p:sp>
      <p:sp>
        <p:nvSpPr>
          <p:cNvPr id="33" name="Shape 31"/>
          <p:cNvSpPr/>
          <p:nvPr/>
        </p:nvSpPr>
        <p:spPr>
          <a:xfrm>
            <a:off x="4636008" y="5248656"/>
            <a:ext cx="2916936" cy="91"/>
          </a:xfrm>
          <a:prstGeom prst="line">
            <a:avLst/>
          </a:prstGeom>
          <a:noFill/>
          <a:ln w="3810">
            <a:solidFill>
              <a:srgbClr val="D9CDB7">
                <a:alpha val="75000"/>
              </a:srgbClr>
            </a:solidFill>
            <a:prstDash val="sysDot"/>
            <a:headEnd type="none"/>
            <a:tailEnd type="none"/>
          </a:ln>
        </p:spPr>
      </p:sp>
      <p:sp>
        <p:nvSpPr>
          <p:cNvPr id="34" name="Shape 32"/>
          <p:cNvSpPr/>
          <p:nvPr/>
        </p:nvSpPr>
        <p:spPr>
          <a:xfrm>
            <a:off x="4636008" y="5468112"/>
            <a:ext cx="2916936" cy="91"/>
          </a:xfrm>
          <a:prstGeom prst="line">
            <a:avLst/>
          </a:prstGeom>
          <a:noFill/>
          <a:ln w="3810">
            <a:solidFill>
              <a:srgbClr val="D9CDB7">
                <a:alpha val="75000"/>
              </a:srgbClr>
            </a:solidFill>
            <a:prstDash val="sysDot"/>
            <a:headEnd type="none"/>
            <a:tailEnd type="none"/>
          </a:ln>
        </p:spPr>
      </p:sp>
      <p:sp>
        <p:nvSpPr>
          <p:cNvPr id="35" name="Shape 33"/>
          <p:cNvSpPr/>
          <p:nvPr/>
        </p:nvSpPr>
        <p:spPr>
          <a:xfrm>
            <a:off x="8046720" y="4041648"/>
            <a:ext cx="3319272" cy="1627632"/>
          </a:xfrm>
          <a:prstGeom prst="roundRect">
            <a:avLst>
              <a:gd name="adj" fmla="val 631"/>
            </a:avLst>
          </a:prstGeom>
          <a:solidFill>
            <a:srgbClr val="FCF8EF"/>
          </a:solidFill>
          <a:ln w="6350">
            <a:solidFill>
              <a:srgbClr val="D9CDB7"/>
            </a:solidFill>
            <a:prstDash val="solid"/>
          </a:ln>
        </p:spPr>
      </p:sp>
      <p:sp>
        <p:nvSpPr>
          <p:cNvPr id="36" name="Text 34"/>
          <p:cNvSpPr txBox="1"/>
          <p:nvPr/>
        </p:nvSpPr>
        <p:spPr>
          <a:xfrm>
            <a:off x="824788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7" name="Text 35"/>
          <p:cNvSpPr txBox="1"/>
          <p:nvPr/>
        </p:nvSpPr>
        <p:spPr>
          <a:xfrm>
            <a:off x="824788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Where does the family’s preferred story begin?</a:t>
            </a:r>
            <a:endParaRPr lang="en-US" sz="920" dirty="0"/>
          </a:p>
        </p:txBody>
      </p:sp>
      <p:sp>
        <p:nvSpPr>
          <p:cNvPr id="38" name="Shape 36"/>
          <p:cNvSpPr/>
          <p:nvPr/>
        </p:nvSpPr>
        <p:spPr>
          <a:xfrm>
            <a:off x="8247888" y="5248656"/>
            <a:ext cx="2916936" cy="91"/>
          </a:xfrm>
          <a:prstGeom prst="line">
            <a:avLst/>
          </a:prstGeom>
          <a:noFill/>
          <a:ln w="3810">
            <a:solidFill>
              <a:srgbClr val="D9CDB7">
                <a:alpha val="75000"/>
              </a:srgbClr>
            </a:solidFill>
            <a:prstDash val="sysDot"/>
            <a:headEnd type="none"/>
            <a:tailEnd type="none"/>
          </a:ln>
        </p:spPr>
      </p:sp>
      <p:sp>
        <p:nvSpPr>
          <p:cNvPr id="39" name="Shape 37"/>
          <p:cNvSpPr/>
          <p:nvPr/>
        </p:nvSpPr>
        <p:spPr>
          <a:xfrm>
            <a:off x="8247888" y="5468112"/>
            <a:ext cx="2916936" cy="91"/>
          </a:xfrm>
          <a:prstGeom prst="line">
            <a:avLst/>
          </a:prstGeom>
          <a:noFill/>
          <a:ln w="3810">
            <a:solidFill>
              <a:srgbClr val="D9CDB7">
                <a:alpha val="75000"/>
              </a:srgbClr>
            </a:solidFill>
            <a:prstDash val="sysDot"/>
            <a:headEnd type="none"/>
            <a:tailEnd type="none"/>
          </a:ln>
        </p:spPr>
      </p:sp>
      <p:sp>
        <p:nvSpPr>
          <p:cNvPr id="40" name="Text 38"/>
          <p:cNvSpPr txBox="1"/>
          <p:nvPr/>
        </p:nvSpPr>
        <p:spPr>
          <a:xfrm>
            <a:off x="822960" y="5742432"/>
            <a:ext cx="9875520" cy="244729"/>
          </a:xfrm>
          <a:prstGeom prst="rect">
            <a:avLst/>
          </a:prstGeom>
          <a:noFill/>
          <a:ln/>
        </p:spPr>
        <p:txBody>
          <a:bodyPr wrap="square" lIns="0" tIns="0" rIns="0" bIns="0" rtlCol="0" anchor="t"/>
          <a:lstStyle/>
          <a:p>
            <a:pPr algn="l" indent="0" marL="0">
              <a:lnSpc>
                <a:spcPts val="1107"/>
              </a:lnSpc>
              <a:buNone/>
            </a:pPr>
            <a:r>
              <a:rPr lang="en-US" sz="820" i="1" dirty="0">
                <a:solidFill>
                  <a:srgbClr val="8B8375"/>
                </a:solidFill>
                <a:latin typeface="Calibri" pitchFamily="34" charset="0"/>
                <a:ea typeface="Calibri" pitchFamily="34" charset="-122"/>
                <a:cs typeface="Calibri" pitchFamily="34" charset="-120"/>
              </a:rPr>
              <a:t>Discuss in seminar · bring one formulation to supervision.</a:t>
            </a:r>
            <a:endParaRPr lang="en-US" sz="82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08 · PHASE II — THEORETICAL CARTOGRAPHY</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08</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Integrative Case</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Conceptualisation</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476377"/>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How does a therapist choose a theory — and then hold it lightly?</a:t>
            </a:r>
            <a:endParaRPr lang="en-US" sz="1550" dirty="0"/>
          </a:p>
        </p:txBody>
      </p:sp>
      <p:sp>
        <p:nvSpPr>
          <p:cNvPr id="8" name="Shape 6"/>
          <p:cNvSpPr/>
          <p:nvPr/>
        </p:nvSpPr>
        <p:spPr>
          <a:xfrm>
            <a:off x="822960" y="3911219"/>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Formulation as a disciplined hypothesis</a:t>
            </a:r>
            <a:endParaRPr lang="en-US" sz="850" dirty="0"/>
          </a:p>
        </p:txBody>
      </p:sp>
      <p:sp>
        <p:nvSpPr>
          <p:cNvPr id="11" name="Text 9"/>
          <p:cNvSpPr txBox="1"/>
          <p:nvPr/>
        </p:nvSpPr>
        <p:spPr>
          <a:xfrm>
            <a:off x="3282696"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One family, four formulations</a:t>
            </a:r>
            <a:endParaRPr lang="en-US" sz="850" dirty="0"/>
          </a:p>
        </p:txBody>
      </p:sp>
      <p:sp>
        <p:nvSpPr>
          <p:cNvPr id="13" name="Text 11"/>
          <p:cNvSpPr txBox="1"/>
          <p:nvPr/>
        </p:nvSpPr>
        <p:spPr>
          <a:xfrm>
            <a:off x="5742432"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SEMINAR</a:t>
            </a:r>
            <a:endParaRPr lang="en-US" sz="620" dirty="0"/>
          </a:p>
        </p:txBody>
      </p:sp>
      <p:sp>
        <p:nvSpPr>
          <p:cNvPr id="14" name="Text 12"/>
          <p:cNvSpPr txBox="1"/>
          <p:nvPr/>
        </p:nvSpPr>
        <p:spPr>
          <a:xfrm>
            <a:off x="5742432"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Same family, four lenses</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Compare formulations of one family across four</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models.</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Write a systemic formulation that includes risk and</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context.</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Defend a reasoned choice of intervention.</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formulation · hypothesis · maintaining pattern · integration</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Carr (2019), ch. 4 · Eells (2015), case formulation</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96733C"/>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96733C"/>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96733C"/>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96733C"/>
          </a:solidFill>
          <a:ln w="12700">
            <a:solidFill>
              <a:srgbClr val="FFFFFF">
                <a:alpha val="0"/>
              </a:srgbClr>
            </a:solidFill>
            <a:prstDash val="solid"/>
          </a:ln>
        </p:spPr>
      </p:sp>
      <p:sp>
        <p:nvSpPr>
          <p:cNvPr id="34" name="Shape 32"/>
          <p:cNvSpPr/>
          <p:nvPr/>
        </p:nvSpPr>
        <p:spPr>
          <a:xfrm>
            <a:off x="5666232" y="5696712"/>
            <a:ext cx="128016" cy="128016"/>
          </a:xfrm>
          <a:prstGeom prst="ellipse">
            <a:avLst/>
          </a:prstGeom>
          <a:solidFill>
            <a:srgbClr val="C2A05F"/>
          </a:solidFill>
          <a:ln w="8890">
            <a:solidFill>
              <a:srgbClr val="E7D3A9"/>
            </a:solidFill>
            <a:prstDash val="solid"/>
          </a:ln>
        </p:spPr>
      </p:sp>
      <p:sp>
        <p:nvSpPr>
          <p:cNvPr id="35" name="Shape 33"/>
          <p:cNvSpPr/>
          <p:nvPr/>
        </p:nvSpPr>
        <p:spPr>
          <a:xfrm>
            <a:off x="6402019" y="5731459"/>
            <a:ext cx="58522" cy="58522"/>
          </a:xfrm>
          <a:prstGeom prst="ellipse">
            <a:avLst/>
          </a:prstGeom>
          <a:solidFill>
            <a:srgbClr val="1E1913"/>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1E1913"/>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1E1913"/>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1E1913"/>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1E1913"/>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1E1913"/>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37</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08 · LECTURE 08</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38</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Formulation as a disciplined hypothesis</a:t>
            </a:r>
            <a:endParaRPr lang="en-US" sz="2800" dirty="0"/>
          </a:p>
        </p:txBody>
      </p:sp>
      <p:sp>
        <p:nvSpPr>
          <p:cNvPr id="9" name="Text 7"/>
          <p:cNvSpPr txBox="1"/>
          <p:nvPr/>
        </p:nvSpPr>
        <p:spPr>
          <a:xfrm>
            <a:off x="822960" y="1486408"/>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A formulation is not a diagnosis with a story attached. It is a testable account of how a problem is maintained, in this system,</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at this moment.</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WHAT A FORMULATION MUST DO</a:t>
            </a:r>
            <a:endParaRPr lang="en-US" sz="750" dirty="0"/>
          </a:p>
        </p:txBody>
      </p:sp>
      <p:sp>
        <p:nvSpPr>
          <p:cNvPr id="13" name="Text 11"/>
          <p:cNvSpPr txBox="1"/>
          <p:nvPr/>
        </p:nvSpPr>
        <p:spPr>
          <a:xfrm>
            <a:off x="82296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Explain the presenting problem, identify maintaining patterns, locate</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strengths, specify a point of leverage, and anticipate risk.</a:t>
            </a:r>
            <a:endParaRPr lang="en-US" sz="900" dirty="0"/>
          </a:p>
        </p:txBody>
      </p:sp>
      <p:sp>
        <p:nvSpPr>
          <p:cNvPr id="14" name="Shape 12"/>
          <p:cNvSpPr/>
          <p:nvPr/>
        </p:nvSpPr>
        <p:spPr>
          <a:xfrm>
            <a:off x="822960" y="3364992"/>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Description before explanation</a:t>
            </a:r>
            <a:endParaRPr lang="en-US" sz="880" dirty="0"/>
          </a:p>
        </p:txBody>
      </p:sp>
      <p:sp>
        <p:nvSpPr>
          <p:cNvPr id="16" name="Shape 14"/>
          <p:cNvSpPr/>
          <p:nvPr/>
        </p:nvSpPr>
        <p:spPr>
          <a:xfrm>
            <a:off x="822960" y="3610661"/>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Maintaining patterns, not only origins</a:t>
            </a:r>
            <a:endParaRPr lang="en-US" sz="880" dirty="0"/>
          </a:p>
        </p:txBody>
      </p:sp>
      <p:sp>
        <p:nvSpPr>
          <p:cNvPr id="18" name="Shape 16"/>
          <p:cNvSpPr/>
          <p:nvPr/>
        </p:nvSpPr>
        <p:spPr>
          <a:xfrm>
            <a:off x="822960" y="3856330"/>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A plan that can be revised</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FOUR PS, SYSTEMICALLY</a:t>
            </a:r>
            <a:endParaRPr lang="en-US" sz="750" dirty="0"/>
          </a:p>
        </p:txBody>
      </p:sp>
      <p:sp>
        <p:nvSpPr>
          <p:cNvPr id="23" name="Text 21"/>
          <p:cNvSpPr txBox="1"/>
          <p:nvPr/>
        </p:nvSpPr>
        <p:spPr>
          <a:xfrm>
            <a:off x="446532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Predisposing, precipitating, perpetuating and protective factors —</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each located in the family’s relational and social context.</a:t>
            </a:r>
            <a:endParaRPr lang="en-US" sz="900" dirty="0"/>
          </a:p>
        </p:txBody>
      </p:sp>
      <p:sp>
        <p:nvSpPr>
          <p:cNvPr id="24" name="Shape 22"/>
          <p:cNvSpPr/>
          <p:nvPr/>
        </p:nvSpPr>
        <p:spPr>
          <a:xfrm>
            <a:off x="4465320" y="3364992"/>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Predisposing · history and temperament</a:t>
            </a:r>
            <a:endParaRPr lang="en-US" sz="880" dirty="0"/>
          </a:p>
        </p:txBody>
      </p:sp>
      <p:sp>
        <p:nvSpPr>
          <p:cNvPr id="26" name="Shape 24"/>
          <p:cNvSpPr/>
          <p:nvPr/>
        </p:nvSpPr>
        <p:spPr>
          <a:xfrm>
            <a:off x="4465320" y="3610661"/>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Precipitating · events and transitions</a:t>
            </a:r>
            <a:endParaRPr lang="en-US" sz="880" dirty="0"/>
          </a:p>
        </p:txBody>
      </p:sp>
      <p:sp>
        <p:nvSpPr>
          <p:cNvPr id="28" name="Shape 26"/>
          <p:cNvSpPr/>
          <p:nvPr/>
        </p:nvSpPr>
        <p:spPr>
          <a:xfrm>
            <a:off x="4465320" y="3856330"/>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Perpetuating · cycles, coalitions, meanings</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HOLDING THEORY LIGHTLY</a:t>
            </a:r>
            <a:endParaRPr lang="en-US" sz="750" dirty="0"/>
          </a:p>
        </p:txBody>
      </p:sp>
      <p:sp>
        <p:nvSpPr>
          <p:cNvPr id="33" name="Text 31"/>
          <p:cNvSpPr txBox="1"/>
          <p:nvPr/>
        </p:nvSpPr>
        <p:spPr>
          <a:xfrm>
            <a:off x="810768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Different models illuminate different surfaces. The question is not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which model is true, but which formulation opens the most useful</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next step.</a:t>
            </a:r>
            <a:endParaRPr lang="en-US" sz="900" dirty="0"/>
          </a:p>
        </p:txBody>
      </p:sp>
      <p:sp>
        <p:nvSpPr>
          <p:cNvPr id="34" name="Shape 32"/>
          <p:cNvSpPr/>
          <p:nvPr/>
        </p:nvSpPr>
        <p:spPr>
          <a:xfrm>
            <a:off x="8107680" y="3529584"/>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Use more than one lens</a:t>
            </a:r>
            <a:endParaRPr lang="en-US" sz="880" dirty="0"/>
          </a:p>
        </p:txBody>
      </p:sp>
      <p:sp>
        <p:nvSpPr>
          <p:cNvPr id="36" name="Shape 34"/>
          <p:cNvSpPr/>
          <p:nvPr/>
        </p:nvSpPr>
        <p:spPr>
          <a:xfrm>
            <a:off x="8107680" y="3775253"/>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Let the family’s feedback correct you</a:t>
            </a:r>
            <a:endParaRPr lang="en-US" sz="880" dirty="0"/>
          </a:p>
        </p:txBody>
      </p:sp>
      <p:sp>
        <p:nvSpPr>
          <p:cNvPr id="38" name="Shape 36"/>
          <p:cNvSpPr/>
          <p:nvPr/>
        </p:nvSpPr>
        <p:spPr>
          <a:xfrm>
            <a:off x="8107680" y="4020922"/>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Integration is a discipline, not a blend</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ASSESSMENT</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Formative case formulation</a:t>
            </a:r>
            <a:endParaRPr lang="en-US" sz="1300" dirty="0"/>
          </a:p>
        </p:txBody>
      </p:sp>
      <p:sp>
        <p:nvSpPr>
          <p:cNvPr id="44" name="Text 42"/>
          <p:cNvSpPr txBox="1"/>
          <p:nvPr/>
        </p:nvSpPr>
        <p:spPr>
          <a:xfrm>
            <a:off x="4434840" y="5431536"/>
            <a:ext cx="4983480" cy="267589"/>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Due in Week 9. One family, three formulations and a defended intervention plan, 2,500 words.</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185039"/>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Carr (2019); Eells (2015).</a:t>
            </a:r>
            <a:endParaRPr lang="en-US" sz="6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08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39</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One family, four formulations</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The same presenting problem yields four different accounts of what maintains it — and four different first moves.</a:t>
            </a:r>
            <a:endParaRPr lang="en-US" sz="1060" dirty="0"/>
          </a:p>
        </p:txBody>
      </p:sp>
      <p:sp>
        <p:nvSpPr>
          <p:cNvPr id="10" name="Shape 8"/>
          <p:cNvSpPr/>
          <p:nvPr/>
        </p:nvSpPr>
        <p:spPr>
          <a:xfrm>
            <a:off x="868680" y="1856232"/>
            <a:ext cx="10451592" cy="420624"/>
          </a:xfrm>
          <a:prstGeom prst="rect">
            <a:avLst/>
          </a:prstGeom>
          <a:solidFill>
            <a:srgbClr val="1B1815"/>
          </a:solidFill>
          <a:ln w="12700">
            <a:solidFill>
              <a:srgbClr val="FFFFFF">
                <a:alpha val="0"/>
              </a:srgbClr>
            </a:solidFill>
            <a:prstDash val="solid"/>
          </a:ln>
        </p:spPr>
      </p:sp>
      <p:sp>
        <p:nvSpPr>
          <p:cNvPr id="11" name="Text 9"/>
          <p:cNvSpPr txBox="1"/>
          <p:nvPr/>
        </p:nvSpPr>
        <p:spPr>
          <a:xfrm>
            <a:off x="978408" y="2010156"/>
            <a:ext cx="1600200" cy="420624"/>
          </a:xfrm>
          <a:prstGeom prst="rect">
            <a:avLst/>
          </a:prstGeom>
          <a:noFill/>
          <a:ln/>
        </p:spPr>
        <p:txBody>
          <a:bodyPr wrap="square" lIns="0" tIns="0" rIns="0" bIns="0" rtlCol="0" anchor="t"/>
          <a:lstStyle/>
          <a:p>
            <a:pPr algn="l" indent="0" marL="0">
              <a:lnSpc>
                <a:spcPts val="888"/>
              </a:lnSpc>
              <a:buNone/>
            </a:pPr>
            <a:r>
              <a:rPr lang="en-US" sz="740" b="1" spc="130" kern="0" dirty="0">
                <a:solidFill>
                  <a:srgbClr val="E7D3A9"/>
                </a:solidFill>
                <a:latin typeface="Calibri" pitchFamily="34" charset="0"/>
                <a:ea typeface="Calibri" pitchFamily="34" charset="-122"/>
                <a:cs typeface="Calibri" pitchFamily="34" charset="-120"/>
              </a:rPr>
              <a:t>MODEL</a:t>
            </a:r>
            <a:endParaRPr lang="en-US" sz="740" dirty="0"/>
          </a:p>
        </p:txBody>
      </p:sp>
      <p:sp>
        <p:nvSpPr>
          <p:cNvPr id="12" name="Text 10"/>
          <p:cNvSpPr txBox="1"/>
          <p:nvPr/>
        </p:nvSpPr>
        <p:spPr>
          <a:xfrm>
            <a:off x="2761488" y="2010156"/>
            <a:ext cx="2606040" cy="420624"/>
          </a:xfrm>
          <a:prstGeom prst="rect">
            <a:avLst/>
          </a:prstGeom>
          <a:noFill/>
          <a:ln/>
        </p:spPr>
        <p:txBody>
          <a:bodyPr wrap="square" lIns="0" tIns="0" rIns="0" bIns="0" rtlCol="0" anchor="t"/>
          <a:lstStyle/>
          <a:p>
            <a:pPr algn="l" indent="0" marL="0">
              <a:lnSpc>
                <a:spcPts val="888"/>
              </a:lnSpc>
              <a:buNone/>
            </a:pPr>
            <a:r>
              <a:rPr lang="en-US" sz="740" b="1" spc="130" kern="0" dirty="0">
                <a:solidFill>
                  <a:srgbClr val="E7D3A9"/>
                </a:solidFill>
                <a:latin typeface="Calibri" pitchFamily="34" charset="0"/>
                <a:ea typeface="Calibri" pitchFamily="34" charset="-122"/>
                <a:cs typeface="Calibri" pitchFamily="34" charset="-120"/>
              </a:rPr>
              <a:t>FOCUS OF FORMULATION</a:t>
            </a:r>
            <a:endParaRPr lang="en-US" sz="740" dirty="0"/>
          </a:p>
        </p:txBody>
      </p:sp>
      <p:sp>
        <p:nvSpPr>
          <p:cNvPr id="13" name="Text 11"/>
          <p:cNvSpPr txBox="1"/>
          <p:nvPr/>
        </p:nvSpPr>
        <p:spPr>
          <a:xfrm>
            <a:off x="5550408" y="2010156"/>
            <a:ext cx="2697480" cy="420624"/>
          </a:xfrm>
          <a:prstGeom prst="rect">
            <a:avLst/>
          </a:prstGeom>
          <a:noFill/>
          <a:ln/>
        </p:spPr>
        <p:txBody>
          <a:bodyPr wrap="square" lIns="0" tIns="0" rIns="0" bIns="0" rtlCol="0" anchor="t"/>
          <a:lstStyle/>
          <a:p>
            <a:pPr algn="l" indent="0" marL="0">
              <a:lnSpc>
                <a:spcPts val="888"/>
              </a:lnSpc>
              <a:buNone/>
            </a:pPr>
            <a:r>
              <a:rPr lang="en-US" sz="740" b="1" spc="130" kern="0" dirty="0">
                <a:solidFill>
                  <a:srgbClr val="E7D3A9"/>
                </a:solidFill>
                <a:latin typeface="Calibri" pitchFamily="34" charset="0"/>
                <a:ea typeface="Calibri" pitchFamily="34" charset="-122"/>
                <a:cs typeface="Calibri" pitchFamily="34" charset="-120"/>
              </a:rPr>
              <a:t>MECHANISM OF THE PROBLEM</a:t>
            </a:r>
            <a:endParaRPr lang="en-US" sz="740" dirty="0"/>
          </a:p>
        </p:txBody>
      </p:sp>
      <p:sp>
        <p:nvSpPr>
          <p:cNvPr id="14" name="Text 12"/>
          <p:cNvSpPr txBox="1"/>
          <p:nvPr/>
        </p:nvSpPr>
        <p:spPr>
          <a:xfrm>
            <a:off x="8430768" y="2010156"/>
            <a:ext cx="2697480" cy="420624"/>
          </a:xfrm>
          <a:prstGeom prst="rect">
            <a:avLst/>
          </a:prstGeom>
          <a:noFill/>
          <a:ln/>
        </p:spPr>
        <p:txBody>
          <a:bodyPr wrap="square" lIns="0" tIns="0" rIns="0" bIns="0" rtlCol="0" anchor="t"/>
          <a:lstStyle/>
          <a:p>
            <a:pPr algn="l" indent="0" marL="0">
              <a:lnSpc>
                <a:spcPts val="888"/>
              </a:lnSpc>
              <a:buNone/>
            </a:pPr>
            <a:r>
              <a:rPr lang="en-US" sz="740" b="1" spc="130" kern="0" dirty="0">
                <a:solidFill>
                  <a:srgbClr val="E7D3A9"/>
                </a:solidFill>
                <a:latin typeface="Calibri" pitchFamily="34" charset="0"/>
                <a:ea typeface="Calibri" pitchFamily="34" charset="-122"/>
                <a:cs typeface="Calibri" pitchFamily="34" charset="-120"/>
              </a:rPr>
              <a:t>SIGNATURE INTERVENTION</a:t>
            </a:r>
            <a:endParaRPr lang="en-US" sz="740" dirty="0"/>
          </a:p>
        </p:txBody>
      </p:sp>
      <p:sp>
        <p:nvSpPr>
          <p:cNvPr id="15" name="Shape 13"/>
          <p:cNvSpPr/>
          <p:nvPr/>
        </p:nvSpPr>
        <p:spPr>
          <a:xfrm>
            <a:off x="868680" y="2276856"/>
            <a:ext cx="10451592" cy="804672"/>
          </a:xfrm>
          <a:prstGeom prst="rect">
            <a:avLst/>
          </a:prstGeom>
          <a:solidFill>
            <a:srgbClr val="EFE5D3">
              <a:alpha val="30000"/>
            </a:srgbClr>
          </a:solidFill>
          <a:ln w="12700">
            <a:solidFill>
              <a:srgbClr val="FFFFFF">
                <a:alpha val="0"/>
              </a:srgbClr>
            </a:solidFill>
            <a:prstDash val="solid"/>
          </a:ln>
        </p:spPr>
      </p:sp>
      <p:sp>
        <p:nvSpPr>
          <p:cNvPr id="16" name="Text 14"/>
          <p:cNvSpPr txBox="1"/>
          <p:nvPr/>
        </p:nvSpPr>
        <p:spPr>
          <a:xfrm>
            <a:off x="978408" y="2583942"/>
            <a:ext cx="1618488" cy="804672"/>
          </a:xfrm>
          <a:prstGeom prst="rect">
            <a:avLst/>
          </a:prstGeom>
          <a:noFill/>
          <a:ln/>
        </p:spPr>
        <p:txBody>
          <a:bodyPr wrap="square" lIns="0" tIns="0" rIns="0" bIns="0" rtlCol="0" anchor="t"/>
          <a:lstStyle/>
          <a:p>
            <a:pPr algn="l" indent="0" marL="0">
              <a:lnSpc>
                <a:spcPts val="1500"/>
              </a:lnSpc>
              <a:buNone/>
            </a:pPr>
            <a:r>
              <a:rPr lang="en-US" sz="1250" dirty="0">
                <a:solidFill>
                  <a:srgbClr val="1B1815"/>
                </a:solidFill>
                <a:latin typeface="Georgia" pitchFamily="34" charset="0"/>
                <a:ea typeface="Georgia" pitchFamily="34" charset="-122"/>
                <a:cs typeface="Georgia" pitchFamily="34" charset="-120"/>
              </a:rPr>
              <a:t>Structural</a:t>
            </a:r>
            <a:endParaRPr lang="en-US" sz="1250" dirty="0"/>
          </a:p>
        </p:txBody>
      </p:sp>
      <p:sp>
        <p:nvSpPr>
          <p:cNvPr id="17" name="Text 15"/>
          <p:cNvSpPr txBox="1"/>
          <p:nvPr/>
        </p:nvSpPr>
        <p:spPr>
          <a:xfrm>
            <a:off x="2761488" y="2621471"/>
            <a:ext cx="2569464" cy="640080"/>
          </a:xfrm>
          <a:prstGeom prst="rect">
            <a:avLst/>
          </a:prstGeom>
          <a:noFill/>
          <a:ln/>
        </p:spPr>
        <p:txBody>
          <a:bodyPr wrap="square" lIns="0" tIns="0" rIns="0" bIns="0" rtlCol="0" anchor="t"/>
          <a:lstStyle/>
          <a:p>
            <a:pPr algn="l" indent="0" marL="0">
              <a:lnSpc>
                <a:spcPts val="1053"/>
              </a:lnSpc>
              <a:buNone/>
            </a:pPr>
            <a:r>
              <a:rPr lang="en-US" sz="810" dirty="0">
                <a:solidFill>
                  <a:srgbClr val="3F3A33"/>
                </a:solidFill>
                <a:latin typeface="Calibri" pitchFamily="34" charset="0"/>
                <a:ea typeface="Calibri" pitchFamily="34" charset="-122"/>
                <a:cs typeface="Calibri" pitchFamily="34" charset="-120"/>
              </a:rPr>
              <a:t>Boundaries, hierarchy, subsystems</a:t>
            </a:r>
            <a:endParaRPr lang="en-US" sz="810" dirty="0"/>
          </a:p>
        </p:txBody>
      </p:sp>
      <p:sp>
        <p:nvSpPr>
          <p:cNvPr id="18" name="Text 16"/>
          <p:cNvSpPr txBox="1"/>
          <p:nvPr/>
        </p:nvSpPr>
        <p:spPr>
          <a:xfrm>
            <a:off x="5550408" y="2554605"/>
            <a:ext cx="2660904" cy="640080"/>
          </a:xfrm>
          <a:prstGeom prst="rect">
            <a:avLst/>
          </a:prstGeom>
          <a:noFill/>
          <a:ln/>
        </p:spPr>
        <p:txBody>
          <a:bodyPr wrap="square" lIns="0" tIns="0" rIns="0" bIns="0" rtlCol="0" anchor="t"/>
          <a:lstStyle/>
          <a:p>
            <a:pPr algn="l" indent="0" marL="0">
              <a:lnSpc>
                <a:spcPts val="1053"/>
              </a:lnSpc>
              <a:buNone/>
            </a:pPr>
            <a:r>
              <a:rPr lang="en-US" sz="810" dirty="0">
                <a:solidFill>
                  <a:srgbClr val="3F3A33"/>
                </a:solidFill>
                <a:latin typeface="Calibri" pitchFamily="34" charset="0"/>
                <a:ea typeface="Calibri" pitchFamily="34" charset="-122"/>
                <a:cs typeface="Calibri" pitchFamily="34" charset="-120"/>
              </a:rPr>
              <a:t>Enmeshed or disengaged boundaries; cross-generational</a:t>
            </a:r>
            <a:endParaRPr lang="en-US" sz="810" dirty="0"/>
          </a:p>
          <a:p>
            <a:pPr algn="l" indent="0" marL="0">
              <a:lnSpc>
                <a:spcPts val="1053"/>
              </a:lnSpc>
              <a:buNone/>
            </a:pPr>
            <a:r>
              <a:rPr lang="en-US" sz="810" dirty="0">
                <a:solidFill>
                  <a:srgbClr val="3F3A33"/>
                </a:solidFill>
                <a:latin typeface="Calibri" pitchFamily="34" charset="0"/>
                <a:ea typeface="Calibri" pitchFamily="34" charset="-122"/>
                <a:cs typeface="Calibri" pitchFamily="34" charset="-120"/>
              </a:rPr>
              <a:t>coalitions</a:t>
            </a:r>
            <a:endParaRPr lang="en-US" sz="810" dirty="0"/>
          </a:p>
        </p:txBody>
      </p:sp>
      <p:sp>
        <p:nvSpPr>
          <p:cNvPr id="19" name="Text 17"/>
          <p:cNvSpPr txBox="1"/>
          <p:nvPr/>
        </p:nvSpPr>
        <p:spPr>
          <a:xfrm>
            <a:off x="8430768" y="2621471"/>
            <a:ext cx="2660904" cy="640080"/>
          </a:xfrm>
          <a:prstGeom prst="rect">
            <a:avLst/>
          </a:prstGeom>
          <a:noFill/>
          <a:ln/>
        </p:spPr>
        <p:txBody>
          <a:bodyPr wrap="square" lIns="0" tIns="0" rIns="0" bIns="0" rtlCol="0" anchor="t"/>
          <a:lstStyle/>
          <a:p>
            <a:pPr algn="l" indent="0" marL="0">
              <a:lnSpc>
                <a:spcPts val="1053"/>
              </a:lnSpc>
              <a:buNone/>
            </a:pPr>
            <a:r>
              <a:rPr lang="en-US" sz="810" dirty="0">
                <a:solidFill>
                  <a:srgbClr val="3F3A33"/>
                </a:solidFill>
                <a:latin typeface="Calibri" pitchFamily="34" charset="0"/>
                <a:ea typeface="Calibri" pitchFamily="34" charset="-122"/>
                <a:cs typeface="Calibri" pitchFamily="34" charset="-120"/>
              </a:rPr>
              <a:t>Enactment, boundary-making, unbalancing</a:t>
            </a:r>
            <a:endParaRPr lang="en-US" sz="810" dirty="0"/>
          </a:p>
        </p:txBody>
      </p:sp>
      <p:sp>
        <p:nvSpPr>
          <p:cNvPr id="20" name="Shape 18"/>
          <p:cNvSpPr/>
          <p:nvPr/>
        </p:nvSpPr>
        <p:spPr>
          <a:xfrm>
            <a:off x="868680" y="3063240"/>
            <a:ext cx="10451592" cy="91"/>
          </a:xfrm>
          <a:prstGeom prst="line">
            <a:avLst/>
          </a:prstGeom>
          <a:noFill/>
          <a:ln w="6985">
            <a:solidFill>
              <a:srgbClr val="D9CDB7"/>
            </a:solidFill>
            <a:prstDash val="solid"/>
            <a:headEnd type="none"/>
            <a:tailEnd type="none"/>
          </a:ln>
        </p:spPr>
      </p:sp>
      <p:sp>
        <p:nvSpPr>
          <p:cNvPr id="21" name="Text 19"/>
          <p:cNvSpPr txBox="1"/>
          <p:nvPr/>
        </p:nvSpPr>
        <p:spPr>
          <a:xfrm>
            <a:off x="978408" y="3388614"/>
            <a:ext cx="1618488" cy="804672"/>
          </a:xfrm>
          <a:prstGeom prst="rect">
            <a:avLst/>
          </a:prstGeom>
          <a:noFill/>
          <a:ln/>
        </p:spPr>
        <p:txBody>
          <a:bodyPr wrap="square" lIns="0" tIns="0" rIns="0" bIns="0" rtlCol="0" anchor="t"/>
          <a:lstStyle/>
          <a:p>
            <a:pPr algn="l" indent="0" marL="0">
              <a:lnSpc>
                <a:spcPts val="1500"/>
              </a:lnSpc>
              <a:buNone/>
            </a:pPr>
            <a:r>
              <a:rPr lang="en-US" sz="1250" dirty="0">
                <a:solidFill>
                  <a:srgbClr val="1B1815"/>
                </a:solidFill>
                <a:latin typeface="Georgia" pitchFamily="34" charset="0"/>
                <a:ea typeface="Georgia" pitchFamily="34" charset="-122"/>
                <a:cs typeface="Georgia" pitchFamily="34" charset="-120"/>
              </a:rPr>
              <a:t>Strategic</a:t>
            </a:r>
            <a:endParaRPr lang="en-US" sz="1250" dirty="0"/>
          </a:p>
        </p:txBody>
      </p:sp>
      <p:sp>
        <p:nvSpPr>
          <p:cNvPr id="22" name="Text 20"/>
          <p:cNvSpPr txBox="1"/>
          <p:nvPr/>
        </p:nvSpPr>
        <p:spPr>
          <a:xfrm>
            <a:off x="2761488" y="3426142"/>
            <a:ext cx="2569464" cy="640080"/>
          </a:xfrm>
          <a:prstGeom prst="rect">
            <a:avLst/>
          </a:prstGeom>
          <a:noFill/>
          <a:ln/>
        </p:spPr>
        <p:txBody>
          <a:bodyPr wrap="square" lIns="0" tIns="0" rIns="0" bIns="0" rtlCol="0" anchor="t"/>
          <a:lstStyle/>
          <a:p>
            <a:pPr algn="l" indent="0" marL="0">
              <a:lnSpc>
                <a:spcPts val="1053"/>
              </a:lnSpc>
              <a:buNone/>
            </a:pPr>
            <a:r>
              <a:rPr lang="en-US" sz="810" dirty="0">
                <a:solidFill>
                  <a:srgbClr val="3F3A33"/>
                </a:solidFill>
                <a:latin typeface="Calibri" pitchFamily="34" charset="0"/>
                <a:ea typeface="Calibri" pitchFamily="34" charset="-122"/>
                <a:cs typeface="Calibri" pitchFamily="34" charset="-120"/>
              </a:rPr>
              <a:t>Attempted solutions maintaining the problem</a:t>
            </a:r>
            <a:endParaRPr lang="en-US" sz="810" dirty="0"/>
          </a:p>
        </p:txBody>
      </p:sp>
      <p:sp>
        <p:nvSpPr>
          <p:cNvPr id="23" name="Text 21"/>
          <p:cNvSpPr txBox="1"/>
          <p:nvPr/>
        </p:nvSpPr>
        <p:spPr>
          <a:xfrm>
            <a:off x="5550408" y="3426142"/>
            <a:ext cx="2660904" cy="640080"/>
          </a:xfrm>
          <a:prstGeom prst="rect">
            <a:avLst/>
          </a:prstGeom>
          <a:noFill/>
          <a:ln/>
        </p:spPr>
        <p:txBody>
          <a:bodyPr wrap="square" lIns="0" tIns="0" rIns="0" bIns="0" rtlCol="0" anchor="t"/>
          <a:lstStyle/>
          <a:p>
            <a:pPr algn="l" indent="0" marL="0">
              <a:lnSpc>
                <a:spcPts val="1053"/>
              </a:lnSpc>
              <a:buNone/>
            </a:pPr>
            <a:r>
              <a:rPr lang="en-US" sz="810" dirty="0">
                <a:solidFill>
                  <a:srgbClr val="3F3A33"/>
                </a:solidFill>
                <a:latin typeface="Calibri" pitchFamily="34" charset="0"/>
                <a:ea typeface="Calibri" pitchFamily="34" charset="-122"/>
                <a:cs typeface="Calibri" pitchFamily="34" charset="-120"/>
              </a:rPr>
              <a:t>Circular feedback; power in the symptom</a:t>
            </a:r>
            <a:endParaRPr lang="en-US" sz="810" dirty="0"/>
          </a:p>
        </p:txBody>
      </p:sp>
      <p:sp>
        <p:nvSpPr>
          <p:cNvPr id="24" name="Text 22"/>
          <p:cNvSpPr txBox="1"/>
          <p:nvPr/>
        </p:nvSpPr>
        <p:spPr>
          <a:xfrm>
            <a:off x="8430768" y="3426142"/>
            <a:ext cx="2660904" cy="640080"/>
          </a:xfrm>
          <a:prstGeom prst="rect">
            <a:avLst/>
          </a:prstGeom>
          <a:noFill/>
          <a:ln/>
        </p:spPr>
        <p:txBody>
          <a:bodyPr wrap="square" lIns="0" tIns="0" rIns="0" bIns="0" rtlCol="0" anchor="t"/>
          <a:lstStyle/>
          <a:p>
            <a:pPr algn="l" indent="0" marL="0">
              <a:lnSpc>
                <a:spcPts val="1053"/>
              </a:lnSpc>
              <a:buNone/>
            </a:pPr>
            <a:r>
              <a:rPr lang="en-US" sz="810" dirty="0">
                <a:solidFill>
                  <a:srgbClr val="3F3A33"/>
                </a:solidFill>
                <a:latin typeface="Calibri" pitchFamily="34" charset="0"/>
                <a:ea typeface="Calibri" pitchFamily="34" charset="-122"/>
                <a:cs typeface="Calibri" pitchFamily="34" charset="-120"/>
              </a:rPr>
              <a:t>Directives, paradoxical tasks, reframing</a:t>
            </a:r>
            <a:endParaRPr lang="en-US" sz="810" dirty="0"/>
          </a:p>
        </p:txBody>
      </p:sp>
      <p:sp>
        <p:nvSpPr>
          <p:cNvPr id="25" name="Shape 23"/>
          <p:cNvSpPr/>
          <p:nvPr/>
        </p:nvSpPr>
        <p:spPr>
          <a:xfrm>
            <a:off x="868680" y="3867912"/>
            <a:ext cx="10451592" cy="91"/>
          </a:xfrm>
          <a:prstGeom prst="line">
            <a:avLst/>
          </a:prstGeom>
          <a:noFill/>
          <a:ln w="6985">
            <a:solidFill>
              <a:srgbClr val="D9CDB7"/>
            </a:solidFill>
            <a:prstDash val="solid"/>
            <a:headEnd type="none"/>
            <a:tailEnd type="none"/>
          </a:ln>
        </p:spPr>
      </p:sp>
      <p:sp>
        <p:nvSpPr>
          <p:cNvPr id="26" name="Shape 24"/>
          <p:cNvSpPr/>
          <p:nvPr/>
        </p:nvSpPr>
        <p:spPr>
          <a:xfrm>
            <a:off x="868680" y="3886200"/>
            <a:ext cx="10451592" cy="804672"/>
          </a:xfrm>
          <a:prstGeom prst="rect">
            <a:avLst/>
          </a:prstGeom>
          <a:solidFill>
            <a:srgbClr val="EFE5D3">
              <a:alpha val="30000"/>
            </a:srgbClr>
          </a:solidFill>
          <a:ln w="12700">
            <a:solidFill>
              <a:srgbClr val="FFFFFF">
                <a:alpha val="0"/>
              </a:srgbClr>
            </a:solidFill>
            <a:prstDash val="solid"/>
          </a:ln>
        </p:spPr>
      </p:sp>
      <p:sp>
        <p:nvSpPr>
          <p:cNvPr id="27" name="Text 25"/>
          <p:cNvSpPr txBox="1"/>
          <p:nvPr/>
        </p:nvSpPr>
        <p:spPr>
          <a:xfrm>
            <a:off x="978408" y="4193286"/>
            <a:ext cx="1618488" cy="804672"/>
          </a:xfrm>
          <a:prstGeom prst="rect">
            <a:avLst/>
          </a:prstGeom>
          <a:noFill/>
          <a:ln/>
        </p:spPr>
        <p:txBody>
          <a:bodyPr wrap="square" lIns="0" tIns="0" rIns="0" bIns="0" rtlCol="0" anchor="t"/>
          <a:lstStyle/>
          <a:p>
            <a:pPr algn="l" indent="0" marL="0">
              <a:lnSpc>
                <a:spcPts val="1500"/>
              </a:lnSpc>
              <a:buNone/>
            </a:pPr>
            <a:r>
              <a:rPr lang="en-US" sz="1250" dirty="0">
                <a:solidFill>
                  <a:srgbClr val="1B1815"/>
                </a:solidFill>
                <a:latin typeface="Georgia" pitchFamily="34" charset="0"/>
                <a:ea typeface="Georgia" pitchFamily="34" charset="-122"/>
                <a:cs typeface="Georgia" pitchFamily="34" charset="-120"/>
              </a:rPr>
              <a:t>Intergenerational</a:t>
            </a:r>
            <a:endParaRPr lang="en-US" sz="1250" dirty="0"/>
          </a:p>
        </p:txBody>
      </p:sp>
      <p:sp>
        <p:nvSpPr>
          <p:cNvPr id="28" name="Text 26"/>
          <p:cNvSpPr txBox="1"/>
          <p:nvPr/>
        </p:nvSpPr>
        <p:spPr>
          <a:xfrm>
            <a:off x="2761488" y="4230815"/>
            <a:ext cx="2569464" cy="640080"/>
          </a:xfrm>
          <a:prstGeom prst="rect">
            <a:avLst/>
          </a:prstGeom>
          <a:noFill/>
          <a:ln/>
        </p:spPr>
        <p:txBody>
          <a:bodyPr wrap="square" lIns="0" tIns="0" rIns="0" bIns="0" rtlCol="0" anchor="t"/>
          <a:lstStyle/>
          <a:p>
            <a:pPr algn="l" indent="0" marL="0">
              <a:lnSpc>
                <a:spcPts val="1053"/>
              </a:lnSpc>
              <a:buNone/>
            </a:pPr>
            <a:r>
              <a:rPr lang="en-US" sz="810" dirty="0">
                <a:solidFill>
                  <a:srgbClr val="3F3A33"/>
                </a:solidFill>
                <a:latin typeface="Calibri" pitchFamily="34" charset="0"/>
                <a:ea typeface="Calibri" pitchFamily="34" charset="-122"/>
                <a:cs typeface="Calibri" pitchFamily="34" charset="-120"/>
              </a:rPr>
              <a:t>Differentiation and multigenerational transmission</a:t>
            </a:r>
            <a:endParaRPr lang="en-US" sz="810" dirty="0"/>
          </a:p>
        </p:txBody>
      </p:sp>
      <p:sp>
        <p:nvSpPr>
          <p:cNvPr id="29" name="Text 27"/>
          <p:cNvSpPr txBox="1"/>
          <p:nvPr/>
        </p:nvSpPr>
        <p:spPr>
          <a:xfrm>
            <a:off x="5550408" y="4230815"/>
            <a:ext cx="2660904" cy="640080"/>
          </a:xfrm>
          <a:prstGeom prst="rect">
            <a:avLst/>
          </a:prstGeom>
          <a:noFill/>
          <a:ln/>
        </p:spPr>
        <p:txBody>
          <a:bodyPr wrap="square" lIns="0" tIns="0" rIns="0" bIns="0" rtlCol="0" anchor="t"/>
          <a:lstStyle/>
          <a:p>
            <a:pPr algn="l" indent="0" marL="0">
              <a:lnSpc>
                <a:spcPts val="1053"/>
              </a:lnSpc>
              <a:buNone/>
            </a:pPr>
            <a:r>
              <a:rPr lang="en-US" sz="810" dirty="0">
                <a:solidFill>
                  <a:srgbClr val="3F3A33"/>
                </a:solidFill>
                <a:latin typeface="Calibri" pitchFamily="34" charset="0"/>
                <a:ea typeface="Calibri" pitchFamily="34" charset="-122"/>
                <a:cs typeface="Calibri" pitchFamily="34" charset="-120"/>
              </a:rPr>
              <a:t>Triangulation; unresolved legacy and loyalty</a:t>
            </a:r>
            <a:endParaRPr lang="en-US" sz="810" dirty="0"/>
          </a:p>
        </p:txBody>
      </p:sp>
      <p:sp>
        <p:nvSpPr>
          <p:cNvPr id="30" name="Text 28"/>
          <p:cNvSpPr txBox="1"/>
          <p:nvPr/>
        </p:nvSpPr>
        <p:spPr>
          <a:xfrm>
            <a:off x="8430768" y="4230815"/>
            <a:ext cx="2660904" cy="640080"/>
          </a:xfrm>
          <a:prstGeom prst="rect">
            <a:avLst/>
          </a:prstGeom>
          <a:noFill/>
          <a:ln/>
        </p:spPr>
        <p:txBody>
          <a:bodyPr wrap="square" lIns="0" tIns="0" rIns="0" bIns="0" rtlCol="0" anchor="t"/>
          <a:lstStyle/>
          <a:p>
            <a:pPr algn="l" indent="0" marL="0">
              <a:lnSpc>
                <a:spcPts val="1053"/>
              </a:lnSpc>
              <a:buNone/>
            </a:pPr>
            <a:r>
              <a:rPr lang="en-US" sz="810" dirty="0">
                <a:solidFill>
                  <a:srgbClr val="3F3A33"/>
                </a:solidFill>
                <a:latin typeface="Calibri" pitchFamily="34" charset="0"/>
                <a:ea typeface="Calibri" pitchFamily="34" charset="-122"/>
                <a:cs typeface="Calibri" pitchFamily="34" charset="-120"/>
              </a:rPr>
              <a:t>Genogram, detriangling, coaching the dyad</a:t>
            </a:r>
            <a:endParaRPr lang="en-US" sz="810" dirty="0"/>
          </a:p>
        </p:txBody>
      </p:sp>
      <p:sp>
        <p:nvSpPr>
          <p:cNvPr id="31" name="Shape 29"/>
          <p:cNvSpPr/>
          <p:nvPr/>
        </p:nvSpPr>
        <p:spPr>
          <a:xfrm>
            <a:off x="868680" y="4672584"/>
            <a:ext cx="10451592" cy="91"/>
          </a:xfrm>
          <a:prstGeom prst="line">
            <a:avLst/>
          </a:prstGeom>
          <a:noFill/>
          <a:ln w="6985">
            <a:solidFill>
              <a:srgbClr val="D9CDB7"/>
            </a:solidFill>
            <a:prstDash val="solid"/>
            <a:headEnd type="none"/>
            <a:tailEnd type="none"/>
          </a:ln>
        </p:spPr>
      </p:sp>
      <p:sp>
        <p:nvSpPr>
          <p:cNvPr id="32" name="Text 30"/>
          <p:cNvSpPr txBox="1"/>
          <p:nvPr/>
        </p:nvSpPr>
        <p:spPr>
          <a:xfrm>
            <a:off x="978408" y="4997958"/>
            <a:ext cx="1618488" cy="804672"/>
          </a:xfrm>
          <a:prstGeom prst="rect">
            <a:avLst/>
          </a:prstGeom>
          <a:noFill/>
          <a:ln/>
        </p:spPr>
        <p:txBody>
          <a:bodyPr wrap="square" lIns="0" tIns="0" rIns="0" bIns="0" rtlCol="0" anchor="t"/>
          <a:lstStyle/>
          <a:p>
            <a:pPr algn="l" indent="0" marL="0">
              <a:lnSpc>
                <a:spcPts val="1500"/>
              </a:lnSpc>
              <a:buNone/>
            </a:pPr>
            <a:r>
              <a:rPr lang="en-US" sz="1250" dirty="0">
                <a:solidFill>
                  <a:srgbClr val="1B1815"/>
                </a:solidFill>
                <a:latin typeface="Georgia" pitchFamily="34" charset="0"/>
                <a:ea typeface="Georgia" pitchFamily="34" charset="-122"/>
                <a:cs typeface="Georgia" pitchFamily="34" charset="-120"/>
              </a:rPr>
              <a:t>Narrative</a:t>
            </a:r>
            <a:endParaRPr lang="en-US" sz="1250" dirty="0"/>
          </a:p>
        </p:txBody>
      </p:sp>
      <p:sp>
        <p:nvSpPr>
          <p:cNvPr id="33" name="Text 31"/>
          <p:cNvSpPr txBox="1"/>
          <p:nvPr/>
        </p:nvSpPr>
        <p:spPr>
          <a:xfrm>
            <a:off x="2761488" y="5035486"/>
            <a:ext cx="2569464" cy="640080"/>
          </a:xfrm>
          <a:prstGeom prst="rect">
            <a:avLst/>
          </a:prstGeom>
          <a:noFill/>
          <a:ln/>
        </p:spPr>
        <p:txBody>
          <a:bodyPr wrap="square" lIns="0" tIns="0" rIns="0" bIns="0" rtlCol="0" anchor="t"/>
          <a:lstStyle/>
          <a:p>
            <a:pPr algn="l" indent="0" marL="0">
              <a:lnSpc>
                <a:spcPts val="1053"/>
              </a:lnSpc>
              <a:buNone/>
            </a:pPr>
            <a:r>
              <a:rPr lang="en-US" sz="810" dirty="0">
                <a:solidFill>
                  <a:srgbClr val="3F3A33"/>
                </a:solidFill>
                <a:latin typeface="Calibri" pitchFamily="34" charset="0"/>
                <a:ea typeface="Calibri" pitchFamily="34" charset="-122"/>
                <a:cs typeface="Calibri" pitchFamily="34" charset="-120"/>
              </a:rPr>
              <a:t>Dominant stories and their effects</a:t>
            </a:r>
            <a:endParaRPr lang="en-US" sz="810" dirty="0"/>
          </a:p>
        </p:txBody>
      </p:sp>
      <p:sp>
        <p:nvSpPr>
          <p:cNvPr id="34" name="Text 32"/>
          <p:cNvSpPr txBox="1"/>
          <p:nvPr/>
        </p:nvSpPr>
        <p:spPr>
          <a:xfrm>
            <a:off x="5550408" y="5035486"/>
            <a:ext cx="2660904" cy="640080"/>
          </a:xfrm>
          <a:prstGeom prst="rect">
            <a:avLst/>
          </a:prstGeom>
          <a:noFill/>
          <a:ln/>
        </p:spPr>
        <p:txBody>
          <a:bodyPr wrap="square" lIns="0" tIns="0" rIns="0" bIns="0" rtlCol="0" anchor="t"/>
          <a:lstStyle/>
          <a:p>
            <a:pPr algn="l" indent="0" marL="0">
              <a:lnSpc>
                <a:spcPts val="1053"/>
              </a:lnSpc>
              <a:buNone/>
            </a:pPr>
            <a:r>
              <a:rPr lang="en-US" sz="810" dirty="0">
                <a:solidFill>
                  <a:srgbClr val="3F3A33"/>
                </a:solidFill>
                <a:latin typeface="Calibri" pitchFamily="34" charset="0"/>
                <a:ea typeface="Calibri" pitchFamily="34" charset="-122"/>
                <a:cs typeface="Calibri" pitchFamily="34" charset="-120"/>
              </a:rPr>
              <a:t>Problem-saturated identity; internalised deficit</a:t>
            </a:r>
            <a:endParaRPr lang="en-US" sz="810" dirty="0"/>
          </a:p>
        </p:txBody>
      </p:sp>
      <p:sp>
        <p:nvSpPr>
          <p:cNvPr id="35" name="Text 33"/>
          <p:cNvSpPr txBox="1"/>
          <p:nvPr/>
        </p:nvSpPr>
        <p:spPr>
          <a:xfrm>
            <a:off x="8430768" y="5035486"/>
            <a:ext cx="2660904" cy="640080"/>
          </a:xfrm>
          <a:prstGeom prst="rect">
            <a:avLst/>
          </a:prstGeom>
          <a:noFill/>
          <a:ln/>
        </p:spPr>
        <p:txBody>
          <a:bodyPr wrap="square" lIns="0" tIns="0" rIns="0" bIns="0" rtlCol="0" anchor="t"/>
          <a:lstStyle/>
          <a:p>
            <a:pPr algn="l" indent="0" marL="0">
              <a:lnSpc>
                <a:spcPts val="1053"/>
              </a:lnSpc>
              <a:buNone/>
            </a:pPr>
            <a:r>
              <a:rPr lang="en-US" sz="810" dirty="0">
                <a:solidFill>
                  <a:srgbClr val="3F3A33"/>
                </a:solidFill>
                <a:latin typeface="Calibri" pitchFamily="34" charset="0"/>
                <a:ea typeface="Calibri" pitchFamily="34" charset="-122"/>
                <a:cs typeface="Calibri" pitchFamily="34" charset="-120"/>
              </a:rPr>
              <a:t>Externalising, unique outcomes, re-authoring</a:t>
            </a:r>
            <a:endParaRPr lang="en-US" sz="810" dirty="0"/>
          </a:p>
        </p:txBody>
      </p:sp>
      <p:sp>
        <p:nvSpPr>
          <p:cNvPr id="36" name="Shape 34"/>
          <p:cNvSpPr/>
          <p:nvPr/>
        </p:nvSpPr>
        <p:spPr>
          <a:xfrm>
            <a:off x="868680" y="5477256"/>
            <a:ext cx="10451592" cy="91"/>
          </a:xfrm>
          <a:prstGeom prst="line">
            <a:avLst/>
          </a:prstGeom>
          <a:noFill/>
          <a:ln w="6985">
            <a:solidFill>
              <a:srgbClr val="D9CDB7"/>
            </a:solidFill>
            <a:prstDash val="solid"/>
            <a:headEnd type="none"/>
            <a:tailEnd type="none"/>
          </a:ln>
        </p:spPr>
      </p:sp>
      <p:sp>
        <p:nvSpPr>
          <p:cNvPr id="37" name="Shape 35"/>
          <p:cNvSpPr/>
          <p:nvPr/>
        </p:nvSpPr>
        <p:spPr>
          <a:xfrm>
            <a:off x="2651760" y="2276856"/>
            <a:ext cx="91" cy="3218688"/>
          </a:xfrm>
          <a:prstGeom prst="line">
            <a:avLst/>
          </a:prstGeom>
          <a:noFill/>
          <a:ln w="6350">
            <a:solidFill>
              <a:srgbClr val="D9CDB7">
                <a:alpha val="80000"/>
              </a:srgbClr>
            </a:solidFill>
            <a:prstDash val="solid"/>
            <a:headEnd type="none"/>
            <a:tailEnd type="none"/>
          </a:ln>
        </p:spPr>
      </p:sp>
      <p:sp>
        <p:nvSpPr>
          <p:cNvPr id="38" name="Shape 36"/>
          <p:cNvSpPr/>
          <p:nvPr/>
        </p:nvSpPr>
        <p:spPr>
          <a:xfrm>
            <a:off x="5440680" y="2276856"/>
            <a:ext cx="91" cy="3218688"/>
          </a:xfrm>
          <a:prstGeom prst="line">
            <a:avLst/>
          </a:prstGeom>
          <a:noFill/>
          <a:ln w="6350">
            <a:solidFill>
              <a:srgbClr val="D9CDB7">
                <a:alpha val="80000"/>
              </a:srgbClr>
            </a:solidFill>
            <a:prstDash val="solid"/>
            <a:headEnd type="none"/>
            <a:tailEnd type="none"/>
          </a:ln>
        </p:spPr>
      </p:sp>
      <p:sp>
        <p:nvSpPr>
          <p:cNvPr id="39" name="Shape 37"/>
          <p:cNvSpPr/>
          <p:nvPr/>
        </p:nvSpPr>
        <p:spPr>
          <a:xfrm>
            <a:off x="8321040" y="2276856"/>
            <a:ext cx="91" cy="3218688"/>
          </a:xfrm>
          <a:prstGeom prst="line">
            <a:avLst/>
          </a:prstGeom>
          <a:noFill/>
          <a:ln w="6350">
            <a:solidFill>
              <a:srgbClr val="D9CDB7">
                <a:alpha val="80000"/>
              </a:srgbClr>
            </a:solidFill>
            <a:prstDash val="solid"/>
            <a:headEnd type="none"/>
            <a:tailEnd type="none"/>
          </a:ln>
        </p:spPr>
      </p:sp>
      <p:sp>
        <p:nvSpPr>
          <p:cNvPr id="40" name="Text 38"/>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A comparative grid for the Week 9 written formulation.</a:t>
            </a:r>
            <a:endParaRPr lang="en-US" sz="74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48640"/>
            <a:ext cx="82296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08 · SEMINAR</a:t>
            </a:r>
            <a:endParaRPr lang="en-US" sz="760" dirty="0"/>
          </a:p>
        </p:txBody>
      </p:sp>
      <p:sp>
        <p:nvSpPr>
          <p:cNvPr id="3" name="Text 1"/>
          <p:cNvSpPr txBox="1"/>
          <p:nvPr/>
        </p:nvSpPr>
        <p:spPr>
          <a:xfrm>
            <a:off x="822960" y="1417320"/>
            <a:ext cx="7863840" cy="915416"/>
          </a:xfrm>
          <a:prstGeom prst="rect">
            <a:avLst/>
          </a:prstGeom>
          <a:noFill/>
          <a:ln/>
        </p:spPr>
        <p:txBody>
          <a:bodyPr wrap="square" lIns="0" tIns="0" rIns="0" bIns="0" rtlCol="0" anchor="t"/>
          <a:lstStyle/>
          <a:p>
            <a:pPr algn="l" indent="0" marL="0">
              <a:lnSpc>
                <a:spcPts val="3808"/>
              </a:lnSpc>
              <a:buNone/>
            </a:pPr>
            <a:r>
              <a:rPr lang="en-US" sz="3400" dirty="0">
                <a:solidFill>
                  <a:srgbClr val="F8F3E9"/>
                </a:solidFill>
                <a:latin typeface="Georgia" pitchFamily="34" charset="0"/>
                <a:ea typeface="Georgia" pitchFamily="34" charset="-122"/>
                <a:cs typeface="Georgia" pitchFamily="34" charset="-120"/>
              </a:rPr>
              <a:t>Same family, four lenses</a:t>
            </a:r>
            <a:endParaRPr lang="en-US" sz="3400" dirty="0"/>
          </a:p>
        </p:txBody>
      </p:sp>
      <p:sp>
        <p:nvSpPr>
          <p:cNvPr id="4" name="Shape 2"/>
          <p:cNvSpPr/>
          <p:nvPr/>
        </p:nvSpPr>
        <p:spPr>
          <a:xfrm>
            <a:off x="822960" y="2395728"/>
            <a:ext cx="1280160" cy="91"/>
          </a:xfrm>
          <a:prstGeom prst="line">
            <a:avLst/>
          </a:prstGeom>
          <a:noFill/>
          <a:ln w="11430">
            <a:solidFill>
              <a:srgbClr val="C2A05F"/>
            </a:solidFill>
            <a:prstDash val="solid"/>
            <a:headEnd type="none"/>
            <a:tailEnd type="none"/>
          </a:ln>
        </p:spPr>
      </p:sp>
      <p:sp>
        <p:nvSpPr>
          <p:cNvPr id="5" name="Text 3"/>
          <p:cNvSpPr txBox="1"/>
          <p:nvPr/>
        </p:nvSpPr>
        <p:spPr>
          <a:xfrm>
            <a:off x="822960" y="2651760"/>
            <a:ext cx="6949440" cy="643890"/>
          </a:xfrm>
          <a:prstGeom prst="rect">
            <a:avLst/>
          </a:prstGeom>
          <a:noFill/>
          <a:ln/>
        </p:spPr>
        <p:txBody>
          <a:bodyPr wrap="square" lIns="0" tIns="0" rIns="0" bIns="0" rtlCol="0" anchor="t"/>
          <a:lstStyle/>
          <a:p>
            <a:pPr algn="l" indent="0" marL="0">
              <a:lnSpc>
                <a:spcPts val="1885"/>
              </a:lnSpc>
              <a:buNone/>
            </a:pPr>
            <a:r>
              <a:rPr lang="en-US" sz="1300" i="1" dirty="0">
                <a:solidFill>
                  <a:srgbClr val="E7D3A9"/>
                </a:solidFill>
                <a:latin typeface="Georgia" pitchFamily="34" charset="0"/>
                <a:ea typeface="Georgia" pitchFamily="34" charset="-122"/>
                <a:cs typeface="Georgia" pitchFamily="34" charset="-120"/>
              </a:rPr>
              <a:t>Using the family from your case formulation, argue the case for each model in turn — then</a:t>
            </a:r>
            <a:endParaRPr lang="en-US" sz="1300" dirty="0"/>
          </a:p>
          <a:p>
            <a:pPr algn="l" indent="0" marL="0">
              <a:lnSpc>
                <a:spcPts val="1885"/>
              </a:lnSpc>
              <a:buNone/>
            </a:pPr>
            <a:r>
              <a:rPr lang="en-US" sz="1300" i="1" dirty="0">
                <a:solidFill>
                  <a:srgbClr val="E7D3A9"/>
                </a:solidFill>
                <a:latin typeface="Georgia" pitchFamily="34" charset="0"/>
                <a:ea typeface="Georgia" pitchFamily="34" charset="-122"/>
                <a:cs typeface="Georgia" pitchFamily="34" charset="-120"/>
              </a:rPr>
              <a:t>choose one and justify the choice.</a:t>
            </a:r>
            <a:endParaRPr lang="en-US" sz="1300" dirty="0"/>
          </a:p>
        </p:txBody>
      </p:sp>
      <p:sp>
        <p:nvSpPr>
          <p:cNvPr id="6" name="Text 4"/>
          <p:cNvSpPr txBox="1"/>
          <p:nvPr/>
        </p:nvSpPr>
        <p:spPr>
          <a:xfrm>
            <a:off x="822960" y="374904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01</a:t>
            </a:r>
            <a:endParaRPr lang="en-US" sz="1500" dirty="0"/>
          </a:p>
        </p:txBody>
      </p:sp>
      <p:sp>
        <p:nvSpPr>
          <p:cNvPr id="7" name="Text 5"/>
          <p:cNvSpPr txBox="1"/>
          <p:nvPr/>
        </p:nvSpPr>
        <p:spPr>
          <a:xfrm>
            <a:off x="1280160" y="374904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What does each model see that the others miss?</a:t>
            </a:r>
            <a:endParaRPr lang="en-US" sz="980" dirty="0"/>
          </a:p>
        </p:txBody>
      </p:sp>
      <p:sp>
        <p:nvSpPr>
          <p:cNvPr id="8" name="Text 6"/>
          <p:cNvSpPr txBox="1"/>
          <p:nvPr/>
        </p:nvSpPr>
        <p:spPr>
          <a:xfrm>
            <a:off x="6400800" y="374904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02</a:t>
            </a:r>
            <a:endParaRPr lang="en-US" sz="1500" dirty="0"/>
          </a:p>
        </p:txBody>
      </p:sp>
      <p:sp>
        <p:nvSpPr>
          <p:cNvPr id="9" name="Text 7"/>
          <p:cNvSpPr txBox="1"/>
          <p:nvPr/>
        </p:nvSpPr>
        <p:spPr>
          <a:xfrm>
            <a:off x="6858000" y="374904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Where do the formulations contradict one another?</a:t>
            </a:r>
            <a:endParaRPr lang="en-US" sz="980" dirty="0"/>
          </a:p>
        </p:txBody>
      </p:sp>
      <p:sp>
        <p:nvSpPr>
          <p:cNvPr id="10" name="Text 8"/>
          <p:cNvSpPr txBox="1"/>
          <p:nvPr/>
        </p:nvSpPr>
        <p:spPr>
          <a:xfrm>
            <a:off x="822960" y="480060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03</a:t>
            </a:r>
            <a:endParaRPr lang="en-US" sz="1500" dirty="0"/>
          </a:p>
        </p:txBody>
      </p:sp>
      <p:sp>
        <p:nvSpPr>
          <p:cNvPr id="11" name="Text 9"/>
          <p:cNvSpPr txBox="1"/>
          <p:nvPr/>
        </p:nvSpPr>
        <p:spPr>
          <a:xfrm>
            <a:off x="1280160" y="480060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Which intervention follows from your chosen account?</a:t>
            </a:r>
            <a:endParaRPr lang="en-US" sz="980" dirty="0"/>
          </a:p>
        </p:txBody>
      </p:sp>
      <p:sp>
        <p:nvSpPr>
          <p:cNvPr id="12" name="Text 10"/>
          <p:cNvSpPr txBox="1"/>
          <p:nvPr/>
        </p:nvSpPr>
        <p:spPr>
          <a:xfrm>
            <a:off x="6400800" y="480060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04</a:t>
            </a:r>
            <a:endParaRPr lang="en-US" sz="1500" dirty="0"/>
          </a:p>
        </p:txBody>
      </p:sp>
      <p:sp>
        <p:nvSpPr>
          <p:cNvPr id="13" name="Text 11"/>
          <p:cNvSpPr txBox="1"/>
          <p:nvPr/>
        </p:nvSpPr>
        <p:spPr>
          <a:xfrm>
            <a:off x="6858000" y="480060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What would count as evidence that you were wrong?</a:t>
            </a:r>
            <a:endParaRPr lang="en-US" sz="980" dirty="0"/>
          </a:p>
        </p:txBody>
      </p:sp>
      <p:sp>
        <p:nvSpPr>
          <p:cNvPr id="14" name="Shape 12"/>
          <p:cNvSpPr/>
          <p:nvPr/>
        </p:nvSpPr>
        <p:spPr>
          <a:xfrm>
            <a:off x="822960" y="5340096"/>
            <a:ext cx="10546050" cy="91"/>
          </a:xfrm>
          <a:prstGeom prst="line">
            <a:avLst/>
          </a:prstGeom>
          <a:noFill/>
          <a:ln w="6350">
            <a:solidFill>
              <a:srgbClr val="3A332A"/>
            </a:solidFill>
            <a:prstDash val="solid"/>
            <a:headEnd type="none"/>
            <a:tailEnd type="none"/>
          </a:ln>
        </p:spPr>
      </p:sp>
      <p:sp>
        <p:nvSpPr>
          <p:cNvPr id="15" name="Text 13"/>
          <p:cNvSpPr txBox="1"/>
          <p:nvPr/>
        </p:nvSpPr>
        <p:spPr>
          <a:xfrm>
            <a:off x="82296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05</a:t>
            </a:r>
            <a:endParaRPr lang="en-US" sz="1100" dirty="0"/>
          </a:p>
        </p:txBody>
      </p:sp>
      <p:sp>
        <p:nvSpPr>
          <p:cNvPr id="16" name="Text 14"/>
          <p:cNvSpPr txBox="1"/>
          <p:nvPr/>
        </p:nvSpPr>
        <p:spPr>
          <a:xfrm>
            <a:off x="120700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SILENT WRITING</a:t>
            </a:r>
            <a:endParaRPr lang="en-US" sz="680" dirty="0"/>
          </a:p>
        </p:txBody>
      </p:sp>
      <p:sp>
        <p:nvSpPr>
          <p:cNvPr id="17" name="Text 15"/>
          <p:cNvSpPr txBox="1"/>
          <p:nvPr/>
        </p:nvSpPr>
        <p:spPr>
          <a:xfrm>
            <a:off x="352044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10</a:t>
            </a:r>
            <a:endParaRPr lang="en-US" sz="1100" dirty="0"/>
          </a:p>
        </p:txBody>
      </p:sp>
      <p:sp>
        <p:nvSpPr>
          <p:cNvPr id="18" name="Text 16"/>
          <p:cNvSpPr txBox="1"/>
          <p:nvPr/>
        </p:nvSpPr>
        <p:spPr>
          <a:xfrm>
            <a:off x="390448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PAIRS</a:t>
            </a:r>
            <a:endParaRPr lang="en-US" sz="680" dirty="0"/>
          </a:p>
        </p:txBody>
      </p:sp>
      <p:sp>
        <p:nvSpPr>
          <p:cNvPr id="19" name="Text 17"/>
          <p:cNvSpPr txBox="1"/>
          <p:nvPr/>
        </p:nvSpPr>
        <p:spPr>
          <a:xfrm>
            <a:off x="621792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20</a:t>
            </a:r>
            <a:endParaRPr lang="en-US" sz="1100" dirty="0"/>
          </a:p>
        </p:txBody>
      </p:sp>
      <p:sp>
        <p:nvSpPr>
          <p:cNvPr id="20" name="Text 18"/>
          <p:cNvSpPr txBox="1"/>
          <p:nvPr/>
        </p:nvSpPr>
        <p:spPr>
          <a:xfrm>
            <a:off x="660196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PLENARY</a:t>
            </a:r>
            <a:endParaRPr lang="en-US" sz="680" dirty="0"/>
          </a:p>
        </p:txBody>
      </p:sp>
      <p:sp>
        <p:nvSpPr>
          <p:cNvPr id="21" name="Text 19"/>
          <p:cNvSpPr txBox="1"/>
          <p:nvPr/>
        </p:nvSpPr>
        <p:spPr>
          <a:xfrm>
            <a:off x="891540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05</a:t>
            </a:r>
            <a:endParaRPr lang="en-US" sz="1100" dirty="0"/>
          </a:p>
        </p:txBody>
      </p:sp>
      <p:sp>
        <p:nvSpPr>
          <p:cNvPr id="22" name="Text 20"/>
          <p:cNvSpPr txBox="1"/>
          <p:nvPr/>
        </p:nvSpPr>
        <p:spPr>
          <a:xfrm>
            <a:off x="929944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CLOSE</a:t>
            </a:r>
            <a:endParaRPr lang="en-US" sz="680" dirty="0"/>
          </a:p>
        </p:txBody>
      </p:sp>
      <p:sp>
        <p:nvSpPr>
          <p:cNvPr id="23" name="Text 21"/>
          <p:cNvSpPr txBox="1"/>
          <p:nvPr/>
        </p:nvSpPr>
        <p:spPr>
          <a:xfrm>
            <a:off x="8442930" y="5522976"/>
            <a:ext cx="2926080" cy="191008"/>
          </a:xfrm>
          <a:prstGeom prst="rect">
            <a:avLst/>
          </a:prstGeom>
          <a:noFill/>
          <a:ln/>
        </p:spPr>
        <p:txBody>
          <a:bodyPr wrap="square" lIns="0" tIns="0" rIns="0" bIns="0" rtlCol="0" anchor="t"/>
          <a:lstStyle/>
          <a:p>
            <a:pPr algn="r" indent="0" marL="0">
              <a:lnSpc>
                <a:spcPts val="864"/>
              </a:lnSpc>
              <a:buNone/>
            </a:pPr>
            <a:r>
              <a:rPr lang="en-US" sz="640" spc="160" kern="0" dirty="0">
                <a:solidFill>
                  <a:srgbClr val="8B8375"/>
                </a:solidFill>
                <a:latin typeface="Calibri" pitchFamily="34" charset="0"/>
                <a:ea typeface="Calibri" pitchFamily="34" charset="-122"/>
                <a:cs typeface="Calibri" pitchFamily="34" charset="-120"/>
              </a:rPr>
              <a:t>MINUTES</a:t>
            </a:r>
            <a:endParaRPr lang="en-US" sz="640" dirty="0"/>
          </a:p>
        </p:txBody>
      </p:sp>
      <p:sp>
        <p:nvSpPr>
          <p:cNvPr id="24" name="Shape 22"/>
          <p:cNvSpPr/>
          <p:nvPr/>
        </p:nvSpPr>
        <p:spPr>
          <a:xfrm>
            <a:off x="822960" y="722376"/>
            <a:ext cx="10546050" cy="91"/>
          </a:xfrm>
          <a:prstGeom prst="line">
            <a:avLst/>
          </a:prstGeom>
          <a:noFill/>
          <a:ln w="6350">
            <a:solidFill>
              <a:srgbClr val="3A332A"/>
            </a:solidFill>
            <a:prstDash val="solid"/>
            <a:headEnd type="none"/>
            <a:tailEnd type="none"/>
          </a:ln>
        </p:spPr>
      </p:sp>
      <p:sp>
        <p:nvSpPr>
          <p:cNvPr id="25" name="Text 23"/>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26" name="Text 24"/>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40</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48640"/>
            <a:ext cx="6400800" cy="238760"/>
          </a:xfrm>
          <a:prstGeom prst="rect">
            <a:avLst/>
          </a:prstGeom>
          <a:noFill/>
          <a:ln/>
        </p:spPr>
        <p:txBody>
          <a:bodyPr wrap="square" lIns="0" tIns="0" rIns="0" bIns="0" rtlCol="0" anchor="t"/>
          <a:lstStyle/>
          <a:p>
            <a:pPr algn="l" indent="0" marL="0">
              <a:lnSpc>
                <a:spcPts val="1080"/>
              </a:lnSpc>
              <a:buNone/>
            </a:pPr>
            <a:r>
              <a:rPr lang="en-US" sz="800" spc="300" kern="0" dirty="0">
                <a:solidFill>
                  <a:srgbClr val="C2A05F"/>
                </a:solidFill>
                <a:latin typeface="Calibri" pitchFamily="34" charset="0"/>
                <a:ea typeface="Calibri" pitchFamily="34" charset="-122"/>
                <a:cs typeface="Calibri" pitchFamily="34" charset="-120"/>
              </a:rPr>
              <a:t>PHASE III · WEEKS 9–12</a:t>
            </a:r>
            <a:endParaRPr lang="en-US" sz="800" dirty="0"/>
          </a:p>
        </p:txBody>
      </p:sp>
      <p:sp>
        <p:nvSpPr>
          <p:cNvPr id="3" name="Text 1"/>
          <p:cNvSpPr txBox="1"/>
          <p:nvPr/>
        </p:nvSpPr>
        <p:spPr>
          <a:xfrm>
            <a:off x="6035040" y="-457200"/>
            <a:ext cx="5486400" cy="7620000"/>
          </a:xfrm>
          <a:prstGeom prst="rect">
            <a:avLst/>
          </a:prstGeom>
          <a:noFill/>
          <a:ln/>
        </p:spPr>
        <p:txBody>
          <a:bodyPr wrap="square" lIns="0" tIns="0" rIns="0" bIns="0" rtlCol="0" anchor="t"/>
          <a:lstStyle/>
          <a:p>
            <a:pPr algn="r" indent="0" marL="0">
              <a:lnSpc>
                <a:spcPts val="30000"/>
              </a:lnSpc>
              <a:buNone/>
            </a:pPr>
            <a:r>
              <a:rPr lang="en-US" sz="30000" dirty="0">
                <a:solidFill>
                  <a:srgbClr val="181611"/>
                </a:solidFill>
                <a:latin typeface="Georgia" pitchFamily="34" charset="0"/>
                <a:ea typeface="Georgia" pitchFamily="34" charset="-122"/>
                <a:cs typeface="Georgia" pitchFamily="34" charset="-120"/>
              </a:rPr>
              <a:t>09</a:t>
            </a:r>
            <a:endParaRPr lang="en-US" sz="30000" dirty="0"/>
          </a:p>
        </p:txBody>
      </p:sp>
      <p:sp>
        <p:nvSpPr>
          <p:cNvPr id="4" name="Text 2"/>
          <p:cNvSpPr txBox="1"/>
          <p:nvPr/>
        </p:nvSpPr>
        <p:spPr>
          <a:xfrm>
            <a:off x="822960" y="1874520"/>
            <a:ext cx="6766560" cy="1215136"/>
          </a:xfrm>
          <a:prstGeom prst="rect">
            <a:avLst/>
          </a:prstGeom>
          <a:noFill/>
          <a:ln/>
        </p:spPr>
        <p:txBody>
          <a:bodyPr wrap="square" lIns="0" tIns="0" rIns="0" bIns="0" rtlCol="0" anchor="t"/>
          <a:lstStyle/>
          <a:p>
            <a:pPr algn="l" indent="0" marL="0">
              <a:lnSpc>
                <a:spcPts val="4968"/>
              </a:lnSpc>
              <a:buNone/>
            </a:pPr>
            <a:r>
              <a:rPr lang="en-US" sz="4600" dirty="0">
                <a:solidFill>
                  <a:srgbClr val="F8F3E9"/>
                </a:solidFill>
                <a:latin typeface="Georgia" pitchFamily="34" charset="0"/>
                <a:ea typeface="Georgia" pitchFamily="34" charset="-122"/>
                <a:cs typeface="Georgia" pitchFamily="34" charset="-120"/>
              </a:rPr>
              <a:t>The Clinical Encounter</a:t>
            </a:r>
            <a:endParaRPr lang="en-US" sz="4600" dirty="0"/>
          </a:p>
        </p:txBody>
      </p:sp>
      <p:sp>
        <p:nvSpPr>
          <p:cNvPr id="5" name="Text 3"/>
          <p:cNvSpPr txBox="1"/>
          <p:nvPr/>
        </p:nvSpPr>
        <p:spPr>
          <a:xfrm>
            <a:off x="822960" y="3429000"/>
            <a:ext cx="6035040" cy="736600"/>
          </a:xfrm>
          <a:prstGeom prst="rect">
            <a:avLst/>
          </a:prstGeom>
          <a:noFill/>
          <a:ln/>
        </p:spPr>
        <p:txBody>
          <a:bodyPr wrap="square" lIns="0" tIns="0" rIns="0" bIns="0" rtlCol="0" anchor="t"/>
          <a:lstStyle/>
          <a:p>
            <a:pPr algn="l" indent="0" marL="0">
              <a:lnSpc>
                <a:spcPts val="2175"/>
              </a:lnSpc>
              <a:buNone/>
            </a:pPr>
            <a:r>
              <a:rPr lang="en-US" sz="1450" i="1" dirty="0">
                <a:solidFill>
                  <a:srgbClr val="E7D3A9"/>
                </a:solidFill>
                <a:latin typeface="Georgia" pitchFamily="34" charset="0"/>
                <a:ea typeface="Georgia" pitchFamily="34" charset="-122"/>
                <a:cs typeface="Georgia" pitchFamily="34" charset="-120"/>
              </a:rPr>
              <a:t>Joining, assessing and negotiating the ethical and cultural complexity of</a:t>
            </a:r>
            <a:endParaRPr lang="en-US" sz="1450" dirty="0"/>
          </a:p>
          <a:p>
            <a:pPr algn="l" indent="0" marL="0">
              <a:lnSpc>
                <a:spcPts val="2175"/>
              </a:lnSpc>
              <a:buNone/>
            </a:pPr>
            <a:r>
              <a:rPr lang="en-US" sz="1450" i="1" dirty="0">
                <a:solidFill>
                  <a:srgbClr val="E7D3A9"/>
                </a:solidFill>
                <a:latin typeface="Georgia" pitchFamily="34" charset="0"/>
                <a:ea typeface="Georgia" pitchFamily="34" charset="-122"/>
                <a:cs typeface="Georgia" pitchFamily="34" charset="-120"/>
              </a:rPr>
              <a:t>real clinical work.</a:t>
            </a:r>
            <a:endParaRPr lang="en-US" sz="1450" dirty="0"/>
          </a:p>
        </p:txBody>
      </p:sp>
      <p:sp>
        <p:nvSpPr>
          <p:cNvPr id="6" name="Shape 4"/>
          <p:cNvSpPr/>
          <p:nvPr/>
        </p:nvSpPr>
        <p:spPr>
          <a:xfrm>
            <a:off x="822960" y="4572000"/>
            <a:ext cx="1554480" cy="91"/>
          </a:xfrm>
          <a:prstGeom prst="line">
            <a:avLst/>
          </a:prstGeom>
          <a:noFill/>
          <a:ln w="10160">
            <a:solidFill>
              <a:srgbClr val="C2A05F"/>
            </a:solidFill>
            <a:prstDash val="solid"/>
            <a:headEnd type="none"/>
            <a:tailEnd type="none"/>
          </a:ln>
        </p:spPr>
      </p:sp>
      <p:sp>
        <p:nvSpPr>
          <p:cNvPr id="7" name="Text 5"/>
          <p:cNvSpPr txBox="1"/>
          <p:nvPr/>
        </p:nvSpPr>
        <p:spPr>
          <a:xfrm>
            <a:off x="82296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09</a:t>
            </a:r>
            <a:endParaRPr lang="en-US" sz="1000" dirty="0"/>
          </a:p>
        </p:txBody>
      </p:sp>
      <p:sp>
        <p:nvSpPr>
          <p:cNvPr id="8" name="Text 6"/>
          <p:cNvSpPr txBox="1"/>
          <p:nvPr/>
        </p:nvSpPr>
        <p:spPr>
          <a:xfrm>
            <a:off x="822960" y="5074920"/>
            <a:ext cx="1234440" cy="21717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First session &amp; alliance</a:t>
            </a:r>
            <a:endParaRPr lang="en-US" sz="760" dirty="0"/>
          </a:p>
        </p:txBody>
      </p:sp>
      <p:sp>
        <p:nvSpPr>
          <p:cNvPr id="9" name="Text 7"/>
          <p:cNvSpPr txBox="1"/>
          <p:nvPr/>
        </p:nvSpPr>
        <p:spPr>
          <a:xfrm>
            <a:off x="224028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010</a:t>
            </a:r>
            <a:endParaRPr lang="en-US" sz="1000" dirty="0"/>
          </a:p>
        </p:txBody>
      </p:sp>
      <p:sp>
        <p:nvSpPr>
          <p:cNvPr id="10" name="Text 8"/>
          <p:cNvSpPr txBox="1"/>
          <p:nvPr/>
        </p:nvSpPr>
        <p:spPr>
          <a:xfrm>
            <a:off x="2240280" y="5074920"/>
            <a:ext cx="1234440" cy="21717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Assessment &amp; genograms</a:t>
            </a:r>
            <a:endParaRPr lang="en-US" sz="760" dirty="0"/>
          </a:p>
        </p:txBody>
      </p:sp>
      <p:sp>
        <p:nvSpPr>
          <p:cNvPr id="11" name="Text 9"/>
          <p:cNvSpPr txBox="1"/>
          <p:nvPr/>
        </p:nvSpPr>
        <p:spPr>
          <a:xfrm>
            <a:off x="365760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011</a:t>
            </a:r>
            <a:endParaRPr lang="en-US" sz="1000" dirty="0"/>
          </a:p>
        </p:txBody>
      </p:sp>
      <p:sp>
        <p:nvSpPr>
          <p:cNvPr id="12" name="Text 10"/>
          <p:cNvSpPr txBox="1"/>
          <p:nvPr/>
        </p:nvSpPr>
        <p:spPr>
          <a:xfrm>
            <a:off x="3657600" y="5074920"/>
            <a:ext cx="1234440" cy="21717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Ethics, law &amp; governance</a:t>
            </a:r>
            <a:endParaRPr lang="en-US" sz="760" dirty="0"/>
          </a:p>
        </p:txBody>
      </p:sp>
      <p:sp>
        <p:nvSpPr>
          <p:cNvPr id="13" name="Text 11"/>
          <p:cNvSpPr txBox="1"/>
          <p:nvPr/>
        </p:nvSpPr>
        <p:spPr>
          <a:xfrm>
            <a:off x="507492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012</a:t>
            </a:r>
            <a:endParaRPr lang="en-US" sz="1000" dirty="0"/>
          </a:p>
        </p:txBody>
      </p:sp>
      <p:sp>
        <p:nvSpPr>
          <p:cNvPr id="14" name="Text 12"/>
          <p:cNvSpPr txBox="1"/>
          <p:nvPr/>
        </p:nvSpPr>
        <p:spPr>
          <a:xfrm>
            <a:off x="5074920" y="5074920"/>
            <a:ext cx="1234440" cy="21717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Culture, power &amp; location</a:t>
            </a:r>
            <a:endParaRPr lang="en-US" sz="760" dirty="0"/>
          </a:p>
        </p:txBody>
      </p:sp>
      <p:sp>
        <p:nvSpPr>
          <p:cNvPr id="15" name="Shape 13"/>
          <p:cNvSpPr/>
          <p:nvPr/>
        </p:nvSpPr>
        <p:spPr>
          <a:xfrm>
            <a:off x="822960" y="5742432"/>
            <a:ext cx="10515600" cy="91"/>
          </a:xfrm>
          <a:prstGeom prst="line">
            <a:avLst/>
          </a:prstGeom>
          <a:noFill/>
          <a:ln w="10160">
            <a:solidFill>
              <a:srgbClr val="3A332A"/>
            </a:solidFill>
            <a:prstDash val="solid"/>
            <a:headEnd type="none"/>
            <a:tailEnd type="none"/>
          </a:ln>
        </p:spPr>
      </p:sp>
      <p:sp>
        <p:nvSpPr>
          <p:cNvPr id="16" name="Shape 14"/>
          <p:cNvSpPr/>
          <p:nvPr/>
        </p:nvSpPr>
        <p:spPr>
          <a:xfrm>
            <a:off x="793699" y="5713171"/>
            <a:ext cx="58522" cy="58522"/>
          </a:xfrm>
          <a:prstGeom prst="ellipse">
            <a:avLst/>
          </a:prstGeom>
          <a:solidFill>
            <a:srgbClr val="96733C"/>
          </a:solidFill>
          <a:ln w="12700">
            <a:solidFill>
              <a:srgbClr val="FFFFFF">
                <a:alpha val="0"/>
              </a:srgbClr>
            </a:solidFill>
            <a:prstDash val="solid"/>
          </a:ln>
        </p:spPr>
      </p:sp>
      <p:sp>
        <p:nvSpPr>
          <p:cNvPr id="17" name="Shape 15"/>
          <p:cNvSpPr/>
          <p:nvPr/>
        </p:nvSpPr>
        <p:spPr>
          <a:xfrm>
            <a:off x="1494739" y="5713171"/>
            <a:ext cx="58522" cy="58522"/>
          </a:xfrm>
          <a:prstGeom prst="ellipse">
            <a:avLst/>
          </a:prstGeom>
          <a:solidFill>
            <a:srgbClr val="96733C"/>
          </a:solidFill>
          <a:ln w="12700">
            <a:solidFill>
              <a:srgbClr val="FFFFFF">
                <a:alpha val="0"/>
              </a:srgbClr>
            </a:solidFill>
            <a:prstDash val="solid"/>
          </a:ln>
        </p:spPr>
      </p:sp>
      <p:sp>
        <p:nvSpPr>
          <p:cNvPr id="18" name="Shape 16"/>
          <p:cNvSpPr/>
          <p:nvPr/>
        </p:nvSpPr>
        <p:spPr>
          <a:xfrm>
            <a:off x="2195779" y="5713171"/>
            <a:ext cx="58522" cy="58522"/>
          </a:xfrm>
          <a:prstGeom prst="ellipse">
            <a:avLst/>
          </a:prstGeom>
          <a:solidFill>
            <a:srgbClr val="96733C"/>
          </a:solidFill>
          <a:ln w="12700">
            <a:solidFill>
              <a:srgbClr val="FFFFFF">
                <a:alpha val="0"/>
              </a:srgbClr>
            </a:solidFill>
            <a:prstDash val="solid"/>
          </a:ln>
        </p:spPr>
      </p:sp>
      <p:sp>
        <p:nvSpPr>
          <p:cNvPr id="19" name="Shape 17"/>
          <p:cNvSpPr/>
          <p:nvPr/>
        </p:nvSpPr>
        <p:spPr>
          <a:xfrm>
            <a:off x="2896819" y="5713171"/>
            <a:ext cx="58522" cy="58522"/>
          </a:xfrm>
          <a:prstGeom prst="ellipse">
            <a:avLst/>
          </a:prstGeom>
          <a:solidFill>
            <a:srgbClr val="96733C"/>
          </a:solidFill>
          <a:ln w="12700">
            <a:solidFill>
              <a:srgbClr val="FFFFFF">
                <a:alpha val="0"/>
              </a:srgbClr>
            </a:solidFill>
            <a:prstDash val="solid"/>
          </a:ln>
        </p:spPr>
      </p:sp>
      <p:sp>
        <p:nvSpPr>
          <p:cNvPr id="20" name="Shape 18"/>
          <p:cNvSpPr/>
          <p:nvPr/>
        </p:nvSpPr>
        <p:spPr>
          <a:xfrm>
            <a:off x="3597859" y="5713171"/>
            <a:ext cx="58522" cy="58522"/>
          </a:xfrm>
          <a:prstGeom prst="ellipse">
            <a:avLst/>
          </a:prstGeom>
          <a:solidFill>
            <a:srgbClr val="96733C"/>
          </a:solidFill>
          <a:ln w="12700">
            <a:solidFill>
              <a:srgbClr val="FFFFFF">
                <a:alpha val="0"/>
              </a:srgbClr>
            </a:solidFill>
            <a:prstDash val="solid"/>
          </a:ln>
        </p:spPr>
      </p:sp>
      <p:sp>
        <p:nvSpPr>
          <p:cNvPr id="21" name="Shape 19"/>
          <p:cNvSpPr/>
          <p:nvPr/>
        </p:nvSpPr>
        <p:spPr>
          <a:xfrm>
            <a:off x="4298899" y="5713171"/>
            <a:ext cx="58522" cy="58522"/>
          </a:xfrm>
          <a:prstGeom prst="ellipse">
            <a:avLst/>
          </a:prstGeom>
          <a:solidFill>
            <a:srgbClr val="96733C"/>
          </a:solidFill>
          <a:ln w="12700">
            <a:solidFill>
              <a:srgbClr val="FFFFFF">
                <a:alpha val="0"/>
              </a:srgbClr>
            </a:solidFill>
            <a:prstDash val="solid"/>
          </a:ln>
        </p:spPr>
      </p:sp>
      <p:sp>
        <p:nvSpPr>
          <p:cNvPr id="22" name="Shape 20"/>
          <p:cNvSpPr/>
          <p:nvPr/>
        </p:nvSpPr>
        <p:spPr>
          <a:xfrm>
            <a:off x="4999939" y="5713171"/>
            <a:ext cx="58522" cy="58522"/>
          </a:xfrm>
          <a:prstGeom prst="ellipse">
            <a:avLst/>
          </a:prstGeom>
          <a:solidFill>
            <a:srgbClr val="96733C"/>
          </a:solidFill>
          <a:ln w="12700">
            <a:solidFill>
              <a:srgbClr val="FFFFFF">
                <a:alpha val="0"/>
              </a:srgbClr>
            </a:solidFill>
            <a:prstDash val="solid"/>
          </a:ln>
        </p:spPr>
      </p:sp>
      <p:sp>
        <p:nvSpPr>
          <p:cNvPr id="23" name="Shape 21"/>
          <p:cNvSpPr/>
          <p:nvPr/>
        </p:nvSpPr>
        <p:spPr>
          <a:xfrm>
            <a:off x="5700979" y="5713171"/>
            <a:ext cx="58522" cy="58522"/>
          </a:xfrm>
          <a:prstGeom prst="ellipse">
            <a:avLst/>
          </a:prstGeom>
          <a:solidFill>
            <a:srgbClr val="96733C"/>
          </a:solidFill>
          <a:ln w="12700">
            <a:solidFill>
              <a:srgbClr val="FFFFFF">
                <a:alpha val="0"/>
              </a:srgbClr>
            </a:solidFill>
            <a:prstDash val="solid"/>
          </a:ln>
        </p:spPr>
      </p:sp>
      <p:sp>
        <p:nvSpPr>
          <p:cNvPr id="24" name="Shape 22"/>
          <p:cNvSpPr/>
          <p:nvPr/>
        </p:nvSpPr>
        <p:spPr>
          <a:xfrm>
            <a:off x="6402019" y="5713171"/>
            <a:ext cx="58522" cy="58522"/>
          </a:xfrm>
          <a:prstGeom prst="ellipse">
            <a:avLst/>
          </a:prstGeom>
          <a:solidFill>
            <a:srgbClr val="96733C"/>
          </a:solidFill>
          <a:ln w="12700">
            <a:solidFill>
              <a:srgbClr val="FFFFFF">
                <a:alpha val="0"/>
              </a:srgbClr>
            </a:solidFill>
            <a:prstDash val="solid"/>
          </a:ln>
        </p:spPr>
      </p:sp>
      <p:sp>
        <p:nvSpPr>
          <p:cNvPr id="25" name="Shape 23"/>
          <p:cNvSpPr/>
          <p:nvPr/>
        </p:nvSpPr>
        <p:spPr>
          <a:xfrm>
            <a:off x="7103059" y="5713171"/>
            <a:ext cx="58522" cy="58522"/>
          </a:xfrm>
          <a:prstGeom prst="ellipse">
            <a:avLst/>
          </a:prstGeom>
          <a:solidFill>
            <a:srgbClr val="96733C"/>
          </a:solidFill>
          <a:ln w="12700">
            <a:solidFill>
              <a:srgbClr val="FFFFFF">
                <a:alpha val="0"/>
              </a:srgbClr>
            </a:solidFill>
            <a:prstDash val="solid"/>
          </a:ln>
        </p:spPr>
      </p:sp>
      <p:sp>
        <p:nvSpPr>
          <p:cNvPr id="26" name="Shape 24"/>
          <p:cNvSpPr/>
          <p:nvPr/>
        </p:nvSpPr>
        <p:spPr>
          <a:xfrm>
            <a:off x="7804099" y="5713171"/>
            <a:ext cx="58522" cy="58522"/>
          </a:xfrm>
          <a:prstGeom prst="ellipse">
            <a:avLst/>
          </a:prstGeom>
          <a:solidFill>
            <a:srgbClr val="96733C"/>
          </a:solidFill>
          <a:ln w="12700">
            <a:solidFill>
              <a:srgbClr val="FFFFFF">
                <a:alpha val="0"/>
              </a:srgbClr>
            </a:solidFill>
            <a:prstDash val="solid"/>
          </a:ln>
        </p:spPr>
      </p:sp>
      <p:sp>
        <p:nvSpPr>
          <p:cNvPr id="27" name="Shape 25"/>
          <p:cNvSpPr/>
          <p:nvPr/>
        </p:nvSpPr>
        <p:spPr>
          <a:xfrm>
            <a:off x="8470392" y="5678424"/>
            <a:ext cx="128016" cy="128016"/>
          </a:xfrm>
          <a:prstGeom prst="ellipse">
            <a:avLst/>
          </a:prstGeom>
          <a:solidFill>
            <a:srgbClr val="C2A05F"/>
          </a:solidFill>
          <a:ln w="8890">
            <a:solidFill>
              <a:srgbClr val="E7D3A9"/>
            </a:solidFill>
            <a:prstDash val="solid"/>
          </a:ln>
        </p:spPr>
      </p:sp>
      <p:sp>
        <p:nvSpPr>
          <p:cNvPr id="28" name="Shape 26"/>
          <p:cNvSpPr/>
          <p:nvPr/>
        </p:nvSpPr>
        <p:spPr>
          <a:xfrm>
            <a:off x="9206179" y="5713171"/>
            <a:ext cx="58522" cy="58522"/>
          </a:xfrm>
          <a:prstGeom prst="ellipse">
            <a:avLst/>
          </a:prstGeom>
          <a:solidFill>
            <a:srgbClr val="1E1913"/>
          </a:solidFill>
          <a:ln w="12700">
            <a:solidFill>
              <a:srgbClr val="FFFFFF">
                <a:alpha val="0"/>
              </a:srgbClr>
            </a:solidFill>
            <a:prstDash val="solid"/>
          </a:ln>
        </p:spPr>
      </p:sp>
      <p:sp>
        <p:nvSpPr>
          <p:cNvPr id="29" name="Shape 27"/>
          <p:cNvSpPr/>
          <p:nvPr/>
        </p:nvSpPr>
        <p:spPr>
          <a:xfrm>
            <a:off x="9907219" y="5713171"/>
            <a:ext cx="58522" cy="58522"/>
          </a:xfrm>
          <a:prstGeom prst="ellipse">
            <a:avLst/>
          </a:prstGeom>
          <a:solidFill>
            <a:srgbClr val="1E1913"/>
          </a:solidFill>
          <a:ln w="12700">
            <a:solidFill>
              <a:srgbClr val="FFFFFF">
                <a:alpha val="0"/>
              </a:srgbClr>
            </a:solidFill>
            <a:prstDash val="solid"/>
          </a:ln>
        </p:spPr>
      </p:sp>
      <p:sp>
        <p:nvSpPr>
          <p:cNvPr id="30" name="Shape 28"/>
          <p:cNvSpPr/>
          <p:nvPr/>
        </p:nvSpPr>
        <p:spPr>
          <a:xfrm>
            <a:off x="10608259" y="5713171"/>
            <a:ext cx="58522" cy="58522"/>
          </a:xfrm>
          <a:prstGeom prst="ellipse">
            <a:avLst/>
          </a:prstGeom>
          <a:solidFill>
            <a:srgbClr val="1E1913"/>
          </a:solidFill>
          <a:ln w="12700">
            <a:solidFill>
              <a:srgbClr val="FFFFFF">
                <a:alpha val="0"/>
              </a:srgbClr>
            </a:solidFill>
            <a:prstDash val="solid"/>
          </a:ln>
        </p:spPr>
      </p:sp>
      <p:sp>
        <p:nvSpPr>
          <p:cNvPr id="31" name="Shape 29"/>
          <p:cNvSpPr/>
          <p:nvPr/>
        </p:nvSpPr>
        <p:spPr>
          <a:xfrm>
            <a:off x="11309299" y="5713171"/>
            <a:ext cx="58522" cy="58522"/>
          </a:xfrm>
          <a:prstGeom prst="ellipse">
            <a:avLst/>
          </a:prstGeom>
          <a:solidFill>
            <a:srgbClr val="1E1913"/>
          </a:solidFill>
          <a:ln w="12700">
            <a:solidFill>
              <a:srgbClr val="FFFFFF">
                <a:alpha val="0"/>
              </a:srgbClr>
            </a:solidFill>
            <a:prstDash val="solid"/>
          </a:ln>
        </p:spPr>
      </p:sp>
      <p:sp>
        <p:nvSpPr>
          <p:cNvPr id="32" name="Shape 30"/>
          <p:cNvSpPr/>
          <p:nvPr/>
        </p:nvSpPr>
        <p:spPr>
          <a:xfrm>
            <a:off x="822960" y="722376"/>
            <a:ext cx="10546050" cy="91"/>
          </a:xfrm>
          <a:prstGeom prst="line">
            <a:avLst/>
          </a:prstGeom>
          <a:noFill/>
          <a:ln w="6350">
            <a:solidFill>
              <a:srgbClr val="3A332A"/>
            </a:solidFill>
            <a:prstDash val="solid"/>
            <a:headEnd type="none"/>
            <a:tailEnd type="none"/>
          </a:ln>
        </p:spPr>
      </p:sp>
      <p:sp>
        <p:nvSpPr>
          <p:cNvPr id="33" name="Text 31"/>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34" name="Text 32"/>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41</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09 · PHASE III — THE CLINICAL ENCOUNTER</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09</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The First Session and the</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Therapeutic Alliance</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476377"/>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How do you join a system without joining its triangles?</a:t>
            </a:r>
            <a:endParaRPr lang="en-US" sz="1550" dirty="0"/>
          </a:p>
        </p:txBody>
      </p:sp>
      <p:sp>
        <p:nvSpPr>
          <p:cNvPr id="8" name="Shape 6"/>
          <p:cNvSpPr/>
          <p:nvPr/>
        </p:nvSpPr>
        <p:spPr>
          <a:xfrm>
            <a:off x="822960" y="3911219"/>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Joining before intervening</a:t>
            </a:r>
            <a:endParaRPr lang="en-US" sz="850" dirty="0"/>
          </a:p>
        </p:txBody>
      </p:sp>
      <p:sp>
        <p:nvSpPr>
          <p:cNvPr id="11" name="Text 9"/>
          <p:cNvSpPr txBox="1"/>
          <p:nvPr/>
        </p:nvSpPr>
        <p:spPr>
          <a:xfrm>
            <a:off x="3282696"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alliance is not a dyad</a:t>
            </a:r>
            <a:endParaRPr lang="en-US" sz="850" dirty="0"/>
          </a:p>
        </p:txBody>
      </p:sp>
      <p:sp>
        <p:nvSpPr>
          <p:cNvPr id="13" name="Text 11"/>
          <p:cNvSpPr txBox="1"/>
          <p:nvPr/>
        </p:nvSpPr>
        <p:spPr>
          <a:xfrm>
            <a:off x="5742432"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CLINICAL CASE</a:t>
            </a:r>
            <a:endParaRPr lang="en-US" sz="620" dirty="0"/>
          </a:p>
        </p:txBody>
      </p:sp>
      <p:sp>
        <p:nvSpPr>
          <p:cNvPr id="14" name="Text 12"/>
          <p:cNvSpPr txBox="1"/>
          <p:nvPr/>
        </p:nvSpPr>
        <p:spPr>
          <a:xfrm>
            <a:off x="5742432"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first ten minutes</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Structure a first session from opening to next steps.</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Build and monitor a multi-person alliance.</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Negotiate consent and confidentiality with several</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clients.</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joining · alliance · neutrality · informed consent · split alliance</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Minuchin &amp; Fishman (1981), ch. 1–2 · Friedlander, Escudero &amp; Heatherington (2006)</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96733C"/>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96733C"/>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96733C"/>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96733C"/>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96733C"/>
          </a:solidFill>
          <a:ln w="12700">
            <a:solidFill>
              <a:srgbClr val="FFFFFF">
                <a:alpha val="0"/>
              </a:srgbClr>
            </a:solidFill>
            <a:prstDash val="solid"/>
          </a:ln>
        </p:spPr>
      </p:sp>
      <p:sp>
        <p:nvSpPr>
          <p:cNvPr id="35" name="Shape 33"/>
          <p:cNvSpPr/>
          <p:nvPr/>
        </p:nvSpPr>
        <p:spPr>
          <a:xfrm>
            <a:off x="6367272" y="5696712"/>
            <a:ext cx="128016" cy="128016"/>
          </a:xfrm>
          <a:prstGeom prst="ellipse">
            <a:avLst/>
          </a:prstGeom>
          <a:solidFill>
            <a:srgbClr val="C2A05F"/>
          </a:solidFill>
          <a:ln w="8890">
            <a:solidFill>
              <a:srgbClr val="E7D3A9"/>
            </a:solidFill>
            <a:prstDash val="solid"/>
          </a:ln>
        </p:spPr>
      </p:sp>
      <p:sp>
        <p:nvSpPr>
          <p:cNvPr id="36" name="Shape 34"/>
          <p:cNvSpPr/>
          <p:nvPr/>
        </p:nvSpPr>
        <p:spPr>
          <a:xfrm>
            <a:off x="7103059" y="5731459"/>
            <a:ext cx="58522" cy="58522"/>
          </a:xfrm>
          <a:prstGeom prst="ellipse">
            <a:avLst/>
          </a:prstGeom>
          <a:solidFill>
            <a:srgbClr val="1E1913"/>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1E1913"/>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1E1913"/>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1E1913"/>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1E1913"/>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42</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09 · LECTURE 09</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43</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Joining before intervening</a:t>
            </a:r>
            <a:endParaRPr lang="en-US" sz="2800" dirty="0"/>
          </a:p>
        </p:txBody>
      </p:sp>
      <p:sp>
        <p:nvSpPr>
          <p:cNvPr id="9" name="Text 7"/>
          <p:cNvSpPr txBox="1"/>
          <p:nvPr/>
        </p:nvSpPr>
        <p:spPr>
          <a:xfrm>
            <a:off x="822960" y="1486408"/>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The first session is already an intervention. It establishes who is heard, what is named as the problem, and whether change</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feels possible.</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THE TASKS OF SESSION ONE</a:t>
            </a:r>
            <a:endParaRPr lang="en-US" sz="750" dirty="0"/>
          </a:p>
        </p:txBody>
      </p:sp>
      <p:sp>
        <p:nvSpPr>
          <p:cNvPr id="13" name="Text 11"/>
          <p:cNvSpPr txBox="1"/>
          <p:nvPr/>
        </p:nvSpPr>
        <p:spPr>
          <a:xfrm>
            <a:off x="82296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Engage every member, establish safety and consent, elicit each</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description, observe sequences, offer a tentative formulation, agree</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next steps.</a:t>
            </a:r>
            <a:endParaRPr lang="en-US" sz="900" dirty="0"/>
          </a:p>
        </p:txBody>
      </p:sp>
      <p:sp>
        <p:nvSpPr>
          <p:cNvPr id="14" name="Shape 12"/>
          <p:cNvSpPr/>
          <p:nvPr/>
        </p:nvSpPr>
        <p:spPr>
          <a:xfrm>
            <a:off x="822960" y="3529584"/>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Who speaks first — and who is spoken for?</a:t>
            </a:r>
            <a:endParaRPr lang="en-US" sz="880" dirty="0"/>
          </a:p>
        </p:txBody>
      </p:sp>
      <p:sp>
        <p:nvSpPr>
          <p:cNvPr id="16" name="Shape 14"/>
          <p:cNvSpPr/>
          <p:nvPr/>
        </p:nvSpPr>
        <p:spPr>
          <a:xfrm>
            <a:off x="822960" y="3775253"/>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What is the family’s own explanation?</a:t>
            </a:r>
            <a:endParaRPr lang="en-US" sz="880" dirty="0"/>
          </a:p>
        </p:txBody>
      </p:sp>
      <p:sp>
        <p:nvSpPr>
          <p:cNvPr id="18" name="Shape 16"/>
          <p:cNvSpPr/>
          <p:nvPr/>
        </p:nvSpPr>
        <p:spPr>
          <a:xfrm>
            <a:off x="822960" y="4020922"/>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What has already been tried?</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THE MULTI-PERSON ALLIANCE</a:t>
            </a:r>
            <a:endParaRPr lang="en-US" sz="750" dirty="0"/>
          </a:p>
        </p:txBody>
      </p:sp>
      <p:sp>
        <p:nvSpPr>
          <p:cNvPr id="23" name="Text 21"/>
          <p:cNvSpPr txBox="1"/>
          <p:nvPr/>
        </p:nvSpPr>
        <p:spPr>
          <a:xfrm>
            <a:off x="446532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In couple and family work the alliance is not one relationship but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several — and they can conflict.</a:t>
            </a:r>
            <a:endParaRPr lang="en-US" sz="900" dirty="0"/>
          </a:p>
        </p:txBody>
      </p:sp>
      <p:sp>
        <p:nvSpPr>
          <p:cNvPr id="24" name="Shape 22"/>
          <p:cNvSpPr/>
          <p:nvPr/>
        </p:nvSpPr>
        <p:spPr>
          <a:xfrm>
            <a:off x="4465320" y="3364992"/>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Bond, goals, tasks</a:t>
            </a:r>
            <a:endParaRPr lang="en-US" sz="880" dirty="0"/>
          </a:p>
        </p:txBody>
      </p:sp>
      <p:sp>
        <p:nvSpPr>
          <p:cNvPr id="26" name="Shape 24"/>
          <p:cNvSpPr/>
          <p:nvPr/>
        </p:nvSpPr>
        <p:spPr>
          <a:xfrm>
            <a:off x="4465320" y="3610661"/>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Split alliances reproduce triangles</a:t>
            </a:r>
            <a:endParaRPr lang="en-US" sz="880" dirty="0"/>
          </a:p>
        </p:txBody>
      </p:sp>
      <p:sp>
        <p:nvSpPr>
          <p:cNvPr id="28" name="Shape 26"/>
          <p:cNvSpPr/>
          <p:nvPr/>
        </p:nvSpPr>
        <p:spPr>
          <a:xfrm>
            <a:off x="4465320" y="3856330"/>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Rupture is data, not failure</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NEUTRALITY, REVISED</a:t>
            </a:r>
            <a:endParaRPr lang="en-US" sz="750" dirty="0"/>
          </a:p>
        </p:txBody>
      </p:sp>
      <p:sp>
        <p:nvSpPr>
          <p:cNvPr id="33" name="Text 31"/>
          <p:cNvSpPr txBox="1"/>
          <p:nvPr/>
        </p:nvSpPr>
        <p:spPr>
          <a:xfrm>
            <a:off x="810768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Neutrality is not indifference. It is a commitment not to become the</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spokesperson for any one member — including the most articulate</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one.</a:t>
            </a:r>
            <a:endParaRPr lang="en-US" sz="900" dirty="0"/>
          </a:p>
        </p:txBody>
      </p:sp>
      <p:sp>
        <p:nvSpPr>
          <p:cNvPr id="34" name="Shape 32"/>
          <p:cNvSpPr/>
          <p:nvPr/>
        </p:nvSpPr>
        <p:spPr>
          <a:xfrm>
            <a:off x="8107680" y="3529584"/>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Curiosity over alignment</a:t>
            </a:r>
            <a:endParaRPr lang="en-US" sz="880" dirty="0"/>
          </a:p>
        </p:txBody>
      </p:sp>
      <p:sp>
        <p:nvSpPr>
          <p:cNvPr id="36" name="Shape 34"/>
          <p:cNvSpPr/>
          <p:nvPr/>
        </p:nvSpPr>
        <p:spPr>
          <a:xfrm>
            <a:off x="8107680" y="3775253"/>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Multidirectional partiality</a:t>
            </a:r>
            <a:endParaRPr lang="en-US" sz="880" dirty="0"/>
          </a:p>
        </p:txBody>
      </p:sp>
      <p:sp>
        <p:nvSpPr>
          <p:cNvPr id="38" name="Shape 36"/>
          <p:cNvSpPr/>
          <p:nvPr/>
        </p:nvSpPr>
        <p:spPr>
          <a:xfrm>
            <a:off x="8107680" y="4020922"/>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The absent member is still in the room</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CONSENT</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Who is the client?</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With multiple clients, consent must specify who holds confidentiality, how records are shared, and what</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happens when members disagree about disclosure.</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291338"/>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Minuchin &amp; Fishman (1981); Pinsof &amp; Wynne</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(1995).</a:t>
            </a:r>
            <a:endParaRPr lang="en-US" sz="62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09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44</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The alliance is not a dyad</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Every statement is heard by more than one person — and heard differently. The therapist’s task is to remain available to all of them.</a:t>
            </a:r>
            <a:endParaRPr lang="en-US" sz="1060" dirty="0"/>
          </a:p>
        </p:txBody>
      </p:sp>
      <p:sp>
        <p:nvSpPr>
          <p:cNvPr id="10" name="Shape 8"/>
          <p:cNvSpPr/>
          <p:nvPr/>
        </p:nvSpPr>
        <p:spPr>
          <a:xfrm>
            <a:off x="3154680" y="1856232"/>
            <a:ext cx="822960" cy="822960"/>
          </a:xfrm>
          <a:prstGeom prst="ellipse">
            <a:avLst/>
          </a:prstGeom>
          <a:solidFill>
            <a:srgbClr val="1B1815"/>
          </a:solidFill>
          <a:ln w="10160">
            <a:solidFill>
              <a:srgbClr val="C2A05F"/>
            </a:solidFill>
            <a:prstDash val="solid"/>
          </a:ln>
        </p:spPr>
      </p:sp>
      <p:sp>
        <p:nvSpPr>
          <p:cNvPr id="11" name="Text 9"/>
          <p:cNvSpPr txBox="1"/>
          <p:nvPr/>
        </p:nvSpPr>
        <p:spPr>
          <a:xfrm>
            <a:off x="3154680" y="2121408"/>
            <a:ext cx="822960" cy="358140"/>
          </a:xfrm>
          <a:prstGeom prst="rect">
            <a:avLst/>
          </a:prstGeom>
          <a:noFill/>
          <a:ln/>
        </p:spPr>
        <p:txBody>
          <a:bodyPr wrap="square" lIns="0" tIns="0" rIns="0" bIns="0" rtlCol="0" anchor="t"/>
          <a:lstStyle/>
          <a:p>
            <a:pPr algn="ctr" indent="0" marL="0">
              <a:lnSpc>
                <a:spcPts val="1620"/>
              </a:lnSpc>
              <a:buNone/>
            </a:pPr>
            <a:r>
              <a:rPr lang="en-US" sz="1200" dirty="0">
                <a:solidFill>
                  <a:srgbClr val="E7D3A9"/>
                </a:solidFill>
                <a:latin typeface="Georgia" pitchFamily="34" charset="0"/>
                <a:ea typeface="Georgia" pitchFamily="34" charset="-122"/>
                <a:cs typeface="Georgia" pitchFamily="34" charset="-120"/>
              </a:rPr>
              <a:t>Th</a:t>
            </a:r>
            <a:endParaRPr lang="en-US" sz="1200" dirty="0"/>
          </a:p>
        </p:txBody>
      </p:sp>
      <p:sp>
        <p:nvSpPr>
          <p:cNvPr id="12" name="Text 10"/>
          <p:cNvSpPr txBox="1"/>
          <p:nvPr/>
        </p:nvSpPr>
        <p:spPr>
          <a:xfrm>
            <a:off x="2194560" y="2185416"/>
            <a:ext cx="868680" cy="202946"/>
          </a:xfrm>
          <a:prstGeom prst="rect">
            <a:avLst/>
          </a:prstGeom>
          <a:noFill/>
          <a:ln/>
        </p:spPr>
        <p:txBody>
          <a:bodyPr wrap="square" lIns="0" tIns="0" rIns="0" bIns="0" rtlCol="0" anchor="t"/>
          <a:lstStyle/>
          <a:p>
            <a:pPr algn="r" indent="0" marL="0">
              <a:lnSpc>
                <a:spcPts val="918"/>
              </a:lnSpc>
              <a:buNone/>
            </a:pPr>
            <a:r>
              <a:rPr lang="en-US" sz="680" spc="120" kern="0" dirty="0">
                <a:solidFill>
                  <a:srgbClr val="5B544A"/>
                </a:solidFill>
                <a:latin typeface="Calibri" pitchFamily="34" charset="0"/>
                <a:ea typeface="Calibri" pitchFamily="34" charset="-122"/>
                <a:cs typeface="Calibri" pitchFamily="34" charset="-120"/>
              </a:rPr>
              <a:t>THERAPIST</a:t>
            </a:r>
            <a:endParaRPr lang="en-US" sz="680" dirty="0"/>
          </a:p>
        </p:txBody>
      </p:sp>
      <p:sp>
        <p:nvSpPr>
          <p:cNvPr id="13" name="Shape 11"/>
          <p:cNvSpPr/>
          <p:nvPr/>
        </p:nvSpPr>
        <p:spPr>
          <a:xfrm flipH="1">
            <a:off x="1691640" y="2679192"/>
            <a:ext cx="1567780" cy="1828800"/>
          </a:xfrm>
          <a:prstGeom prst="line">
            <a:avLst/>
          </a:prstGeom>
          <a:noFill/>
          <a:ln w="19050">
            <a:solidFill>
              <a:srgbClr val="96733C"/>
            </a:solidFill>
            <a:prstDash val="solid"/>
            <a:headEnd type="none"/>
            <a:tailEnd type="none"/>
          </a:ln>
        </p:spPr>
      </p:sp>
      <p:sp>
        <p:nvSpPr>
          <p:cNvPr id="14" name="Shape 12"/>
          <p:cNvSpPr/>
          <p:nvPr/>
        </p:nvSpPr>
        <p:spPr>
          <a:xfrm>
            <a:off x="1435608" y="4526280"/>
            <a:ext cx="512064" cy="512064"/>
          </a:xfrm>
          <a:prstGeom prst="ellipse">
            <a:avLst/>
          </a:prstGeom>
          <a:solidFill>
            <a:srgbClr val="FBF7EF"/>
          </a:solidFill>
          <a:ln w="12700">
            <a:solidFill>
              <a:srgbClr val="1B1815"/>
            </a:solidFill>
            <a:prstDash val="solid"/>
          </a:ln>
        </p:spPr>
      </p:sp>
      <p:sp>
        <p:nvSpPr>
          <p:cNvPr id="15" name="Text 13"/>
          <p:cNvSpPr txBox="1"/>
          <p:nvPr/>
        </p:nvSpPr>
        <p:spPr>
          <a:xfrm>
            <a:off x="1143000" y="5111496"/>
            <a:ext cx="1097280" cy="221996"/>
          </a:xfrm>
          <a:prstGeom prst="rect">
            <a:avLst/>
          </a:prstGeom>
          <a:noFill/>
          <a:ln/>
        </p:spPr>
        <p:txBody>
          <a:bodyPr wrap="square" lIns="0" tIns="0" rIns="0" bIns="0" rtlCol="0" anchor="t"/>
          <a:lstStyle/>
          <a:p>
            <a:pPr algn="ctr" indent="0" marL="0">
              <a:lnSpc>
                <a:spcPts val="988"/>
              </a:lnSpc>
              <a:buNone/>
            </a:pPr>
            <a:r>
              <a:rPr lang="en-US" sz="760" dirty="0">
                <a:solidFill>
                  <a:srgbClr val="5B544A"/>
                </a:solidFill>
                <a:latin typeface="Calibri" pitchFamily="34" charset="0"/>
                <a:ea typeface="Calibri" pitchFamily="34" charset="-122"/>
                <a:cs typeface="Calibri" pitchFamily="34" charset="-120"/>
              </a:rPr>
              <a:t>Mother</a:t>
            </a:r>
            <a:endParaRPr lang="en-US" sz="760" dirty="0"/>
          </a:p>
        </p:txBody>
      </p:sp>
      <p:sp>
        <p:nvSpPr>
          <p:cNvPr id="16" name="Shape 14"/>
          <p:cNvSpPr/>
          <p:nvPr/>
        </p:nvSpPr>
        <p:spPr>
          <a:xfrm flipH="1">
            <a:off x="3474720" y="2679192"/>
            <a:ext cx="77492" cy="2011680"/>
          </a:xfrm>
          <a:prstGeom prst="line">
            <a:avLst/>
          </a:prstGeom>
          <a:noFill/>
          <a:ln w="19050">
            <a:solidFill>
              <a:srgbClr val="96733C"/>
            </a:solidFill>
            <a:prstDash val="solid"/>
            <a:headEnd type="none"/>
            <a:tailEnd type="none"/>
          </a:ln>
        </p:spPr>
      </p:sp>
      <p:sp>
        <p:nvSpPr>
          <p:cNvPr id="17" name="Shape 15"/>
          <p:cNvSpPr/>
          <p:nvPr/>
        </p:nvSpPr>
        <p:spPr>
          <a:xfrm>
            <a:off x="3218688" y="4709160"/>
            <a:ext cx="512064" cy="512064"/>
          </a:xfrm>
          <a:prstGeom prst="rect">
            <a:avLst/>
          </a:prstGeom>
          <a:solidFill>
            <a:srgbClr val="FBF7EF"/>
          </a:solidFill>
          <a:ln w="12700">
            <a:solidFill>
              <a:srgbClr val="1B1815"/>
            </a:solidFill>
            <a:prstDash val="solid"/>
          </a:ln>
        </p:spPr>
      </p:sp>
      <p:sp>
        <p:nvSpPr>
          <p:cNvPr id="18" name="Text 16"/>
          <p:cNvSpPr txBox="1"/>
          <p:nvPr/>
        </p:nvSpPr>
        <p:spPr>
          <a:xfrm>
            <a:off x="2926080" y="5294376"/>
            <a:ext cx="1097280" cy="221996"/>
          </a:xfrm>
          <a:prstGeom prst="rect">
            <a:avLst/>
          </a:prstGeom>
          <a:noFill/>
          <a:ln/>
        </p:spPr>
        <p:txBody>
          <a:bodyPr wrap="square" lIns="0" tIns="0" rIns="0" bIns="0" rtlCol="0" anchor="t"/>
          <a:lstStyle/>
          <a:p>
            <a:pPr algn="ctr" indent="0" marL="0">
              <a:lnSpc>
                <a:spcPts val="988"/>
              </a:lnSpc>
              <a:buNone/>
            </a:pPr>
            <a:r>
              <a:rPr lang="en-US" sz="760" dirty="0">
                <a:solidFill>
                  <a:srgbClr val="5B544A"/>
                </a:solidFill>
                <a:latin typeface="Calibri" pitchFamily="34" charset="0"/>
                <a:ea typeface="Calibri" pitchFamily="34" charset="-122"/>
                <a:cs typeface="Calibri" pitchFamily="34" charset="-120"/>
              </a:rPr>
              <a:t>Father</a:t>
            </a:r>
            <a:endParaRPr lang="en-US" sz="760" dirty="0"/>
          </a:p>
        </p:txBody>
      </p:sp>
      <p:sp>
        <p:nvSpPr>
          <p:cNvPr id="19" name="Shape 17"/>
          <p:cNvSpPr/>
          <p:nvPr/>
        </p:nvSpPr>
        <p:spPr>
          <a:xfrm>
            <a:off x="3842974" y="2679192"/>
            <a:ext cx="1414826" cy="1828800"/>
          </a:xfrm>
          <a:prstGeom prst="line">
            <a:avLst/>
          </a:prstGeom>
          <a:noFill/>
          <a:ln w="8890">
            <a:solidFill>
              <a:srgbClr val="D9CDB7"/>
            </a:solidFill>
            <a:prstDash val="dash"/>
            <a:headEnd type="none"/>
            <a:tailEnd type="none"/>
          </a:ln>
        </p:spPr>
      </p:sp>
      <p:sp>
        <p:nvSpPr>
          <p:cNvPr id="20" name="Shape 18"/>
          <p:cNvSpPr/>
          <p:nvPr/>
        </p:nvSpPr>
        <p:spPr>
          <a:xfrm>
            <a:off x="5001768" y="4526280"/>
            <a:ext cx="512064" cy="512064"/>
          </a:xfrm>
          <a:prstGeom prst="rect">
            <a:avLst/>
          </a:prstGeom>
          <a:solidFill>
            <a:srgbClr val="FBF7EF"/>
          </a:solidFill>
          <a:ln w="12700">
            <a:solidFill>
              <a:srgbClr val="1B1815"/>
            </a:solidFill>
            <a:prstDash val="solid"/>
          </a:ln>
        </p:spPr>
      </p:sp>
      <p:sp>
        <p:nvSpPr>
          <p:cNvPr id="21" name="Text 19"/>
          <p:cNvSpPr txBox="1"/>
          <p:nvPr/>
        </p:nvSpPr>
        <p:spPr>
          <a:xfrm>
            <a:off x="4709160" y="5111496"/>
            <a:ext cx="1097280" cy="221996"/>
          </a:xfrm>
          <a:prstGeom prst="rect">
            <a:avLst/>
          </a:prstGeom>
          <a:noFill/>
          <a:ln/>
        </p:spPr>
        <p:txBody>
          <a:bodyPr wrap="square" lIns="0" tIns="0" rIns="0" bIns="0" rtlCol="0" anchor="t"/>
          <a:lstStyle/>
          <a:p>
            <a:pPr algn="ctr" indent="0" marL="0">
              <a:lnSpc>
                <a:spcPts val="988"/>
              </a:lnSpc>
              <a:buNone/>
            </a:pPr>
            <a:r>
              <a:rPr lang="en-US" sz="760" dirty="0">
                <a:solidFill>
                  <a:srgbClr val="5B544A"/>
                </a:solidFill>
                <a:latin typeface="Calibri" pitchFamily="34" charset="0"/>
                <a:ea typeface="Calibri" pitchFamily="34" charset="-122"/>
                <a:cs typeface="Calibri" pitchFamily="34" charset="-120"/>
              </a:rPr>
              <a:t>Adolescent</a:t>
            </a:r>
            <a:endParaRPr lang="en-US" sz="760" dirty="0"/>
          </a:p>
        </p:txBody>
      </p:sp>
      <p:sp>
        <p:nvSpPr>
          <p:cNvPr id="22" name="Shape 20"/>
          <p:cNvSpPr/>
          <p:nvPr/>
        </p:nvSpPr>
        <p:spPr>
          <a:xfrm>
            <a:off x="1965960" y="4910328"/>
            <a:ext cx="1234440" cy="182880"/>
          </a:xfrm>
          <a:prstGeom prst="line">
            <a:avLst/>
          </a:prstGeom>
          <a:noFill/>
          <a:ln w="13970">
            <a:solidFill>
              <a:srgbClr val="A96A45"/>
            </a:solidFill>
            <a:prstDash val="dash"/>
            <a:headEnd type="none"/>
            <a:tailEnd type="none"/>
          </a:ln>
        </p:spPr>
      </p:sp>
      <p:sp>
        <p:nvSpPr>
          <p:cNvPr id="23" name="Text 21"/>
          <p:cNvSpPr txBox="1"/>
          <p:nvPr/>
        </p:nvSpPr>
        <p:spPr>
          <a:xfrm>
            <a:off x="2148840" y="4169664"/>
            <a:ext cx="1645920" cy="196977"/>
          </a:xfrm>
          <a:prstGeom prst="rect">
            <a:avLst/>
          </a:prstGeom>
          <a:noFill/>
          <a:ln/>
        </p:spPr>
        <p:txBody>
          <a:bodyPr wrap="square" lIns="0" tIns="0" rIns="0" bIns="0" rtlCol="0" anchor="t"/>
          <a:lstStyle/>
          <a:p>
            <a:pPr algn="ctr" indent="0" marL="0">
              <a:lnSpc>
                <a:spcPts val="891"/>
              </a:lnSpc>
              <a:buNone/>
            </a:pPr>
            <a:r>
              <a:rPr lang="en-US" sz="660" spc="130" kern="0" dirty="0">
                <a:solidFill>
                  <a:srgbClr val="A96A45"/>
                </a:solidFill>
                <a:latin typeface="Calibri" pitchFamily="34" charset="0"/>
                <a:ea typeface="Calibri" pitchFamily="34" charset="-122"/>
                <a:cs typeface="Calibri" pitchFamily="34" charset="-120"/>
              </a:rPr>
              <a:t>SPLIT ALLIANCE</a:t>
            </a:r>
            <a:endParaRPr lang="en-US" sz="660" dirty="0"/>
          </a:p>
        </p:txBody>
      </p:sp>
      <p:sp>
        <p:nvSpPr>
          <p:cNvPr id="24" name="Text 22"/>
          <p:cNvSpPr txBox="1"/>
          <p:nvPr/>
        </p:nvSpPr>
        <p:spPr>
          <a:xfrm>
            <a:off x="7543800" y="2130552"/>
            <a:ext cx="3657600" cy="394335"/>
          </a:xfrm>
          <a:prstGeom prst="rect">
            <a:avLst/>
          </a:prstGeom>
          <a:noFill/>
          <a:ln/>
        </p:spPr>
        <p:txBody>
          <a:bodyPr wrap="square" lIns="0" tIns="0" rIns="0" bIns="0" rtlCol="0" anchor="t"/>
          <a:lstStyle/>
          <a:p>
            <a:pPr algn="l" indent="0" marL="0">
              <a:lnSpc>
                <a:spcPts val="1755"/>
              </a:lnSpc>
              <a:buNone/>
            </a:pPr>
            <a:r>
              <a:rPr lang="en-US" sz="1350" dirty="0">
                <a:solidFill>
                  <a:srgbClr val="1B1815"/>
                </a:solidFill>
                <a:latin typeface="Georgia" pitchFamily="34" charset="0"/>
                <a:ea typeface="Georgia" pitchFamily="34" charset="-122"/>
                <a:cs typeface="Georgia" pitchFamily="34" charset="-120"/>
              </a:rPr>
              <a:t>The alliance is not a dyad</a:t>
            </a:r>
            <a:endParaRPr lang="en-US" sz="1350" dirty="0"/>
          </a:p>
        </p:txBody>
      </p:sp>
      <p:sp>
        <p:nvSpPr>
          <p:cNvPr id="25" name="Shape 23"/>
          <p:cNvSpPr/>
          <p:nvPr/>
        </p:nvSpPr>
        <p:spPr>
          <a:xfrm>
            <a:off x="7543800" y="2734056"/>
            <a:ext cx="256032" cy="91"/>
          </a:xfrm>
          <a:prstGeom prst="line">
            <a:avLst/>
          </a:prstGeom>
          <a:noFill/>
          <a:ln w="15240">
            <a:solidFill>
              <a:srgbClr val="C2A05F"/>
            </a:solidFill>
            <a:prstDash val="solid"/>
            <a:headEnd type="none"/>
            <a:tailEnd type="none"/>
          </a:ln>
        </p:spPr>
      </p:sp>
      <p:sp>
        <p:nvSpPr>
          <p:cNvPr id="26" name="Text 24"/>
          <p:cNvSpPr txBox="1"/>
          <p:nvPr/>
        </p:nvSpPr>
        <p:spPr>
          <a:xfrm>
            <a:off x="7909560" y="2624328"/>
            <a:ext cx="3063240" cy="274574"/>
          </a:xfrm>
          <a:prstGeom prst="rect">
            <a:avLst/>
          </a:prstGeom>
          <a:noFill/>
          <a:ln/>
        </p:spPr>
        <p:txBody>
          <a:bodyPr wrap="square" lIns="0" tIns="0" rIns="0" bIns="0" rtlCol="0" anchor="t"/>
          <a:lstStyle/>
          <a:p>
            <a:pPr algn="l" indent="0" marL="0">
              <a:lnSpc>
                <a:spcPts val="1222"/>
              </a:lnSpc>
              <a:buNone/>
            </a:pPr>
            <a:r>
              <a:rPr lang="en-US" sz="940" b="1" dirty="0">
                <a:solidFill>
                  <a:srgbClr val="1B1815"/>
                </a:solidFill>
                <a:latin typeface="Calibri" pitchFamily="34" charset="0"/>
                <a:ea typeface="Calibri" pitchFamily="34" charset="-122"/>
                <a:cs typeface="Calibri" pitchFamily="34" charset="-120"/>
              </a:rPr>
              <a:t>Triadic by nature</a:t>
            </a:r>
            <a:endParaRPr lang="en-US" sz="940" dirty="0"/>
          </a:p>
        </p:txBody>
      </p:sp>
      <p:sp>
        <p:nvSpPr>
          <p:cNvPr id="27" name="Text 25"/>
          <p:cNvSpPr txBox="1"/>
          <p:nvPr/>
        </p:nvSpPr>
        <p:spPr>
          <a:xfrm>
            <a:off x="7909560" y="2871216"/>
            <a:ext cx="3063240" cy="385318"/>
          </a:xfrm>
          <a:prstGeom prst="rect">
            <a:avLst/>
          </a:prstGeom>
          <a:noFill/>
          <a:ln/>
        </p:spPr>
        <p:txBody>
          <a:bodyPr wrap="square" lIns="0" tIns="0" rIns="0" bIns="0" rtlCol="0" anchor="t"/>
          <a:lstStyle/>
          <a:p>
            <a:pPr algn="l" indent="0" marL="0">
              <a:lnSpc>
                <a:spcPts val="1107"/>
              </a:lnSpc>
              <a:buNone/>
            </a:pPr>
            <a:r>
              <a:rPr lang="en-US" sz="820" dirty="0">
                <a:solidFill>
                  <a:srgbClr val="5B544A"/>
                </a:solidFill>
                <a:latin typeface="Calibri" pitchFamily="34" charset="0"/>
                <a:ea typeface="Calibri" pitchFamily="34" charset="-122"/>
                <a:cs typeface="Calibri" pitchFamily="34" charset="-120"/>
              </a:rPr>
              <a:t>Every statement is heard by more than one person, and heard</a:t>
            </a:r>
            <a:endParaRPr lang="en-US" sz="820" dirty="0"/>
          </a:p>
          <a:p>
            <a:pPr algn="l" indent="0" marL="0">
              <a:lnSpc>
                <a:spcPts val="1107"/>
              </a:lnSpc>
              <a:buNone/>
            </a:pPr>
            <a:r>
              <a:rPr lang="en-US" sz="820" dirty="0">
                <a:solidFill>
                  <a:srgbClr val="5B544A"/>
                </a:solidFill>
                <a:latin typeface="Calibri" pitchFamily="34" charset="0"/>
                <a:ea typeface="Calibri" pitchFamily="34" charset="-122"/>
                <a:cs typeface="Calibri" pitchFamily="34" charset="-120"/>
              </a:rPr>
              <a:t>differently.</a:t>
            </a:r>
            <a:endParaRPr lang="en-US" sz="820" dirty="0"/>
          </a:p>
        </p:txBody>
      </p:sp>
      <p:sp>
        <p:nvSpPr>
          <p:cNvPr id="28" name="Shape 26"/>
          <p:cNvSpPr/>
          <p:nvPr/>
        </p:nvSpPr>
        <p:spPr>
          <a:xfrm>
            <a:off x="7543800" y="3758184"/>
            <a:ext cx="256032" cy="91"/>
          </a:xfrm>
          <a:prstGeom prst="line">
            <a:avLst/>
          </a:prstGeom>
          <a:noFill/>
          <a:ln w="15240">
            <a:solidFill>
              <a:srgbClr val="C2A05F"/>
            </a:solidFill>
            <a:prstDash val="solid"/>
            <a:headEnd type="none"/>
            <a:tailEnd type="none"/>
          </a:ln>
        </p:spPr>
      </p:sp>
      <p:sp>
        <p:nvSpPr>
          <p:cNvPr id="29" name="Text 27"/>
          <p:cNvSpPr txBox="1"/>
          <p:nvPr/>
        </p:nvSpPr>
        <p:spPr>
          <a:xfrm>
            <a:off x="7909560" y="3648456"/>
            <a:ext cx="3063240" cy="274574"/>
          </a:xfrm>
          <a:prstGeom prst="rect">
            <a:avLst/>
          </a:prstGeom>
          <a:noFill/>
          <a:ln/>
        </p:spPr>
        <p:txBody>
          <a:bodyPr wrap="square" lIns="0" tIns="0" rIns="0" bIns="0" rtlCol="0" anchor="t"/>
          <a:lstStyle/>
          <a:p>
            <a:pPr algn="l" indent="0" marL="0">
              <a:lnSpc>
                <a:spcPts val="1222"/>
              </a:lnSpc>
              <a:buNone/>
            </a:pPr>
            <a:r>
              <a:rPr lang="en-US" sz="940" b="1" dirty="0">
                <a:solidFill>
                  <a:srgbClr val="1B1815"/>
                </a:solidFill>
                <a:latin typeface="Calibri" pitchFamily="34" charset="0"/>
                <a:ea typeface="Calibri" pitchFamily="34" charset="-122"/>
                <a:cs typeface="Calibri" pitchFamily="34" charset="-120"/>
              </a:rPr>
              <a:t>Split alliances</a:t>
            </a:r>
            <a:endParaRPr lang="en-US" sz="940" dirty="0"/>
          </a:p>
        </p:txBody>
      </p:sp>
      <p:sp>
        <p:nvSpPr>
          <p:cNvPr id="30" name="Text 28"/>
          <p:cNvSpPr txBox="1"/>
          <p:nvPr/>
        </p:nvSpPr>
        <p:spPr>
          <a:xfrm>
            <a:off x="7909560" y="3895344"/>
            <a:ext cx="3063240" cy="385318"/>
          </a:xfrm>
          <a:prstGeom prst="rect">
            <a:avLst/>
          </a:prstGeom>
          <a:noFill/>
          <a:ln/>
        </p:spPr>
        <p:txBody>
          <a:bodyPr wrap="square" lIns="0" tIns="0" rIns="0" bIns="0" rtlCol="0" anchor="t"/>
          <a:lstStyle/>
          <a:p>
            <a:pPr algn="l" indent="0" marL="0">
              <a:lnSpc>
                <a:spcPts val="1107"/>
              </a:lnSpc>
              <a:buNone/>
            </a:pPr>
            <a:r>
              <a:rPr lang="en-US" sz="820" dirty="0">
                <a:solidFill>
                  <a:srgbClr val="5B544A"/>
                </a:solidFill>
                <a:latin typeface="Calibri" pitchFamily="34" charset="0"/>
                <a:ea typeface="Calibri" pitchFamily="34" charset="-122"/>
                <a:cs typeface="Calibri" pitchFamily="34" charset="-120"/>
              </a:rPr>
              <a:t>A strong bond with one member, paid for by distance from another,</a:t>
            </a:r>
            <a:endParaRPr lang="en-US" sz="820" dirty="0"/>
          </a:p>
          <a:p>
            <a:pPr algn="l" indent="0" marL="0">
              <a:lnSpc>
                <a:spcPts val="1107"/>
              </a:lnSpc>
              <a:buNone/>
            </a:pPr>
            <a:r>
              <a:rPr lang="en-US" sz="820" dirty="0">
                <a:solidFill>
                  <a:srgbClr val="5B544A"/>
                </a:solidFill>
                <a:latin typeface="Calibri" pitchFamily="34" charset="0"/>
                <a:ea typeface="Calibri" pitchFamily="34" charset="-122"/>
                <a:cs typeface="Calibri" pitchFamily="34" charset="-120"/>
              </a:rPr>
              <a:t>reproduces the family’s own triangle.</a:t>
            </a:r>
            <a:endParaRPr lang="en-US" sz="820" dirty="0"/>
          </a:p>
        </p:txBody>
      </p:sp>
      <p:sp>
        <p:nvSpPr>
          <p:cNvPr id="31" name="Shape 29"/>
          <p:cNvSpPr/>
          <p:nvPr/>
        </p:nvSpPr>
        <p:spPr>
          <a:xfrm>
            <a:off x="7543800" y="4782312"/>
            <a:ext cx="256032" cy="91"/>
          </a:xfrm>
          <a:prstGeom prst="line">
            <a:avLst/>
          </a:prstGeom>
          <a:noFill/>
          <a:ln w="15240">
            <a:solidFill>
              <a:srgbClr val="C2A05F"/>
            </a:solidFill>
            <a:prstDash val="solid"/>
            <a:headEnd type="none"/>
            <a:tailEnd type="none"/>
          </a:ln>
        </p:spPr>
      </p:sp>
      <p:sp>
        <p:nvSpPr>
          <p:cNvPr id="32" name="Text 30"/>
          <p:cNvSpPr txBox="1"/>
          <p:nvPr/>
        </p:nvSpPr>
        <p:spPr>
          <a:xfrm>
            <a:off x="7909560" y="4672584"/>
            <a:ext cx="3063240" cy="274574"/>
          </a:xfrm>
          <a:prstGeom prst="rect">
            <a:avLst/>
          </a:prstGeom>
          <a:noFill/>
          <a:ln/>
        </p:spPr>
        <p:txBody>
          <a:bodyPr wrap="square" lIns="0" tIns="0" rIns="0" bIns="0" rtlCol="0" anchor="t"/>
          <a:lstStyle/>
          <a:p>
            <a:pPr algn="l" indent="0" marL="0">
              <a:lnSpc>
                <a:spcPts val="1222"/>
              </a:lnSpc>
              <a:buNone/>
            </a:pPr>
            <a:r>
              <a:rPr lang="en-US" sz="940" b="1" dirty="0">
                <a:solidFill>
                  <a:srgbClr val="1B1815"/>
                </a:solidFill>
                <a:latin typeface="Calibri" pitchFamily="34" charset="0"/>
                <a:ea typeface="Calibri" pitchFamily="34" charset="-122"/>
                <a:cs typeface="Calibri" pitchFamily="34" charset="-120"/>
              </a:rPr>
              <a:t>Repair in session</a:t>
            </a:r>
            <a:endParaRPr lang="en-US" sz="940" dirty="0"/>
          </a:p>
        </p:txBody>
      </p:sp>
      <p:sp>
        <p:nvSpPr>
          <p:cNvPr id="33" name="Text 31"/>
          <p:cNvSpPr txBox="1"/>
          <p:nvPr/>
        </p:nvSpPr>
        <p:spPr>
          <a:xfrm>
            <a:off x="7909560" y="4919472"/>
            <a:ext cx="3063240" cy="385318"/>
          </a:xfrm>
          <a:prstGeom prst="rect">
            <a:avLst/>
          </a:prstGeom>
          <a:noFill/>
          <a:ln/>
        </p:spPr>
        <p:txBody>
          <a:bodyPr wrap="square" lIns="0" tIns="0" rIns="0" bIns="0" rtlCol="0" anchor="t"/>
          <a:lstStyle/>
          <a:p>
            <a:pPr algn="l" indent="0" marL="0">
              <a:lnSpc>
                <a:spcPts val="1107"/>
              </a:lnSpc>
              <a:buNone/>
            </a:pPr>
            <a:r>
              <a:rPr lang="en-US" sz="820" dirty="0">
                <a:solidFill>
                  <a:srgbClr val="5B544A"/>
                </a:solidFill>
                <a:latin typeface="Calibri" pitchFamily="34" charset="0"/>
                <a:ea typeface="Calibri" pitchFamily="34" charset="-122"/>
                <a:cs typeface="Calibri" pitchFamily="34" charset="-120"/>
              </a:rPr>
              <a:t>Name the rupture, validate both positions, and re-establish the</a:t>
            </a:r>
            <a:endParaRPr lang="en-US" sz="820" dirty="0"/>
          </a:p>
          <a:p>
            <a:pPr algn="l" indent="0" marL="0">
              <a:lnSpc>
                <a:spcPts val="1107"/>
              </a:lnSpc>
              <a:buNone/>
            </a:pPr>
            <a:r>
              <a:rPr lang="en-US" sz="820" dirty="0">
                <a:solidFill>
                  <a:srgbClr val="5B544A"/>
                </a:solidFill>
                <a:latin typeface="Calibri" pitchFamily="34" charset="0"/>
                <a:ea typeface="Calibri" pitchFamily="34" charset="-122"/>
                <a:cs typeface="Calibri" pitchFamily="34" charset="-120"/>
              </a:rPr>
              <a:t>therapist as available to all.</a:t>
            </a:r>
            <a:endParaRPr lang="en-US" sz="820" dirty="0"/>
          </a:p>
        </p:txBody>
      </p:sp>
      <p:sp>
        <p:nvSpPr>
          <p:cNvPr id="34" name="Text 32"/>
          <p:cNvSpPr txBox="1"/>
          <p:nvPr/>
        </p:nvSpPr>
        <p:spPr>
          <a:xfrm>
            <a:off x="1371600" y="5486400"/>
            <a:ext cx="4023360" cy="204470"/>
          </a:xfrm>
          <a:prstGeom prst="rect">
            <a:avLst/>
          </a:prstGeom>
          <a:noFill/>
          <a:ln/>
        </p:spPr>
        <p:txBody>
          <a:bodyPr wrap="square" lIns="0" tIns="0" rIns="0" bIns="0" rtlCol="0" anchor="t"/>
          <a:lstStyle/>
          <a:p>
            <a:pPr algn="l" indent="0" marL="0">
              <a:lnSpc>
                <a:spcPts val="910"/>
              </a:lnSpc>
              <a:buNone/>
            </a:pPr>
            <a:r>
              <a:rPr lang="en-US" sz="700" i="1" dirty="0">
                <a:solidFill>
                  <a:srgbClr val="5B544A"/>
                </a:solidFill>
                <a:latin typeface="Calibri" pitchFamily="34" charset="0"/>
                <a:ea typeface="Calibri" pitchFamily="34" charset="-122"/>
                <a:cs typeface="Calibri" pitchFamily="34" charset="-120"/>
              </a:rPr>
              <a:t>Line weight indicates strength of alliance.</a:t>
            </a:r>
            <a:endParaRPr lang="en-US" sz="700" dirty="0"/>
          </a:p>
        </p:txBody>
      </p:sp>
      <p:sp>
        <p:nvSpPr>
          <p:cNvPr id="35" name="Text 33"/>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After Friedlander, Escudero &amp; Heatherington (2006).</a:t>
            </a:r>
            <a:endParaRPr lang="en-US" sz="74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09 · CLINICAL APPLICATION</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45</a:t>
            </a:r>
            <a:endParaRPr lang="en-US" sz="950" dirty="0"/>
          </a:p>
        </p:txBody>
      </p:sp>
      <p:sp>
        <p:nvSpPr>
          <p:cNvPr id="8" name="Text 6"/>
          <p:cNvSpPr txBox="1"/>
          <p:nvPr/>
        </p:nvSpPr>
        <p:spPr>
          <a:xfrm>
            <a:off x="822960" y="932688"/>
            <a:ext cx="9509760" cy="775970"/>
          </a:xfrm>
          <a:prstGeom prst="rect">
            <a:avLst/>
          </a:prstGeom>
          <a:noFill/>
          <a:ln/>
        </p:spPr>
        <p:txBody>
          <a:bodyPr wrap="square" lIns="0" tIns="0" rIns="0" bIns="0" rtlCol="0" anchor="t"/>
          <a:lstStyle/>
          <a:p>
            <a:pPr algn="l" indent="0" marL="0">
              <a:lnSpc>
                <a:spcPts val="3510"/>
              </a:lnSpc>
              <a:buNone/>
            </a:pPr>
            <a:r>
              <a:rPr lang="en-US" sz="2600" dirty="0">
                <a:solidFill>
                  <a:srgbClr val="1B1815"/>
                </a:solidFill>
                <a:latin typeface="Georgia" pitchFamily="34" charset="0"/>
                <a:ea typeface="Georgia" pitchFamily="34" charset="-122"/>
                <a:cs typeface="Georgia" pitchFamily="34" charset="-120"/>
              </a:rPr>
              <a:t>The first ten minutes</a:t>
            </a:r>
            <a:endParaRPr lang="en-US" sz="2600" dirty="0"/>
          </a:p>
        </p:txBody>
      </p:sp>
      <p:sp>
        <p:nvSpPr>
          <p:cNvPr id="9" name="Shape 7"/>
          <p:cNvSpPr/>
          <p:nvPr/>
        </p:nvSpPr>
        <p:spPr>
          <a:xfrm>
            <a:off x="822960" y="1463040"/>
            <a:ext cx="7059168" cy="1847088"/>
          </a:xfrm>
          <a:prstGeom prst="roundRect">
            <a:avLst>
              <a:gd name="adj" fmla="val 490"/>
            </a:avLst>
          </a:prstGeom>
          <a:solidFill>
            <a:srgbClr val="EFE5D3">
              <a:alpha val="50000"/>
            </a:srgbClr>
          </a:solidFill>
          <a:ln w="12700">
            <a:solidFill>
              <a:srgbClr val="FFFFFF">
                <a:alpha val="0"/>
              </a:srgbClr>
            </a:solidFill>
            <a:prstDash val="solid"/>
          </a:ln>
        </p:spPr>
      </p:sp>
      <p:sp>
        <p:nvSpPr>
          <p:cNvPr id="10" name="Shape 8"/>
          <p:cNvSpPr/>
          <p:nvPr/>
        </p:nvSpPr>
        <p:spPr>
          <a:xfrm>
            <a:off x="822960" y="1463040"/>
            <a:ext cx="45720" cy="1847088"/>
          </a:xfrm>
          <a:prstGeom prst="rect">
            <a:avLst/>
          </a:prstGeom>
          <a:solidFill>
            <a:srgbClr val="A96A45"/>
          </a:solidFill>
          <a:ln w="12700">
            <a:solidFill>
              <a:srgbClr val="FFFFFF">
                <a:alpha val="0"/>
              </a:srgbClr>
            </a:solidFill>
            <a:prstDash val="solid"/>
          </a:ln>
        </p:spPr>
      </p:sp>
      <p:sp>
        <p:nvSpPr>
          <p:cNvPr id="11" name="Text 9"/>
          <p:cNvSpPr txBox="1"/>
          <p:nvPr/>
        </p:nvSpPr>
        <p:spPr>
          <a:xfrm>
            <a:off x="1115568" y="1627632"/>
            <a:ext cx="2743200" cy="202946"/>
          </a:xfrm>
          <a:prstGeom prst="rect">
            <a:avLst/>
          </a:prstGeom>
          <a:noFill/>
          <a:ln/>
        </p:spPr>
        <p:txBody>
          <a:bodyPr wrap="square" lIns="0" tIns="0" rIns="0" bIns="0" rtlCol="0" anchor="t"/>
          <a:lstStyle/>
          <a:p>
            <a:pPr algn="l" indent="0" marL="0">
              <a:lnSpc>
                <a:spcPts val="918"/>
              </a:lnSpc>
              <a:buNone/>
            </a:pPr>
            <a:r>
              <a:rPr lang="en-US" sz="680" b="1" spc="200" kern="0" dirty="0">
                <a:solidFill>
                  <a:srgbClr val="A96A45"/>
                </a:solidFill>
                <a:latin typeface="Calibri" pitchFamily="34" charset="0"/>
                <a:ea typeface="Calibri" pitchFamily="34" charset="-122"/>
                <a:cs typeface="Calibri" pitchFamily="34" charset="-120"/>
              </a:rPr>
              <a:t>CLINICAL VIGNETTE</a:t>
            </a:r>
            <a:endParaRPr lang="en-US" sz="680" dirty="0"/>
          </a:p>
        </p:txBody>
      </p:sp>
      <p:sp>
        <p:nvSpPr>
          <p:cNvPr id="12" name="Text 10"/>
          <p:cNvSpPr txBox="1"/>
          <p:nvPr/>
        </p:nvSpPr>
        <p:spPr>
          <a:xfrm>
            <a:off x="1115568" y="2299818"/>
            <a:ext cx="6446520" cy="1280160"/>
          </a:xfrm>
          <a:prstGeom prst="rect">
            <a:avLst/>
          </a:prstGeom>
          <a:noFill/>
          <a:ln/>
        </p:spPr>
        <p:txBody>
          <a:bodyPr wrap="square" lIns="0" tIns="0" rIns="0" bIns="0" rtlCol="0" anchor="t"/>
          <a:lstStyle/>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A couple arrives furious. One wants to leave; the other booked the session secretly. Both look at</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you before they sit down.</a:t>
            </a:r>
            <a:endParaRPr lang="en-US" sz="1160" dirty="0"/>
          </a:p>
        </p:txBody>
      </p:sp>
      <p:sp>
        <p:nvSpPr>
          <p:cNvPr id="13" name="Shape 11"/>
          <p:cNvSpPr/>
          <p:nvPr/>
        </p:nvSpPr>
        <p:spPr>
          <a:xfrm>
            <a:off x="8101584" y="1463040"/>
            <a:ext cx="3264408" cy="1847088"/>
          </a:xfrm>
          <a:prstGeom prst="roundRect">
            <a:avLst>
              <a:gd name="adj" fmla="val 490"/>
            </a:avLst>
          </a:prstGeom>
          <a:solidFill>
            <a:srgbClr val="FFFFFF">
              <a:alpha val="0"/>
            </a:srgbClr>
          </a:solidFill>
          <a:ln w="7620">
            <a:solidFill>
              <a:srgbClr val="D9CDB7"/>
            </a:solidFill>
            <a:prstDash val="solid"/>
          </a:ln>
        </p:spPr>
      </p:sp>
      <p:sp>
        <p:nvSpPr>
          <p:cNvPr id="14" name="Text 12"/>
          <p:cNvSpPr txBox="1"/>
          <p:nvPr/>
        </p:nvSpPr>
        <p:spPr>
          <a:xfrm>
            <a:off x="8302752" y="1627632"/>
            <a:ext cx="2898648" cy="196977"/>
          </a:xfrm>
          <a:prstGeom prst="rect">
            <a:avLst/>
          </a:prstGeom>
          <a:noFill/>
          <a:ln/>
        </p:spPr>
        <p:txBody>
          <a:bodyPr wrap="square" lIns="0" tIns="0" rIns="0" bIns="0" rtlCol="0" anchor="t"/>
          <a:lstStyle/>
          <a:p>
            <a:pPr algn="l" indent="0" marL="0">
              <a:lnSpc>
                <a:spcPts val="891"/>
              </a:lnSpc>
              <a:buNone/>
            </a:pPr>
            <a:r>
              <a:rPr lang="en-US" sz="660" b="1" spc="180" kern="0" dirty="0">
                <a:solidFill>
                  <a:srgbClr val="6E8274"/>
                </a:solidFill>
                <a:latin typeface="Calibri" pitchFamily="34" charset="0"/>
                <a:ea typeface="Calibri" pitchFamily="34" charset="-122"/>
                <a:cs typeface="Calibri" pitchFamily="34" charset="-120"/>
              </a:rPr>
              <a:t>APPLY THIS WEEK</a:t>
            </a:r>
            <a:endParaRPr lang="en-US" sz="660" dirty="0"/>
          </a:p>
        </p:txBody>
      </p:sp>
      <p:sp>
        <p:nvSpPr>
          <p:cNvPr id="15" name="Shape 13"/>
          <p:cNvSpPr/>
          <p:nvPr/>
        </p:nvSpPr>
        <p:spPr>
          <a:xfrm>
            <a:off x="8322869" y="1967789"/>
            <a:ext cx="51206" cy="51206"/>
          </a:xfrm>
          <a:prstGeom prst="ellipse">
            <a:avLst/>
          </a:prstGeom>
          <a:solidFill>
            <a:srgbClr val="6E8274"/>
          </a:solidFill>
          <a:ln w="12700">
            <a:solidFill>
              <a:srgbClr val="FFFFFF">
                <a:alpha val="0"/>
              </a:srgbClr>
            </a:solidFill>
            <a:prstDash val="solid"/>
          </a:ln>
        </p:spPr>
      </p:sp>
      <p:sp>
        <p:nvSpPr>
          <p:cNvPr id="16" name="Text 14"/>
          <p:cNvSpPr txBox="1"/>
          <p:nvPr/>
        </p:nvSpPr>
        <p:spPr>
          <a:xfrm>
            <a:off x="8485632" y="1911096"/>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joining</a:t>
            </a:r>
            <a:endParaRPr lang="en-US" sz="830" dirty="0"/>
          </a:p>
        </p:txBody>
      </p:sp>
      <p:sp>
        <p:nvSpPr>
          <p:cNvPr id="17" name="Shape 15"/>
          <p:cNvSpPr/>
          <p:nvPr/>
        </p:nvSpPr>
        <p:spPr>
          <a:xfrm>
            <a:off x="8322869" y="2296973"/>
            <a:ext cx="51206" cy="51206"/>
          </a:xfrm>
          <a:prstGeom prst="ellipse">
            <a:avLst/>
          </a:prstGeom>
          <a:solidFill>
            <a:srgbClr val="6E8274"/>
          </a:solidFill>
          <a:ln w="12700">
            <a:solidFill>
              <a:srgbClr val="FFFFFF">
                <a:alpha val="0"/>
              </a:srgbClr>
            </a:solidFill>
            <a:prstDash val="solid"/>
          </a:ln>
        </p:spPr>
      </p:sp>
      <p:sp>
        <p:nvSpPr>
          <p:cNvPr id="18" name="Text 16"/>
          <p:cNvSpPr txBox="1"/>
          <p:nvPr/>
        </p:nvSpPr>
        <p:spPr>
          <a:xfrm>
            <a:off x="8485632" y="2240280"/>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alliance</a:t>
            </a:r>
            <a:endParaRPr lang="en-US" sz="830" dirty="0"/>
          </a:p>
        </p:txBody>
      </p:sp>
      <p:sp>
        <p:nvSpPr>
          <p:cNvPr id="19" name="Shape 17"/>
          <p:cNvSpPr/>
          <p:nvPr/>
        </p:nvSpPr>
        <p:spPr>
          <a:xfrm>
            <a:off x="8322869" y="2626157"/>
            <a:ext cx="51206" cy="51206"/>
          </a:xfrm>
          <a:prstGeom prst="ellipse">
            <a:avLst/>
          </a:prstGeom>
          <a:solidFill>
            <a:srgbClr val="6E8274"/>
          </a:solidFill>
          <a:ln w="12700">
            <a:solidFill>
              <a:srgbClr val="FFFFFF">
                <a:alpha val="0"/>
              </a:srgbClr>
            </a:solidFill>
            <a:prstDash val="solid"/>
          </a:ln>
        </p:spPr>
      </p:sp>
      <p:sp>
        <p:nvSpPr>
          <p:cNvPr id="20" name="Text 18"/>
          <p:cNvSpPr txBox="1"/>
          <p:nvPr/>
        </p:nvSpPr>
        <p:spPr>
          <a:xfrm>
            <a:off x="8485632" y="2569464"/>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neutrality</a:t>
            </a:r>
            <a:endParaRPr lang="en-US" sz="830" dirty="0"/>
          </a:p>
        </p:txBody>
      </p:sp>
      <p:sp>
        <p:nvSpPr>
          <p:cNvPr id="21" name="Shape 19"/>
          <p:cNvSpPr/>
          <p:nvPr/>
        </p:nvSpPr>
        <p:spPr>
          <a:xfrm>
            <a:off x="8322869" y="2955341"/>
            <a:ext cx="51206" cy="51206"/>
          </a:xfrm>
          <a:prstGeom prst="ellipse">
            <a:avLst/>
          </a:prstGeom>
          <a:solidFill>
            <a:srgbClr val="6E8274"/>
          </a:solidFill>
          <a:ln w="12700">
            <a:solidFill>
              <a:srgbClr val="FFFFFF">
                <a:alpha val="0"/>
              </a:srgbClr>
            </a:solidFill>
            <a:prstDash val="solid"/>
          </a:ln>
        </p:spPr>
      </p:sp>
      <p:sp>
        <p:nvSpPr>
          <p:cNvPr id="22" name="Text 20"/>
          <p:cNvSpPr txBox="1"/>
          <p:nvPr/>
        </p:nvSpPr>
        <p:spPr>
          <a:xfrm>
            <a:off x="8485632" y="2898648"/>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informed consent</a:t>
            </a:r>
            <a:endParaRPr lang="en-US" sz="830" dirty="0"/>
          </a:p>
        </p:txBody>
      </p:sp>
      <p:sp>
        <p:nvSpPr>
          <p:cNvPr id="23" name="Text 21"/>
          <p:cNvSpPr txBox="1"/>
          <p:nvPr/>
        </p:nvSpPr>
        <p:spPr>
          <a:xfrm>
            <a:off x="822960" y="3675888"/>
            <a:ext cx="3657600" cy="214884"/>
          </a:xfrm>
          <a:prstGeom prst="rect">
            <a:avLst/>
          </a:prstGeom>
          <a:noFill/>
          <a:ln/>
        </p:spPr>
        <p:txBody>
          <a:bodyPr wrap="square" lIns="0" tIns="0" rIns="0" bIns="0" rtlCol="0" anchor="t"/>
          <a:lstStyle/>
          <a:p>
            <a:pPr algn="l" indent="0" marL="0">
              <a:lnSpc>
                <a:spcPts val="972"/>
              </a:lnSpc>
              <a:buNone/>
            </a:pPr>
            <a:r>
              <a:rPr lang="en-US" sz="720" b="1" spc="200" kern="0" dirty="0">
                <a:solidFill>
                  <a:srgbClr val="96733C"/>
                </a:solidFill>
                <a:latin typeface="Calibri" pitchFamily="34" charset="0"/>
                <a:ea typeface="Calibri" pitchFamily="34" charset="-122"/>
                <a:cs typeface="Calibri" pitchFamily="34" charset="-120"/>
              </a:rPr>
              <a:t>REFLECTION</a:t>
            </a:r>
            <a:endParaRPr lang="en-US" sz="720" dirty="0"/>
          </a:p>
        </p:txBody>
      </p:sp>
      <p:sp>
        <p:nvSpPr>
          <p:cNvPr id="24" name="Shape 22"/>
          <p:cNvSpPr/>
          <p:nvPr/>
        </p:nvSpPr>
        <p:spPr>
          <a:xfrm>
            <a:off x="1828800" y="3730752"/>
            <a:ext cx="548640" cy="91"/>
          </a:xfrm>
          <a:prstGeom prst="line">
            <a:avLst/>
          </a:prstGeom>
          <a:noFill/>
          <a:ln w="10160">
            <a:solidFill>
              <a:srgbClr val="C2A05F"/>
            </a:solidFill>
            <a:prstDash val="solid"/>
            <a:headEnd type="none"/>
            <a:tailEnd type="none"/>
          </a:ln>
        </p:spPr>
      </p:sp>
      <p:sp>
        <p:nvSpPr>
          <p:cNvPr id="25" name="Shape 23"/>
          <p:cNvSpPr/>
          <p:nvPr/>
        </p:nvSpPr>
        <p:spPr>
          <a:xfrm>
            <a:off x="822960" y="4041648"/>
            <a:ext cx="3319272" cy="1627632"/>
          </a:xfrm>
          <a:prstGeom prst="roundRect">
            <a:avLst>
              <a:gd name="adj" fmla="val 631"/>
            </a:avLst>
          </a:prstGeom>
          <a:solidFill>
            <a:srgbClr val="FCF8EF"/>
          </a:solidFill>
          <a:ln w="6350">
            <a:solidFill>
              <a:srgbClr val="D9CDB7"/>
            </a:solidFill>
            <a:prstDash val="solid"/>
          </a:ln>
        </p:spPr>
      </p:sp>
      <p:sp>
        <p:nvSpPr>
          <p:cNvPr id="26" name="Text 24"/>
          <p:cNvSpPr txBox="1"/>
          <p:nvPr/>
        </p:nvSpPr>
        <p:spPr>
          <a:xfrm>
            <a:off x="102412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27" name="Text 25"/>
          <p:cNvSpPr txBox="1"/>
          <p:nvPr/>
        </p:nvSpPr>
        <p:spPr>
          <a:xfrm>
            <a:off x="102412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do you say in the first minute?</a:t>
            </a:r>
            <a:endParaRPr lang="en-US" sz="920" dirty="0"/>
          </a:p>
        </p:txBody>
      </p:sp>
      <p:sp>
        <p:nvSpPr>
          <p:cNvPr id="28" name="Shape 26"/>
          <p:cNvSpPr/>
          <p:nvPr/>
        </p:nvSpPr>
        <p:spPr>
          <a:xfrm>
            <a:off x="1024128" y="5248656"/>
            <a:ext cx="2916936" cy="91"/>
          </a:xfrm>
          <a:prstGeom prst="line">
            <a:avLst/>
          </a:prstGeom>
          <a:noFill/>
          <a:ln w="3810">
            <a:solidFill>
              <a:srgbClr val="D9CDB7">
                <a:alpha val="75000"/>
              </a:srgbClr>
            </a:solidFill>
            <a:prstDash val="sysDot"/>
            <a:headEnd type="none"/>
            <a:tailEnd type="none"/>
          </a:ln>
        </p:spPr>
      </p:sp>
      <p:sp>
        <p:nvSpPr>
          <p:cNvPr id="29" name="Shape 27"/>
          <p:cNvSpPr/>
          <p:nvPr/>
        </p:nvSpPr>
        <p:spPr>
          <a:xfrm>
            <a:off x="1024128" y="5468112"/>
            <a:ext cx="2916936" cy="91"/>
          </a:xfrm>
          <a:prstGeom prst="line">
            <a:avLst/>
          </a:prstGeom>
          <a:noFill/>
          <a:ln w="3810">
            <a:solidFill>
              <a:srgbClr val="D9CDB7">
                <a:alpha val="75000"/>
              </a:srgbClr>
            </a:solidFill>
            <a:prstDash val="sysDot"/>
            <a:headEnd type="none"/>
            <a:tailEnd type="none"/>
          </a:ln>
        </p:spPr>
      </p:sp>
      <p:sp>
        <p:nvSpPr>
          <p:cNvPr id="30" name="Shape 28"/>
          <p:cNvSpPr/>
          <p:nvPr/>
        </p:nvSpPr>
        <p:spPr>
          <a:xfrm>
            <a:off x="4434840" y="4041648"/>
            <a:ext cx="3319272" cy="1627632"/>
          </a:xfrm>
          <a:prstGeom prst="roundRect">
            <a:avLst>
              <a:gd name="adj" fmla="val 631"/>
            </a:avLst>
          </a:prstGeom>
          <a:solidFill>
            <a:srgbClr val="FCF8EF"/>
          </a:solidFill>
          <a:ln w="6350">
            <a:solidFill>
              <a:srgbClr val="D9CDB7"/>
            </a:solidFill>
            <a:prstDash val="solid"/>
          </a:ln>
        </p:spPr>
      </p:sp>
      <p:sp>
        <p:nvSpPr>
          <p:cNvPr id="31" name="Text 29"/>
          <p:cNvSpPr txBox="1"/>
          <p:nvPr/>
        </p:nvSpPr>
        <p:spPr>
          <a:xfrm>
            <a:off x="463600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32" name="Text 30"/>
          <p:cNvSpPr txBox="1"/>
          <p:nvPr/>
        </p:nvSpPr>
        <p:spPr>
          <a:xfrm>
            <a:off x="463600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How do you handle the secret booking?</a:t>
            </a:r>
            <a:endParaRPr lang="en-US" sz="920" dirty="0"/>
          </a:p>
        </p:txBody>
      </p:sp>
      <p:sp>
        <p:nvSpPr>
          <p:cNvPr id="33" name="Shape 31"/>
          <p:cNvSpPr/>
          <p:nvPr/>
        </p:nvSpPr>
        <p:spPr>
          <a:xfrm>
            <a:off x="4636008" y="5248656"/>
            <a:ext cx="2916936" cy="91"/>
          </a:xfrm>
          <a:prstGeom prst="line">
            <a:avLst/>
          </a:prstGeom>
          <a:noFill/>
          <a:ln w="3810">
            <a:solidFill>
              <a:srgbClr val="D9CDB7">
                <a:alpha val="75000"/>
              </a:srgbClr>
            </a:solidFill>
            <a:prstDash val="sysDot"/>
            <a:headEnd type="none"/>
            <a:tailEnd type="none"/>
          </a:ln>
        </p:spPr>
      </p:sp>
      <p:sp>
        <p:nvSpPr>
          <p:cNvPr id="34" name="Shape 32"/>
          <p:cNvSpPr/>
          <p:nvPr/>
        </p:nvSpPr>
        <p:spPr>
          <a:xfrm>
            <a:off x="4636008" y="5468112"/>
            <a:ext cx="2916936" cy="91"/>
          </a:xfrm>
          <a:prstGeom prst="line">
            <a:avLst/>
          </a:prstGeom>
          <a:noFill/>
          <a:ln w="3810">
            <a:solidFill>
              <a:srgbClr val="D9CDB7">
                <a:alpha val="75000"/>
              </a:srgbClr>
            </a:solidFill>
            <a:prstDash val="sysDot"/>
            <a:headEnd type="none"/>
            <a:tailEnd type="none"/>
          </a:ln>
        </p:spPr>
      </p:sp>
      <p:sp>
        <p:nvSpPr>
          <p:cNvPr id="35" name="Shape 33"/>
          <p:cNvSpPr/>
          <p:nvPr/>
        </p:nvSpPr>
        <p:spPr>
          <a:xfrm>
            <a:off x="8046720" y="4041648"/>
            <a:ext cx="3319272" cy="1627632"/>
          </a:xfrm>
          <a:prstGeom prst="roundRect">
            <a:avLst>
              <a:gd name="adj" fmla="val 631"/>
            </a:avLst>
          </a:prstGeom>
          <a:solidFill>
            <a:srgbClr val="FCF8EF"/>
          </a:solidFill>
          <a:ln w="6350">
            <a:solidFill>
              <a:srgbClr val="D9CDB7"/>
            </a:solidFill>
            <a:prstDash val="solid"/>
          </a:ln>
        </p:spPr>
      </p:sp>
      <p:sp>
        <p:nvSpPr>
          <p:cNvPr id="36" name="Text 34"/>
          <p:cNvSpPr txBox="1"/>
          <p:nvPr/>
        </p:nvSpPr>
        <p:spPr>
          <a:xfrm>
            <a:off x="824788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7" name="Text 35"/>
          <p:cNvSpPr txBox="1"/>
          <p:nvPr/>
        </p:nvSpPr>
        <p:spPr>
          <a:xfrm>
            <a:off x="8247888" y="4443984"/>
            <a:ext cx="2916936" cy="448666"/>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would make both feel heard without agreeing with</a:t>
            </a:r>
            <a:endParaRPr lang="en-US" sz="920" dirty="0"/>
          </a:p>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either?</a:t>
            </a:r>
            <a:endParaRPr lang="en-US" sz="920" dirty="0"/>
          </a:p>
        </p:txBody>
      </p:sp>
      <p:sp>
        <p:nvSpPr>
          <p:cNvPr id="38" name="Shape 36"/>
          <p:cNvSpPr/>
          <p:nvPr/>
        </p:nvSpPr>
        <p:spPr>
          <a:xfrm>
            <a:off x="8247888" y="5248656"/>
            <a:ext cx="2916936" cy="91"/>
          </a:xfrm>
          <a:prstGeom prst="line">
            <a:avLst/>
          </a:prstGeom>
          <a:noFill/>
          <a:ln w="3810">
            <a:solidFill>
              <a:srgbClr val="D9CDB7">
                <a:alpha val="75000"/>
              </a:srgbClr>
            </a:solidFill>
            <a:prstDash val="sysDot"/>
            <a:headEnd type="none"/>
            <a:tailEnd type="none"/>
          </a:ln>
        </p:spPr>
      </p:sp>
      <p:sp>
        <p:nvSpPr>
          <p:cNvPr id="39" name="Shape 37"/>
          <p:cNvSpPr/>
          <p:nvPr/>
        </p:nvSpPr>
        <p:spPr>
          <a:xfrm>
            <a:off x="8247888" y="5468112"/>
            <a:ext cx="2916936" cy="91"/>
          </a:xfrm>
          <a:prstGeom prst="line">
            <a:avLst/>
          </a:prstGeom>
          <a:noFill/>
          <a:ln w="3810">
            <a:solidFill>
              <a:srgbClr val="D9CDB7">
                <a:alpha val="75000"/>
              </a:srgbClr>
            </a:solidFill>
            <a:prstDash val="sysDot"/>
            <a:headEnd type="none"/>
            <a:tailEnd type="none"/>
          </a:ln>
        </p:spPr>
      </p:sp>
      <p:sp>
        <p:nvSpPr>
          <p:cNvPr id="40" name="Text 38"/>
          <p:cNvSpPr txBox="1"/>
          <p:nvPr/>
        </p:nvSpPr>
        <p:spPr>
          <a:xfrm>
            <a:off x="822960" y="5742432"/>
            <a:ext cx="9875520" cy="244729"/>
          </a:xfrm>
          <a:prstGeom prst="rect">
            <a:avLst/>
          </a:prstGeom>
          <a:noFill/>
          <a:ln/>
        </p:spPr>
        <p:txBody>
          <a:bodyPr wrap="square" lIns="0" tIns="0" rIns="0" bIns="0" rtlCol="0" anchor="t"/>
          <a:lstStyle/>
          <a:p>
            <a:pPr algn="l" indent="0" marL="0">
              <a:lnSpc>
                <a:spcPts val="1107"/>
              </a:lnSpc>
              <a:buNone/>
            </a:pPr>
            <a:r>
              <a:rPr lang="en-US" sz="820" i="1" dirty="0">
                <a:solidFill>
                  <a:srgbClr val="8B8375"/>
                </a:solidFill>
                <a:latin typeface="Calibri" pitchFamily="34" charset="0"/>
                <a:ea typeface="Calibri" pitchFamily="34" charset="-122"/>
                <a:cs typeface="Calibri" pitchFamily="34" charset="-120"/>
              </a:rPr>
              <a:t>Discuss in seminar · bring one formulation to supervision.</a:t>
            </a:r>
            <a:endParaRPr lang="en-US" sz="8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10 · PHASE III — THE CLINICAL ENCOUNTER</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10</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Assessment, Genograms and</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Information Gathering</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755904"/>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What must a therapist know before intervening — and what does the asking itself</a:t>
            </a:r>
            <a:endParaRPr lang="en-US" sz="1550" dirty="0"/>
          </a:p>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do?</a:t>
            </a:r>
            <a:endParaRPr lang="en-US" sz="1550" dirty="0"/>
          </a:p>
        </p:txBody>
      </p:sp>
      <p:sp>
        <p:nvSpPr>
          <p:cNvPr id="8" name="Shape 6"/>
          <p:cNvSpPr/>
          <p:nvPr/>
        </p:nvSpPr>
        <p:spPr>
          <a:xfrm>
            <a:off x="822960" y="4190746"/>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337050"/>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529074"/>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Assessment as a relational act</a:t>
            </a:r>
            <a:endParaRPr lang="en-US" sz="850" dirty="0"/>
          </a:p>
        </p:txBody>
      </p:sp>
      <p:sp>
        <p:nvSpPr>
          <p:cNvPr id="11" name="Text 9"/>
          <p:cNvSpPr txBox="1"/>
          <p:nvPr/>
        </p:nvSpPr>
        <p:spPr>
          <a:xfrm>
            <a:off x="3282696" y="4337050"/>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529074"/>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Three generations in one view</a:t>
            </a:r>
            <a:endParaRPr lang="en-US" sz="850" dirty="0"/>
          </a:p>
        </p:txBody>
      </p:sp>
      <p:sp>
        <p:nvSpPr>
          <p:cNvPr id="13" name="Text 11"/>
          <p:cNvSpPr txBox="1"/>
          <p:nvPr/>
        </p:nvSpPr>
        <p:spPr>
          <a:xfrm>
            <a:off x="5742432" y="4337050"/>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CLINICAL CASE</a:t>
            </a:r>
            <a:endParaRPr lang="en-US" sz="620" dirty="0"/>
          </a:p>
        </p:txBody>
      </p:sp>
      <p:sp>
        <p:nvSpPr>
          <p:cNvPr id="14" name="Text 12"/>
          <p:cNvSpPr txBox="1"/>
          <p:nvPr/>
        </p:nvSpPr>
        <p:spPr>
          <a:xfrm>
            <a:off x="5742432" y="4529074"/>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family who would not draw</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Construct a three-generation genogram with a</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family.</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Use circular questions to elicit relational difference.</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Integrate risk screening into systemic assessment.</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genogram · circular questioning · interventive interviewing · risk assessment</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McGoldrick, Gerson &amp; Petry (2008), ch. 1–3 · Tomm (1988), interventive interviewing</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96733C"/>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96733C"/>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96733C"/>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96733C"/>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96733C"/>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96733C"/>
          </a:solidFill>
          <a:ln w="12700">
            <a:solidFill>
              <a:srgbClr val="FFFFFF">
                <a:alpha val="0"/>
              </a:srgbClr>
            </a:solidFill>
            <a:prstDash val="solid"/>
          </a:ln>
        </p:spPr>
      </p:sp>
      <p:sp>
        <p:nvSpPr>
          <p:cNvPr id="36" name="Shape 34"/>
          <p:cNvSpPr/>
          <p:nvPr/>
        </p:nvSpPr>
        <p:spPr>
          <a:xfrm>
            <a:off x="7068312" y="5696712"/>
            <a:ext cx="128016" cy="128016"/>
          </a:xfrm>
          <a:prstGeom prst="ellipse">
            <a:avLst/>
          </a:prstGeom>
          <a:solidFill>
            <a:srgbClr val="C2A05F"/>
          </a:solidFill>
          <a:ln w="8890">
            <a:solidFill>
              <a:srgbClr val="E7D3A9"/>
            </a:solidFill>
            <a:prstDash val="solid"/>
          </a:ln>
        </p:spPr>
      </p:sp>
      <p:sp>
        <p:nvSpPr>
          <p:cNvPr id="37" name="Shape 35"/>
          <p:cNvSpPr/>
          <p:nvPr/>
        </p:nvSpPr>
        <p:spPr>
          <a:xfrm>
            <a:off x="7804099" y="5731459"/>
            <a:ext cx="58522" cy="58522"/>
          </a:xfrm>
          <a:prstGeom prst="ellipse">
            <a:avLst/>
          </a:prstGeom>
          <a:solidFill>
            <a:srgbClr val="1E1913"/>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1E1913"/>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1E1913"/>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1E1913"/>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46</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10 · LECTURE 10</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47</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Assessment as a relational act</a:t>
            </a:r>
            <a:endParaRPr lang="en-US" sz="2800" dirty="0"/>
          </a:p>
        </p:txBody>
      </p:sp>
      <p:sp>
        <p:nvSpPr>
          <p:cNvPr id="9" name="Text 7"/>
          <p:cNvSpPr txBox="1"/>
          <p:nvPr/>
        </p:nvSpPr>
        <p:spPr>
          <a:xfrm>
            <a:off x="822960" y="1486408"/>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Every question is an intervention: it directs attention, invites a description, and positions the family in relation to the</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problem.</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THE GENOGRAM</a:t>
            </a:r>
            <a:endParaRPr lang="en-US" sz="750" dirty="0"/>
          </a:p>
        </p:txBody>
      </p:sp>
      <p:sp>
        <p:nvSpPr>
          <p:cNvPr id="13" name="Text 11"/>
          <p:cNvSpPr txBox="1"/>
          <p:nvPr/>
        </p:nvSpPr>
        <p:spPr>
          <a:xfrm>
            <a:off x="82296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Three generations, drawn with the family, in the first two sessions.</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The drawing matters less than the conversation it makes possible.</a:t>
            </a:r>
            <a:endParaRPr lang="en-US" sz="900" dirty="0"/>
          </a:p>
        </p:txBody>
      </p:sp>
      <p:sp>
        <p:nvSpPr>
          <p:cNvPr id="14" name="Shape 12"/>
          <p:cNvSpPr/>
          <p:nvPr/>
        </p:nvSpPr>
        <p:spPr>
          <a:xfrm>
            <a:off x="822960" y="3364992"/>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Structure · household, marriages, births, deaths, migration</a:t>
            </a:r>
            <a:endParaRPr lang="en-US" sz="880" dirty="0"/>
          </a:p>
        </p:txBody>
      </p:sp>
      <p:sp>
        <p:nvSpPr>
          <p:cNvPr id="16" name="Shape 14"/>
          <p:cNvSpPr/>
          <p:nvPr/>
        </p:nvSpPr>
        <p:spPr>
          <a:xfrm>
            <a:off x="822960" y="3610661"/>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Patterns · repetition, cut-offs, coalitions</a:t>
            </a:r>
            <a:endParaRPr lang="en-US" sz="880" dirty="0"/>
          </a:p>
        </p:txBody>
      </p:sp>
      <p:sp>
        <p:nvSpPr>
          <p:cNvPr id="18" name="Shape 16"/>
          <p:cNvSpPr/>
          <p:nvPr/>
        </p:nvSpPr>
        <p:spPr>
          <a:xfrm>
            <a:off x="822960" y="3856330"/>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Meaning · names, legacies, secrets</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CIRCULAR QUESTIONING</a:t>
            </a:r>
            <a:endParaRPr lang="en-US" sz="750" dirty="0"/>
          </a:p>
        </p:txBody>
      </p:sp>
      <p:sp>
        <p:nvSpPr>
          <p:cNvPr id="23" name="Text 21"/>
          <p:cNvSpPr txBox="1"/>
          <p:nvPr/>
        </p:nvSpPr>
        <p:spPr>
          <a:xfrm>
            <a:off x="446532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Questions about difference and connection: “Who is most worried?</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Who shows it least? What does your mother do when your father</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goes quiet?”</a:t>
            </a:r>
            <a:endParaRPr lang="en-US" sz="900" dirty="0"/>
          </a:p>
        </p:txBody>
      </p:sp>
      <p:sp>
        <p:nvSpPr>
          <p:cNvPr id="24" name="Shape 22"/>
          <p:cNvSpPr/>
          <p:nvPr/>
        </p:nvSpPr>
        <p:spPr>
          <a:xfrm>
            <a:off x="4465320" y="3529584"/>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Ask about relationships, not individuals</a:t>
            </a:r>
            <a:endParaRPr lang="en-US" sz="880" dirty="0"/>
          </a:p>
        </p:txBody>
      </p:sp>
      <p:sp>
        <p:nvSpPr>
          <p:cNvPr id="26" name="Shape 24"/>
          <p:cNvSpPr/>
          <p:nvPr/>
        </p:nvSpPr>
        <p:spPr>
          <a:xfrm>
            <a:off x="4465320" y="3775253"/>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Ask each member to compare</a:t>
            </a:r>
            <a:endParaRPr lang="en-US" sz="880" dirty="0"/>
          </a:p>
        </p:txBody>
      </p:sp>
      <p:sp>
        <p:nvSpPr>
          <p:cNvPr id="28" name="Shape 26"/>
          <p:cNvSpPr/>
          <p:nvPr/>
        </p:nvSpPr>
        <p:spPr>
          <a:xfrm>
            <a:off x="4465320" y="4020922"/>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Let the question land before asking the next</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RISK AND SAFEGUARDING</a:t>
            </a:r>
            <a:endParaRPr lang="en-US" sz="750" dirty="0"/>
          </a:p>
        </p:txBody>
      </p:sp>
      <p:sp>
        <p:nvSpPr>
          <p:cNvPr id="33" name="Text 31"/>
          <p:cNvSpPr txBox="1"/>
          <p:nvPr/>
        </p:nvSpPr>
        <p:spPr>
          <a:xfrm>
            <a:off x="810768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Ask directly, document clearly, consult, and follow local law and</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agency procedure. Risk assessment is not a form; it is a conversation</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with consequences.</a:t>
            </a:r>
            <a:endParaRPr lang="en-US" sz="900" dirty="0"/>
          </a:p>
        </p:txBody>
      </p:sp>
      <p:sp>
        <p:nvSpPr>
          <p:cNvPr id="34" name="Shape 32"/>
          <p:cNvSpPr/>
          <p:nvPr/>
        </p:nvSpPr>
        <p:spPr>
          <a:xfrm>
            <a:off x="8107680" y="3529584"/>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Violence and coercive control</a:t>
            </a:r>
            <a:endParaRPr lang="en-US" sz="880" dirty="0"/>
          </a:p>
        </p:txBody>
      </p:sp>
      <p:sp>
        <p:nvSpPr>
          <p:cNvPr id="36" name="Shape 34"/>
          <p:cNvSpPr/>
          <p:nvPr/>
        </p:nvSpPr>
        <p:spPr>
          <a:xfrm>
            <a:off x="8107680" y="3775253"/>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Self-harm and suicidal ideation</a:t>
            </a:r>
            <a:endParaRPr lang="en-US" sz="880" dirty="0"/>
          </a:p>
        </p:txBody>
      </p:sp>
      <p:sp>
        <p:nvSpPr>
          <p:cNvPr id="38" name="Shape 36"/>
          <p:cNvSpPr/>
          <p:nvPr/>
        </p:nvSpPr>
        <p:spPr>
          <a:xfrm>
            <a:off x="8107680" y="4020922"/>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Child protection and elder safety</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TOMM</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Questions have effects</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Interventive interviewing treats the question as a clinical move: it creates difference, opens possibility, or closes</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a conversation.</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291338"/>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McGoldrick, Gerson &amp; Petry (2008); Tomm</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(1988); Fleuridas, Nelson &amp; Rosenthal (1986).</a:t>
            </a:r>
            <a:endParaRPr lang="en-US" sz="62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10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48</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Three generations in one view</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A genogram turns history into a hypothesis: where the family repeats, where it cuts off, and where the symptom sits.</a:t>
            </a:r>
            <a:endParaRPr lang="en-US" sz="1060" dirty="0"/>
          </a:p>
        </p:txBody>
      </p:sp>
      <p:sp>
        <p:nvSpPr>
          <p:cNvPr id="10" name="Shape 8"/>
          <p:cNvSpPr/>
          <p:nvPr/>
        </p:nvSpPr>
        <p:spPr>
          <a:xfrm>
            <a:off x="2066544" y="2139696"/>
            <a:ext cx="347472" cy="347472"/>
          </a:xfrm>
          <a:prstGeom prst="ellipse">
            <a:avLst/>
          </a:prstGeom>
          <a:solidFill>
            <a:srgbClr val="FBF7EF"/>
          </a:solidFill>
          <a:ln w="11430">
            <a:solidFill>
              <a:srgbClr val="1B1815"/>
            </a:solidFill>
            <a:prstDash val="solid"/>
          </a:ln>
        </p:spPr>
      </p:sp>
      <p:sp>
        <p:nvSpPr>
          <p:cNvPr id="11" name="Shape 9"/>
          <p:cNvSpPr/>
          <p:nvPr/>
        </p:nvSpPr>
        <p:spPr>
          <a:xfrm>
            <a:off x="2798064" y="2139696"/>
            <a:ext cx="347472" cy="347472"/>
          </a:xfrm>
          <a:prstGeom prst="rect">
            <a:avLst/>
          </a:prstGeom>
          <a:solidFill>
            <a:srgbClr val="FBF7EF"/>
          </a:solidFill>
          <a:ln w="11430">
            <a:solidFill>
              <a:srgbClr val="1B1815"/>
            </a:solidFill>
            <a:prstDash val="solid"/>
          </a:ln>
        </p:spPr>
      </p:sp>
      <p:sp>
        <p:nvSpPr>
          <p:cNvPr id="12" name="Shape 10"/>
          <p:cNvSpPr/>
          <p:nvPr/>
        </p:nvSpPr>
        <p:spPr>
          <a:xfrm>
            <a:off x="2414016" y="2313432"/>
            <a:ext cx="384048" cy="91"/>
          </a:xfrm>
          <a:prstGeom prst="line">
            <a:avLst/>
          </a:prstGeom>
          <a:noFill/>
          <a:ln w="11430">
            <a:solidFill>
              <a:srgbClr val="1B1815"/>
            </a:solidFill>
            <a:prstDash val="solid"/>
            <a:headEnd type="none"/>
            <a:tailEnd type="none"/>
          </a:ln>
        </p:spPr>
      </p:sp>
      <p:sp>
        <p:nvSpPr>
          <p:cNvPr id="13" name="Text 11"/>
          <p:cNvSpPr txBox="1"/>
          <p:nvPr/>
        </p:nvSpPr>
        <p:spPr>
          <a:xfrm>
            <a:off x="1673352" y="1947672"/>
            <a:ext cx="1097280" cy="192786"/>
          </a:xfrm>
          <a:prstGeom prst="rect">
            <a:avLst/>
          </a:prstGeom>
          <a:noFill/>
          <a:ln/>
        </p:spPr>
        <p:txBody>
          <a:bodyPr wrap="square" lIns="0" tIns="0" rIns="0" bIns="0" rtlCol="0" anchor="t"/>
          <a:lstStyle/>
          <a:p>
            <a:pPr algn="ctr" indent="0" marL="0">
              <a:lnSpc>
                <a:spcPts val="858"/>
              </a:lnSpc>
              <a:buNone/>
            </a:pPr>
            <a:r>
              <a:rPr lang="en-US" sz="660" dirty="0">
                <a:solidFill>
                  <a:srgbClr val="5B544A"/>
                </a:solidFill>
                <a:latin typeface="Calibri" pitchFamily="34" charset="0"/>
                <a:ea typeface="Calibri" pitchFamily="34" charset="-122"/>
                <a:cs typeface="Calibri" pitchFamily="34" charset="-120"/>
              </a:rPr>
              <a:t>Grandmother</a:t>
            </a:r>
            <a:endParaRPr lang="en-US" sz="660" dirty="0"/>
          </a:p>
        </p:txBody>
      </p:sp>
      <p:sp>
        <p:nvSpPr>
          <p:cNvPr id="14" name="Text 12"/>
          <p:cNvSpPr txBox="1"/>
          <p:nvPr/>
        </p:nvSpPr>
        <p:spPr>
          <a:xfrm>
            <a:off x="2990088" y="1947672"/>
            <a:ext cx="1097280" cy="192786"/>
          </a:xfrm>
          <a:prstGeom prst="rect">
            <a:avLst/>
          </a:prstGeom>
          <a:noFill/>
          <a:ln/>
        </p:spPr>
        <p:txBody>
          <a:bodyPr wrap="square" lIns="0" tIns="0" rIns="0" bIns="0" rtlCol="0" anchor="t"/>
          <a:lstStyle/>
          <a:p>
            <a:pPr algn="ctr" indent="0" marL="0">
              <a:lnSpc>
                <a:spcPts val="858"/>
              </a:lnSpc>
              <a:buNone/>
            </a:pPr>
            <a:r>
              <a:rPr lang="en-US" sz="660" dirty="0">
                <a:solidFill>
                  <a:srgbClr val="5B544A"/>
                </a:solidFill>
                <a:latin typeface="Calibri" pitchFamily="34" charset="0"/>
                <a:ea typeface="Calibri" pitchFamily="34" charset="-122"/>
                <a:cs typeface="Calibri" pitchFamily="34" charset="-120"/>
              </a:rPr>
              <a:t>Grandfather</a:t>
            </a:r>
            <a:endParaRPr lang="en-US" sz="660" dirty="0"/>
          </a:p>
        </p:txBody>
      </p:sp>
      <p:sp>
        <p:nvSpPr>
          <p:cNvPr id="15" name="Shape 13"/>
          <p:cNvSpPr/>
          <p:nvPr/>
        </p:nvSpPr>
        <p:spPr>
          <a:xfrm>
            <a:off x="2606040" y="2487168"/>
            <a:ext cx="91" cy="466344"/>
          </a:xfrm>
          <a:prstGeom prst="line">
            <a:avLst/>
          </a:prstGeom>
          <a:noFill/>
          <a:ln w="10160">
            <a:solidFill>
              <a:srgbClr val="1B1815"/>
            </a:solidFill>
            <a:prstDash val="solid"/>
            <a:headEnd type="none"/>
            <a:tailEnd type="none"/>
          </a:ln>
        </p:spPr>
      </p:sp>
      <p:sp>
        <p:nvSpPr>
          <p:cNvPr id="16" name="Shape 14"/>
          <p:cNvSpPr/>
          <p:nvPr/>
        </p:nvSpPr>
        <p:spPr>
          <a:xfrm flipH="1">
            <a:off x="2240280" y="2953512"/>
            <a:ext cx="365760" cy="91"/>
          </a:xfrm>
          <a:prstGeom prst="line">
            <a:avLst/>
          </a:prstGeom>
          <a:noFill/>
          <a:ln w="10160">
            <a:solidFill>
              <a:srgbClr val="1B1815"/>
            </a:solidFill>
            <a:prstDash val="solid"/>
            <a:headEnd type="none"/>
            <a:tailEnd type="none"/>
          </a:ln>
        </p:spPr>
      </p:sp>
      <p:sp>
        <p:nvSpPr>
          <p:cNvPr id="17" name="Shape 15"/>
          <p:cNvSpPr/>
          <p:nvPr/>
        </p:nvSpPr>
        <p:spPr>
          <a:xfrm>
            <a:off x="2240280" y="2953512"/>
            <a:ext cx="91" cy="374904"/>
          </a:xfrm>
          <a:prstGeom prst="line">
            <a:avLst/>
          </a:prstGeom>
          <a:noFill/>
          <a:ln w="10160">
            <a:solidFill>
              <a:srgbClr val="1B1815"/>
            </a:solidFill>
            <a:prstDash val="solid"/>
            <a:headEnd type="none"/>
            <a:tailEnd type="none"/>
          </a:ln>
        </p:spPr>
      </p:sp>
      <p:sp>
        <p:nvSpPr>
          <p:cNvPr id="18" name="Shape 16"/>
          <p:cNvSpPr/>
          <p:nvPr/>
        </p:nvSpPr>
        <p:spPr>
          <a:xfrm>
            <a:off x="2066544" y="3328416"/>
            <a:ext cx="347472" cy="347472"/>
          </a:xfrm>
          <a:prstGeom prst="ellipse">
            <a:avLst/>
          </a:prstGeom>
          <a:solidFill>
            <a:srgbClr val="FBF7EF"/>
          </a:solidFill>
          <a:ln w="11430">
            <a:solidFill>
              <a:srgbClr val="1B1815"/>
            </a:solidFill>
            <a:prstDash val="solid"/>
          </a:ln>
        </p:spPr>
      </p:sp>
      <p:sp>
        <p:nvSpPr>
          <p:cNvPr id="19" name="Shape 17"/>
          <p:cNvSpPr/>
          <p:nvPr/>
        </p:nvSpPr>
        <p:spPr>
          <a:xfrm>
            <a:off x="2798064" y="3328416"/>
            <a:ext cx="347472" cy="347472"/>
          </a:xfrm>
          <a:prstGeom prst="rect">
            <a:avLst/>
          </a:prstGeom>
          <a:solidFill>
            <a:srgbClr val="FBF7EF"/>
          </a:solidFill>
          <a:ln w="11430">
            <a:solidFill>
              <a:srgbClr val="1B1815"/>
            </a:solidFill>
            <a:prstDash val="solid"/>
          </a:ln>
        </p:spPr>
      </p:sp>
      <p:sp>
        <p:nvSpPr>
          <p:cNvPr id="20" name="Shape 18"/>
          <p:cNvSpPr/>
          <p:nvPr/>
        </p:nvSpPr>
        <p:spPr>
          <a:xfrm>
            <a:off x="2414016" y="3502152"/>
            <a:ext cx="384048" cy="91"/>
          </a:xfrm>
          <a:prstGeom prst="line">
            <a:avLst/>
          </a:prstGeom>
          <a:noFill/>
          <a:ln w="11430">
            <a:solidFill>
              <a:srgbClr val="1B1815"/>
            </a:solidFill>
            <a:prstDash val="solid"/>
            <a:headEnd type="none"/>
            <a:tailEnd type="none"/>
          </a:ln>
        </p:spPr>
      </p:sp>
      <p:sp>
        <p:nvSpPr>
          <p:cNvPr id="21" name="Text 19"/>
          <p:cNvSpPr txBox="1"/>
          <p:nvPr/>
        </p:nvSpPr>
        <p:spPr>
          <a:xfrm>
            <a:off x="1737360" y="3118104"/>
            <a:ext cx="1097280" cy="192786"/>
          </a:xfrm>
          <a:prstGeom prst="rect">
            <a:avLst/>
          </a:prstGeom>
          <a:noFill/>
          <a:ln/>
        </p:spPr>
        <p:txBody>
          <a:bodyPr wrap="square" lIns="0" tIns="0" rIns="0" bIns="0" rtlCol="0" anchor="t"/>
          <a:lstStyle/>
          <a:p>
            <a:pPr algn="ctr" indent="0" marL="0">
              <a:lnSpc>
                <a:spcPts val="858"/>
              </a:lnSpc>
              <a:buNone/>
            </a:pPr>
            <a:r>
              <a:rPr lang="en-US" sz="660" dirty="0">
                <a:solidFill>
                  <a:srgbClr val="5B544A"/>
                </a:solidFill>
                <a:latin typeface="Calibri" pitchFamily="34" charset="0"/>
                <a:ea typeface="Calibri" pitchFamily="34" charset="-122"/>
                <a:cs typeface="Calibri" pitchFamily="34" charset="-120"/>
              </a:rPr>
              <a:t>Mother, 44</a:t>
            </a:r>
            <a:endParaRPr lang="en-US" sz="660" dirty="0"/>
          </a:p>
        </p:txBody>
      </p:sp>
      <p:sp>
        <p:nvSpPr>
          <p:cNvPr id="22" name="Text 20"/>
          <p:cNvSpPr txBox="1"/>
          <p:nvPr/>
        </p:nvSpPr>
        <p:spPr>
          <a:xfrm>
            <a:off x="2926080" y="3118104"/>
            <a:ext cx="1097280" cy="192786"/>
          </a:xfrm>
          <a:prstGeom prst="rect">
            <a:avLst/>
          </a:prstGeom>
          <a:noFill/>
          <a:ln/>
        </p:spPr>
        <p:txBody>
          <a:bodyPr wrap="square" lIns="0" tIns="0" rIns="0" bIns="0" rtlCol="0" anchor="t"/>
          <a:lstStyle/>
          <a:p>
            <a:pPr algn="ctr" indent="0" marL="0">
              <a:lnSpc>
                <a:spcPts val="858"/>
              </a:lnSpc>
              <a:buNone/>
            </a:pPr>
            <a:r>
              <a:rPr lang="en-US" sz="660" dirty="0">
                <a:solidFill>
                  <a:srgbClr val="5B544A"/>
                </a:solidFill>
                <a:latin typeface="Calibri" pitchFamily="34" charset="0"/>
                <a:ea typeface="Calibri" pitchFamily="34" charset="-122"/>
                <a:cs typeface="Calibri" pitchFamily="34" charset="-120"/>
              </a:rPr>
              <a:t>Father, 47</a:t>
            </a:r>
            <a:endParaRPr lang="en-US" sz="660" dirty="0"/>
          </a:p>
        </p:txBody>
      </p:sp>
      <p:sp>
        <p:nvSpPr>
          <p:cNvPr id="23" name="Shape 21"/>
          <p:cNvSpPr/>
          <p:nvPr/>
        </p:nvSpPr>
        <p:spPr>
          <a:xfrm>
            <a:off x="2606040" y="3675888"/>
            <a:ext cx="91" cy="557784"/>
          </a:xfrm>
          <a:prstGeom prst="line">
            <a:avLst/>
          </a:prstGeom>
          <a:noFill/>
          <a:ln w="10160">
            <a:solidFill>
              <a:srgbClr val="1B1815"/>
            </a:solidFill>
            <a:prstDash val="solid"/>
            <a:headEnd type="none"/>
            <a:tailEnd type="none"/>
          </a:ln>
        </p:spPr>
      </p:sp>
      <p:sp>
        <p:nvSpPr>
          <p:cNvPr id="24" name="Shape 22"/>
          <p:cNvSpPr/>
          <p:nvPr/>
        </p:nvSpPr>
        <p:spPr>
          <a:xfrm>
            <a:off x="1691640" y="4233672"/>
            <a:ext cx="1463040" cy="91"/>
          </a:xfrm>
          <a:prstGeom prst="line">
            <a:avLst/>
          </a:prstGeom>
          <a:noFill/>
          <a:ln w="10160">
            <a:solidFill>
              <a:srgbClr val="1B1815"/>
            </a:solidFill>
            <a:prstDash val="solid"/>
            <a:headEnd type="none"/>
            <a:tailEnd type="none"/>
          </a:ln>
        </p:spPr>
      </p:sp>
      <p:sp>
        <p:nvSpPr>
          <p:cNvPr id="25" name="Shape 23"/>
          <p:cNvSpPr/>
          <p:nvPr/>
        </p:nvSpPr>
        <p:spPr>
          <a:xfrm>
            <a:off x="1691640" y="4233672"/>
            <a:ext cx="91" cy="283464"/>
          </a:xfrm>
          <a:prstGeom prst="line">
            <a:avLst/>
          </a:prstGeom>
          <a:noFill/>
          <a:ln w="10160">
            <a:solidFill>
              <a:srgbClr val="1B1815"/>
            </a:solidFill>
            <a:prstDash val="solid"/>
            <a:headEnd type="none"/>
            <a:tailEnd type="none"/>
          </a:ln>
        </p:spPr>
      </p:sp>
      <p:sp>
        <p:nvSpPr>
          <p:cNvPr id="26" name="Shape 24"/>
          <p:cNvSpPr/>
          <p:nvPr/>
        </p:nvSpPr>
        <p:spPr>
          <a:xfrm>
            <a:off x="1517904" y="4517136"/>
            <a:ext cx="347472" cy="347472"/>
          </a:xfrm>
          <a:prstGeom prst="ellipse">
            <a:avLst/>
          </a:prstGeom>
          <a:solidFill>
            <a:srgbClr val="FBF7EF"/>
          </a:solidFill>
          <a:ln w="11430">
            <a:solidFill>
              <a:srgbClr val="1B1815"/>
            </a:solidFill>
            <a:prstDash val="solid"/>
          </a:ln>
        </p:spPr>
      </p:sp>
      <p:sp>
        <p:nvSpPr>
          <p:cNvPr id="27" name="Shape 25"/>
          <p:cNvSpPr/>
          <p:nvPr/>
        </p:nvSpPr>
        <p:spPr>
          <a:xfrm>
            <a:off x="2423160" y="4233672"/>
            <a:ext cx="91" cy="283464"/>
          </a:xfrm>
          <a:prstGeom prst="line">
            <a:avLst/>
          </a:prstGeom>
          <a:noFill/>
          <a:ln w="10160">
            <a:solidFill>
              <a:srgbClr val="1B1815"/>
            </a:solidFill>
            <a:prstDash val="solid"/>
            <a:headEnd type="none"/>
            <a:tailEnd type="none"/>
          </a:ln>
        </p:spPr>
      </p:sp>
      <p:sp>
        <p:nvSpPr>
          <p:cNvPr id="28" name="Shape 26"/>
          <p:cNvSpPr/>
          <p:nvPr/>
        </p:nvSpPr>
        <p:spPr>
          <a:xfrm>
            <a:off x="2249424" y="4517136"/>
            <a:ext cx="347472" cy="347472"/>
          </a:xfrm>
          <a:prstGeom prst="rect">
            <a:avLst/>
          </a:prstGeom>
          <a:solidFill>
            <a:srgbClr val="FBF7EF"/>
          </a:solidFill>
          <a:ln w="11430">
            <a:solidFill>
              <a:srgbClr val="1B1815"/>
            </a:solidFill>
            <a:prstDash val="solid"/>
          </a:ln>
        </p:spPr>
      </p:sp>
      <p:sp>
        <p:nvSpPr>
          <p:cNvPr id="29" name="Shape 27"/>
          <p:cNvSpPr/>
          <p:nvPr/>
        </p:nvSpPr>
        <p:spPr>
          <a:xfrm>
            <a:off x="3154680" y="4233672"/>
            <a:ext cx="91" cy="283464"/>
          </a:xfrm>
          <a:prstGeom prst="line">
            <a:avLst/>
          </a:prstGeom>
          <a:noFill/>
          <a:ln w="10160">
            <a:solidFill>
              <a:srgbClr val="1B1815"/>
            </a:solidFill>
            <a:prstDash val="solid"/>
            <a:headEnd type="none"/>
            <a:tailEnd type="none"/>
          </a:ln>
        </p:spPr>
      </p:sp>
      <p:sp>
        <p:nvSpPr>
          <p:cNvPr id="30" name="Shape 28"/>
          <p:cNvSpPr/>
          <p:nvPr/>
        </p:nvSpPr>
        <p:spPr>
          <a:xfrm>
            <a:off x="2980944" y="4517136"/>
            <a:ext cx="347472" cy="347472"/>
          </a:xfrm>
          <a:prstGeom prst="ellipse">
            <a:avLst/>
          </a:prstGeom>
          <a:solidFill>
            <a:srgbClr val="FBF7EF"/>
          </a:solidFill>
          <a:ln w="11430">
            <a:solidFill>
              <a:srgbClr val="1B1815"/>
            </a:solidFill>
            <a:prstDash val="solid"/>
          </a:ln>
        </p:spPr>
      </p:sp>
      <p:sp>
        <p:nvSpPr>
          <p:cNvPr id="31" name="Shape 29"/>
          <p:cNvSpPr/>
          <p:nvPr/>
        </p:nvSpPr>
        <p:spPr>
          <a:xfrm>
            <a:off x="2944368" y="4480560"/>
            <a:ext cx="420624" cy="420624"/>
          </a:xfrm>
          <a:prstGeom prst="rect">
            <a:avLst/>
          </a:prstGeom>
          <a:solidFill>
            <a:srgbClr val="FFFFFF">
              <a:alpha val="0"/>
            </a:srgbClr>
          </a:solidFill>
          <a:ln w="7620">
            <a:solidFill>
              <a:srgbClr val="1B1815"/>
            </a:solidFill>
            <a:prstDash val="solid"/>
          </a:ln>
        </p:spPr>
      </p:sp>
      <p:sp>
        <p:nvSpPr>
          <p:cNvPr id="32" name="Text 30"/>
          <p:cNvSpPr txBox="1"/>
          <p:nvPr/>
        </p:nvSpPr>
        <p:spPr>
          <a:xfrm>
            <a:off x="1188720" y="4937760"/>
            <a:ext cx="1005840" cy="192786"/>
          </a:xfrm>
          <a:prstGeom prst="rect">
            <a:avLst/>
          </a:prstGeom>
          <a:noFill/>
          <a:ln/>
        </p:spPr>
        <p:txBody>
          <a:bodyPr wrap="square" lIns="0" tIns="0" rIns="0" bIns="0" rtlCol="0" anchor="t"/>
          <a:lstStyle/>
          <a:p>
            <a:pPr algn="ctr" indent="0" marL="0">
              <a:lnSpc>
                <a:spcPts val="858"/>
              </a:lnSpc>
              <a:buNone/>
            </a:pPr>
            <a:r>
              <a:rPr lang="en-US" sz="660" dirty="0">
                <a:solidFill>
                  <a:srgbClr val="5B544A"/>
                </a:solidFill>
                <a:latin typeface="Calibri" pitchFamily="34" charset="0"/>
                <a:ea typeface="Calibri" pitchFamily="34" charset="-122"/>
                <a:cs typeface="Calibri" pitchFamily="34" charset="-120"/>
              </a:rPr>
              <a:t>Daughter, 17</a:t>
            </a:r>
            <a:endParaRPr lang="en-US" sz="660" dirty="0"/>
          </a:p>
        </p:txBody>
      </p:sp>
      <p:sp>
        <p:nvSpPr>
          <p:cNvPr id="33" name="Text 31"/>
          <p:cNvSpPr txBox="1"/>
          <p:nvPr/>
        </p:nvSpPr>
        <p:spPr>
          <a:xfrm>
            <a:off x="1920240" y="4937760"/>
            <a:ext cx="1005840" cy="192786"/>
          </a:xfrm>
          <a:prstGeom prst="rect">
            <a:avLst/>
          </a:prstGeom>
          <a:noFill/>
          <a:ln/>
        </p:spPr>
        <p:txBody>
          <a:bodyPr wrap="square" lIns="0" tIns="0" rIns="0" bIns="0" rtlCol="0" anchor="t"/>
          <a:lstStyle/>
          <a:p>
            <a:pPr algn="ctr" indent="0" marL="0">
              <a:lnSpc>
                <a:spcPts val="858"/>
              </a:lnSpc>
              <a:buNone/>
            </a:pPr>
            <a:r>
              <a:rPr lang="en-US" sz="660" dirty="0">
                <a:solidFill>
                  <a:srgbClr val="5B544A"/>
                </a:solidFill>
                <a:latin typeface="Calibri" pitchFamily="34" charset="0"/>
                <a:ea typeface="Calibri" pitchFamily="34" charset="-122"/>
                <a:cs typeface="Calibri" pitchFamily="34" charset="-120"/>
              </a:rPr>
              <a:t>Son, 14</a:t>
            </a:r>
            <a:endParaRPr lang="en-US" sz="660" dirty="0"/>
          </a:p>
        </p:txBody>
      </p:sp>
      <p:sp>
        <p:nvSpPr>
          <p:cNvPr id="34" name="Text 32"/>
          <p:cNvSpPr txBox="1"/>
          <p:nvPr/>
        </p:nvSpPr>
        <p:spPr>
          <a:xfrm>
            <a:off x="2651760" y="4992624"/>
            <a:ext cx="1005840" cy="268224"/>
          </a:xfrm>
          <a:prstGeom prst="rect">
            <a:avLst/>
          </a:prstGeom>
          <a:noFill/>
          <a:ln/>
        </p:spPr>
        <p:txBody>
          <a:bodyPr wrap="square" lIns="0" tIns="0" rIns="0" bIns="0" rtlCol="0" anchor="t"/>
          <a:lstStyle/>
          <a:p>
            <a:pPr algn="ctr" indent="0" marL="0">
              <a:lnSpc>
                <a:spcPts val="726"/>
              </a:lnSpc>
              <a:buNone/>
            </a:pPr>
            <a:r>
              <a:rPr lang="en-US" sz="660" dirty="0">
                <a:solidFill>
                  <a:srgbClr val="96733C"/>
                </a:solidFill>
                <a:latin typeface="Calibri" pitchFamily="34" charset="0"/>
                <a:ea typeface="Calibri" pitchFamily="34" charset="-122"/>
                <a:cs typeface="Calibri" pitchFamily="34" charset="-120"/>
              </a:rPr>
              <a:t>Daughter, 9</a:t>
            </a:r>
            <a:endParaRPr lang="en-US" sz="660" dirty="0"/>
          </a:p>
          <a:p>
            <a:pPr algn="ctr" indent="0" marL="0">
              <a:lnSpc>
                <a:spcPts val="726"/>
              </a:lnSpc>
              <a:buNone/>
            </a:pPr>
            <a:r>
              <a:rPr lang="en-US" sz="660" dirty="0">
                <a:solidFill>
                  <a:srgbClr val="96733C"/>
                </a:solidFill>
                <a:latin typeface="Calibri" pitchFamily="34" charset="0"/>
                <a:ea typeface="Calibri" pitchFamily="34" charset="-122"/>
                <a:cs typeface="Calibri" pitchFamily="34" charset="-120"/>
              </a:rPr>
              <a:t>IP</a:t>
            </a:r>
            <a:endParaRPr lang="en-US" sz="660" dirty="0"/>
          </a:p>
        </p:txBody>
      </p:sp>
      <p:sp>
        <p:nvSpPr>
          <p:cNvPr id="35" name="Shape 33"/>
          <p:cNvSpPr/>
          <p:nvPr/>
        </p:nvSpPr>
        <p:spPr>
          <a:xfrm flipH="1">
            <a:off x="1664208" y="3675888"/>
            <a:ext cx="548640" cy="841248"/>
          </a:xfrm>
          <a:prstGeom prst="line">
            <a:avLst/>
          </a:prstGeom>
          <a:noFill/>
          <a:ln w="6350">
            <a:solidFill>
              <a:srgbClr val="6E8274">
                <a:alpha val="90000"/>
              </a:srgbClr>
            </a:solidFill>
            <a:prstDash val="solid"/>
            <a:headEnd type="none"/>
            <a:tailEnd type="none"/>
          </a:ln>
        </p:spPr>
      </p:sp>
      <p:sp>
        <p:nvSpPr>
          <p:cNvPr id="36" name="Shape 34"/>
          <p:cNvSpPr/>
          <p:nvPr/>
        </p:nvSpPr>
        <p:spPr>
          <a:xfrm flipH="1">
            <a:off x="1691640" y="3675888"/>
            <a:ext cx="548640" cy="841248"/>
          </a:xfrm>
          <a:prstGeom prst="line">
            <a:avLst/>
          </a:prstGeom>
          <a:noFill/>
          <a:ln w="6350">
            <a:solidFill>
              <a:srgbClr val="6E8274">
                <a:alpha val="90000"/>
              </a:srgbClr>
            </a:solidFill>
            <a:prstDash val="solid"/>
            <a:headEnd type="none"/>
            <a:tailEnd type="none"/>
          </a:ln>
        </p:spPr>
      </p:sp>
      <p:sp>
        <p:nvSpPr>
          <p:cNvPr id="37" name="Shape 35"/>
          <p:cNvSpPr/>
          <p:nvPr/>
        </p:nvSpPr>
        <p:spPr>
          <a:xfrm flipH="1">
            <a:off x="1719072" y="3675888"/>
            <a:ext cx="548640" cy="841248"/>
          </a:xfrm>
          <a:prstGeom prst="line">
            <a:avLst/>
          </a:prstGeom>
          <a:noFill/>
          <a:ln w="6350">
            <a:solidFill>
              <a:srgbClr val="6E8274">
                <a:alpha val="90000"/>
              </a:srgbClr>
            </a:solidFill>
            <a:prstDash val="solid"/>
            <a:headEnd type="none"/>
            <a:tailEnd type="none"/>
          </a:ln>
        </p:spPr>
      </p:sp>
      <p:sp>
        <p:nvSpPr>
          <p:cNvPr id="38" name="Shape 36"/>
          <p:cNvSpPr/>
          <p:nvPr/>
        </p:nvSpPr>
        <p:spPr>
          <a:xfrm>
            <a:off x="2606040" y="3547872"/>
            <a:ext cx="82296" cy="91440"/>
          </a:xfrm>
          <a:prstGeom prst="line">
            <a:avLst/>
          </a:prstGeom>
          <a:noFill/>
          <a:ln w="12700">
            <a:solidFill>
              <a:srgbClr val="A96A45"/>
            </a:solidFill>
            <a:prstDash val="solid"/>
            <a:headEnd type="none"/>
            <a:tailEnd type="none"/>
          </a:ln>
        </p:spPr>
      </p:sp>
      <p:sp>
        <p:nvSpPr>
          <p:cNvPr id="39" name="Shape 37"/>
          <p:cNvSpPr/>
          <p:nvPr/>
        </p:nvSpPr>
        <p:spPr>
          <a:xfrm flipH="1">
            <a:off x="2551176" y="3529584"/>
            <a:ext cx="137160" cy="155448"/>
          </a:xfrm>
          <a:prstGeom prst="line">
            <a:avLst/>
          </a:prstGeom>
          <a:noFill/>
          <a:ln w="12700">
            <a:solidFill>
              <a:srgbClr val="A96A45"/>
            </a:solidFill>
            <a:prstDash val="solid"/>
            <a:headEnd type="none"/>
            <a:tailEnd type="none"/>
          </a:ln>
        </p:spPr>
      </p:sp>
      <p:sp>
        <p:nvSpPr>
          <p:cNvPr id="40" name="Shape 38"/>
          <p:cNvSpPr/>
          <p:nvPr/>
        </p:nvSpPr>
        <p:spPr>
          <a:xfrm>
            <a:off x="4983480" y="1947672"/>
            <a:ext cx="4206240" cy="3246120"/>
          </a:xfrm>
          <a:prstGeom prst="roundRect">
            <a:avLst>
              <a:gd name="adj" fmla="val 357"/>
            </a:avLst>
          </a:prstGeom>
          <a:solidFill>
            <a:srgbClr val="FDFAF3"/>
          </a:solidFill>
          <a:ln w="8890">
            <a:solidFill>
              <a:srgbClr val="D9CDB7"/>
            </a:solidFill>
            <a:prstDash val="solid"/>
          </a:ln>
        </p:spPr>
      </p:sp>
      <p:sp>
        <p:nvSpPr>
          <p:cNvPr id="41" name="Text 39"/>
          <p:cNvSpPr txBox="1"/>
          <p:nvPr/>
        </p:nvSpPr>
        <p:spPr>
          <a:xfrm>
            <a:off x="5184648" y="2084832"/>
            <a:ext cx="3840480" cy="350520"/>
          </a:xfrm>
          <a:prstGeom prst="rect">
            <a:avLst/>
          </a:prstGeom>
          <a:noFill/>
          <a:ln/>
        </p:spPr>
        <p:txBody>
          <a:bodyPr wrap="square" lIns="0" tIns="0" rIns="0" bIns="0" rtlCol="0" anchor="t"/>
          <a:lstStyle/>
          <a:p>
            <a:pPr algn="l" indent="0" marL="0">
              <a:lnSpc>
                <a:spcPts val="1560"/>
              </a:lnSpc>
              <a:buNone/>
            </a:pPr>
            <a:r>
              <a:rPr lang="en-US" sz="1200" dirty="0">
                <a:solidFill>
                  <a:srgbClr val="1B1815"/>
                </a:solidFill>
                <a:latin typeface="Georgia" pitchFamily="34" charset="0"/>
                <a:ea typeface="Georgia" pitchFamily="34" charset="-122"/>
                <a:cs typeface="Georgia" pitchFamily="34" charset="-120"/>
              </a:rPr>
              <a:t>Genogram conventions</a:t>
            </a:r>
            <a:endParaRPr lang="en-US" sz="1200" dirty="0"/>
          </a:p>
        </p:txBody>
      </p:sp>
      <p:sp>
        <p:nvSpPr>
          <p:cNvPr id="42" name="Shape 40"/>
          <p:cNvSpPr/>
          <p:nvPr/>
        </p:nvSpPr>
        <p:spPr>
          <a:xfrm>
            <a:off x="5225796" y="2400300"/>
            <a:ext cx="137160" cy="137160"/>
          </a:xfrm>
          <a:prstGeom prst="rect">
            <a:avLst/>
          </a:prstGeom>
          <a:solidFill>
            <a:srgbClr val="FBF7EF"/>
          </a:solidFill>
          <a:ln w="8890">
            <a:solidFill>
              <a:srgbClr val="1B1815"/>
            </a:solidFill>
            <a:prstDash val="solid"/>
          </a:ln>
        </p:spPr>
      </p:sp>
      <p:sp>
        <p:nvSpPr>
          <p:cNvPr id="43" name="Text 41"/>
          <p:cNvSpPr txBox="1"/>
          <p:nvPr/>
        </p:nvSpPr>
        <p:spPr>
          <a:xfrm>
            <a:off x="5568696" y="2409444"/>
            <a:ext cx="3200400" cy="239522"/>
          </a:xfrm>
          <a:prstGeom prst="rect">
            <a:avLst/>
          </a:prstGeom>
          <a:noFill/>
          <a:ln/>
        </p:spPr>
        <p:txBody>
          <a:bodyPr wrap="square" lIns="0" tIns="0" rIns="0" bIns="0" rtlCol="0" anchor="t"/>
          <a:lstStyle/>
          <a:p>
            <a:pPr algn="l" indent="0" marL="0">
              <a:lnSpc>
                <a:spcPts val="1066"/>
              </a:lnSpc>
              <a:buNone/>
            </a:pPr>
            <a:r>
              <a:rPr lang="en-US" sz="820" dirty="0">
                <a:solidFill>
                  <a:srgbClr val="3F3A33"/>
                </a:solidFill>
                <a:latin typeface="Calibri" pitchFamily="34" charset="0"/>
                <a:ea typeface="Calibri" pitchFamily="34" charset="-122"/>
                <a:cs typeface="Calibri" pitchFamily="34" charset="-120"/>
              </a:rPr>
              <a:t>male</a:t>
            </a:r>
            <a:endParaRPr lang="en-US" sz="820" dirty="0"/>
          </a:p>
        </p:txBody>
      </p:sp>
      <p:sp>
        <p:nvSpPr>
          <p:cNvPr id="44" name="Shape 42"/>
          <p:cNvSpPr/>
          <p:nvPr/>
        </p:nvSpPr>
        <p:spPr>
          <a:xfrm>
            <a:off x="5225796" y="2729484"/>
            <a:ext cx="137160" cy="137160"/>
          </a:xfrm>
          <a:prstGeom prst="ellipse">
            <a:avLst/>
          </a:prstGeom>
          <a:solidFill>
            <a:srgbClr val="FBF7EF"/>
          </a:solidFill>
          <a:ln w="8890">
            <a:solidFill>
              <a:srgbClr val="1B1815"/>
            </a:solidFill>
            <a:prstDash val="solid"/>
          </a:ln>
        </p:spPr>
      </p:sp>
      <p:sp>
        <p:nvSpPr>
          <p:cNvPr id="45" name="Text 43"/>
          <p:cNvSpPr txBox="1"/>
          <p:nvPr/>
        </p:nvSpPr>
        <p:spPr>
          <a:xfrm>
            <a:off x="5568696" y="2738628"/>
            <a:ext cx="3200400" cy="239522"/>
          </a:xfrm>
          <a:prstGeom prst="rect">
            <a:avLst/>
          </a:prstGeom>
          <a:noFill/>
          <a:ln/>
        </p:spPr>
        <p:txBody>
          <a:bodyPr wrap="square" lIns="0" tIns="0" rIns="0" bIns="0" rtlCol="0" anchor="t"/>
          <a:lstStyle/>
          <a:p>
            <a:pPr algn="l" indent="0" marL="0">
              <a:lnSpc>
                <a:spcPts val="1066"/>
              </a:lnSpc>
              <a:buNone/>
            </a:pPr>
            <a:r>
              <a:rPr lang="en-US" sz="820" dirty="0">
                <a:solidFill>
                  <a:srgbClr val="3F3A33"/>
                </a:solidFill>
                <a:latin typeface="Calibri" pitchFamily="34" charset="0"/>
                <a:ea typeface="Calibri" pitchFamily="34" charset="-122"/>
                <a:cs typeface="Calibri" pitchFamily="34" charset="-120"/>
              </a:rPr>
              <a:t>female</a:t>
            </a:r>
            <a:endParaRPr lang="en-US" sz="820" dirty="0"/>
          </a:p>
        </p:txBody>
      </p:sp>
      <p:sp>
        <p:nvSpPr>
          <p:cNvPr id="46" name="Shape 44"/>
          <p:cNvSpPr/>
          <p:nvPr/>
        </p:nvSpPr>
        <p:spPr>
          <a:xfrm>
            <a:off x="5221224" y="3054096"/>
            <a:ext cx="146304" cy="146304"/>
          </a:xfrm>
          <a:prstGeom prst="rect">
            <a:avLst/>
          </a:prstGeom>
          <a:solidFill>
            <a:srgbClr val="FFFFFF">
              <a:alpha val="0"/>
            </a:srgbClr>
          </a:solidFill>
          <a:ln w="6985">
            <a:solidFill>
              <a:srgbClr val="1B1815"/>
            </a:solidFill>
            <a:prstDash val="solid"/>
          </a:ln>
        </p:spPr>
      </p:sp>
      <p:sp>
        <p:nvSpPr>
          <p:cNvPr id="47" name="Shape 45"/>
          <p:cNvSpPr/>
          <p:nvPr/>
        </p:nvSpPr>
        <p:spPr>
          <a:xfrm>
            <a:off x="5244084" y="3076956"/>
            <a:ext cx="100584" cy="100584"/>
          </a:xfrm>
          <a:prstGeom prst="rect">
            <a:avLst/>
          </a:prstGeom>
          <a:solidFill>
            <a:srgbClr val="FFFFFF">
              <a:alpha val="0"/>
            </a:srgbClr>
          </a:solidFill>
          <a:ln w="6985">
            <a:solidFill>
              <a:srgbClr val="1B1815"/>
            </a:solidFill>
            <a:prstDash val="solid"/>
          </a:ln>
        </p:spPr>
      </p:sp>
      <p:sp>
        <p:nvSpPr>
          <p:cNvPr id="48" name="Shape 46"/>
          <p:cNvSpPr/>
          <p:nvPr/>
        </p:nvSpPr>
        <p:spPr>
          <a:xfrm>
            <a:off x="5166360" y="3108960"/>
            <a:ext cx="256032" cy="91"/>
          </a:xfrm>
          <a:prstGeom prst="line">
            <a:avLst/>
          </a:prstGeom>
          <a:noFill/>
          <a:ln w="7620">
            <a:solidFill>
              <a:srgbClr val="1B1815"/>
            </a:solidFill>
            <a:prstDash val="solid"/>
            <a:headEnd type="none"/>
            <a:tailEnd type="none"/>
          </a:ln>
        </p:spPr>
      </p:sp>
      <p:sp>
        <p:nvSpPr>
          <p:cNvPr id="49" name="Shape 47"/>
          <p:cNvSpPr/>
          <p:nvPr/>
        </p:nvSpPr>
        <p:spPr>
          <a:xfrm>
            <a:off x="5166360" y="3154680"/>
            <a:ext cx="256032" cy="91"/>
          </a:xfrm>
          <a:prstGeom prst="line">
            <a:avLst/>
          </a:prstGeom>
          <a:noFill/>
          <a:ln w="7620">
            <a:solidFill>
              <a:srgbClr val="1B1815"/>
            </a:solidFill>
            <a:prstDash val="solid"/>
            <a:headEnd type="none"/>
            <a:tailEnd type="none"/>
          </a:ln>
        </p:spPr>
      </p:sp>
      <p:sp>
        <p:nvSpPr>
          <p:cNvPr id="50" name="Text 48"/>
          <p:cNvSpPr txBox="1"/>
          <p:nvPr/>
        </p:nvSpPr>
        <p:spPr>
          <a:xfrm>
            <a:off x="5568696" y="3067812"/>
            <a:ext cx="3200400" cy="239522"/>
          </a:xfrm>
          <a:prstGeom prst="rect">
            <a:avLst/>
          </a:prstGeom>
          <a:noFill/>
          <a:ln/>
        </p:spPr>
        <p:txBody>
          <a:bodyPr wrap="square" lIns="0" tIns="0" rIns="0" bIns="0" rtlCol="0" anchor="t"/>
          <a:lstStyle/>
          <a:p>
            <a:pPr algn="l" indent="0" marL="0">
              <a:lnSpc>
                <a:spcPts val="1066"/>
              </a:lnSpc>
              <a:buNone/>
            </a:pPr>
            <a:r>
              <a:rPr lang="en-US" sz="820" dirty="0">
                <a:solidFill>
                  <a:srgbClr val="3F3A33"/>
                </a:solidFill>
                <a:latin typeface="Calibri" pitchFamily="34" charset="0"/>
                <a:ea typeface="Calibri" pitchFamily="34" charset="-122"/>
                <a:cs typeface="Calibri" pitchFamily="34" charset="-120"/>
              </a:rPr>
              <a:t>index patient</a:t>
            </a:r>
            <a:endParaRPr lang="en-US" sz="820" dirty="0"/>
          </a:p>
        </p:txBody>
      </p:sp>
      <p:sp>
        <p:nvSpPr>
          <p:cNvPr id="51" name="Shape 49"/>
          <p:cNvSpPr/>
          <p:nvPr/>
        </p:nvSpPr>
        <p:spPr>
          <a:xfrm>
            <a:off x="5225796" y="3387852"/>
            <a:ext cx="137160" cy="137160"/>
          </a:xfrm>
          <a:prstGeom prst="rect">
            <a:avLst/>
          </a:prstGeom>
          <a:solidFill>
            <a:srgbClr val="FBF7EF"/>
          </a:solidFill>
          <a:ln w="8890">
            <a:solidFill>
              <a:srgbClr val="1B1815"/>
            </a:solidFill>
            <a:prstDash val="solid"/>
          </a:ln>
        </p:spPr>
      </p:sp>
      <p:sp>
        <p:nvSpPr>
          <p:cNvPr id="52" name="Shape 50"/>
          <p:cNvSpPr/>
          <p:nvPr/>
        </p:nvSpPr>
        <p:spPr>
          <a:xfrm>
            <a:off x="5225796" y="3387852"/>
            <a:ext cx="137160" cy="137160"/>
          </a:xfrm>
          <a:prstGeom prst="line">
            <a:avLst/>
          </a:prstGeom>
          <a:noFill/>
          <a:ln w="7620">
            <a:solidFill>
              <a:srgbClr val="1B1815"/>
            </a:solidFill>
            <a:prstDash val="solid"/>
            <a:headEnd type="none"/>
            <a:tailEnd type="none"/>
          </a:ln>
        </p:spPr>
      </p:sp>
      <p:sp>
        <p:nvSpPr>
          <p:cNvPr id="53" name="Shape 51"/>
          <p:cNvSpPr/>
          <p:nvPr/>
        </p:nvSpPr>
        <p:spPr>
          <a:xfrm flipV="1">
            <a:off x="5225796" y="3387852"/>
            <a:ext cx="137160" cy="137160"/>
          </a:xfrm>
          <a:prstGeom prst="line">
            <a:avLst/>
          </a:prstGeom>
          <a:noFill/>
          <a:ln w="7620">
            <a:solidFill>
              <a:srgbClr val="1B1815"/>
            </a:solidFill>
            <a:prstDash val="solid"/>
            <a:headEnd type="none"/>
            <a:tailEnd type="none"/>
          </a:ln>
        </p:spPr>
      </p:sp>
      <p:sp>
        <p:nvSpPr>
          <p:cNvPr id="54" name="Text 52"/>
          <p:cNvSpPr txBox="1"/>
          <p:nvPr/>
        </p:nvSpPr>
        <p:spPr>
          <a:xfrm>
            <a:off x="5568696" y="3396996"/>
            <a:ext cx="3200400" cy="239522"/>
          </a:xfrm>
          <a:prstGeom prst="rect">
            <a:avLst/>
          </a:prstGeom>
          <a:noFill/>
          <a:ln/>
        </p:spPr>
        <p:txBody>
          <a:bodyPr wrap="square" lIns="0" tIns="0" rIns="0" bIns="0" rtlCol="0" anchor="t"/>
          <a:lstStyle/>
          <a:p>
            <a:pPr algn="l" indent="0" marL="0">
              <a:lnSpc>
                <a:spcPts val="1066"/>
              </a:lnSpc>
              <a:buNone/>
            </a:pPr>
            <a:r>
              <a:rPr lang="en-US" sz="820" dirty="0">
                <a:solidFill>
                  <a:srgbClr val="3F3A33"/>
                </a:solidFill>
                <a:latin typeface="Calibri" pitchFamily="34" charset="0"/>
                <a:ea typeface="Calibri" pitchFamily="34" charset="-122"/>
                <a:cs typeface="Calibri" pitchFamily="34" charset="-120"/>
              </a:rPr>
              <a:t>deceased</a:t>
            </a:r>
            <a:endParaRPr lang="en-US" sz="820" dirty="0"/>
          </a:p>
        </p:txBody>
      </p:sp>
      <p:sp>
        <p:nvSpPr>
          <p:cNvPr id="55" name="Shape 53"/>
          <p:cNvSpPr/>
          <p:nvPr/>
        </p:nvSpPr>
        <p:spPr>
          <a:xfrm>
            <a:off x="5221224" y="3712464"/>
            <a:ext cx="146304" cy="146304"/>
          </a:xfrm>
          <a:prstGeom prst="rect">
            <a:avLst/>
          </a:prstGeom>
          <a:solidFill>
            <a:srgbClr val="FFFFFF">
              <a:alpha val="0"/>
            </a:srgbClr>
          </a:solidFill>
          <a:ln w="6985">
            <a:solidFill>
              <a:srgbClr val="1B1815"/>
            </a:solidFill>
            <a:prstDash val="solid"/>
          </a:ln>
        </p:spPr>
      </p:sp>
      <p:sp>
        <p:nvSpPr>
          <p:cNvPr id="56" name="Shape 54"/>
          <p:cNvSpPr/>
          <p:nvPr/>
        </p:nvSpPr>
        <p:spPr>
          <a:xfrm>
            <a:off x="5244084" y="3735324"/>
            <a:ext cx="100584" cy="100584"/>
          </a:xfrm>
          <a:prstGeom prst="rect">
            <a:avLst/>
          </a:prstGeom>
          <a:solidFill>
            <a:srgbClr val="FFFFFF">
              <a:alpha val="0"/>
            </a:srgbClr>
          </a:solidFill>
          <a:ln w="6985">
            <a:solidFill>
              <a:srgbClr val="1B1815"/>
            </a:solidFill>
            <a:prstDash val="solid"/>
          </a:ln>
        </p:spPr>
      </p:sp>
      <p:sp>
        <p:nvSpPr>
          <p:cNvPr id="57" name="Shape 55"/>
          <p:cNvSpPr/>
          <p:nvPr/>
        </p:nvSpPr>
        <p:spPr>
          <a:xfrm>
            <a:off x="5166360" y="3767328"/>
            <a:ext cx="256032" cy="91"/>
          </a:xfrm>
          <a:prstGeom prst="line">
            <a:avLst/>
          </a:prstGeom>
          <a:noFill/>
          <a:ln w="7620">
            <a:solidFill>
              <a:srgbClr val="1B1815"/>
            </a:solidFill>
            <a:prstDash val="solid"/>
            <a:headEnd type="none"/>
            <a:tailEnd type="none"/>
          </a:ln>
        </p:spPr>
      </p:sp>
      <p:sp>
        <p:nvSpPr>
          <p:cNvPr id="58" name="Shape 56"/>
          <p:cNvSpPr/>
          <p:nvPr/>
        </p:nvSpPr>
        <p:spPr>
          <a:xfrm>
            <a:off x="5166360" y="3813048"/>
            <a:ext cx="256032" cy="91"/>
          </a:xfrm>
          <a:prstGeom prst="line">
            <a:avLst/>
          </a:prstGeom>
          <a:noFill/>
          <a:ln w="7620">
            <a:solidFill>
              <a:srgbClr val="1B1815"/>
            </a:solidFill>
            <a:prstDash val="solid"/>
            <a:headEnd type="none"/>
            <a:tailEnd type="none"/>
          </a:ln>
        </p:spPr>
      </p:sp>
      <p:sp>
        <p:nvSpPr>
          <p:cNvPr id="59" name="Text 57"/>
          <p:cNvSpPr txBox="1"/>
          <p:nvPr/>
        </p:nvSpPr>
        <p:spPr>
          <a:xfrm>
            <a:off x="5568696" y="3726180"/>
            <a:ext cx="3200400" cy="239522"/>
          </a:xfrm>
          <a:prstGeom prst="rect">
            <a:avLst/>
          </a:prstGeom>
          <a:noFill/>
          <a:ln/>
        </p:spPr>
        <p:txBody>
          <a:bodyPr wrap="square" lIns="0" tIns="0" rIns="0" bIns="0" rtlCol="0" anchor="t"/>
          <a:lstStyle/>
          <a:p>
            <a:pPr algn="l" indent="0" marL="0">
              <a:lnSpc>
                <a:spcPts val="1066"/>
              </a:lnSpc>
              <a:buNone/>
            </a:pPr>
            <a:r>
              <a:rPr lang="en-US" sz="820" dirty="0">
                <a:solidFill>
                  <a:srgbClr val="3F3A33"/>
                </a:solidFill>
                <a:latin typeface="Calibri" pitchFamily="34" charset="0"/>
                <a:ea typeface="Calibri" pitchFamily="34" charset="-122"/>
                <a:cs typeface="Calibri" pitchFamily="34" charset="-120"/>
              </a:rPr>
              <a:t>marriage</a:t>
            </a:r>
            <a:endParaRPr lang="en-US" sz="820" dirty="0"/>
          </a:p>
        </p:txBody>
      </p:sp>
      <p:sp>
        <p:nvSpPr>
          <p:cNvPr id="60" name="Shape 58"/>
          <p:cNvSpPr/>
          <p:nvPr/>
        </p:nvSpPr>
        <p:spPr>
          <a:xfrm>
            <a:off x="5166360" y="4069080"/>
            <a:ext cx="82296" cy="82296"/>
          </a:xfrm>
          <a:prstGeom prst="line">
            <a:avLst/>
          </a:prstGeom>
          <a:noFill/>
          <a:ln w="11430">
            <a:solidFill>
              <a:srgbClr val="A96A45"/>
            </a:solidFill>
            <a:prstDash val="solid"/>
            <a:headEnd type="none"/>
            <a:tailEnd type="none"/>
          </a:ln>
        </p:spPr>
      </p:sp>
      <p:sp>
        <p:nvSpPr>
          <p:cNvPr id="61" name="Shape 59"/>
          <p:cNvSpPr/>
          <p:nvPr/>
        </p:nvSpPr>
        <p:spPr>
          <a:xfrm flipV="1">
            <a:off x="5248656" y="4069080"/>
            <a:ext cx="82296" cy="82296"/>
          </a:xfrm>
          <a:prstGeom prst="line">
            <a:avLst/>
          </a:prstGeom>
          <a:noFill/>
          <a:ln w="11430">
            <a:solidFill>
              <a:srgbClr val="A96A45"/>
            </a:solidFill>
            <a:prstDash val="solid"/>
            <a:headEnd type="none"/>
            <a:tailEnd type="none"/>
          </a:ln>
        </p:spPr>
      </p:sp>
      <p:sp>
        <p:nvSpPr>
          <p:cNvPr id="62" name="Shape 60"/>
          <p:cNvSpPr/>
          <p:nvPr/>
        </p:nvSpPr>
        <p:spPr>
          <a:xfrm>
            <a:off x="5330952" y="4069080"/>
            <a:ext cx="73152" cy="82296"/>
          </a:xfrm>
          <a:prstGeom prst="line">
            <a:avLst/>
          </a:prstGeom>
          <a:noFill/>
          <a:ln w="11430">
            <a:solidFill>
              <a:srgbClr val="A96A45"/>
            </a:solidFill>
            <a:prstDash val="solid"/>
            <a:headEnd type="none"/>
            <a:tailEnd type="none"/>
          </a:ln>
        </p:spPr>
      </p:sp>
      <p:sp>
        <p:nvSpPr>
          <p:cNvPr id="63" name="Text 61"/>
          <p:cNvSpPr txBox="1"/>
          <p:nvPr/>
        </p:nvSpPr>
        <p:spPr>
          <a:xfrm>
            <a:off x="5568696" y="4055364"/>
            <a:ext cx="3200400" cy="239522"/>
          </a:xfrm>
          <a:prstGeom prst="rect">
            <a:avLst/>
          </a:prstGeom>
          <a:noFill/>
          <a:ln/>
        </p:spPr>
        <p:txBody>
          <a:bodyPr wrap="square" lIns="0" tIns="0" rIns="0" bIns="0" rtlCol="0" anchor="t"/>
          <a:lstStyle/>
          <a:p>
            <a:pPr algn="l" indent="0" marL="0">
              <a:lnSpc>
                <a:spcPts val="1066"/>
              </a:lnSpc>
              <a:buNone/>
            </a:pPr>
            <a:r>
              <a:rPr lang="en-US" sz="820" dirty="0">
                <a:solidFill>
                  <a:srgbClr val="3F3A33"/>
                </a:solidFill>
                <a:latin typeface="Calibri" pitchFamily="34" charset="0"/>
                <a:ea typeface="Calibri" pitchFamily="34" charset="-122"/>
                <a:cs typeface="Calibri" pitchFamily="34" charset="-120"/>
              </a:rPr>
              <a:t>conflict</a:t>
            </a:r>
            <a:endParaRPr lang="en-US" sz="820" dirty="0"/>
          </a:p>
        </p:txBody>
      </p:sp>
      <p:sp>
        <p:nvSpPr>
          <p:cNvPr id="64" name="Shape 62"/>
          <p:cNvSpPr/>
          <p:nvPr/>
        </p:nvSpPr>
        <p:spPr>
          <a:xfrm>
            <a:off x="5166360" y="4411980"/>
            <a:ext cx="256032" cy="91"/>
          </a:xfrm>
          <a:prstGeom prst="line">
            <a:avLst/>
          </a:prstGeom>
          <a:noFill/>
          <a:ln w="6350">
            <a:solidFill>
              <a:srgbClr val="6E8274"/>
            </a:solidFill>
            <a:prstDash val="solid"/>
            <a:headEnd type="none"/>
            <a:tailEnd type="none"/>
          </a:ln>
        </p:spPr>
      </p:sp>
      <p:sp>
        <p:nvSpPr>
          <p:cNvPr id="65" name="Shape 63"/>
          <p:cNvSpPr/>
          <p:nvPr/>
        </p:nvSpPr>
        <p:spPr>
          <a:xfrm>
            <a:off x="5166360" y="4443984"/>
            <a:ext cx="256032" cy="91"/>
          </a:xfrm>
          <a:prstGeom prst="line">
            <a:avLst/>
          </a:prstGeom>
          <a:noFill/>
          <a:ln w="6350">
            <a:solidFill>
              <a:srgbClr val="6E8274"/>
            </a:solidFill>
            <a:prstDash val="solid"/>
            <a:headEnd type="none"/>
            <a:tailEnd type="none"/>
          </a:ln>
        </p:spPr>
      </p:sp>
      <p:sp>
        <p:nvSpPr>
          <p:cNvPr id="66" name="Shape 64"/>
          <p:cNvSpPr/>
          <p:nvPr/>
        </p:nvSpPr>
        <p:spPr>
          <a:xfrm>
            <a:off x="5166360" y="4475988"/>
            <a:ext cx="256032" cy="91"/>
          </a:xfrm>
          <a:prstGeom prst="line">
            <a:avLst/>
          </a:prstGeom>
          <a:noFill/>
          <a:ln w="6350">
            <a:solidFill>
              <a:srgbClr val="6E8274"/>
            </a:solidFill>
            <a:prstDash val="solid"/>
            <a:headEnd type="none"/>
            <a:tailEnd type="none"/>
          </a:ln>
        </p:spPr>
      </p:sp>
      <p:sp>
        <p:nvSpPr>
          <p:cNvPr id="67" name="Text 65"/>
          <p:cNvSpPr txBox="1"/>
          <p:nvPr/>
        </p:nvSpPr>
        <p:spPr>
          <a:xfrm>
            <a:off x="5568696" y="4384548"/>
            <a:ext cx="3200400" cy="239522"/>
          </a:xfrm>
          <a:prstGeom prst="rect">
            <a:avLst/>
          </a:prstGeom>
          <a:noFill/>
          <a:ln/>
        </p:spPr>
        <p:txBody>
          <a:bodyPr wrap="square" lIns="0" tIns="0" rIns="0" bIns="0" rtlCol="0" anchor="t"/>
          <a:lstStyle/>
          <a:p>
            <a:pPr algn="l" indent="0" marL="0">
              <a:lnSpc>
                <a:spcPts val="1066"/>
              </a:lnSpc>
              <a:buNone/>
            </a:pPr>
            <a:r>
              <a:rPr lang="en-US" sz="820" dirty="0">
                <a:solidFill>
                  <a:srgbClr val="3F3A33"/>
                </a:solidFill>
                <a:latin typeface="Calibri" pitchFamily="34" charset="0"/>
                <a:ea typeface="Calibri" pitchFamily="34" charset="-122"/>
                <a:cs typeface="Calibri" pitchFamily="34" charset="-120"/>
              </a:rPr>
              <a:t>close / fused</a:t>
            </a:r>
            <a:endParaRPr lang="en-US" sz="820" dirty="0"/>
          </a:p>
        </p:txBody>
      </p:sp>
      <p:sp>
        <p:nvSpPr>
          <p:cNvPr id="68" name="Shape 66"/>
          <p:cNvSpPr/>
          <p:nvPr/>
        </p:nvSpPr>
        <p:spPr>
          <a:xfrm>
            <a:off x="5157216" y="4773168"/>
            <a:ext cx="109728" cy="91"/>
          </a:xfrm>
          <a:prstGeom prst="line">
            <a:avLst/>
          </a:prstGeom>
          <a:noFill/>
          <a:ln w="10160">
            <a:solidFill>
              <a:srgbClr val="A96A45"/>
            </a:solidFill>
            <a:prstDash val="dash"/>
            <a:headEnd type="none"/>
            <a:tailEnd type="none"/>
          </a:ln>
        </p:spPr>
      </p:sp>
      <p:sp>
        <p:nvSpPr>
          <p:cNvPr id="69" name="Text 67"/>
          <p:cNvSpPr txBox="1"/>
          <p:nvPr/>
        </p:nvSpPr>
        <p:spPr>
          <a:xfrm>
            <a:off x="5568696" y="4713732"/>
            <a:ext cx="3200400" cy="239522"/>
          </a:xfrm>
          <a:prstGeom prst="rect">
            <a:avLst/>
          </a:prstGeom>
          <a:noFill/>
          <a:ln/>
        </p:spPr>
        <p:txBody>
          <a:bodyPr wrap="square" lIns="0" tIns="0" rIns="0" bIns="0" rtlCol="0" anchor="t"/>
          <a:lstStyle/>
          <a:p>
            <a:pPr algn="l" indent="0" marL="0">
              <a:lnSpc>
                <a:spcPts val="1066"/>
              </a:lnSpc>
              <a:buNone/>
            </a:pPr>
            <a:r>
              <a:rPr lang="en-US" sz="820" dirty="0">
                <a:solidFill>
                  <a:srgbClr val="3F3A33"/>
                </a:solidFill>
                <a:latin typeface="Calibri" pitchFamily="34" charset="0"/>
                <a:ea typeface="Calibri" pitchFamily="34" charset="-122"/>
                <a:cs typeface="Calibri" pitchFamily="34" charset="-120"/>
              </a:rPr>
              <a:t>cut-off</a:t>
            </a:r>
            <a:endParaRPr lang="en-US" sz="820" dirty="0"/>
          </a:p>
        </p:txBody>
      </p:sp>
      <p:sp>
        <p:nvSpPr>
          <p:cNvPr id="70" name="Text 68"/>
          <p:cNvSpPr txBox="1"/>
          <p:nvPr/>
        </p:nvSpPr>
        <p:spPr>
          <a:xfrm>
            <a:off x="5184648" y="4809744"/>
            <a:ext cx="3840480" cy="205931"/>
          </a:xfrm>
          <a:prstGeom prst="rect">
            <a:avLst/>
          </a:prstGeom>
          <a:noFill/>
          <a:ln/>
        </p:spPr>
        <p:txBody>
          <a:bodyPr wrap="square" lIns="0" tIns="0" rIns="0" bIns="0" rtlCol="0" anchor="t"/>
          <a:lstStyle/>
          <a:p>
            <a:pPr algn="l" indent="0" marL="0">
              <a:lnSpc>
                <a:spcPts val="932"/>
              </a:lnSpc>
              <a:buNone/>
            </a:pPr>
            <a:r>
              <a:rPr lang="en-US" sz="690" i="1" dirty="0">
                <a:solidFill>
                  <a:srgbClr val="5B544A"/>
                </a:solidFill>
                <a:latin typeface="Calibri" pitchFamily="34" charset="0"/>
                <a:ea typeface="Calibri" pitchFamily="34" charset="-122"/>
                <a:cs typeface="Calibri" pitchFamily="34" charset="-120"/>
              </a:rPr>
              <a:t>Three generations, one view: pattern, not blame.</a:t>
            </a:r>
            <a:endParaRPr lang="en-US" sz="690" dirty="0"/>
          </a:p>
        </p:txBody>
      </p:sp>
      <p:sp>
        <p:nvSpPr>
          <p:cNvPr id="71" name="Text 69"/>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Conventions after McGoldrick, Gerson &amp; Petry (2008).</a:t>
            </a:r>
            <a:endParaRPr lang="en-US" sz="74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10 · CLINICAL APPLICATION</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49</a:t>
            </a:r>
            <a:endParaRPr lang="en-US" sz="950" dirty="0"/>
          </a:p>
        </p:txBody>
      </p:sp>
      <p:sp>
        <p:nvSpPr>
          <p:cNvPr id="8" name="Text 6"/>
          <p:cNvSpPr txBox="1"/>
          <p:nvPr/>
        </p:nvSpPr>
        <p:spPr>
          <a:xfrm>
            <a:off x="822960" y="932688"/>
            <a:ext cx="9509760" cy="775970"/>
          </a:xfrm>
          <a:prstGeom prst="rect">
            <a:avLst/>
          </a:prstGeom>
          <a:noFill/>
          <a:ln/>
        </p:spPr>
        <p:txBody>
          <a:bodyPr wrap="square" lIns="0" tIns="0" rIns="0" bIns="0" rtlCol="0" anchor="t"/>
          <a:lstStyle/>
          <a:p>
            <a:pPr algn="l" indent="0" marL="0">
              <a:lnSpc>
                <a:spcPts val="3510"/>
              </a:lnSpc>
              <a:buNone/>
            </a:pPr>
            <a:r>
              <a:rPr lang="en-US" sz="2600" dirty="0">
                <a:solidFill>
                  <a:srgbClr val="1B1815"/>
                </a:solidFill>
                <a:latin typeface="Georgia" pitchFamily="34" charset="0"/>
                <a:ea typeface="Georgia" pitchFamily="34" charset="-122"/>
                <a:cs typeface="Georgia" pitchFamily="34" charset="-120"/>
              </a:rPr>
              <a:t>The family who would not draw</a:t>
            </a:r>
            <a:endParaRPr lang="en-US" sz="2600" dirty="0"/>
          </a:p>
        </p:txBody>
      </p:sp>
      <p:sp>
        <p:nvSpPr>
          <p:cNvPr id="9" name="Shape 7"/>
          <p:cNvSpPr/>
          <p:nvPr/>
        </p:nvSpPr>
        <p:spPr>
          <a:xfrm>
            <a:off x="822960" y="1463040"/>
            <a:ext cx="7059168" cy="1847088"/>
          </a:xfrm>
          <a:prstGeom prst="roundRect">
            <a:avLst>
              <a:gd name="adj" fmla="val 490"/>
            </a:avLst>
          </a:prstGeom>
          <a:solidFill>
            <a:srgbClr val="EFE5D3">
              <a:alpha val="50000"/>
            </a:srgbClr>
          </a:solidFill>
          <a:ln w="12700">
            <a:solidFill>
              <a:srgbClr val="FFFFFF">
                <a:alpha val="0"/>
              </a:srgbClr>
            </a:solidFill>
            <a:prstDash val="solid"/>
          </a:ln>
        </p:spPr>
      </p:sp>
      <p:sp>
        <p:nvSpPr>
          <p:cNvPr id="10" name="Shape 8"/>
          <p:cNvSpPr/>
          <p:nvPr/>
        </p:nvSpPr>
        <p:spPr>
          <a:xfrm>
            <a:off x="822960" y="1463040"/>
            <a:ext cx="45720" cy="1847088"/>
          </a:xfrm>
          <a:prstGeom prst="rect">
            <a:avLst/>
          </a:prstGeom>
          <a:solidFill>
            <a:srgbClr val="A96A45"/>
          </a:solidFill>
          <a:ln w="12700">
            <a:solidFill>
              <a:srgbClr val="FFFFFF">
                <a:alpha val="0"/>
              </a:srgbClr>
            </a:solidFill>
            <a:prstDash val="solid"/>
          </a:ln>
        </p:spPr>
      </p:sp>
      <p:sp>
        <p:nvSpPr>
          <p:cNvPr id="11" name="Text 9"/>
          <p:cNvSpPr txBox="1"/>
          <p:nvPr/>
        </p:nvSpPr>
        <p:spPr>
          <a:xfrm>
            <a:off x="1115568" y="1627632"/>
            <a:ext cx="2743200" cy="202946"/>
          </a:xfrm>
          <a:prstGeom prst="rect">
            <a:avLst/>
          </a:prstGeom>
          <a:noFill/>
          <a:ln/>
        </p:spPr>
        <p:txBody>
          <a:bodyPr wrap="square" lIns="0" tIns="0" rIns="0" bIns="0" rtlCol="0" anchor="t"/>
          <a:lstStyle/>
          <a:p>
            <a:pPr algn="l" indent="0" marL="0">
              <a:lnSpc>
                <a:spcPts val="918"/>
              </a:lnSpc>
              <a:buNone/>
            </a:pPr>
            <a:r>
              <a:rPr lang="en-US" sz="680" b="1" spc="200" kern="0" dirty="0">
                <a:solidFill>
                  <a:srgbClr val="A96A45"/>
                </a:solidFill>
                <a:latin typeface="Calibri" pitchFamily="34" charset="0"/>
                <a:ea typeface="Calibri" pitchFamily="34" charset="-122"/>
                <a:cs typeface="Calibri" pitchFamily="34" charset="-120"/>
              </a:rPr>
              <a:t>CLINICAL VIGNETTE</a:t>
            </a:r>
            <a:endParaRPr lang="en-US" sz="680" dirty="0"/>
          </a:p>
        </p:txBody>
      </p:sp>
      <p:sp>
        <p:nvSpPr>
          <p:cNvPr id="12" name="Text 10"/>
          <p:cNvSpPr txBox="1"/>
          <p:nvPr/>
        </p:nvSpPr>
        <p:spPr>
          <a:xfrm>
            <a:off x="1115568" y="2299818"/>
            <a:ext cx="6446520" cy="1280160"/>
          </a:xfrm>
          <a:prstGeom prst="rect">
            <a:avLst/>
          </a:prstGeom>
          <a:noFill/>
          <a:ln/>
        </p:spPr>
        <p:txBody>
          <a:bodyPr wrap="square" lIns="0" tIns="0" rIns="0" bIns="0" rtlCol="0" anchor="t"/>
          <a:lstStyle/>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The parents decline the genogram: “We don’t talk about the past.” The 17-year-old asks whether</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their uncle is “the one nobody mentions”.</a:t>
            </a:r>
            <a:endParaRPr lang="en-US" sz="1160" dirty="0"/>
          </a:p>
        </p:txBody>
      </p:sp>
      <p:sp>
        <p:nvSpPr>
          <p:cNvPr id="13" name="Shape 11"/>
          <p:cNvSpPr/>
          <p:nvPr/>
        </p:nvSpPr>
        <p:spPr>
          <a:xfrm>
            <a:off x="8101584" y="1463040"/>
            <a:ext cx="3264408" cy="1847088"/>
          </a:xfrm>
          <a:prstGeom prst="roundRect">
            <a:avLst>
              <a:gd name="adj" fmla="val 490"/>
            </a:avLst>
          </a:prstGeom>
          <a:solidFill>
            <a:srgbClr val="FFFFFF">
              <a:alpha val="0"/>
            </a:srgbClr>
          </a:solidFill>
          <a:ln w="7620">
            <a:solidFill>
              <a:srgbClr val="D9CDB7"/>
            </a:solidFill>
            <a:prstDash val="solid"/>
          </a:ln>
        </p:spPr>
      </p:sp>
      <p:sp>
        <p:nvSpPr>
          <p:cNvPr id="14" name="Text 12"/>
          <p:cNvSpPr txBox="1"/>
          <p:nvPr/>
        </p:nvSpPr>
        <p:spPr>
          <a:xfrm>
            <a:off x="8302752" y="1627632"/>
            <a:ext cx="2898648" cy="196977"/>
          </a:xfrm>
          <a:prstGeom prst="rect">
            <a:avLst/>
          </a:prstGeom>
          <a:noFill/>
          <a:ln/>
        </p:spPr>
        <p:txBody>
          <a:bodyPr wrap="square" lIns="0" tIns="0" rIns="0" bIns="0" rtlCol="0" anchor="t"/>
          <a:lstStyle/>
          <a:p>
            <a:pPr algn="l" indent="0" marL="0">
              <a:lnSpc>
                <a:spcPts val="891"/>
              </a:lnSpc>
              <a:buNone/>
            </a:pPr>
            <a:r>
              <a:rPr lang="en-US" sz="660" b="1" spc="180" kern="0" dirty="0">
                <a:solidFill>
                  <a:srgbClr val="6E8274"/>
                </a:solidFill>
                <a:latin typeface="Calibri" pitchFamily="34" charset="0"/>
                <a:ea typeface="Calibri" pitchFamily="34" charset="-122"/>
                <a:cs typeface="Calibri" pitchFamily="34" charset="-120"/>
              </a:rPr>
              <a:t>APPLY THIS WEEK</a:t>
            </a:r>
            <a:endParaRPr lang="en-US" sz="660" dirty="0"/>
          </a:p>
        </p:txBody>
      </p:sp>
      <p:sp>
        <p:nvSpPr>
          <p:cNvPr id="15" name="Shape 13"/>
          <p:cNvSpPr/>
          <p:nvPr/>
        </p:nvSpPr>
        <p:spPr>
          <a:xfrm>
            <a:off x="8322869" y="1967789"/>
            <a:ext cx="51206" cy="51206"/>
          </a:xfrm>
          <a:prstGeom prst="ellipse">
            <a:avLst/>
          </a:prstGeom>
          <a:solidFill>
            <a:srgbClr val="6E8274"/>
          </a:solidFill>
          <a:ln w="12700">
            <a:solidFill>
              <a:srgbClr val="FFFFFF">
                <a:alpha val="0"/>
              </a:srgbClr>
            </a:solidFill>
            <a:prstDash val="solid"/>
          </a:ln>
        </p:spPr>
      </p:sp>
      <p:sp>
        <p:nvSpPr>
          <p:cNvPr id="16" name="Text 14"/>
          <p:cNvSpPr txBox="1"/>
          <p:nvPr/>
        </p:nvSpPr>
        <p:spPr>
          <a:xfrm>
            <a:off x="8485632" y="1911096"/>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genogram</a:t>
            </a:r>
            <a:endParaRPr lang="en-US" sz="830" dirty="0"/>
          </a:p>
        </p:txBody>
      </p:sp>
      <p:sp>
        <p:nvSpPr>
          <p:cNvPr id="17" name="Shape 15"/>
          <p:cNvSpPr/>
          <p:nvPr/>
        </p:nvSpPr>
        <p:spPr>
          <a:xfrm>
            <a:off x="8322869" y="2296973"/>
            <a:ext cx="51206" cy="51206"/>
          </a:xfrm>
          <a:prstGeom prst="ellipse">
            <a:avLst/>
          </a:prstGeom>
          <a:solidFill>
            <a:srgbClr val="6E8274"/>
          </a:solidFill>
          <a:ln w="12700">
            <a:solidFill>
              <a:srgbClr val="FFFFFF">
                <a:alpha val="0"/>
              </a:srgbClr>
            </a:solidFill>
            <a:prstDash val="solid"/>
          </a:ln>
        </p:spPr>
      </p:sp>
      <p:sp>
        <p:nvSpPr>
          <p:cNvPr id="18" name="Text 16"/>
          <p:cNvSpPr txBox="1"/>
          <p:nvPr/>
        </p:nvSpPr>
        <p:spPr>
          <a:xfrm>
            <a:off x="8485632" y="2240280"/>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circular questioning</a:t>
            </a:r>
            <a:endParaRPr lang="en-US" sz="830" dirty="0"/>
          </a:p>
        </p:txBody>
      </p:sp>
      <p:sp>
        <p:nvSpPr>
          <p:cNvPr id="19" name="Shape 17"/>
          <p:cNvSpPr/>
          <p:nvPr/>
        </p:nvSpPr>
        <p:spPr>
          <a:xfrm>
            <a:off x="8322869" y="2626157"/>
            <a:ext cx="51206" cy="51206"/>
          </a:xfrm>
          <a:prstGeom prst="ellipse">
            <a:avLst/>
          </a:prstGeom>
          <a:solidFill>
            <a:srgbClr val="6E8274"/>
          </a:solidFill>
          <a:ln w="12700">
            <a:solidFill>
              <a:srgbClr val="FFFFFF">
                <a:alpha val="0"/>
              </a:srgbClr>
            </a:solidFill>
            <a:prstDash val="solid"/>
          </a:ln>
        </p:spPr>
      </p:sp>
      <p:sp>
        <p:nvSpPr>
          <p:cNvPr id="20" name="Text 18"/>
          <p:cNvSpPr txBox="1"/>
          <p:nvPr/>
        </p:nvSpPr>
        <p:spPr>
          <a:xfrm>
            <a:off x="8485632" y="2569464"/>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interventive interviewing</a:t>
            </a:r>
            <a:endParaRPr lang="en-US" sz="830" dirty="0"/>
          </a:p>
        </p:txBody>
      </p:sp>
      <p:sp>
        <p:nvSpPr>
          <p:cNvPr id="21" name="Shape 19"/>
          <p:cNvSpPr/>
          <p:nvPr/>
        </p:nvSpPr>
        <p:spPr>
          <a:xfrm>
            <a:off x="8322869" y="2955341"/>
            <a:ext cx="51206" cy="51206"/>
          </a:xfrm>
          <a:prstGeom prst="ellipse">
            <a:avLst/>
          </a:prstGeom>
          <a:solidFill>
            <a:srgbClr val="6E8274"/>
          </a:solidFill>
          <a:ln w="12700">
            <a:solidFill>
              <a:srgbClr val="FFFFFF">
                <a:alpha val="0"/>
              </a:srgbClr>
            </a:solidFill>
            <a:prstDash val="solid"/>
          </a:ln>
        </p:spPr>
      </p:sp>
      <p:sp>
        <p:nvSpPr>
          <p:cNvPr id="22" name="Text 20"/>
          <p:cNvSpPr txBox="1"/>
          <p:nvPr/>
        </p:nvSpPr>
        <p:spPr>
          <a:xfrm>
            <a:off x="8485632" y="2898648"/>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risk assessment</a:t>
            </a:r>
            <a:endParaRPr lang="en-US" sz="830" dirty="0"/>
          </a:p>
        </p:txBody>
      </p:sp>
      <p:sp>
        <p:nvSpPr>
          <p:cNvPr id="23" name="Text 21"/>
          <p:cNvSpPr txBox="1"/>
          <p:nvPr/>
        </p:nvSpPr>
        <p:spPr>
          <a:xfrm>
            <a:off x="822960" y="3675888"/>
            <a:ext cx="3657600" cy="214884"/>
          </a:xfrm>
          <a:prstGeom prst="rect">
            <a:avLst/>
          </a:prstGeom>
          <a:noFill/>
          <a:ln/>
        </p:spPr>
        <p:txBody>
          <a:bodyPr wrap="square" lIns="0" tIns="0" rIns="0" bIns="0" rtlCol="0" anchor="t"/>
          <a:lstStyle/>
          <a:p>
            <a:pPr algn="l" indent="0" marL="0">
              <a:lnSpc>
                <a:spcPts val="972"/>
              </a:lnSpc>
              <a:buNone/>
            </a:pPr>
            <a:r>
              <a:rPr lang="en-US" sz="720" b="1" spc="200" kern="0" dirty="0">
                <a:solidFill>
                  <a:srgbClr val="96733C"/>
                </a:solidFill>
                <a:latin typeface="Calibri" pitchFamily="34" charset="0"/>
                <a:ea typeface="Calibri" pitchFamily="34" charset="-122"/>
                <a:cs typeface="Calibri" pitchFamily="34" charset="-120"/>
              </a:rPr>
              <a:t>REFLECTION</a:t>
            </a:r>
            <a:endParaRPr lang="en-US" sz="720" dirty="0"/>
          </a:p>
        </p:txBody>
      </p:sp>
      <p:sp>
        <p:nvSpPr>
          <p:cNvPr id="24" name="Shape 22"/>
          <p:cNvSpPr/>
          <p:nvPr/>
        </p:nvSpPr>
        <p:spPr>
          <a:xfrm>
            <a:off x="1828800" y="3730752"/>
            <a:ext cx="548640" cy="91"/>
          </a:xfrm>
          <a:prstGeom prst="line">
            <a:avLst/>
          </a:prstGeom>
          <a:noFill/>
          <a:ln w="10160">
            <a:solidFill>
              <a:srgbClr val="C2A05F"/>
            </a:solidFill>
            <a:prstDash val="solid"/>
            <a:headEnd type="none"/>
            <a:tailEnd type="none"/>
          </a:ln>
        </p:spPr>
      </p:sp>
      <p:sp>
        <p:nvSpPr>
          <p:cNvPr id="25" name="Shape 23"/>
          <p:cNvSpPr/>
          <p:nvPr/>
        </p:nvSpPr>
        <p:spPr>
          <a:xfrm>
            <a:off x="822960" y="4041648"/>
            <a:ext cx="3319272" cy="1627632"/>
          </a:xfrm>
          <a:prstGeom prst="roundRect">
            <a:avLst>
              <a:gd name="adj" fmla="val 631"/>
            </a:avLst>
          </a:prstGeom>
          <a:solidFill>
            <a:srgbClr val="FCF8EF"/>
          </a:solidFill>
          <a:ln w="6350">
            <a:solidFill>
              <a:srgbClr val="D9CDB7"/>
            </a:solidFill>
            <a:prstDash val="solid"/>
          </a:ln>
        </p:spPr>
      </p:sp>
      <p:sp>
        <p:nvSpPr>
          <p:cNvPr id="26" name="Text 24"/>
          <p:cNvSpPr txBox="1"/>
          <p:nvPr/>
        </p:nvSpPr>
        <p:spPr>
          <a:xfrm>
            <a:off x="102412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27" name="Text 25"/>
          <p:cNvSpPr txBox="1"/>
          <p:nvPr/>
        </p:nvSpPr>
        <p:spPr>
          <a:xfrm>
            <a:off x="102412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is the refusal protecting?</a:t>
            </a:r>
            <a:endParaRPr lang="en-US" sz="920" dirty="0"/>
          </a:p>
        </p:txBody>
      </p:sp>
      <p:sp>
        <p:nvSpPr>
          <p:cNvPr id="28" name="Shape 26"/>
          <p:cNvSpPr/>
          <p:nvPr/>
        </p:nvSpPr>
        <p:spPr>
          <a:xfrm>
            <a:off x="1024128" y="5248656"/>
            <a:ext cx="2916936" cy="91"/>
          </a:xfrm>
          <a:prstGeom prst="line">
            <a:avLst/>
          </a:prstGeom>
          <a:noFill/>
          <a:ln w="3810">
            <a:solidFill>
              <a:srgbClr val="D9CDB7">
                <a:alpha val="75000"/>
              </a:srgbClr>
            </a:solidFill>
            <a:prstDash val="sysDot"/>
            <a:headEnd type="none"/>
            <a:tailEnd type="none"/>
          </a:ln>
        </p:spPr>
      </p:sp>
      <p:sp>
        <p:nvSpPr>
          <p:cNvPr id="29" name="Shape 27"/>
          <p:cNvSpPr/>
          <p:nvPr/>
        </p:nvSpPr>
        <p:spPr>
          <a:xfrm>
            <a:off x="1024128" y="5468112"/>
            <a:ext cx="2916936" cy="91"/>
          </a:xfrm>
          <a:prstGeom prst="line">
            <a:avLst/>
          </a:prstGeom>
          <a:noFill/>
          <a:ln w="3810">
            <a:solidFill>
              <a:srgbClr val="D9CDB7">
                <a:alpha val="75000"/>
              </a:srgbClr>
            </a:solidFill>
            <a:prstDash val="sysDot"/>
            <a:headEnd type="none"/>
            <a:tailEnd type="none"/>
          </a:ln>
        </p:spPr>
      </p:sp>
      <p:sp>
        <p:nvSpPr>
          <p:cNvPr id="30" name="Shape 28"/>
          <p:cNvSpPr/>
          <p:nvPr/>
        </p:nvSpPr>
        <p:spPr>
          <a:xfrm>
            <a:off x="4434840" y="4041648"/>
            <a:ext cx="3319272" cy="1627632"/>
          </a:xfrm>
          <a:prstGeom prst="roundRect">
            <a:avLst>
              <a:gd name="adj" fmla="val 631"/>
            </a:avLst>
          </a:prstGeom>
          <a:solidFill>
            <a:srgbClr val="FCF8EF"/>
          </a:solidFill>
          <a:ln w="6350">
            <a:solidFill>
              <a:srgbClr val="D9CDB7"/>
            </a:solidFill>
            <a:prstDash val="solid"/>
          </a:ln>
        </p:spPr>
      </p:sp>
      <p:sp>
        <p:nvSpPr>
          <p:cNvPr id="31" name="Text 29"/>
          <p:cNvSpPr txBox="1"/>
          <p:nvPr/>
        </p:nvSpPr>
        <p:spPr>
          <a:xfrm>
            <a:off x="463600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32" name="Text 30"/>
          <p:cNvSpPr txBox="1"/>
          <p:nvPr/>
        </p:nvSpPr>
        <p:spPr>
          <a:xfrm>
            <a:off x="463600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How do you honour the boundary and stay curious?</a:t>
            </a:r>
            <a:endParaRPr lang="en-US" sz="920" dirty="0"/>
          </a:p>
        </p:txBody>
      </p:sp>
      <p:sp>
        <p:nvSpPr>
          <p:cNvPr id="33" name="Shape 31"/>
          <p:cNvSpPr/>
          <p:nvPr/>
        </p:nvSpPr>
        <p:spPr>
          <a:xfrm>
            <a:off x="4636008" y="5248656"/>
            <a:ext cx="2916936" cy="91"/>
          </a:xfrm>
          <a:prstGeom prst="line">
            <a:avLst/>
          </a:prstGeom>
          <a:noFill/>
          <a:ln w="3810">
            <a:solidFill>
              <a:srgbClr val="D9CDB7">
                <a:alpha val="75000"/>
              </a:srgbClr>
            </a:solidFill>
            <a:prstDash val="sysDot"/>
            <a:headEnd type="none"/>
            <a:tailEnd type="none"/>
          </a:ln>
        </p:spPr>
      </p:sp>
      <p:sp>
        <p:nvSpPr>
          <p:cNvPr id="34" name="Shape 32"/>
          <p:cNvSpPr/>
          <p:nvPr/>
        </p:nvSpPr>
        <p:spPr>
          <a:xfrm>
            <a:off x="4636008" y="5468112"/>
            <a:ext cx="2916936" cy="91"/>
          </a:xfrm>
          <a:prstGeom prst="line">
            <a:avLst/>
          </a:prstGeom>
          <a:noFill/>
          <a:ln w="3810">
            <a:solidFill>
              <a:srgbClr val="D9CDB7">
                <a:alpha val="75000"/>
              </a:srgbClr>
            </a:solidFill>
            <a:prstDash val="sysDot"/>
            <a:headEnd type="none"/>
            <a:tailEnd type="none"/>
          </a:ln>
        </p:spPr>
      </p:sp>
      <p:sp>
        <p:nvSpPr>
          <p:cNvPr id="35" name="Shape 33"/>
          <p:cNvSpPr/>
          <p:nvPr/>
        </p:nvSpPr>
        <p:spPr>
          <a:xfrm>
            <a:off x="8046720" y="4041648"/>
            <a:ext cx="3319272" cy="1627632"/>
          </a:xfrm>
          <a:prstGeom prst="roundRect">
            <a:avLst>
              <a:gd name="adj" fmla="val 631"/>
            </a:avLst>
          </a:prstGeom>
          <a:solidFill>
            <a:srgbClr val="FCF8EF"/>
          </a:solidFill>
          <a:ln w="6350">
            <a:solidFill>
              <a:srgbClr val="D9CDB7"/>
            </a:solidFill>
            <a:prstDash val="solid"/>
          </a:ln>
        </p:spPr>
      </p:sp>
      <p:sp>
        <p:nvSpPr>
          <p:cNvPr id="36" name="Text 34"/>
          <p:cNvSpPr txBox="1"/>
          <p:nvPr/>
        </p:nvSpPr>
        <p:spPr>
          <a:xfrm>
            <a:off x="824788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7" name="Text 35"/>
          <p:cNvSpPr txBox="1"/>
          <p:nvPr/>
        </p:nvSpPr>
        <p:spPr>
          <a:xfrm>
            <a:off x="8247888" y="4443984"/>
            <a:ext cx="2916936" cy="448666"/>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does the adolescent already know — and what is that</a:t>
            </a:r>
            <a:endParaRPr lang="en-US" sz="920" dirty="0"/>
          </a:p>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knowledge doing?</a:t>
            </a:r>
            <a:endParaRPr lang="en-US" sz="920" dirty="0"/>
          </a:p>
        </p:txBody>
      </p:sp>
      <p:sp>
        <p:nvSpPr>
          <p:cNvPr id="38" name="Shape 36"/>
          <p:cNvSpPr/>
          <p:nvPr/>
        </p:nvSpPr>
        <p:spPr>
          <a:xfrm>
            <a:off x="8247888" y="5248656"/>
            <a:ext cx="2916936" cy="91"/>
          </a:xfrm>
          <a:prstGeom prst="line">
            <a:avLst/>
          </a:prstGeom>
          <a:noFill/>
          <a:ln w="3810">
            <a:solidFill>
              <a:srgbClr val="D9CDB7">
                <a:alpha val="75000"/>
              </a:srgbClr>
            </a:solidFill>
            <a:prstDash val="sysDot"/>
            <a:headEnd type="none"/>
            <a:tailEnd type="none"/>
          </a:ln>
        </p:spPr>
      </p:sp>
      <p:sp>
        <p:nvSpPr>
          <p:cNvPr id="39" name="Shape 37"/>
          <p:cNvSpPr/>
          <p:nvPr/>
        </p:nvSpPr>
        <p:spPr>
          <a:xfrm>
            <a:off x="8247888" y="5468112"/>
            <a:ext cx="2916936" cy="91"/>
          </a:xfrm>
          <a:prstGeom prst="line">
            <a:avLst/>
          </a:prstGeom>
          <a:noFill/>
          <a:ln w="3810">
            <a:solidFill>
              <a:srgbClr val="D9CDB7">
                <a:alpha val="75000"/>
              </a:srgbClr>
            </a:solidFill>
            <a:prstDash val="sysDot"/>
            <a:headEnd type="none"/>
            <a:tailEnd type="none"/>
          </a:ln>
        </p:spPr>
      </p:sp>
      <p:sp>
        <p:nvSpPr>
          <p:cNvPr id="40" name="Text 38"/>
          <p:cNvSpPr txBox="1"/>
          <p:nvPr/>
        </p:nvSpPr>
        <p:spPr>
          <a:xfrm>
            <a:off x="822960" y="5742432"/>
            <a:ext cx="9875520" cy="244729"/>
          </a:xfrm>
          <a:prstGeom prst="rect">
            <a:avLst/>
          </a:prstGeom>
          <a:noFill/>
          <a:ln/>
        </p:spPr>
        <p:txBody>
          <a:bodyPr wrap="square" lIns="0" tIns="0" rIns="0" bIns="0" rtlCol="0" anchor="t"/>
          <a:lstStyle/>
          <a:p>
            <a:pPr algn="l" indent="0" marL="0">
              <a:lnSpc>
                <a:spcPts val="1107"/>
              </a:lnSpc>
              <a:buNone/>
            </a:pPr>
            <a:r>
              <a:rPr lang="en-US" sz="820" i="1" dirty="0">
                <a:solidFill>
                  <a:srgbClr val="8B8375"/>
                </a:solidFill>
                <a:latin typeface="Calibri" pitchFamily="34" charset="0"/>
                <a:ea typeface="Calibri" pitchFamily="34" charset="-122"/>
                <a:cs typeface="Calibri" pitchFamily="34" charset="-120"/>
              </a:rPr>
              <a:t>Discuss in seminar · bring one formulation to supervision.</a:t>
            </a:r>
            <a:endParaRPr lang="en-US" sz="82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11 · PHASE III — THE CLINICAL ENCOUNTER</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11</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Ethics, Law and Professional</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Governance</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476377"/>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Whose confidence is it, when the client is a family?</a:t>
            </a:r>
            <a:endParaRPr lang="en-US" sz="1550" dirty="0"/>
          </a:p>
        </p:txBody>
      </p:sp>
      <p:sp>
        <p:nvSpPr>
          <p:cNvPr id="8" name="Shape 6"/>
          <p:cNvSpPr/>
          <p:nvPr/>
        </p:nvSpPr>
        <p:spPr>
          <a:xfrm>
            <a:off x="822960" y="3911219"/>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ethical complexity of the many</a:t>
            </a:r>
            <a:endParaRPr lang="en-US" sz="850" dirty="0"/>
          </a:p>
        </p:txBody>
      </p:sp>
      <p:sp>
        <p:nvSpPr>
          <p:cNvPr id="11" name="Text 9"/>
          <p:cNvSpPr txBox="1"/>
          <p:nvPr/>
        </p:nvSpPr>
        <p:spPr>
          <a:xfrm>
            <a:off x="3282696"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Deciding what may be shared</a:t>
            </a:r>
            <a:endParaRPr lang="en-US" sz="850" dirty="0"/>
          </a:p>
        </p:txBody>
      </p:sp>
      <p:sp>
        <p:nvSpPr>
          <p:cNvPr id="13" name="Text 11"/>
          <p:cNvSpPr txBox="1"/>
          <p:nvPr/>
        </p:nvSpPr>
        <p:spPr>
          <a:xfrm>
            <a:off x="5742432"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SEMINAR</a:t>
            </a:r>
            <a:endParaRPr lang="en-US" sz="620" dirty="0"/>
          </a:p>
        </p:txBody>
      </p:sp>
      <p:sp>
        <p:nvSpPr>
          <p:cNvPr id="14" name="Text 12"/>
          <p:cNvSpPr txBox="1"/>
          <p:nvPr/>
        </p:nvSpPr>
        <p:spPr>
          <a:xfrm>
            <a:off x="5742432"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secret in the room</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Apply the AAMFT Code of Ethics to multi-client</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dilemmas.</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Manage confidentiality, secrets and record-sharing.</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Document ethical decisions defensibly.</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informed consent · confidentiality · duty to warn · competence · documentation</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AAMFT (2015), Code of Ethics · Corey, Corey &amp; Callanan (2019), ch. 6–8</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96733C"/>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96733C"/>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96733C"/>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96733C"/>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96733C"/>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96733C"/>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96733C"/>
          </a:solidFill>
          <a:ln w="12700">
            <a:solidFill>
              <a:srgbClr val="FFFFFF">
                <a:alpha val="0"/>
              </a:srgbClr>
            </a:solidFill>
            <a:prstDash val="solid"/>
          </a:ln>
        </p:spPr>
      </p:sp>
      <p:sp>
        <p:nvSpPr>
          <p:cNvPr id="37" name="Shape 35"/>
          <p:cNvSpPr/>
          <p:nvPr/>
        </p:nvSpPr>
        <p:spPr>
          <a:xfrm>
            <a:off x="7769352" y="5696712"/>
            <a:ext cx="128016" cy="128016"/>
          </a:xfrm>
          <a:prstGeom prst="ellipse">
            <a:avLst/>
          </a:prstGeom>
          <a:solidFill>
            <a:srgbClr val="C2A05F"/>
          </a:solidFill>
          <a:ln w="8890">
            <a:solidFill>
              <a:srgbClr val="E7D3A9"/>
            </a:solidFill>
            <a:prstDash val="solid"/>
          </a:ln>
        </p:spPr>
      </p:sp>
      <p:sp>
        <p:nvSpPr>
          <p:cNvPr id="38" name="Shape 36"/>
          <p:cNvSpPr/>
          <p:nvPr/>
        </p:nvSpPr>
        <p:spPr>
          <a:xfrm>
            <a:off x="8505139" y="5731459"/>
            <a:ext cx="58522" cy="58522"/>
          </a:xfrm>
          <a:prstGeom prst="ellipse">
            <a:avLst/>
          </a:prstGeom>
          <a:solidFill>
            <a:srgbClr val="1E1913"/>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1E1913"/>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1E1913"/>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50</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11 · LECTURE 11</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51</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The ethical complexity of the many</a:t>
            </a:r>
            <a:endParaRPr lang="en-US" sz="2800" dirty="0"/>
          </a:p>
        </p:txBody>
      </p:sp>
      <p:sp>
        <p:nvSpPr>
          <p:cNvPr id="9" name="Text 7"/>
          <p:cNvSpPr txBox="1"/>
          <p:nvPr/>
        </p:nvSpPr>
        <p:spPr>
          <a:xfrm>
            <a:off x="822960" y="1486408"/>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Family therapy multiplies the number of people to whom the therapist owes a duty — and the number of ways those duties</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can collide.</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CONSENT IS CONTINUOUS</a:t>
            </a:r>
            <a:endParaRPr lang="en-US" sz="750" dirty="0"/>
          </a:p>
        </p:txBody>
      </p:sp>
      <p:sp>
        <p:nvSpPr>
          <p:cNvPr id="13" name="Text 11"/>
          <p:cNvSpPr txBox="1"/>
          <p:nvPr/>
        </p:nvSpPr>
        <p:spPr>
          <a:xfrm>
            <a:off x="82296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Consent is not a signature at intake. It is a conversation renewed</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whenever the system changes — a new partner, an adolescent, a</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court order.</a:t>
            </a:r>
            <a:endParaRPr lang="en-US" sz="900" dirty="0"/>
          </a:p>
        </p:txBody>
      </p:sp>
      <p:sp>
        <p:nvSpPr>
          <p:cNvPr id="14" name="Shape 12"/>
          <p:cNvSpPr/>
          <p:nvPr/>
        </p:nvSpPr>
        <p:spPr>
          <a:xfrm>
            <a:off x="822960" y="3529584"/>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Who is the client?</a:t>
            </a:r>
            <a:endParaRPr lang="en-US" sz="880" dirty="0"/>
          </a:p>
        </p:txBody>
      </p:sp>
      <p:sp>
        <p:nvSpPr>
          <p:cNvPr id="16" name="Shape 14"/>
          <p:cNvSpPr/>
          <p:nvPr/>
        </p:nvSpPr>
        <p:spPr>
          <a:xfrm>
            <a:off x="822960" y="3775253"/>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What has each member agreed to?</a:t>
            </a:r>
            <a:endParaRPr lang="en-US" sz="880" dirty="0"/>
          </a:p>
        </p:txBody>
      </p:sp>
      <p:sp>
        <p:nvSpPr>
          <p:cNvPr id="18" name="Shape 16"/>
          <p:cNvSpPr/>
          <p:nvPr/>
        </p:nvSpPr>
        <p:spPr>
          <a:xfrm>
            <a:off x="822960" y="4020922"/>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What changes when someone joins or leaves?</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CONFIDENTIALITY IS NOT SINGULAR</a:t>
            </a:r>
            <a:endParaRPr lang="en-US" sz="750" dirty="0"/>
          </a:p>
        </p:txBody>
      </p:sp>
      <p:sp>
        <p:nvSpPr>
          <p:cNvPr id="23" name="Text 21"/>
          <p:cNvSpPr txBox="1"/>
          <p:nvPr/>
        </p:nvSpPr>
        <p:spPr>
          <a:xfrm>
            <a:off x="446532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Who owns the record? Who may see it? What happens to a secret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disclosed by one member? These questions must be answered before</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they are urgent.</a:t>
            </a:r>
            <a:endParaRPr lang="en-US" sz="900" dirty="0"/>
          </a:p>
        </p:txBody>
      </p:sp>
      <p:sp>
        <p:nvSpPr>
          <p:cNvPr id="24" name="Shape 22"/>
          <p:cNvSpPr/>
          <p:nvPr/>
        </p:nvSpPr>
        <p:spPr>
          <a:xfrm>
            <a:off x="4465320" y="3529584"/>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Secrets within the system</a:t>
            </a:r>
            <a:endParaRPr lang="en-US" sz="880" dirty="0"/>
          </a:p>
        </p:txBody>
      </p:sp>
      <p:sp>
        <p:nvSpPr>
          <p:cNvPr id="26" name="Shape 24"/>
          <p:cNvSpPr/>
          <p:nvPr/>
        </p:nvSpPr>
        <p:spPr>
          <a:xfrm>
            <a:off x="4465320" y="3775253"/>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Records and third parties</a:t>
            </a:r>
            <a:endParaRPr lang="en-US" sz="880" dirty="0"/>
          </a:p>
        </p:txBody>
      </p:sp>
      <p:sp>
        <p:nvSpPr>
          <p:cNvPr id="28" name="Shape 26"/>
          <p:cNvSpPr/>
          <p:nvPr/>
        </p:nvSpPr>
        <p:spPr>
          <a:xfrm>
            <a:off x="4465320" y="4020922"/>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Limits required by law</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BOUNDARIES AND COMPETENCE</a:t>
            </a:r>
            <a:endParaRPr lang="en-US" sz="750" dirty="0"/>
          </a:p>
        </p:txBody>
      </p:sp>
      <p:sp>
        <p:nvSpPr>
          <p:cNvPr id="33" name="Text 31"/>
          <p:cNvSpPr txBox="1"/>
          <p:nvPr/>
        </p:nvSpPr>
        <p:spPr>
          <a:xfrm>
            <a:off x="810768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Multiple relationships are endemic in small communities.</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Competence is an ethical obligation, not a personal achievement.</a:t>
            </a:r>
            <a:endParaRPr lang="en-US" sz="900" dirty="0"/>
          </a:p>
        </p:txBody>
      </p:sp>
      <p:sp>
        <p:nvSpPr>
          <p:cNvPr id="34" name="Shape 32"/>
          <p:cNvSpPr/>
          <p:nvPr/>
        </p:nvSpPr>
        <p:spPr>
          <a:xfrm>
            <a:off x="8107680" y="3364992"/>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Recognise the limits of your training</a:t>
            </a:r>
            <a:endParaRPr lang="en-US" sz="880" dirty="0"/>
          </a:p>
        </p:txBody>
      </p:sp>
      <p:sp>
        <p:nvSpPr>
          <p:cNvPr id="36" name="Shape 34"/>
          <p:cNvSpPr/>
          <p:nvPr/>
        </p:nvSpPr>
        <p:spPr>
          <a:xfrm>
            <a:off x="8107680" y="3610661"/>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Seek supervision early</a:t>
            </a:r>
            <a:endParaRPr lang="en-US" sz="880" dirty="0"/>
          </a:p>
        </p:txBody>
      </p:sp>
      <p:sp>
        <p:nvSpPr>
          <p:cNvPr id="38" name="Shape 36"/>
          <p:cNvSpPr/>
          <p:nvPr/>
        </p:nvSpPr>
        <p:spPr>
          <a:xfrm>
            <a:off x="8107680" y="3856330"/>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Document the reasoning, not only the outcome</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AAMFT CODE</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Nonmaleficence first</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When duties conflict, the standard is the least harm and the most transparency achievable. Consultation is both</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a safeguard and an ethical practice.</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291338"/>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AAMFT (2015); Corey, Corey &amp; Callanan</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(2019).</a:t>
            </a:r>
            <a:endParaRPr lang="en-US" sz="62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11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52</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Deciding what may be shared</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A decision pathway for the most common ethical pressure in family work: the secret in the room.</a:t>
            </a:r>
            <a:endParaRPr lang="en-US" sz="1060" dirty="0"/>
          </a:p>
        </p:txBody>
      </p:sp>
      <p:sp>
        <p:nvSpPr>
          <p:cNvPr id="10" name="Shape 8"/>
          <p:cNvSpPr/>
          <p:nvPr/>
        </p:nvSpPr>
        <p:spPr>
          <a:xfrm>
            <a:off x="1074420" y="1901952"/>
            <a:ext cx="4160520" cy="658368"/>
          </a:xfrm>
          <a:prstGeom prst="roundRect">
            <a:avLst>
              <a:gd name="adj" fmla="val 8681"/>
            </a:avLst>
          </a:prstGeom>
          <a:solidFill>
            <a:srgbClr val="1B1815"/>
          </a:solidFill>
          <a:ln w="12700">
            <a:solidFill>
              <a:srgbClr val="FFFFFF">
                <a:alpha val="0"/>
              </a:srgbClr>
            </a:solidFill>
            <a:prstDash val="solid"/>
          </a:ln>
        </p:spPr>
      </p:sp>
      <p:sp>
        <p:nvSpPr>
          <p:cNvPr id="11" name="Text 9"/>
          <p:cNvSpPr txBox="1"/>
          <p:nvPr/>
        </p:nvSpPr>
        <p:spPr>
          <a:xfrm>
            <a:off x="1239012" y="2156524"/>
            <a:ext cx="3831336" cy="658368"/>
          </a:xfrm>
          <a:prstGeom prst="rect">
            <a:avLst/>
          </a:prstGeom>
          <a:noFill/>
          <a:ln/>
        </p:spPr>
        <p:txBody>
          <a:bodyPr wrap="square" lIns="0" tIns="0" rIns="0" bIns="0" rtlCol="0" anchor="t"/>
          <a:lstStyle/>
          <a:p>
            <a:pPr algn="ctr" indent="0" marL="0">
              <a:lnSpc>
                <a:spcPts val="1175"/>
              </a:lnSpc>
              <a:buNone/>
            </a:pPr>
            <a:r>
              <a:rPr lang="en-US" sz="940" dirty="0">
                <a:solidFill>
                  <a:srgbClr val="F8F3E9"/>
                </a:solidFill>
                <a:latin typeface="Calibri" pitchFamily="34" charset="0"/>
                <a:ea typeface="Calibri" pitchFamily="34" charset="-122"/>
                <a:cs typeface="Calibri" pitchFamily="34" charset="-120"/>
              </a:rPr>
              <a:t>A family member asks you to keep a secret from the others</a:t>
            </a:r>
            <a:endParaRPr lang="en-US" sz="940" dirty="0"/>
          </a:p>
        </p:txBody>
      </p:sp>
      <p:sp>
        <p:nvSpPr>
          <p:cNvPr id="12" name="Shape 10"/>
          <p:cNvSpPr/>
          <p:nvPr/>
        </p:nvSpPr>
        <p:spPr>
          <a:xfrm>
            <a:off x="1074420" y="2834640"/>
            <a:ext cx="4160520" cy="713232"/>
          </a:xfrm>
          <a:prstGeom prst="roundRect">
            <a:avLst>
              <a:gd name="adj" fmla="val 7396"/>
            </a:avLst>
          </a:prstGeom>
          <a:solidFill>
            <a:srgbClr val="EFE5D3"/>
          </a:solidFill>
          <a:ln w="8890">
            <a:solidFill>
              <a:srgbClr val="C2A05F"/>
            </a:solidFill>
            <a:prstDash val="solid"/>
          </a:ln>
        </p:spPr>
      </p:sp>
      <p:sp>
        <p:nvSpPr>
          <p:cNvPr id="13" name="Text 11"/>
          <p:cNvSpPr txBox="1"/>
          <p:nvPr/>
        </p:nvSpPr>
        <p:spPr>
          <a:xfrm>
            <a:off x="1239012" y="3118231"/>
            <a:ext cx="3831336" cy="713232"/>
          </a:xfrm>
          <a:prstGeom prst="rect">
            <a:avLst/>
          </a:prstGeom>
          <a:noFill/>
          <a:ln/>
        </p:spPr>
        <p:txBody>
          <a:bodyPr wrap="square" lIns="0" tIns="0" rIns="0" bIns="0" rtlCol="0" anchor="t"/>
          <a:lstStyle/>
          <a:p>
            <a:pPr algn="ctr" indent="0" marL="0">
              <a:lnSpc>
                <a:spcPts val="1150"/>
              </a:lnSpc>
              <a:buNone/>
            </a:pPr>
            <a:r>
              <a:rPr lang="en-US" sz="920" dirty="0">
                <a:solidFill>
                  <a:srgbClr val="1B1815"/>
                </a:solidFill>
                <a:latin typeface="Calibri" pitchFamily="34" charset="0"/>
                <a:ea typeface="Calibri" pitchFamily="34" charset="-122"/>
                <a:cs typeface="Calibri" pitchFamily="34" charset="-120"/>
              </a:rPr>
              <a:t>Is there a legal duty to disclose, or a serious risk of harm?</a:t>
            </a:r>
            <a:endParaRPr lang="en-US" sz="920" dirty="0"/>
          </a:p>
        </p:txBody>
      </p:sp>
      <p:sp>
        <p:nvSpPr>
          <p:cNvPr id="14" name="Shape 12"/>
          <p:cNvSpPr/>
          <p:nvPr/>
        </p:nvSpPr>
        <p:spPr>
          <a:xfrm>
            <a:off x="1074420" y="3858768"/>
            <a:ext cx="4160520" cy="713232"/>
          </a:xfrm>
          <a:prstGeom prst="roundRect">
            <a:avLst>
              <a:gd name="adj" fmla="val 7396"/>
            </a:avLst>
          </a:prstGeom>
          <a:solidFill>
            <a:srgbClr val="EFE5D3"/>
          </a:solidFill>
          <a:ln w="8890">
            <a:solidFill>
              <a:srgbClr val="C2A05F"/>
            </a:solidFill>
            <a:prstDash val="solid"/>
          </a:ln>
        </p:spPr>
      </p:sp>
      <p:sp>
        <p:nvSpPr>
          <p:cNvPr id="15" name="Text 13"/>
          <p:cNvSpPr txBox="1"/>
          <p:nvPr/>
        </p:nvSpPr>
        <p:spPr>
          <a:xfrm>
            <a:off x="1239012" y="4142359"/>
            <a:ext cx="3831336" cy="713232"/>
          </a:xfrm>
          <a:prstGeom prst="rect">
            <a:avLst/>
          </a:prstGeom>
          <a:noFill/>
          <a:ln/>
        </p:spPr>
        <p:txBody>
          <a:bodyPr wrap="square" lIns="0" tIns="0" rIns="0" bIns="0" rtlCol="0" anchor="t"/>
          <a:lstStyle/>
          <a:p>
            <a:pPr algn="ctr" indent="0" marL="0">
              <a:lnSpc>
                <a:spcPts val="1150"/>
              </a:lnSpc>
              <a:buNone/>
            </a:pPr>
            <a:r>
              <a:rPr lang="en-US" sz="920" dirty="0">
                <a:solidFill>
                  <a:srgbClr val="1B1815"/>
                </a:solidFill>
                <a:latin typeface="Calibri" pitchFamily="34" charset="0"/>
                <a:ea typeface="Calibri" pitchFamily="34" charset="-122"/>
                <a:cs typeface="Calibri" pitchFamily="34" charset="-120"/>
              </a:rPr>
              <a:t>Does the third party have a legitimate claim to the information?</a:t>
            </a:r>
            <a:endParaRPr lang="en-US" sz="920" dirty="0"/>
          </a:p>
        </p:txBody>
      </p:sp>
      <p:sp>
        <p:nvSpPr>
          <p:cNvPr id="16" name="Shape 14"/>
          <p:cNvSpPr/>
          <p:nvPr/>
        </p:nvSpPr>
        <p:spPr>
          <a:xfrm>
            <a:off x="1074420" y="4882896"/>
            <a:ext cx="4160520" cy="566928"/>
          </a:xfrm>
          <a:prstGeom prst="roundRect">
            <a:avLst>
              <a:gd name="adj" fmla="val 11707"/>
            </a:avLst>
          </a:prstGeom>
          <a:solidFill>
            <a:srgbClr val="1B1815"/>
          </a:solidFill>
          <a:ln w="12700">
            <a:solidFill>
              <a:srgbClr val="FFFFFF">
                <a:alpha val="0"/>
              </a:srgbClr>
            </a:solidFill>
            <a:prstDash val="solid"/>
          </a:ln>
        </p:spPr>
      </p:sp>
      <p:sp>
        <p:nvSpPr>
          <p:cNvPr id="17" name="Text 15"/>
          <p:cNvSpPr txBox="1"/>
          <p:nvPr/>
        </p:nvSpPr>
        <p:spPr>
          <a:xfrm>
            <a:off x="1239012" y="5096510"/>
            <a:ext cx="3831336" cy="566928"/>
          </a:xfrm>
          <a:prstGeom prst="rect">
            <a:avLst/>
          </a:prstGeom>
          <a:noFill/>
          <a:ln/>
        </p:spPr>
        <p:txBody>
          <a:bodyPr wrap="square" lIns="0" tIns="0" rIns="0" bIns="0" rtlCol="0" anchor="t"/>
          <a:lstStyle/>
          <a:p>
            <a:pPr algn="ctr" indent="0" marL="0">
              <a:lnSpc>
                <a:spcPts val="1100"/>
              </a:lnSpc>
              <a:buNone/>
            </a:pPr>
            <a:r>
              <a:rPr lang="en-US" sz="880" dirty="0">
                <a:solidFill>
                  <a:srgbClr val="F8F3E9"/>
                </a:solidFill>
                <a:latin typeface="Calibri" pitchFamily="34" charset="0"/>
                <a:ea typeface="Calibri" pitchFamily="34" charset="-122"/>
                <a:cs typeface="Calibri" pitchFamily="34" charset="-120"/>
              </a:rPr>
              <a:t>Document the decision, the rationale, and the consultation</a:t>
            </a:r>
            <a:endParaRPr lang="en-US" sz="880" dirty="0"/>
          </a:p>
        </p:txBody>
      </p:sp>
      <p:sp>
        <p:nvSpPr>
          <p:cNvPr id="18" name="Shape 16"/>
          <p:cNvSpPr/>
          <p:nvPr/>
        </p:nvSpPr>
        <p:spPr>
          <a:xfrm>
            <a:off x="3154680" y="2587752"/>
            <a:ext cx="91" cy="201168"/>
          </a:xfrm>
          <a:prstGeom prst="line">
            <a:avLst/>
          </a:prstGeom>
          <a:noFill/>
          <a:ln w="11430">
            <a:solidFill>
              <a:srgbClr val="96733C"/>
            </a:solidFill>
            <a:prstDash val="solid"/>
            <a:headEnd type="none"/>
            <a:tailEnd type="triangle"/>
          </a:ln>
        </p:spPr>
      </p:sp>
      <p:sp>
        <p:nvSpPr>
          <p:cNvPr id="19" name="Text 17"/>
          <p:cNvSpPr txBox="1"/>
          <p:nvPr/>
        </p:nvSpPr>
        <p:spPr>
          <a:xfrm>
            <a:off x="3227832" y="2569464"/>
            <a:ext cx="457200" cy="191008"/>
          </a:xfrm>
          <a:prstGeom prst="rect">
            <a:avLst/>
          </a:prstGeom>
          <a:noFill/>
          <a:ln/>
        </p:spPr>
        <p:txBody>
          <a:bodyPr wrap="square" lIns="0" tIns="0" rIns="0" bIns="0" rtlCol="0" anchor="t"/>
          <a:lstStyle/>
          <a:p>
            <a:pPr algn="l" indent="0" marL="0">
              <a:lnSpc>
                <a:spcPts val="864"/>
              </a:lnSpc>
              <a:buNone/>
            </a:pPr>
            <a:r>
              <a:rPr lang="en-US" sz="640" b="1" spc="80" kern="0" dirty="0">
                <a:solidFill>
                  <a:srgbClr val="96733C"/>
                </a:solidFill>
                <a:latin typeface="Calibri" pitchFamily="34" charset="0"/>
                <a:ea typeface="Calibri" pitchFamily="34" charset="-122"/>
                <a:cs typeface="Calibri" pitchFamily="34" charset="-120"/>
              </a:rPr>
              <a:t>NO</a:t>
            </a:r>
            <a:endParaRPr lang="en-US" sz="640" dirty="0"/>
          </a:p>
        </p:txBody>
      </p:sp>
      <p:sp>
        <p:nvSpPr>
          <p:cNvPr id="20" name="Shape 18"/>
          <p:cNvSpPr/>
          <p:nvPr/>
        </p:nvSpPr>
        <p:spPr>
          <a:xfrm>
            <a:off x="3154680" y="3575304"/>
            <a:ext cx="91" cy="237744"/>
          </a:xfrm>
          <a:prstGeom prst="line">
            <a:avLst/>
          </a:prstGeom>
          <a:noFill/>
          <a:ln w="11430">
            <a:solidFill>
              <a:srgbClr val="96733C"/>
            </a:solidFill>
            <a:prstDash val="solid"/>
            <a:headEnd type="none"/>
            <a:tailEnd type="triangle"/>
          </a:ln>
        </p:spPr>
      </p:sp>
      <p:sp>
        <p:nvSpPr>
          <p:cNvPr id="21" name="Text 19"/>
          <p:cNvSpPr txBox="1"/>
          <p:nvPr/>
        </p:nvSpPr>
        <p:spPr>
          <a:xfrm>
            <a:off x="3227832" y="3575304"/>
            <a:ext cx="457200" cy="191008"/>
          </a:xfrm>
          <a:prstGeom prst="rect">
            <a:avLst/>
          </a:prstGeom>
          <a:noFill/>
          <a:ln/>
        </p:spPr>
        <p:txBody>
          <a:bodyPr wrap="square" lIns="0" tIns="0" rIns="0" bIns="0" rtlCol="0" anchor="t"/>
          <a:lstStyle/>
          <a:p>
            <a:pPr algn="l" indent="0" marL="0">
              <a:lnSpc>
                <a:spcPts val="864"/>
              </a:lnSpc>
              <a:buNone/>
            </a:pPr>
            <a:r>
              <a:rPr lang="en-US" sz="640" b="1" spc="80" kern="0" dirty="0">
                <a:solidFill>
                  <a:srgbClr val="96733C"/>
                </a:solidFill>
                <a:latin typeface="Calibri" pitchFamily="34" charset="0"/>
                <a:ea typeface="Calibri" pitchFamily="34" charset="-122"/>
                <a:cs typeface="Calibri" pitchFamily="34" charset="-120"/>
              </a:rPr>
              <a:t>NO</a:t>
            </a:r>
            <a:endParaRPr lang="en-US" sz="640" dirty="0"/>
          </a:p>
        </p:txBody>
      </p:sp>
      <p:sp>
        <p:nvSpPr>
          <p:cNvPr id="22" name="Shape 20"/>
          <p:cNvSpPr/>
          <p:nvPr/>
        </p:nvSpPr>
        <p:spPr>
          <a:xfrm>
            <a:off x="3154680" y="4599432"/>
            <a:ext cx="91" cy="237744"/>
          </a:xfrm>
          <a:prstGeom prst="line">
            <a:avLst/>
          </a:prstGeom>
          <a:noFill/>
          <a:ln w="11430">
            <a:solidFill>
              <a:srgbClr val="96733C"/>
            </a:solidFill>
            <a:prstDash val="solid"/>
            <a:headEnd type="none"/>
            <a:tailEnd type="triangle"/>
          </a:ln>
        </p:spPr>
      </p:sp>
      <p:sp>
        <p:nvSpPr>
          <p:cNvPr id="23" name="Shape 21"/>
          <p:cNvSpPr/>
          <p:nvPr/>
        </p:nvSpPr>
        <p:spPr>
          <a:xfrm>
            <a:off x="6355080" y="2788920"/>
            <a:ext cx="4206240" cy="822960"/>
          </a:xfrm>
          <a:prstGeom prst="roundRect">
            <a:avLst>
              <a:gd name="adj" fmla="val 5556"/>
            </a:avLst>
          </a:prstGeom>
          <a:solidFill>
            <a:srgbClr val="FDFAF3"/>
          </a:solidFill>
          <a:ln w="8890">
            <a:solidFill>
              <a:srgbClr val="A96A45"/>
            </a:solidFill>
            <a:prstDash val="solid"/>
          </a:ln>
        </p:spPr>
      </p:sp>
      <p:sp>
        <p:nvSpPr>
          <p:cNvPr id="24" name="Text 22"/>
          <p:cNvSpPr txBox="1"/>
          <p:nvPr/>
        </p:nvSpPr>
        <p:spPr>
          <a:xfrm>
            <a:off x="6501384" y="2889504"/>
            <a:ext cx="3931920" cy="365760"/>
          </a:xfrm>
          <a:prstGeom prst="rect">
            <a:avLst/>
          </a:prstGeom>
          <a:noFill/>
          <a:ln/>
        </p:spPr>
        <p:txBody>
          <a:bodyPr wrap="square" lIns="0" tIns="0" rIns="0" bIns="0" rtlCol="0" anchor="t"/>
          <a:lstStyle/>
          <a:p>
            <a:pPr algn="l" indent="0" marL="0">
              <a:lnSpc>
                <a:spcPts val="1040"/>
              </a:lnSpc>
              <a:buNone/>
            </a:pPr>
            <a:r>
              <a:rPr lang="en-US" sz="800" dirty="0">
                <a:solidFill>
                  <a:srgbClr val="3F3A33"/>
                </a:solidFill>
                <a:latin typeface="Calibri" pitchFamily="34" charset="0"/>
                <a:ea typeface="Calibri" pitchFamily="34" charset="-122"/>
                <a:cs typeface="Calibri" pitchFamily="34" charset="-120"/>
              </a:rPr>
              <a:t>Disclose to the minimum necessary. Consult your supervisor, follow the governing statute, and</a:t>
            </a:r>
            <a:endParaRPr lang="en-US" sz="800" dirty="0"/>
          </a:p>
          <a:p>
            <a:pPr algn="l" indent="0" marL="0">
              <a:lnSpc>
                <a:spcPts val="1040"/>
              </a:lnSpc>
              <a:buNone/>
            </a:pPr>
            <a:r>
              <a:rPr lang="en-US" sz="800" dirty="0">
                <a:solidFill>
                  <a:srgbClr val="3F3A33"/>
                </a:solidFill>
                <a:latin typeface="Calibri" pitchFamily="34" charset="0"/>
                <a:ea typeface="Calibri" pitchFamily="34" charset="-122"/>
                <a:cs typeface="Calibri" pitchFamily="34" charset="-120"/>
              </a:rPr>
              <a:t>record what you did and why.</a:t>
            </a:r>
            <a:endParaRPr lang="en-US" sz="800" dirty="0"/>
          </a:p>
        </p:txBody>
      </p:sp>
      <p:sp>
        <p:nvSpPr>
          <p:cNvPr id="25" name="Shape 23"/>
          <p:cNvSpPr/>
          <p:nvPr/>
        </p:nvSpPr>
        <p:spPr>
          <a:xfrm>
            <a:off x="5253228" y="3191256"/>
            <a:ext cx="1046988" cy="91"/>
          </a:xfrm>
          <a:prstGeom prst="line">
            <a:avLst/>
          </a:prstGeom>
          <a:noFill/>
          <a:ln w="11430">
            <a:solidFill>
              <a:srgbClr val="A96A45"/>
            </a:solidFill>
            <a:prstDash val="solid"/>
            <a:headEnd type="none"/>
            <a:tailEnd type="triangle"/>
          </a:ln>
        </p:spPr>
      </p:sp>
      <p:sp>
        <p:nvSpPr>
          <p:cNvPr id="26" name="Text 24"/>
          <p:cNvSpPr txBox="1"/>
          <p:nvPr/>
        </p:nvSpPr>
        <p:spPr>
          <a:xfrm>
            <a:off x="5344668" y="2962656"/>
            <a:ext cx="548640" cy="191008"/>
          </a:xfrm>
          <a:prstGeom prst="rect">
            <a:avLst/>
          </a:prstGeom>
          <a:noFill/>
          <a:ln/>
        </p:spPr>
        <p:txBody>
          <a:bodyPr wrap="square" lIns="0" tIns="0" rIns="0" bIns="0" rtlCol="0" anchor="t"/>
          <a:lstStyle/>
          <a:p>
            <a:pPr algn="l" indent="0" marL="0">
              <a:lnSpc>
                <a:spcPts val="864"/>
              </a:lnSpc>
              <a:buNone/>
            </a:pPr>
            <a:r>
              <a:rPr lang="en-US" sz="640" b="1" spc="80" kern="0" dirty="0">
                <a:solidFill>
                  <a:srgbClr val="A96A45"/>
                </a:solidFill>
                <a:latin typeface="Calibri" pitchFamily="34" charset="0"/>
                <a:ea typeface="Calibri" pitchFamily="34" charset="-122"/>
                <a:cs typeface="Calibri" pitchFamily="34" charset="-120"/>
              </a:rPr>
              <a:t>YES</a:t>
            </a:r>
            <a:endParaRPr lang="en-US" sz="640" dirty="0"/>
          </a:p>
        </p:txBody>
      </p:sp>
      <p:sp>
        <p:nvSpPr>
          <p:cNvPr id="27" name="Shape 25"/>
          <p:cNvSpPr/>
          <p:nvPr/>
        </p:nvSpPr>
        <p:spPr>
          <a:xfrm>
            <a:off x="6355080" y="3813048"/>
            <a:ext cx="4206240" cy="822960"/>
          </a:xfrm>
          <a:prstGeom prst="roundRect">
            <a:avLst>
              <a:gd name="adj" fmla="val 5556"/>
            </a:avLst>
          </a:prstGeom>
          <a:solidFill>
            <a:srgbClr val="FDFAF3"/>
          </a:solidFill>
          <a:ln w="8890">
            <a:solidFill>
              <a:srgbClr val="6E8274"/>
            </a:solidFill>
            <a:prstDash val="solid"/>
          </a:ln>
        </p:spPr>
      </p:sp>
      <p:sp>
        <p:nvSpPr>
          <p:cNvPr id="28" name="Text 26"/>
          <p:cNvSpPr txBox="1"/>
          <p:nvPr/>
        </p:nvSpPr>
        <p:spPr>
          <a:xfrm>
            <a:off x="6501384" y="3913632"/>
            <a:ext cx="3931920" cy="365760"/>
          </a:xfrm>
          <a:prstGeom prst="rect">
            <a:avLst/>
          </a:prstGeom>
          <a:noFill/>
          <a:ln/>
        </p:spPr>
        <p:txBody>
          <a:bodyPr wrap="square" lIns="0" tIns="0" rIns="0" bIns="0" rtlCol="0" anchor="t"/>
          <a:lstStyle/>
          <a:p>
            <a:pPr algn="l" indent="0" marL="0">
              <a:lnSpc>
                <a:spcPts val="1040"/>
              </a:lnSpc>
              <a:buNone/>
            </a:pPr>
            <a:r>
              <a:rPr lang="en-US" sz="800" dirty="0">
                <a:solidFill>
                  <a:srgbClr val="3F3A33"/>
                </a:solidFill>
                <a:latin typeface="Calibri" pitchFamily="34" charset="0"/>
                <a:ea typeface="Calibri" pitchFamily="34" charset="-122"/>
                <a:cs typeface="Calibri" pitchFamily="34" charset="-120"/>
              </a:rPr>
              <a:t>Obtain a written, informed release that names the recipient and the scope of information to be</a:t>
            </a:r>
            <a:endParaRPr lang="en-US" sz="800" dirty="0"/>
          </a:p>
          <a:p>
            <a:pPr algn="l" indent="0" marL="0">
              <a:lnSpc>
                <a:spcPts val="1040"/>
              </a:lnSpc>
              <a:buNone/>
            </a:pPr>
            <a:r>
              <a:rPr lang="en-US" sz="800" dirty="0">
                <a:solidFill>
                  <a:srgbClr val="3F3A33"/>
                </a:solidFill>
                <a:latin typeface="Calibri" pitchFamily="34" charset="0"/>
                <a:ea typeface="Calibri" pitchFamily="34" charset="-122"/>
                <a:cs typeface="Calibri" pitchFamily="34" charset="-120"/>
              </a:rPr>
              <a:t>shared.</a:t>
            </a:r>
            <a:endParaRPr lang="en-US" sz="800" dirty="0"/>
          </a:p>
        </p:txBody>
      </p:sp>
      <p:sp>
        <p:nvSpPr>
          <p:cNvPr id="29" name="Shape 27"/>
          <p:cNvSpPr/>
          <p:nvPr/>
        </p:nvSpPr>
        <p:spPr>
          <a:xfrm>
            <a:off x="5253228" y="4215384"/>
            <a:ext cx="1046988" cy="91"/>
          </a:xfrm>
          <a:prstGeom prst="line">
            <a:avLst/>
          </a:prstGeom>
          <a:noFill/>
          <a:ln w="11430">
            <a:solidFill>
              <a:srgbClr val="6E8274"/>
            </a:solidFill>
            <a:prstDash val="solid"/>
            <a:headEnd type="none"/>
            <a:tailEnd type="triangle"/>
          </a:ln>
        </p:spPr>
      </p:sp>
      <p:sp>
        <p:nvSpPr>
          <p:cNvPr id="30" name="Text 28"/>
          <p:cNvSpPr txBox="1"/>
          <p:nvPr/>
        </p:nvSpPr>
        <p:spPr>
          <a:xfrm>
            <a:off x="5344668" y="3986784"/>
            <a:ext cx="548640" cy="191008"/>
          </a:xfrm>
          <a:prstGeom prst="rect">
            <a:avLst/>
          </a:prstGeom>
          <a:noFill/>
          <a:ln/>
        </p:spPr>
        <p:txBody>
          <a:bodyPr wrap="square" lIns="0" tIns="0" rIns="0" bIns="0" rtlCol="0" anchor="t"/>
          <a:lstStyle/>
          <a:p>
            <a:pPr algn="l" indent="0" marL="0">
              <a:lnSpc>
                <a:spcPts val="864"/>
              </a:lnSpc>
              <a:buNone/>
            </a:pPr>
            <a:r>
              <a:rPr lang="en-US" sz="640" b="1" spc="80" kern="0" dirty="0">
                <a:solidFill>
                  <a:srgbClr val="6E8274"/>
                </a:solidFill>
                <a:latin typeface="Calibri" pitchFamily="34" charset="0"/>
                <a:ea typeface="Calibri" pitchFamily="34" charset="-122"/>
                <a:cs typeface="Calibri" pitchFamily="34" charset="-120"/>
              </a:rPr>
              <a:t>YES</a:t>
            </a:r>
            <a:endParaRPr lang="en-US" sz="640" dirty="0"/>
          </a:p>
        </p:txBody>
      </p:sp>
      <p:sp>
        <p:nvSpPr>
          <p:cNvPr id="31" name="Shape 29"/>
          <p:cNvSpPr/>
          <p:nvPr/>
        </p:nvSpPr>
        <p:spPr>
          <a:xfrm>
            <a:off x="3154680" y="4590288"/>
            <a:ext cx="91" cy="246888"/>
          </a:xfrm>
          <a:prstGeom prst="line">
            <a:avLst/>
          </a:prstGeom>
          <a:noFill/>
          <a:ln w="11430">
            <a:solidFill>
              <a:srgbClr val="96733C"/>
            </a:solidFill>
            <a:prstDash val="solid"/>
            <a:headEnd type="none"/>
            <a:tailEnd type="triangle"/>
          </a:ln>
        </p:spPr>
      </p:sp>
      <p:sp>
        <p:nvSpPr>
          <p:cNvPr id="32" name="Text 30"/>
          <p:cNvSpPr txBox="1"/>
          <p:nvPr/>
        </p:nvSpPr>
        <p:spPr>
          <a:xfrm>
            <a:off x="3227832" y="4663440"/>
            <a:ext cx="548640" cy="191008"/>
          </a:xfrm>
          <a:prstGeom prst="rect">
            <a:avLst/>
          </a:prstGeom>
          <a:noFill/>
          <a:ln/>
        </p:spPr>
        <p:txBody>
          <a:bodyPr wrap="square" lIns="0" tIns="0" rIns="0" bIns="0" rtlCol="0" anchor="t"/>
          <a:lstStyle/>
          <a:p>
            <a:pPr algn="l" indent="0" marL="0">
              <a:lnSpc>
                <a:spcPts val="864"/>
              </a:lnSpc>
              <a:buNone/>
            </a:pPr>
            <a:r>
              <a:rPr lang="en-US" sz="640" b="1" spc="80" kern="0" dirty="0">
                <a:solidFill>
                  <a:srgbClr val="96733C"/>
                </a:solidFill>
                <a:latin typeface="Calibri" pitchFamily="34" charset="0"/>
                <a:ea typeface="Calibri" pitchFamily="34" charset="-122"/>
                <a:cs typeface="Calibri" pitchFamily="34" charset="-120"/>
              </a:rPr>
              <a:t>NO</a:t>
            </a:r>
            <a:endParaRPr lang="en-US" sz="640" dirty="0"/>
          </a:p>
        </p:txBody>
      </p:sp>
      <p:sp>
        <p:nvSpPr>
          <p:cNvPr id="33" name="Text 31"/>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Adapt to your jurisdiction, agency policy and professional code.</a:t>
            </a:r>
            <a:endParaRPr lang="en-US" sz="74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48640"/>
            <a:ext cx="82296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11 · SEMINAR</a:t>
            </a:r>
            <a:endParaRPr lang="en-US" sz="760" dirty="0"/>
          </a:p>
        </p:txBody>
      </p:sp>
      <p:sp>
        <p:nvSpPr>
          <p:cNvPr id="3" name="Text 1"/>
          <p:cNvSpPr txBox="1"/>
          <p:nvPr/>
        </p:nvSpPr>
        <p:spPr>
          <a:xfrm>
            <a:off x="822960" y="1417320"/>
            <a:ext cx="7863840" cy="915416"/>
          </a:xfrm>
          <a:prstGeom prst="rect">
            <a:avLst/>
          </a:prstGeom>
          <a:noFill/>
          <a:ln/>
        </p:spPr>
        <p:txBody>
          <a:bodyPr wrap="square" lIns="0" tIns="0" rIns="0" bIns="0" rtlCol="0" anchor="t"/>
          <a:lstStyle/>
          <a:p>
            <a:pPr algn="l" indent="0" marL="0">
              <a:lnSpc>
                <a:spcPts val="3808"/>
              </a:lnSpc>
              <a:buNone/>
            </a:pPr>
            <a:r>
              <a:rPr lang="en-US" sz="3400" dirty="0">
                <a:solidFill>
                  <a:srgbClr val="F8F3E9"/>
                </a:solidFill>
                <a:latin typeface="Georgia" pitchFamily="34" charset="0"/>
                <a:ea typeface="Georgia" pitchFamily="34" charset="-122"/>
                <a:cs typeface="Georgia" pitchFamily="34" charset="-120"/>
              </a:rPr>
              <a:t>The secret in the room</a:t>
            </a:r>
            <a:endParaRPr lang="en-US" sz="3400" dirty="0"/>
          </a:p>
        </p:txBody>
      </p:sp>
      <p:sp>
        <p:nvSpPr>
          <p:cNvPr id="4" name="Shape 2"/>
          <p:cNvSpPr/>
          <p:nvPr/>
        </p:nvSpPr>
        <p:spPr>
          <a:xfrm>
            <a:off x="822960" y="2395728"/>
            <a:ext cx="1280160" cy="91"/>
          </a:xfrm>
          <a:prstGeom prst="line">
            <a:avLst/>
          </a:prstGeom>
          <a:noFill/>
          <a:ln w="11430">
            <a:solidFill>
              <a:srgbClr val="C2A05F"/>
            </a:solidFill>
            <a:prstDash val="solid"/>
            <a:headEnd type="none"/>
            <a:tailEnd type="none"/>
          </a:ln>
        </p:spPr>
      </p:sp>
      <p:sp>
        <p:nvSpPr>
          <p:cNvPr id="5" name="Text 3"/>
          <p:cNvSpPr txBox="1"/>
          <p:nvPr/>
        </p:nvSpPr>
        <p:spPr>
          <a:xfrm>
            <a:off x="822960" y="2651760"/>
            <a:ext cx="6949440" cy="643890"/>
          </a:xfrm>
          <a:prstGeom prst="rect">
            <a:avLst/>
          </a:prstGeom>
          <a:noFill/>
          <a:ln/>
        </p:spPr>
        <p:txBody>
          <a:bodyPr wrap="square" lIns="0" tIns="0" rIns="0" bIns="0" rtlCol="0" anchor="t"/>
          <a:lstStyle/>
          <a:p>
            <a:pPr algn="l" indent="0" marL="0">
              <a:lnSpc>
                <a:spcPts val="1885"/>
              </a:lnSpc>
              <a:buNone/>
            </a:pPr>
            <a:r>
              <a:rPr lang="en-US" sz="1300" i="1" dirty="0">
                <a:solidFill>
                  <a:srgbClr val="E7D3A9"/>
                </a:solidFill>
                <a:latin typeface="Georgia" pitchFamily="34" charset="0"/>
                <a:ea typeface="Georgia" pitchFamily="34" charset="-122"/>
                <a:cs typeface="Georgia" pitchFamily="34" charset="-120"/>
              </a:rPr>
              <a:t>A mother tells you, alone, that she is planning to leave her husband. She asks you not to tell</a:t>
            </a:r>
            <a:endParaRPr lang="en-US" sz="1300" dirty="0"/>
          </a:p>
          <a:p>
            <a:pPr algn="l" indent="0" marL="0">
              <a:lnSpc>
                <a:spcPts val="1885"/>
              </a:lnSpc>
              <a:buNone/>
            </a:pPr>
            <a:r>
              <a:rPr lang="en-US" sz="1300" i="1" dirty="0">
                <a:solidFill>
                  <a:srgbClr val="E7D3A9"/>
                </a:solidFill>
                <a:latin typeface="Georgia" pitchFamily="34" charset="0"/>
                <a:ea typeface="Georgia" pitchFamily="34" charset="-122"/>
                <a:cs typeface="Georgia" pitchFamily="34" charset="-120"/>
              </a:rPr>
              <a:t>him. The couple is due in twenty minutes.</a:t>
            </a:r>
            <a:endParaRPr lang="en-US" sz="1300" dirty="0"/>
          </a:p>
        </p:txBody>
      </p:sp>
      <p:sp>
        <p:nvSpPr>
          <p:cNvPr id="6" name="Text 4"/>
          <p:cNvSpPr txBox="1"/>
          <p:nvPr/>
        </p:nvSpPr>
        <p:spPr>
          <a:xfrm>
            <a:off x="822960" y="374904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01</a:t>
            </a:r>
            <a:endParaRPr lang="en-US" sz="1500" dirty="0"/>
          </a:p>
        </p:txBody>
      </p:sp>
      <p:sp>
        <p:nvSpPr>
          <p:cNvPr id="7" name="Text 5"/>
          <p:cNvSpPr txBox="1"/>
          <p:nvPr/>
        </p:nvSpPr>
        <p:spPr>
          <a:xfrm>
            <a:off x="1280160" y="374904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What did you promise at intake — explicitly and implicitly?</a:t>
            </a:r>
            <a:endParaRPr lang="en-US" sz="980" dirty="0"/>
          </a:p>
        </p:txBody>
      </p:sp>
      <p:sp>
        <p:nvSpPr>
          <p:cNvPr id="8" name="Text 6"/>
          <p:cNvSpPr txBox="1"/>
          <p:nvPr/>
        </p:nvSpPr>
        <p:spPr>
          <a:xfrm>
            <a:off x="6400800" y="374904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02</a:t>
            </a:r>
            <a:endParaRPr lang="en-US" sz="1500" dirty="0"/>
          </a:p>
        </p:txBody>
      </p:sp>
      <p:sp>
        <p:nvSpPr>
          <p:cNvPr id="9" name="Text 7"/>
          <p:cNvSpPr txBox="1"/>
          <p:nvPr/>
        </p:nvSpPr>
        <p:spPr>
          <a:xfrm>
            <a:off x="6858000" y="374904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What are the risks of holding the secret, and of disclosing it?</a:t>
            </a:r>
            <a:endParaRPr lang="en-US" sz="980" dirty="0"/>
          </a:p>
        </p:txBody>
      </p:sp>
      <p:sp>
        <p:nvSpPr>
          <p:cNvPr id="10" name="Text 8"/>
          <p:cNvSpPr txBox="1"/>
          <p:nvPr/>
        </p:nvSpPr>
        <p:spPr>
          <a:xfrm>
            <a:off x="822960" y="480060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03</a:t>
            </a:r>
            <a:endParaRPr lang="en-US" sz="1500" dirty="0"/>
          </a:p>
        </p:txBody>
      </p:sp>
      <p:sp>
        <p:nvSpPr>
          <p:cNvPr id="11" name="Text 9"/>
          <p:cNvSpPr txBox="1"/>
          <p:nvPr/>
        </p:nvSpPr>
        <p:spPr>
          <a:xfrm>
            <a:off x="1280160" y="480060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What would you say, and to whom, in the next session?</a:t>
            </a:r>
            <a:endParaRPr lang="en-US" sz="980" dirty="0"/>
          </a:p>
        </p:txBody>
      </p:sp>
      <p:sp>
        <p:nvSpPr>
          <p:cNvPr id="12" name="Text 10"/>
          <p:cNvSpPr txBox="1"/>
          <p:nvPr/>
        </p:nvSpPr>
        <p:spPr>
          <a:xfrm>
            <a:off x="6400800" y="480060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04</a:t>
            </a:r>
            <a:endParaRPr lang="en-US" sz="1500" dirty="0"/>
          </a:p>
        </p:txBody>
      </p:sp>
      <p:sp>
        <p:nvSpPr>
          <p:cNvPr id="13" name="Text 11"/>
          <p:cNvSpPr txBox="1"/>
          <p:nvPr/>
        </p:nvSpPr>
        <p:spPr>
          <a:xfrm>
            <a:off x="6858000" y="480060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How would you document your reasoning?</a:t>
            </a:r>
            <a:endParaRPr lang="en-US" sz="980" dirty="0"/>
          </a:p>
        </p:txBody>
      </p:sp>
      <p:sp>
        <p:nvSpPr>
          <p:cNvPr id="14" name="Shape 12"/>
          <p:cNvSpPr/>
          <p:nvPr/>
        </p:nvSpPr>
        <p:spPr>
          <a:xfrm>
            <a:off x="822960" y="5340096"/>
            <a:ext cx="10546050" cy="91"/>
          </a:xfrm>
          <a:prstGeom prst="line">
            <a:avLst/>
          </a:prstGeom>
          <a:noFill/>
          <a:ln w="6350">
            <a:solidFill>
              <a:srgbClr val="3A332A"/>
            </a:solidFill>
            <a:prstDash val="solid"/>
            <a:headEnd type="none"/>
            <a:tailEnd type="none"/>
          </a:ln>
        </p:spPr>
      </p:sp>
      <p:sp>
        <p:nvSpPr>
          <p:cNvPr id="15" name="Text 13"/>
          <p:cNvSpPr txBox="1"/>
          <p:nvPr/>
        </p:nvSpPr>
        <p:spPr>
          <a:xfrm>
            <a:off x="82296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05</a:t>
            </a:r>
            <a:endParaRPr lang="en-US" sz="1100" dirty="0"/>
          </a:p>
        </p:txBody>
      </p:sp>
      <p:sp>
        <p:nvSpPr>
          <p:cNvPr id="16" name="Text 14"/>
          <p:cNvSpPr txBox="1"/>
          <p:nvPr/>
        </p:nvSpPr>
        <p:spPr>
          <a:xfrm>
            <a:off x="120700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SILENT WRITING</a:t>
            </a:r>
            <a:endParaRPr lang="en-US" sz="680" dirty="0"/>
          </a:p>
        </p:txBody>
      </p:sp>
      <p:sp>
        <p:nvSpPr>
          <p:cNvPr id="17" name="Text 15"/>
          <p:cNvSpPr txBox="1"/>
          <p:nvPr/>
        </p:nvSpPr>
        <p:spPr>
          <a:xfrm>
            <a:off x="352044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10</a:t>
            </a:r>
            <a:endParaRPr lang="en-US" sz="1100" dirty="0"/>
          </a:p>
        </p:txBody>
      </p:sp>
      <p:sp>
        <p:nvSpPr>
          <p:cNvPr id="18" name="Text 16"/>
          <p:cNvSpPr txBox="1"/>
          <p:nvPr/>
        </p:nvSpPr>
        <p:spPr>
          <a:xfrm>
            <a:off x="390448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PAIRS</a:t>
            </a:r>
            <a:endParaRPr lang="en-US" sz="680" dirty="0"/>
          </a:p>
        </p:txBody>
      </p:sp>
      <p:sp>
        <p:nvSpPr>
          <p:cNvPr id="19" name="Text 17"/>
          <p:cNvSpPr txBox="1"/>
          <p:nvPr/>
        </p:nvSpPr>
        <p:spPr>
          <a:xfrm>
            <a:off x="621792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20</a:t>
            </a:r>
            <a:endParaRPr lang="en-US" sz="1100" dirty="0"/>
          </a:p>
        </p:txBody>
      </p:sp>
      <p:sp>
        <p:nvSpPr>
          <p:cNvPr id="20" name="Text 18"/>
          <p:cNvSpPr txBox="1"/>
          <p:nvPr/>
        </p:nvSpPr>
        <p:spPr>
          <a:xfrm>
            <a:off x="660196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PLENARY</a:t>
            </a:r>
            <a:endParaRPr lang="en-US" sz="680" dirty="0"/>
          </a:p>
        </p:txBody>
      </p:sp>
      <p:sp>
        <p:nvSpPr>
          <p:cNvPr id="21" name="Text 19"/>
          <p:cNvSpPr txBox="1"/>
          <p:nvPr/>
        </p:nvSpPr>
        <p:spPr>
          <a:xfrm>
            <a:off x="891540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05</a:t>
            </a:r>
            <a:endParaRPr lang="en-US" sz="1100" dirty="0"/>
          </a:p>
        </p:txBody>
      </p:sp>
      <p:sp>
        <p:nvSpPr>
          <p:cNvPr id="22" name="Text 20"/>
          <p:cNvSpPr txBox="1"/>
          <p:nvPr/>
        </p:nvSpPr>
        <p:spPr>
          <a:xfrm>
            <a:off x="929944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CLOSE</a:t>
            </a:r>
            <a:endParaRPr lang="en-US" sz="680" dirty="0"/>
          </a:p>
        </p:txBody>
      </p:sp>
      <p:sp>
        <p:nvSpPr>
          <p:cNvPr id="23" name="Text 21"/>
          <p:cNvSpPr txBox="1"/>
          <p:nvPr/>
        </p:nvSpPr>
        <p:spPr>
          <a:xfrm>
            <a:off x="8442930" y="5522976"/>
            <a:ext cx="2926080" cy="191008"/>
          </a:xfrm>
          <a:prstGeom prst="rect">
            <a:avLst/>
          </a:prstGeom>
          <a:noFill/>
          <a:ln/>
        </p:spPr>
        <p:txBody>
          <a:bodyPr wrap="square" lIns="0" tIns="0" rIns="0" bIns="0" rtlCol="0" anchor="t"/>
          <a:lstStyle/>
          <a:p>
            <a:pPr algn="r" indent="0" marL="0">
              <a:lnSpc>
                <a:spcPts val="864"/>
              </a:lnSpc>
              <a:buNone/>
            </a:pPr>
            <a:r>
              <a:rPr lang="en-US" sz="640" spc="160" kern="0" dirty="0">
                <a:solidFill>
                  <a:srgbClr val="8B8375"/>
                </a:solidFill>
                <a:latin typeface="Calibri" pitchFamily="34" charset="0"/>
                <a:ea typeface="Calibri" pitchFamily="34" charset="-122"/>
                <a:cs typeface="Calibri" pitchFamily="34" charset="-120"/>
              </a:rPr>
              <a:t>MINUTES</a:t>
            </a:r>
            <a:endParaRPr lang="en-US" sz="640" dirty="0"/>
          </a:p>
        </p:txBody>
      </p:sp>
      <p:sp>
        <p:nvSpPr>
          <p:cNvPr id="24" name="Shape 22"/>
          <p:cNvSpPr/>
          <p:nvPr/>
        </p:nvSpPr>
        <p:spPr>
          <a:xfrm>
            <a:off x="822960" y="722376"/>
            <a:ext cx="10546050" cy="91"/>
          </a:xfrm>
          <a:prstGeom prst="line">
            <a:avLst/>
          </a:prstGeom>
          <a:noFill/>
          <a:ln w="6350">
            <a:solidFill>
              <a:srgbClr val="3A332A"/>
            </a:solidFill>
            <a:prstDash val="solid"/>
            <a:headEnd type="none"/>
            <a:tailEnd type="none"/>
          </a:ln>
        </p:spPr>
      </p:sp>
      <p:sp>
        <p:nvSpPr>
          <p:cNvPr id="25" name="Text 23"/>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26" name="Text 24"/>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53</a:t>
            </a:r>
            <a:endParaRPr lang="en-US" sz="9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12 · PHASE III — THE CLINICAL ENCOUNTER</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12</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Culture, Power and Social</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Location</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476377"/>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Whose normal is the therapy measuring against?</a:t>
            </a:r>
            <a:endParaRPr lang="en-US" sz="1550" dirty="0"/>
          </a:p>
        </p:txBody>
      </p:sp>
      <p:sp>
        <p:nvSpPr>
          <p:cNvPr id="8" name="Shape 6"/>
          <p:cNvSpPr/>
          <p:nvPr/>
        </p:nvSpPr>
        <p:spPr>
          <a:xfrm>
            <a:off x="822960" y="3911219"/>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Culture is not a variable; it is the water</a:t>
            </a:r>
            <a:endParaRPr lang="en-US" sz="850" dirty="0"/>
          </a:p>
        </p:txBody>
      </p:sp>
      <p:sp>
        <p:nvSpPr>
          <p:cNvPr id="11" name="Text 9"/>
          <p:cNvSpPr txBox="1"/>
          <p:nvPr/>
        </p:nvSpPr>
        <p:spPr>
          <a:xfrm>
            <a:off x="3282696"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Mapping social location</a:t>
            </a:r>
            <a:endParaRPr lang="en-US" sz="850" dirty="0"/>
          </a:p>
        </p:txBody>
      </p:sp>
      <p:sp>
        <p:nvSpPr>
          <p:cNvPr id="13" name="Text 11"/>
          <p:cNvSpPr txBox="1"/>
          <p:nvPr/>
        </p:nvSpPr>
        <p:spPr>
          <a:xfrm>
            <a:off x="5742432"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CLINICAL CASE</a:t>
            </a:r>
            <a:endParaRPr lang="en-US" sz="620" dirty="0"/>
          </a:p>
        </p:txBody>
      </p:sp>
      <p:sp>
        <p:nvSpPr>
          <p:cNvPr id="14" name="Text 12"/>
          <p:cNvSpPr txBox="1"/>
          <p:nvPr/>
        </p:nvSpPr>
        <p:spPr>
          <a:xfrm>
            <a:off x="5742432"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interpreter in the room</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Apply cultural humility as a clinical stance.</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Use the ADDRESSING framework to map social</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location.</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Interrogate your own cultural assumptions in</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supervision.</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cultural humility · intersectionality · power · cultural genogram · positionality</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Hays (2016), ch. 1–4 · McGoldrick, Giordano &amp; Garcia-Preto (2005)</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96733C"/>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96733C"/>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96733C"/>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96733C"/>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96733C"/>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96733C"/>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96733C"/>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96733C"/>
          </a:solidFill>
          <a:ln w="12700">
            <a:solidFill>
              <a:srgbClr val="FFFFFF">
                <a:alpha val="0"/>
              </a:srgbClr>
            </a:solidFill>
            <a:prstDash val="solid"/>
          </a:ln>
        </p:spPr>
      </p:sp>
      <p:sp>
        <p:nvSpPr>
          <p:cNvPr id="38" name="Shape 36"/>
          <p:cNvSpPr/>
          <p:nvPr/>
        </p:nvSpPr>
        <p:spPr>
          <a:xfrm>
            <a:off x="8470392" y="5696712"/>
            <a:ext cx="128016" cy="128016"/>
          </a:xfrm>
          <a:prstGeom prst="ellipse">
            <a:avLst/>
          </a:prstGeom>
          <a:solidFill>
            <a:srgbClr val="C2A05F"/>
          </a:solidFill>
          <a:ln w="8890">
            <a:solidFill>
              <a:srgbClr val="E7D3A9"/>
            </a:solidFill>
            <a:prstDash val="solid"/>
          </a:ln>
        </p:spPr>
      </p:sp>
      <p:sp>
        <p:nvSpPr>
          <p:cNvPr id="39" name="Shape 37"/>
          <p:cNvSpPr/>
          <p:nvPr/>
        </p:nvSpPr>
        <p:spPr>
          <a:xfrm>
            <a:off x="9206179" y="5731459"/>
            <a:ext cx="58522" cy="58522"/>
          </a:xfrm>
          <a:prstGeom prst="ellipse">
            <a:avLst/>
          </a:prstGeom>
          <a:solidFill>
            <a:srgbClr val="1E1913"/>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1E1913"/>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54</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12 · LECTURE 12</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55</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Culture is not a variable; it is the water</a:t>
            </a:r>
            <a:endParaRPr lang="en-US" sz="2800" dirty="0"/>
          </a:p>
        </p:txBody>
      </p:sp>
      <p:sp>
        <p:nvSpPr>
          <p:cNvPr id="9" name="Text 7"/>
          <p:cNvSpPr txBox="1"/>
          <p:nvPr/>
        </p:nvSpPr>
        <p:spPr>
          <a:xfrm>
            <a:off x="822960" y="1486408"/>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Every family is cultural, including the therapist’s. The question is not whether culture matters, but whose cultural</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assumptions are doing the work.</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BEYOND COMPETENCE</a:t>
            </a:r>
            <a:endParaRPr lang="en-US" sz="750" dirty="0"/>
          </a:p>
        </p:txBody>
      </p:sp>
      <p:sp>
        <p:nvSpPr>
          <p:cNvPr id="13" name="Text 11"/>
          <p:cNvSpPr txBox="1"/>
          <p:nvPr/>
        </p:nvSpPr>
        <p:spPr>
          <a:xfrm>
            <a:off x="82296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Cultural competence risks treating culture as a checklist. Cultural</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humility is a stance: self-reflection, attention to power, and lifelong</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learning.</a:t>
            </a:r>
            <a:endParaRPr lang="en-US" sz="900" dirty="0"/>
          </a:p>
        </p:txBody>
      </p:sp>
      <p:sp>
        <p:nvSpPr>
          <p:cNvPr id="14" name="Shape 12"/>
          <p:cNvSpPr/>
          <p:nvPr/>
        </p:nvSpPr>
        <p:spPr>
          <a:xfrm>
            <a:off x="822960" y="3529584"/>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Notice your own location</a:t>
            </a:r>
            <a:endParaRPr lang="en-US" sz="880" dirty="0"/>
          </a:p>
        </p:txBody>
      </p:sp>
      <p:sp>
        <p:nvSpPr>
          <p:cNvPr id="16" name="Shape 14"/>
          <p:cNvSpPr/>
          <p:nvPr/>
        </p:nvSpPr>
        <p:spPr>
          <a:xfrm>
            <a:off x="822960" y="3775253"/>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Treat the family as expert on its culture</a:t>
            </a:r>
            <a:endParaRPr lang="en-US" sz="880" dirty="0"/>
          </a:p>
        </p:txBody>
      </p:sp>
      <p:sp>
        <p:nvSpPr>
          <p:cNvPr id="18" name="Shape 16"/>
          <p:cNvSpPr/>
          <p:nvPr/>
        </p:nvSpPr>
        <p:spPr>
          <a:xfrm>
            <a:off x="822960" y="4020922"/>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Expect to be corrected</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INTERSECTIONALITY AND POWER</a:t>
            </a:r>
            <a:endParaRPr lang="en-US" sz="750" dirty="0"/>
          </a:p>
        </p:txBody>
      </p:sp>
      <p:sp>
        <p:nvSpPr>
          <p:cNvPr id="23" name="Text 21"/>
          <p:cNvSpPr txBox="1"/>
          <p:nvPr/>
        </p:nvSpPr>
        <p:spPr>
          <a:xfrm>
            <a:off x="446532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Race, class, gender, faith, migration status and sexuality intersect. No</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single identity explains a family — and the therapist’s institution is</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part of the power in the room.</a:t>
            </a:r>
            <a:endParaRPr lang="en-US" sz="900" dirty="0"/>
          </a:p>
        </p:txBody>
      </p:sp>
      <p:sp>
        <p:nvSpPr>
          <p:cNvPr id="24" name="Shape 22"/>
          <p:cNvSpPr/>
          <p:nvPr/>
        </p:nvSpPr>
        <p:spPr>
          <a:xfrm>
            <a:off x="4465320" y="3529584"/>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Who is speaking, and who is spoken about?</a:t>
            </a:r>
            <a:endParaRPr lang="en-US" sz="880" dirty="0"/>
          </a:p>
        </p:txBody>
      </p:sp>
      <p:sp>
        <p:nvSpPr>
          <p:cNvPr id="26" name="Shape 24"/>
          <p:cNvSpPr/>
          <p:nvPr/>
        </p:nvSpPr>
        <p:spPr>
          <a:xfrm>
            <a:off x="4465320" y="3775253"/>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Who is absent?</a:t>
            </a:r>
            <a:endParaRPr lang="en-US" sz="880" dirty="0"/>
          </a:p>
        </p:txBody>
      </p:sp>
      <p:sp>
        <p:nvSpPr>
          <p:cNvPr id="28" name="Shape 26"/>
          <p:cNvSpPr/>
          <p:nvPr/>
        </p:nvSpPr>
        <p:spPr>
          <a:xfrm>
            <a:off x="4465320" y="4020922"/>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What does the family have to risk to be understood?</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LOCAL CONTEXT</a:t>
            </a:r>
            <a:endParaRPr lang="en-US" sz="750" dirty="0"/>
          </a:p>
        </p:txBody>
      </p:sp>
      <p:sp>
        <p:nvSpPr>
          <p:cNvPr id="33" name="Text 31"/>
          <p:cNvSpPr txBox="1"/>
          <p:nvPr/>
        </p:nvSpPr>
        <p:spPr>
          <a:xfrm>
            <a:off x="810768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In Nigeria and across Africa, extended kin, faith communities and</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communal child-rearing are central resources — and sometimes sites</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of obligation, surveillance and conflict.</a:t>
            </a:r>
            <a:endParaRPr lang="en-US" sz="900" dirty="0"/>
          </a:p>
        </p:txBody>
      </p:sp>
      <p:sp>
        <p:nvSpPr>
          <p:cNvPr id="34" name="Shape 32"/>
          <p:cNvSpPr/>
          <p:nvPr/>
        </p:nvSpPr>
        <p:spPr>
          <a:xfrm>
            <a:off x="8107680" y="3529584"/>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Kinship as support and constraint</a:t>
            </a:r>
            <a:endParaRPr lang="en-US" sz="880" dirty="0"/>
          </a:p>
        </p:txBody>
      </p:sp>
      <p:sp>
        <p:nvSpPr>
          <p:cNvPr id="36" name="Shape 34"/>
          <p:cNvSpPr/>
          <p:nvPr/>
        </p:nvSpPr>
        <p:spPr>
          <a:xfrm>
            <a:off x="8107680" y="3775253"/>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Faith as coping and as authority</a:t>
            </a:r>
            <a:endParaRPr lang="en-US" sz="880" dirty="0"/>
          </a:p>
        </p:txBody>
      </p:sp>
      <p:sp>
        <p:nvSpPr>
          <p:cNvPr id="38" name="Shape 36"/>
          <p:cNvSpPr/>
          <p:nvPr/>
        </p:nvSpPr>
        <p:spPr>
          <a:xfrm>
            <a:off x="8107680" y="4020922"/>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Migration and the transnational family</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HARDY &amp; LASZLOFFY (1995)</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The cultural genogram</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Map the family’s cultural identity, migration, language and the meanings attached to difference — including</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what the family was taught to think about other groups.</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291338"/>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Hays (2016); Falicov (2014); Hardy &amp;</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Laszloffy (1995).</a:t>
            </a:r>
            <a:endParaRPr lang="en-US" sz="62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12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56</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Mapping social location</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ADDRESSING asks the therapist to locate themselves before locating the family — and to notice which differences carry power in this room.</a:t>
            </a:r>
            <a:endParaRPr lang="en-US" sz="1060" dirty="0"/>
          </a:p>
        </p:txBody>
      </p:sp>
      <p:sp>
        <p:nvSpPr>
          <p:cNvPr id="10" name="Shape 8"/>
          <p:cNvSpPr/>
          <p:nvPr/>
        </p:nvSpPr>
        <p:spPr>
          <a:xfrm>
            <a:off x="3227832" y="2980944"/>
            <a:ext cx="1682496" cy="1682496"/>
          </a:xfrm>
          <a:prstGeom prst="ellipse">
            <a:avLst/>
          </a:prstGeom>
          <a:solidFill>
            <a:srgbClr val="EFE5D3"/>
          </a:solidFill>
          <a:ln w="10160">
            <a:solidFill>
              <a:srgbClr val="C2A05F"/>
            </a:solidFill>
            <a:prstDash val="solid"/>
          </a:ln>
        </p:spPr>
      </p:sp>
      <p:sp>
        <p:nvSpPr>
          <p:cNvPr id="11" name="Text 9"/>
          <p:cNvSpPr txBox="1"/>
          <p:nvPr/>
        </p:nvSpPr>
        <p:spPr>
          <a:xfrm>
            <a:off x="3337560" y="3547872"/>
            <a:ext cx="1463040" cy="544830"/>
          </a:xfrm>
          <a:prstGeom prst="rect">
            <a:avLst/>
          </a:prstGeom>
          <a:noFill/>
          <a:ln/>
        </p:spPr>
        <p:txBody>
          <a:bodyPr wrap="square" lIns="0" tIns="0" rIns="0" bIns="0" rtlCol="0" anchor="t"/>
          <a:lstStyle/>
          <a:p>
            <a:pPr algn="ctr" indent="0" marL="0">
              <a:lnSpc>
                <a:spcPts val="1495"/>
              </a:lnSpc>
              <a:buNone/>
            </a:pPr>
            <a:r>
              <a:rPr lang="en-US" sz="1300" dirty="0">
                <a:solidFill>
                  <a:srgbClr val="1B1815"/>
                </a:solidFill>
                <a:latin typeface="Georgia" pitchFamily="34" charset="0"/>
                <a:ea typeface="Georgia" pitchFamily="34" charset="-122"/>
                <a:cs typeface="Georgia" pitchFamily="34" charset="-120"/>
              </a:rPr>
              <a:t>Cultural</a:t>
            </a:r>
            <a:endParaRPr lang="en-US" sz="1300" dirty="0"/>
          </a:p>
          <a:p>
            <a:pPr algn="ctr" indent="0" marL="0">
              <a:lnSpc>
                <a:spcPts val="1495"/>
              </a:lnSpc>
              <a:buNone/>
            </a:pPr>
            <a:r>
              <a:rPr lang="en-US" sz="1300" dirty="0">
                <a:solidFill>
                  <a:srgbClr val="1B1815"/>
                </a:solidFill>
                <a:latin typeface="Georgia" pitchFamily="34" charset="0"/>
                <a:ea typeface="Georgia" pitchFamily="34" charset="-122"/>
                <a:cs typeface="Georgia" pitchFamily="34" charset="-120"/>
              </a:rPr>
              <a:t>humility</a:t>
            </a:r>
            <a:endParaRPr lang="en-US" sz="1300" dirty="0"/>
          </a:p>
        </p:txBody>
      </p:sp>
      <p:sp>
        <p:nvSpPr>
          <p:cNvPr id="12" name="Text 10"/>
          <p:cNvSpPr txBox="1"/>
          <p:nvPr/>
        </p:nvSpPr>
        <p:spPr>
          <a:xfrm>
            <a:off x="3337560" y="4096512"/>
            <a:ext cx="1463040" cy="204470"/>
          </a:xfrm>
          <a:prstGeom prst="rect">
            <a:avLst/>
          </a:prstGeom>
          <a:noFill/>
          <a:ln/>
        </p:spPr>
        <p:txBody>
          <a:bodyPr wrap="square" lIns="0" tIns="0" rIns="0" bIns="0" rtlCol="0" anchor="t"/>
          <a:lstStyle/>
          <a:p>
            <a:pPr algn="ctr" indent="0" marL="0">
              <a:lnSpc>
                <a:spcPts val="910"/>
              </a:lnSpc>
              <a:buNone/>
            </a:pPr>
            <a:r>
              <a:rPr lang="en-US" sz="700" i="1" dirty="0">
                <a:solidFill>
                  <a:srgbClr val="5B544A"/>
                </a:solidFill>
                <a:latin typeface="Calibri" pitchFamily="34" charset="0"/>
                <a:ea typeface="Calibri" pitchFamily="34" charset="-122"/>
                <a:cs typeface="Calibri" pitchFamily="34" charset="-120"/>
              </a:rPr>
              <a:t>a stance, not a technique</a:t>
            </a:r>
            <a:endParaRPr lang="en-US" sz="700" dirty="0"/>
          </a:p>
        </p:txBody>
      </p:sp>
      <p:sp>
        <p:nvSpPr>
          <p:cNvPr id="13" name="Shape 11"/>
          <p:cNvSpPr/>
          <p:nvPr/>
        </p:nvSpPr>
        <p:spPr>
          <a:xfrm flipV="1">
            <a:off x="4069080" y="2249424"/>
            <a:ext cx="91" cy="731520"/>
          </a:xfrm>
          <a:prstGeom prst="line">
            <a:avLst/>
          </a:prstGeom>
          <a:noFill/>
          <a:ln w="7620">
            <a:solidFill>
              <a:srgbClr val="D9CDB7"/>
            </a:solidFill>
            <a:prstDash val="solid"/>
            <a:headEnd type="none"/>
            <a:tailEnd type="none"/>
          </a:ln>
        </p:spPr>
      </p:sp>
      <p:sp>
        <p:nvSpPr>
          <p:cNvPr id="14" name="Shape 12"/>
          <p:cNvSpPr/>
          <p:nvPr/>
        </p:nvSpPr>
        <p:spPr>
          <a:xfrm>
            <a:off x="4037076" y="2217420"/>
            <a:ext cx="64008" cy="64008"/>
          </a:xfrm>
          <a:prstGeom prst="ellipse">
            <a:avLst/>
          </a:prstGeom>
          <a:solidFill>
            <a:srgbClr val="C2A05F"/>
          </a:solidFill>
          <a:ln w="12700">
            <a:solidFill>
              <a:srgbClr val="FFFFFF">
                <a:alpha val="0"/>
              </a:srgbClr>
            </a:solidFill>
            <a:prstDash val="solid"/>
          </a:ln>
        </p:spPr>
      </p:sp>
      <p:sp>
        <p:nvSpPr>
          <p:cNvPr id="15" name="Text 13"/>
          <p:cNvSpPr txBox="1"/>
          <p:nvPr/>
        </p:nvSpPr>
        <p:spPr>
          <a:xfrm>
            <a:off x="3200400" y="2039112"/>
            <a:ext cx="1737360" cy="212979"/>
          </a:xfrm>
          <a:prstGeom prst="rect">
            <a:avLst/>
          </a:prstGeom>
          <a:noFill/>
          <a:ln/>
        </p:spPr>
        <p:txBody>
          <a:bodyPr wrap="square" lIns="0" tIns="0" rIns="0" bIns="0" rtlCol="0" anchor="t"/>
          <a:lstStyle/>
          <a:p>
            <a:pPr algn="ctr" indent="0" marL="0">
              <a:lnSpc>
                <a:spcPts val="897"/>
              </a:lnSpc>
              <a:buNone/>
            </a:pPr>
            <a:r>
              <a:rPr lang="en-US" sz="780" dirty="0">
                <a:solidFill>
                  <a:srgbClr val="3F3A33"/>
                </a:solidFill>
                <a:latin typeface="Calibri" pitchFamily="34" charset="0"/>
                <a:ea typeface="Calibri" pitchFamily="34" charset="-122"/>
                <a:cs typeface="Calibri" pitchFamily="34" charset="-120"/>
              </a:rPr>
              <a:t>Age &amp; generation</a:t>
            </a:r>
            <a:endParaRPr lang="en-US" sz="780" dirty="0"/>
          </a:p>
        </p:txBody>
      </p:sp>
      <p:sp>
        <p:nvSpPr>
          <p:cNvPr id="16" name="Shape 14"/>
          <p:cNvSpPr/>
          <p:nvPr/>
        </p:nvSpPr>
        <p:spPr>
          <a:xfrm flipV="1">
            <a:off x="4663932" y="2710077"/>
            <a:ext cx="1377212" cy="517263"/>
          </a:xfrm>
          <a:prstGeom prst="line">
            <a:avLst/>
          </a:prstGeom>
          <a:noFill/>
          <a:ln w="7620">
            <a:solidFill>
              <a:srgbClr val="D9CDB7"/>
            </a:solidFill>
            <a:prstDash val="solid"/>
            <a:headEnd type="none"/>
            <a:tailEnd type="none"/>
          </a:ln>
        </p:spPr>
      </p:sp>
      <p:sp>
        <p:nvSpPr>
          <p:cNvPr id="17" name="Shape 15"/>
          <p:cNvSpPr/>
          <p:nvPr/>
        </p:nvSpPr>
        <p:spPr>
          <a:xfrm>
            <a:off x="6009140" y="2678073"/>
            <a:ext cx="64008" cy="64008"/>
          </a:xfrm>
          <a:prstGeom prst="ellipse">
            <a:avLst/>
          </a:prstGeom>
          <a:solidFill>
            <a:srgbClr val="C2A05F"/>
          </a:solidFill>
          <a:ln w="12700">
            <a:solidFill>
              <a:srgbClr val="FFFFFF">
                <a:alpha val="0"/>
              </a:srgbClr>
            </a:solidFill>
            <a:prstDash val="solid"/>
          </a:ln>
        </p:spPr>
      </p:sp>
      <p:sp>
        <p:nvSpPr>
          <p:cNvPr id="18" name="Text 16"/>
          <p:cNvSpPr txBox="1"/>
          <p:nvPr/>
        </p:nvSpPr>
        <p:spPr>
          <a:xfrm>
            <a:off x="5172464" y="2499765"/>
            <a:ext cx="1737360" cy="212979"/>
          </a:xfrm>
          <a:prstGeom prst="rect">
            <a:avLst/>
          </a:prstGeom>
          <a:noFill/>
          <a:ln/>
        </p:spPr>
        <p:txBody>
          <a:bodyPr wrap="square" lIns="0" tIns="0" rIns="0" bIns="0" rtlCol="0" anchor="t"/>
          <a:lstStyle/>
          <a:p>
            <a:pPr algn="ctr" indent="0" marL="0">
              <a:lnSpc>
                <a:spcPts val="897"/>
              </a:lnSpc>
              <a:buNone/>
            </a:pPr>
            <a:r>
              <a:rPr lang="en-US" sz="780" dirty="0">
                <a:solidFill>
                  <a:srgbClr val="3F3A33"/>
                </a:solidFill>
                <a:latin typeface="Calibri" pitchFamily="34" charset="0"/>
                <a:ea typeface="Calibri" pitchFamily="34" charset="-122"/>
                <a:cs typeface="Calibri" pitchFamily="34" charset="-120"/>
              </a:rPr>
              <a:t>Disability</a:t>
            </a:r>
            <a:endParaRPr lang="en-US" sz="780" dirty="0"/>
          </a:p>
        </p:txBody>
      </p:sp>
      <p:sp>
        <p:nvSpPr>
          <p:cNvPr id="19" name="Shape 17"/>
          <p:cNvSpPr/>
          <p:nvPr/>
        </p:nvSpPr>
        <p:spPr>
          <a:xfrm>
            <a:off x="4910328" y="3822192"/>
            <a:ext cx="1947672" cy="91"/>
          </a:xfrm>
          <a:prstGeom prst="line">
            <a:avLst/>
          </a:prstGeom>
          <a:noFill/>
          <a:ln w="7620">
            <a:solidFill>
              <a:srgbClr val="D9CDB7"/>
            </a:solidFill>
            <a:prstDash val="solid"/>
            <a:headEnd type="none"/>
            <a:tailEnd type="none"/>
          </a:ln>
        </p:spPr>
      </p:sp>
      <p:sp>
        <p:nvSpPr>
          <p:cNvPr id="20" name="Shape 18"/>
          <p:cNvSpPr/>
          <p:nvPr/>
        </p:nvSpPr>
        <p:spPr>
          <a:xfrm>
            <a:off x="6825996" y="3790188"/>
            <a:ext cx="64008" cy="64008"/>
          </a:xfrm>
          <a:prstGeom prst="ellipse">
            <a:avLst/>
          </a:prstGeom>
          <a:solidFill>
            <a:srgbClr val="C2A05F"/>
          </a:solidFill>
          <a:ln w="12700">
            <a:solidFill>
              <a:srgbClr val="FFFFFF">
                <a:alpha val="0"/>
              </a:srgbClr>
            </a:solidFill>
            <a:prstDash val="solid"/>
          </a:ln>
        </p:spPr>
      </p:sp>
      <p:sp>
        <p:nvSpPr>
          <p:cNvPr id="21" name="Text 19"/>
          <p:cNvSpPr txBox="1"/>
          <p:nvPr/>
        </p:nvSpPr>
        <p:spPr>
          <a:xfrm>
            <a:off x="5989320" y="3611880"/>
            <a:ext cx="1737360" cy="212979"/>
          </a:xfrm>
          <a:prstGeom prst="rect">
            <a:avLst/>
          </a:prstGeom>
          <a:noFill/>
          <a:ln/>
        </p:spPr>
        <p:txBody>
          <a:bodyPr wrap="square" lIns="0" tIns="0" rIns="0" bIns="0" rtlCol="0" anchor="t"/>
          <a:lstStyle/>
          <a:p>
            <a:pPr algn="ctr" indent="0" marL="0">
              <a:lnSpc>
                <a:spcPts val="897"/>
              </a:lnSpc>
              <a:buNone/>
            </a:pPr>
            <a:r>
              <a:rPr lang="en-US" sz="780" dirty="0">
                <a:solidFill>
                  <a:srgbClr val="3F3A33"/>
                </a:solidFill>
                <a:latin typeface="Calibri" pitchFamily="34" charset="0"/>
                <a:ea typeface="Calibri" pitchFamily="34" charset="-122"/>
                <a:cs typeface="Calibri" pitchFamily="34" charset="-120"/>
              </a:rPr>
              <a:t>Religion &amp; spirituality</a:t>
            </a:r>
            <a:endParaRPr lang="en-US" sz="780" dirty="0"/>
          </a:p>
        </p:txBody>
      </p:sp>
      <p:sp>
        <p:nvSpPr>
          <p:cNvPr id="22" name="Shape 20"/>
          <p:cNvSpPr/>
          <p:nvPr/>
        </p:nvSpPr>
        <p:spPr>
          <a:xfrm>
            <a:off x="4663932" y="4417044"/>
            <a:ext cx="1377212" cy="517263"/>
          </a:xfrm>
          <a:prstGeom prst="line">
            <a:avLst/>
          </a:prstGeom>
          <a:noFill/>
          <a:ln w="7620">
            <a:solidFill>
              <a:srgbClr val="D9CDB7"/>
            </a:solidFill>
            <a:prstDash val="solid"/>
            <a:headEnd type="none"/>
            <a:tailEnd type="none"/>
          </a:ln>
        </p:spPr>
      </p:sp>
      <p:sp>
        <p:nvSpPr>
          <p:cNvPr id="23" name="Shape 21"/>
          <p:cNvSpPr/>
          <p:nvPr/>
        </p:nvSpPr>
        <p:spPr>
          <a:xfrm>
            <a:off x="6009140" y="4902303"/>
            <a:ext cx="64008" cy="64008"/>
          </a:xfrm>
          <a:prstGeom prst="ellipse">
            <a:avLst/>
          </a:prstGeom>
          <a:solidFill>
            <a:srgbClr val="C2A05F"/>
          </a:solidFill>
          <a:ln w="12700">
            <a:solidFill>
              <a:srgbClr val="FFFFFF">
                <a:alpha val="0"/>
              </a:srgbClr>
            </a:solidFill>
            <a:prstDash val="solid"/>
          </a:ln>
        </p:spPr>
      </p:sp>
      <p:sp>
        <p:nvSpPr>
          <p:cNvPr id="24" name="Text 22"/>
          <p:cNvSpPr txBox="1"/>
          <p:nvPr/>
        </p:nvSpPr>
        <p:spPr>
          <a:xfrm>
            <a:off x="5172464" y="4723995"/>
            <a:ext cx="1737360" cy="212979"/>
          </a:xfrm>
          <a:prstGeom prst="rect">
            <a:avLst/>
          </a:prstGeom>
          <a:noFill/>
          <a:ln/>
        </p:spPr>
        <p:txBody>
          <a:bodyPr wrap="square" lIns="0" tIns="0" rIns="0" bIns="0" rtlCol="0" anchor="t"/>
          <a:lstStyle/>
          <a:p>
            <a:pPr algn="ctr" indent="0" marL="0">
              <a:lnSpc>
                <a:spcPts val="897"/>
              </a:lnSpc>
              <a:buNone/>
            </a:pPr>
            <a:r>
              <a:rPr lang="en-US" sz="780" dirty="0">
                <a:solidFill>
                  <a:srgbClr val="3F3A33"/>
                </a:solidFill>
                <a:latin typeface="Calibri" pitchFamily="34" charset="0"/>
                <a:ea typeface="Calibri" pitchFamily="34" charset="-122"/>
                <a:cs typeface="Calibri" pitchFamily="34" charset="-120"/>
              </a:rPr>
              <a:t>Ethnic identity</a:t>
            </a:r>
            <a:endParaRPr lang="en-US" sz="780" dirty="0"/>
          </a:p>
        </p:txBody>
      </p:sp>
      <p:sp>
        <p:nvSpPr>
          <p:cNvPr id="25" name="Shape 23"/>
          <p:cNvSpPr/>
          <p:nvPr/>
        </p:nvSpPr>
        <p:spPr>
          <a:xfrm>
            <a:off x="4069080" y="4663440"/>
            <a:ext cx="91" cy="731520"/>
          </a:xfrm>
          <a:prstGeom prst="line">
            <a:avLst/>
          </a:prstGeom>
          <a:noFill/>
          <a:ln w="7620">
            <a:solidFill>
              <a:srgbClr val="D9CDB7"/>
            </a:solidFill>
            <a:prstDash val="solid"/>
            <a:headEnd type="none"/>
            <a:tailEnd type="none"/>
          </a:ln>
        </p:spPr>
      </p:sp>
      <p:sp>
        <p:nvSpPr>
          <p:cNvPr id="26" name="Shape 24"/>
          <p:cNvSpPr/>
          <p:nvPr/>
        </p:nvSpPr>
        <p:spPr>
          <a:xfrm>
            <a:off x="4037076" y="5362956"/>
            <a:ext cx="64008" cy="64008"/>
          </a:xfrm>
          <a:prstGeom prst="ellipse">
            <a:avLst/>
          </a:prstGeom>
          <a:solidFill>
            <a:srgbClr val="C2A05F"/>
          </a:solidFill>
          <a:ln w="12700">
            <a:solidFill>
              <a:srgbClr val="FFFFFF">
                <a:alpha val="0"/>
              </a:srgbClr>
            </a:solidFill>
            <a:prstDash val="solid"/>
          </a:ln>
        </p:spPr>
      </p:sp>
      <p:sp>
        <p:nvSpPr>
          <p:cNvPr id="27" name="Text 25"/>
          <p:cNvSpPr txBox="1"/>
          <p:nvPr/>
        </p:nvSpPr>
        <p:spPr>
          <a:xfrm>
            <a:off x="3200400" y="5184648"/>
            <a:ext cx="1737360" cy="212979"/>
          </a:xfrm>
          <a:prstGeom prst="rect">
            <a:avLst/>
          </a:prstGeom>
          <a:noFill/>
          <a:ln/>
        </p:spPr>
        <p:txBody>
          <a:bodyPr wrap="square" lIns="0" tIns="0" rIns="0" bIns="0" rtlCol="0" anchor="t"/>
          <a:lstStyle/>
          <a:p>
            <a:pPr algn="ctr" indent="0" marL="0">
              <a:lnSpc>
                <a:spcPts val="897"/>
              </a:lnSpc>
              <a:buNone/>
            </a:pPr>
            <a:r>
              <a:rPr lang="en-US" sz="780" dirty="0">
                <a:solidFill>
                  <a:srgbClr val="3F3A33"/>
                </a:solidFill>
                <a:latin typeface="Calibri" pitchFamily="34" charset="0"/>
                <a:ea typeface="Calibri" pitchFamily="34" charset="-122"/>
                <a:cs typeface="Calibri" pitchFamily="34" charset="-120"/>
              </a:rPr>
              <a:t>Socio-economic status</a:t>
            </a:r>
            <a:endParaRPr lang="en-US" sz="780" dirty="0"/>
          </a:p>
        </p:txBody>
      </p:sp>
      <p:sp>
        <p:nvSpPr>
          <p:cNvPr id="28" name="Shape 26"/>
          <p:cNvSpPr/>
          <p:nvPr/>
        </p:nvSpPr>
        <p:spPr>
          <a:xfrm flipH="1">
            <a:off x="2097016" y="4417044"/>
            <a:ext cx="1377212" cy="517263"/>
          </a:xfrm>
          <a:prstGeom prst="line">
            <a:avLst/>
          </a:prstGeom>
          <a:noFill/>
          <a:ln w="7620">
            <a:solidFill>
              <a:srgbClr val="D9CDB7"/>
            </a:solidFill>
            <a:prstDash val="solid"/>
            <a:headEnd type="none"/>
            <a:tailEnd type="none"/>
          </a:ln>
        </p:spPr>
      </p:sp>
      <p:sp>
        <p:nvSpPr>
          <p:cNvPr id="29" name="Shape 27"/>
          <p:cNvSpPr/>
          <p:nvPr/>
        </p:nvSpPr>
        <p:spPr>
          <a:xfrm>
            <a:off x="2065012" y="4902303"/>
            <a:ext cx="64008" cy="64008"/>
          </a:xfrm>
          <a:prstGeom prst="ellipse">
            <a:avLst/>
          </a:prstGeom>
          <a:solidFill>
            <a:srgbClr val="C2A05F"/>
          </a:solidFill>
          <a:ln w="12700">
            <a:solidFill>
              <a:srgbClr val="FFFFFF">
                <a:alpha val="0"/>
              </a:srgbClr>
            </a:solidFill>
            <a:prstDash val="solid"/>
          </a:ln>
        </p:spPr>
      </p:sp>
      <p:sp>
        <p:nvSpPr>
          <p:cNvPr id="30" name="Text 28"/>
          <p:cNvSpPr txBox="1"/>
          <p:nvPr/>
        </p:nvSpPr>
        <p:spPr>
          <a:xfrm>
            <a:off x="1228336" y="4723995"/>
            <a:ext cx="1737360" cy="212979"/>
          </a:xfrm>
          <a:prstGeom prst="rect">
            <a:avLst/>
          </a:prstGeom>
          <a:noFill/>
          <a:ln/>
        </p:spPr>
        <p:txBody>
          <a:bodyPr wrap="square" lIns="0" tIns="0" rIns="0" bIns="0" rtlCol="0" anchor="t"/>
          <a:lstStyle/>
          <a:p>
            <a:pPr algn="ctr" indent="0" marL="0">
              <a:lnSpc>
                <a:spcPts val="897"/>
              </a:lnSpc>
              <a:buNone/>
            </a:pPr>
            <a:r>
              <a:rPr lang="en-US" sz="780" dirty="0">
                <a:solidFill>
                  <a:srgbClr val="3F3A33"/>
                </a:solidFill>
                <a:latin typeface="Calibri" pitchFamily="34" charset="0"/>
                <a:ea typeface="Calibri" pitchFamily="34" charset="-122"/>
                <a:cs typeface="Calibri" pitchFamily="34" charset="-120"/>
              </a:rPr>
              <a:t>Sexual orientation</a:t>
            </a:r>
            <a:endParaRPr lang="en-US" sz="780" dirty="0"/>
          </a:p>
        </p:txBody>
      </p:sp>
      <p:sp>
        <p:nvSpPr>
          <p:cNvPr id="31" name="Shape 29"/>
          <p:cNvSpPr/>
          <p:nvPr/>
        </p:nvSpPr>
        <p:spPr>
          <a:xfrm flipH="1">
            <a:off x="1280160" y="3822192"/>
            <a:ext cx="1947672" cy="91"/>
          </a:xfrm>
          <a:prstGeom prst="line">
            <a:avLst/>
          </a:prstGeom>
          <a:noFill/>
          <a:ln w="7620">
            <a:solidFill>
              <a:srgbClr val="D9CDB7"/>
            </a:solidFill>
            <a:prstDash val="solid"/>
            <a:headEnd type="none"/>
            <a:tailEnd type="none"/>
          </a:ln>
        </p:spPr>
      </p:sp>
      <p:sp>
        <p:nvSpPr>
          <p:cNvPr id="32" name="Shape 30"/>
          <p:cNvSpPr/>
          <p:nvPr/>
        </p:nvSpPr>
        <p:spPr>
          <a:xfrm>
            <a:off x="1248156" y="3790188"/>
            <a:ext cx="64008" cy="64008"/>
          </a:xfrm>
          <a:prstGeom prst="ellipse">
            <a:avLst/>
          </a:prstGeom>
          <a:solidFill>
            <a:srgbClr val="C2A05F"/>
          </a:solidFill>
          <a:ln w="12700">
            <a:solidFill>
              <a:srgbClr val="FFFFFF">
                <a:alpha val="0"/>
              </a:srgbClr>
            </a:solidFill>
            <a:prstDash val="solid"/>
          </a:ln>
        </p:spPr>
      </p:sp>
      <p:sp>
        <p:nvSpPr>
          <p:cNvPr id="33" name="Text 31"/>
          <p:cNvSpPr txBox="1"/>
          <p:nvPr/>
        </p:nvSpPr>
        <p:spPr>
          <a:xfrm>
            <a:off x="411480" y="3611880"/>
            <a:ext cx="1737360" cy="212979"/>
          </a:xfrm>
          <a:prstGeom prst="rect">
            <a:avLst/>
          </a:prstGeom>
          <a:noFill/>
          <a:ln/>
        </p:spPr>
        <p:txBody>
          <a:bodyPr wrap="square" lIns="0" tIns="0" rIns="0" bIns="0" rtlCol="0" anchor="t"/>
          <a:lstStyle/>
          <a:p>
            <a:pPr algn="ctr" indent="0" marL="0">
              <a:lnSpc>
                <a:spcPts val="897"/>
              </a:lnSpc>
              <a:buNone/>
            </a:pPr>
            <a:r>
              <a:rPr lang="en-US" sz="780" dirty="0">
                <a:solidFill>
                  <a:srgbClr val="3F3A33"/>
                </a:solidFill>
                <a:latin typeface="Calibri" pitchFamily="34" charset="0"/>
                <a:ea typeface="Calibri" pitchFamily="34" charset="-122"/>
                <a:cs typeface="Calibri" pitchFamily="34" charset="-120"/>
              </a:rPr>
              <a:t>Indigenous heritage</a:t>
            </a:r>
            <a:endParaRPr lang="en-US" sz="780" dirty="0"/>
          </a:p>
        </p:txBody>
      </p:sp>
      <p:sp>
        <p:nvSpPr>
          <p:cNvPr id="34" name="Shape 32"/>
          <p:cNvSpPr/>
          <p:nvPr/>
        </p:nvSpPr>
        <p:spPr>
          <a:xfrm flipH="1" flipV="1">
            <a:off x="2097016" y="2710077"/>
            <a:ext cx="1377212" cy="517263"/>
          </a:xfrm>
          <a:prstGeom prst="line">
            <a:avLst/>
          </a:prstGeom>
          <a:noFill/>
          <a:ln w="7620">
            <a:solidFill>
              <a:srgbClr val="D9CDB7"/>
            </a:solidFill>
            <a:prstDash val="solid"/>
            <a:headEnd type="none"/>
            <a:tailEnd type="none"/>
          </a:ln>
        </p:spPr>
      </p:sp>
      <p:sp>
        <p:nvSpPr>
          <p:cNvPr id="35" name="Shape 33"/>
          <p:cNvSpPr/>
          <p:nvPr/>
        </p:nvSpPr>
        <p:spPr>
          <a:xfrm>
            <a:off x="2065012" y="2678073"/>
            <a:ext cx="64008" cy="64008"/>
          </a:xfrm>
          <a:prstGeom prst="ellipse">
            <a:avLst/>
          </a:prstGeom>
          <a:solidFill>
            <a:srgbClr val="C2A05F"/>
          </a:solidFill>
          <a:ln w="12700">
            <a:solidFill>
              <a:srgbClr val="FFFFFF">
                <a:alpha val="0"/>
              </a:srgbClr>
            </a:solidFill>
            <a:prstDash val="solid"/>
          </a:ln>
        </p:spPr>
      </p:sp>
      <p:sp>
        <p:nvSpPr>
          <p:cNvPr id="36" name="Text 34"/>
          <p:cNvSpPr txBox="1"/>
          <p:nvPr/>
        </p:nvSpPr>
        <p:spPr>
          <a:xfrm>
            <a:off x="1228336" y="2499765"/>
            <a:ext cx="1737360" cy="212979"/>
          </a:xfrm>
          <a:prstGeom prst="rect">
            <a:avLst/>
          </a:prstGeom>
          <a:noFill/>
          <a:ln/>
        </p:spPr>
        <p:txBody>
          <a:bodyPr wrap="square" lIns="0" tIns="0" rIns="0" bIns="0" rtlCol="0" anchor="t"/>
          <a:lstStyle/>
          <a:p>
            <a:pPr algn="ctr" indent="0" marL="0">
              <a:lnSpc>
                <a:spcPts val="897"/>
              </a:lnSpc>
              <a:buNone/>
            </a:pPr>
            <a:r>
              <a:rPr lang="en-US" sz="780" dirty="0">
                <a:solidFill>
                  <a:srgbClr val="3F3A33"/>
                </a:solidFill>
                <a:latin typeface="Calibri" pitchFamily="34" charset="0"/>
                <a:ea typeface="Calibri" pitchFamily="34" charset="-122"/>
                <a:cs typeface="Calibri" pitchFamily="34" charset="-120"/>
              </a:rPr>
              <a:t>National origin</a:t>
            </a:r>
            <a:endParaRPr lang="en-US" sz="780" dirty="0"/>
          </a:p>
        </p:txBody>
      </p:sp>
      <p:sp>
        <p:nvSpPr>
          <p:cNvPr id="37" name="Text 35"/>
          <p:cNvSpPr txBox="1"/>
          <p:nvPr/>
        </p:nvSpPr>
        <p:spPr>
          <a:xfrm>
            <a:off x="7772400" y="2130552"/>
            <a:ext cx="3566160" cy="394335"/>
          </a:xfrm>
          <a:prstGeom prst="rect">
            <a:avLst/>
          </a:prstGeom>
          <a:noFill/>
          <a:ln/>
        </p:spPr>
        <p:txBody>
          <a:bodyPr wrap="square" lIns="0" tIns="0" rIns="0" bIns="0" rtlCol="0" anchor="t"/>
          <a:lstStyle/>
          <a:p>
            <a:pPr algn="l" indent="0" marL="0">
              <a:lnSpc>
                <a:spcPts val="1755"/>
              </a:lnSpc>
              <a:buNone/>
            </a:pPr>
            <a:r>
              <a:rPr lang="en-US" sz="1350" dirty="0">
                <a:solidFill>
                  <a:srgbClr val="1B1815"/>
                </a:solidFill>
                <a:latin typeface="Georgia" pitchFamily="34" charset="0"/>
                <a:ea typeface="Georgia" pitchFamily="34" charset="-122"/>
                <a:cs typeface="Georgia" pitchFamily="34" charset="-120"/>
              </a:rPr>
              <a:t>Working principles</a:t>
            </a:r>
            <a:endParaRPr lang="en-US" sz="1350" dirty="0"/>
          </a:p>
        </p:txBody>
      </p:sp>
      <p:sp>
        <p:nvSpPr>
          <p:cNvPr id="38" name="Shape 36"/>
          <p:cNvSpPr/>
          <p:nvPr/>
        </p:nvSpPr>
        <p:spPr>
          <a:xfrm>
            <a:off x="7763256" y="2679192"/>
            <a:ext cx="219456" cy="219456"/>
          </a:xfrm>
          <a:prstGeom prst="ellipse">
            <a:avLst/>
          </a:prstGeom>
          <a:solidFill>
            <a:srgbClr val="FFFFFF">
              <a:alpha val="0"/>
            </a:srgbClr>
          </a:solidFill>
          <a:ln w="7620">
            <a:solidFill>
              <a:srgbClr val="C2A05F"/>
            </a:solidFill>
            <a:prstDash val="solid"/>
          </a:ln>
        </p:spPr>
      </p:sp>
      <p:sp>
        <p:nvSpPr>
          <p:cNvPr id="39" name="Text 37"/>
          <p:cNvSpPr txBox="1"/>
          <p:nvPr/>
        </p:nvSpPr>
        <p:spPr>
          <a:xfrm>
            <a:off x="7763256" y="2743200"/>
            <a:ext cx="219456" cy="219456"/>
          </a:xfrm>
          <a:prstGeom prst="rect">
            <a:avLst/>
          </a:prstGeom>
          <a:noFill/>
          <a:ln/>
        </p:spPr>
        <p:txBody>
          <a:bodyPr wrap="square" lIns="0" tIns="0" rIns="0" bIns="0" rtlCol="0" anchor="t"/>
          <a:lstStyle/>
          <a:p>
            <a:pPr algn="ctr" indent="0" marL="0">
              <a:lnSpc>
                <a:spcPts val="720"/>
              </a:lnSpc>
              <a:buNone/>
            </a:pPr>
            <a:r>
              <a:rPr lang="en-US" sz="720" b="1" dirty="0">
                <a:solidFill>
                  <a:srgbClr val="96733C"/>
                </a:solidFill>
                <a:latin typeface="Calibri" pitchFamily="34" charset="0"/>
                <a:ea typeface="Calibri" pitchFamily="34" charset="-122"/>
                <a:cs typeface="Calibri" pitchFamily="34" charset="-120"/>
              </a:rPr>
              <a:t>1</a:t>
            </a:r>
            <a:endParaRPr lang="en-US" sz="720" dirty="0"/>
          </a:p>
        </p:txBody>
      </p:sp>
      <p:sp>
        <p:nvSpPr>
          <p:cNvPr id="40" name="Text 38"/>
          <p:cNvSpPr txBox="1"/>
          <p:nvPr/>
        </p:nvSpPr>
        <p:spPr>
          <a:xfrm>
            <a:off x="8119872" y="2642616"/>
            <a:ext cx="3017520" cy="274574"/>
          </a:xfrm>
          <a:prstGeom prst="rect">
            <a:avLst/>
          </a:prstGeom>
          <a:noFill/>
          <a:ln/>
        </p:spPr>
        <p:txBody>
          <a:bodyPr wrap="square" lIns="0" tIns="0" rIns="0" bIns="0" rtlCol="0" anchor="t"/>
          <a:lstStyle/>
          <a:p>
            <a:pPr algn="l" indent="0" marL="0">
              <a:lnSpc>
                <a:spcPts val="1222"/>
              </a:lnSpc>
              <a:buNone/>
            </a:pPr>
            <a:r>
              <a:rPr lang="en-US" sz="940" b="1" dirty="0">
                <a:solidFill>
                  <a:srgbClr val="1B1815"/>
                </a:solidFill>
                <a:latin typeface="Calibri" pitchFamily="34" charset="0"/>
                <a:ea typeface="Calibri" pitchFamily="34" charset="-122"/>
                <a:cs typeface="Calibri" pitchFamily="34" charset="-120"/>
              </a:rPr>
              <a:t>Self-reflection</a:t>
            </a:r>
            <a:endParaRPr lang="en-US" sz="940" dirty="0"/>
          </a:p>
        </p:txBody>
      </p:sp>
      <p:sp>
        <p:nvSpPr>
          <p:cNvPr id="41" name="Text 39"/>
          <p:cNvSpPr txBox="1"/>
          <p:nvPr/>
        </p:nvSpPr>
        <p:spPr>
          <a:xfrm>
            <a:off x="8119872" y="2889504"/>
            <a:ext cx="3017520" cy="244729"/>
          </a:xfrm>
          <a:prstGeom prst="rect">
            <a:avLst/>
          </a:prstGeom>
          <a:noFill/>
          <a:ln/>
        </p:spPr>
        <p:txBody>
          <a:bodyPr wrap="square" lIns="0" tIns="0" rIns="0" bIns="0" rtlCol="0" anchor="t"/>
          <a:lstStyle/>
          <a:p>
            <a:pPr algn="l" indent="0" marL="0">
              <a:lnSpc>
                <a:spcPts val="1107"/>
              </a:lnSpc>
              <a:buNone/>
            </a:pPr>
            <a:r>
              <a:rPr lang="en-US" sz="820" dirty="0">
                <a:solidFill>
                  <a:srgbClr val="5B544A"/>
                </a:solidFill>
                <a:latin typeface="Calibri" pitchFamily="34" charset="0"/>
                <a:ea typeface="Calibri" pitchFamily="34" charset="-122"/>
                <a:cs typeface="Calibri" pitchFamily="34" charset="-120"/>
              </a:rPr>
              <a:t>Notice your own cultural location, assumptions and discomfort.</a:t>
            </a:r>
            <a:endParaRPr lang="en-US" sz="820" dirty="0"/>
          </a:p>
        </p:txBody>
      </p:sp>
      <p:sp>
        <p:nvSpPr>
          <p:cNvPr id="42" name="Shape 40"/>
          <p:cNvSpPr/>
          <p:nvPr/>
        </p:nvSpPr>
        <p:spPr>
          <a:xfrm>
            <a:off x="7763256" y="3639312"/>
            <a:ext cx="219456" cy="219456"/>
          </a:xfrm>
          <a:prstGeom prst="ellipse">
            <a:avLst/>
          </a:prstGeom>
          <a:solidFill>
            <a:srgbClr val="FFFFFF">
              <a:alpha val="0"/>
            </a:srgbClr>
          </a:solidFill>
          <a:ln w="7620">
            <a:solidFill>
              <a:srgbClr val="C2A05F"/>
            </a:solidFill>
            <a:prstDash val="solid"/>
          </a:ln>
        </p:spPr>
      </p:sp>
      <p:sp>
        <p:nvSpPr>
          <p:cNvPr id="43" name="Text 41"/>
          <p:cNvSpPr txBox="1"/>
          <p:nvPr/>
        </p:nvSpPr>
        <p:spPr>
          <a:xfrm>
            <a:off x="7763256" y="3703320"/>
            <a:ext cx="219456" cy="219456"/>
          </a:xfrm>
          <a:prstGeom prst="rect">
            <a:avLst/>
          </a:prstGeom>
          <a:noFill/>
          <a:ln/>
        </p:spPr>
        <p:txBody>
          <a:bodyPr wrap="square" lIns="0" tIns="0" rIns="0" bIns="0" rtlCol="0" anchor="t"/>
          <a:lstStyle/>
          <a:p>
            <a:pPr algn="ctr" indent="0" marL="0">
              <a:lnSpc>
                <a:spcPts val="720"/>
              </a:lnSpc>
              <a:buNone/>
            </a:pPr>
            <a:r>
              <a:rPr lang="en-US" sz="720" b="1" dirty="0">
                <a:solidFill>
                  <a:srgbClr val="96733C"/>
                </a:solidFill>
                <a:latin typeface="Calibri" pitchFamily="34" charset="0"/>
                <a:ea typeface="Calibri" pitchFamily="34" charset="-122"/>
                <a:cs typeface="Calibri" pitchFamily="34" charset="-120"/>
              </a:rPr>
              <a:t>2</a:t>
            </a:r>
            <a:endParaRPr lang="en-US" sz="720" dirty="0"/>
          </a:p>
        </p:txBody>
      </p:sp>
      <p:sp>
        <p:nvSpPr>
          <p:cNvPr id="44" name="Text 42"/>
          <p:cNvSpPr txBox="1"/>
          <p:nvPr/>
        </p:nvSpPr>
        <p:spPr>
          <a:xfrm>
            <a:off x="8119872" y="3602736"/>
            <a:ext cx="3017520" cy="274574"/>
          </a:xfrm>
          <a:prstGeom prst="rect">
            <a:avLst/>
          </a:prstGeom>
          <a:noFill/>
          <a:ln/>
        </p:spPr>
        <p:txBody>
          <a:bodyPr wrap="square" lIns="0" tIns="0" rIns="0" bIns="0" rtlCol="0" anchor="t"/>
          <a:lstStyle/>
          <a:p>
            <a:pPr algn="l" indent="0" marL="0">
              <a:lnSpc>
                <a:spcPts val="1222"/>
              </a:lnSpc>
              <a:buNone/>
            </a:pPr>
            <a:r>
              <a:rPr lang="en-US" sz="940" b="1" dirty="0">
                <a:solidFill>
                  <a:srgbClr val="1B1815"/>
                </a:solidFill>
                <a:latin typeface="Calibri" pitchFamily="34" charset="0"/>
                <a:ea typeface="Calibri" pitchFamily="34" charset="-122"/>
                <a:cs typeface="Calibri" pitchFamily="34" charset="-120"/>
              </a:rPr>
              <a:t>Power</a:t>
            </a:r>
            <a:endParaRPr lang="en-US" sz="940" dirty="0"/>
          </a:p>
        </p:txBody>
      </p:sp>
      <p:sp>
        <p:nvSpPr>
          <p:cNvPr id="45" name="Text 43"/>
          <p:cNvSpPr txBox="1"/>
          <p:nvPr/>
        </p:nvSpPr>
        <p:spPr>
          <a:xfrm>
            <a:off x="8119872" y="3849624"/>
            <a:ext cx="3017520" cy="244729"/>
          </a:xfrm>
          <a:prstGeom prst="rect">
            <a:avLst/>
          </a:prstGeom>
          <a:noFill/>
          <a:ln/>
        </p:spPr>
        <p:txBody>
          <a:bodyPr wrap="square" lIns="0" tIns="0" rIns="0" bIns="0" rtlCol="0" anchor="t"/>
          <a:lstStyle/>
          <a:p>
            <a:pPr algn="l" indent="0" marL="0">
              <a:lnSpc>
                <a:spcPts val="1107"/>
              </a:lnSpc>
              <a:buNone/>
            </a:pPr>
            <a:r>
              <a:rPr lang="en-US" sz="820" dirty="0">
                <a:solidFill>
                  <a:srgbClr val="5B544A"/>
                </a:solidFill>
                <a:latin typeface="Calibri" pitchFamily="34" charset="0"/>
                <a:ea typeface="Calibri" pitchFamily="34" charset="-122"/>
                <a:cs typeface="Calibri" pitchFamily="34" charset="-120"/>
              </a:rPr>
              <a:t>Ask who is speaking, who is being spoken about, and who is absent.</a:t>
            </a:r>
            <a:endParaRPr lang="en-US" sz="820" dirty="0"/>
          </a:p>
        </p:txBody>
      </p:sp>
      <p:sp>
        <p:nvSpPr>
          <p:cNvPr id="46" name="Shape 44"/>
          <p:cNvSpPr/>
          <p:nvPr/>
        </p:nvSpPr>
        <p:spPr>
          <a:xfrm>
            <a:off x="7763256" y="4599432"/>
            <a:ext cx="219456" cy="219456"/>
          </a:xfrm>
          <a:prstGeom prst="ellipse">
            <a:avLst/>
          </a:prstGeom>
          <a:solidFill>
            <a:srgbClr val="FFFFFF">
              <a:alpha val="0"/>
            </a:srgbClr>
          </a:solidFill>
          <a:ln w="7620">
            <a:solidFill>
              <a:srgbClr val="C2A05F"/>
            </a:solidFill>
            <a:prstDash val="solid"/>
          </a:ln>
        </p:spPr>
      </p:sp>
      <p:sp>
        <p:nvSpPr>
          <p:cNvPr id="47" name="Text 45"/>
          <p:cNvSpPr txBox="1"/>
          <p:nvPr/>
        </p:nvSpPr>
        <p:spPr>
          <a:xfrm>
            <a:off x="7763256" y="4663440"/>
            <a:ext cx="219456" cy="219456"/>
          </a:xfrm>
          <a:prstGeom prst="rect">
            <a:avLst/>
          </a:prstGeom>
          <a:noFill/>
          <a:ln/>
        </p:spPr>
        <p:txBody>
          <a:bodyPr wrap="square" lIns="0" tIns="0" rIns="0" bIns="0" rtlCol="0" anchor="t"/>
          <a:lstStyle/>
          <a:p>
            <a:pPr algn="ctr" indent="0" marL="0">
              <a:lnSpc>
                <a:spcPts val="720"/>
              </a:lnSpc>
              <a:buNone/>
            </a:pPr>
            <a:r>
              <a:rPr lang="en-US" sz="720" b="1" dirty="0">
                <a:solidFill>
                  <a:srgbClr val="96733C"/>
                </a:solidFill>
                <a:latin typeface="Calibri" pitchFamily="34" charset="0"/>
                <a:ea typeface="Calibri" pitchFamily="34" charset="-122"/>
                <a:cs typeface="Calibri" pitchFamily="34" charset="-120"/>
              </a:rPr>
              <a:t>3</a:t>
            </a:r>
            <a:endParaRPr lang="en-US" sz="720" dirty="0"/>
          </a:p>
        </p:txBody>
      </p:sp>
      <p:sp>
        <p:nvSpPr>
          <p:cNvPr id="48" name="Text 46"/>
          <p:cNvSpPr txBox="1"/>
          <p:nvPr/>
        </p:nvSpPr>
        <p:spPr>
          <a:xfrm>
            <a:off x="8119872" y="4562856"/>
            <a:ext cx="3017520" cy="274574"/>
          </a:xfrm>
          <a:prstGeom prst="rect">
            <a:avLst/>
          </a:prstGeom>
          <a:noFill/>
          <a:ln/>
        </p:spPr>
        <p:txBody>
          <a:bodyPr wrap="square" lIns="0" tIns="0" rIns="0" bIns="0" rtlCol="0" anchor="t"/>
          <a:lstStyle/>
          <a:p>
            <a:pPr algn="l" indent="0" marL="0">
              <a:lnSpc>
                <a:spcPts val="1222"/>
              </a:lnSpc>
              <a:buNone/>
            </a:pPr>
            <a:r>
              <a:rPr lang="en-US" sz="940" b="1" dirty="0">
                <a:solidFill>
                  <a:srgbClr val="1B1815"/>
                </a:solidFill>
                <a:latin typeface="Calibri" pitchFamily="34" charset="0"/>
                <a:ea typeface="Calibri" pitchFamily="34" charset="-122"/>
                <a:cs typeface="Calibri" pitchFamily="34" charset="-120"/>
              </a:rPr>
              <a:t>Learning</a:t>
            </a:r>
            <a:endParaRPr lang="en-US" sz="940" dirty="0"/>
          </a:p>
        </p:txBody>
      </p:sp>
      <p:sp>
        <p:nvSpPr>
          <p:cNvPr id="49" name="Text 47"/>
          <p:cNvSpPr txBox="1"/>
          <p:nvPr/>
        </p:nvSpPr>
        <p:spPr>
          <a:xfrm>
            <a:off x="8119872" y="4809744"/>
            <a:ext cx="3017520" cy="244729"/>
          </a:xfrm>
          <a:prstGeom prst="rect">
            <a:avLst/>
          </a:prstGeom>
          <a:noFill/>
          <a:ln/>
        </p:spPr>
        <p:txBody>
          <a:bodyPr wrap="square" lIns="0" tIns="0" rIns="0" bIns="0" rtlCol="0" anchor="t"/>
          <a:lstStyle/>
          <a:p>
            <a:pPr algn="l" indent="0" marL="0">
              <a:lnSpc>
                <a:spcPts val="1107"/>
              </a:lnSpc>
              <a:buNone/>
            </a:pPr>
            <a:r>
              <a:rPr lang="en-US" sz="820" dirty="0">
                <a:solidFill>
                  <a:srgbClr val="5B544A"/>
                </a:solidFill>
                <a:latin typeface="Calibri" pitchFamily="34" charset="0"/>
                <a:ea typeface="Calibri" pitchFamily="34" charset="-122"/>
                <a:cs typeface="Calibri" pitchFamily="34" charset="-120"/>
              </a:rPr>
              <a:t>Treat the family as the expert on its own culture; remain a learner.</a:t>
            </a:r>
            <a:endParaRPr lang="en-US" sz="820" dirty="0"/>
          </a:p>
        </p:txBody>
      </p:sp>
      <p:sp>
        <p:nvSpPr>
          <p:cNvPr id="50" name="Text 48"/>
          <p:cNvSpPr txBox="1"/>
          <p:nvPr/>
        </p:nvSpPr>
        <p:spPr>
          <a:xfrm>
            <a:off x="1097280" y="5486400"/>
            <a:ext cx="5760720" cy="204470"/>
          </a:xfrm>
          <a:prstGeom prst="rect">
            <a:avLst/>
          </a:prstGeom>
          <a:noFill/>
          <a:ln/>
        </p:spPr>
        <p:txBody>
          <a:bodyPr wrap="square" lIns="0" tIns="0" rIns="0" bIns="0" rtlCol="0" anchor="t"/>
          <a:lstStyle/>
          <a:p>
            <a:pPr algn="l" indent="0" marL="0">
              <a:lnSpc>
                <a:spcPts val="910"/>
              </a:lnSpc>
              <a:buNone/>
            </a:pPr>
            <a:r>
              <a:rPr lang="en-US" sz="700" i="1" dirty="0">
                <a:solidFill>
                  <a:srgbClr val="5B544A"/>
                </a:solidFill>
                <a:latin typeface="Calibri" pitchFamily="34" charset="0"/>
                <a:ea typeface="Calibri" pitchFamily="34" charset="-122"/>
                <a:cs typeface="Calibri" pitchFamily="34" charset="-120"/>
              </a:rPr>
              <a:t>Framework adapted from Hays (2016); see also Hardy &amp; Laszloffy (1995) on the cultural genogram.</a:t>
            </a:r>
            <a:endParaRPr lang="en-US" sz="700" dirty="0"/>
          </a:p>
        </p:txBody>
      </p:sp>
      <p:sp>
        <p:nvSpPr>
          <p:cNvPr id="51" name="Text 49"/>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Framework after Hays (2016).</a:t>
            </a:r>
            <a:endParaRPr lang="en-US" sz="74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12 · CLINICAL APPLICATION</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57</a:t>
            </a:r>
            <a:endParaRPr lang="en-US" sz="950" dirty="0"/>
          </a:p>
        </p:txBody>
      </p:sp>
      <p:sp>
        <p:nvSpPr>
          <p:cNvPr id="8" name="Text 6"/>
          <p:cNvSpPr txBox="1"/>
          <p:nvPr/>
        </p:nvSpPr>
        <p:spPr>
          <a:xfrm>
            <a:off x="822960" y="932688"/>
            <a:ext cx="9509760" cy="775970"/>
          </a:xfrm>
          <a:prstGeom prst="rect">
            <a:avLst/>
          </a:prstGeom>
          <a:noFill/>
          <a:ln/>
        </p:spPr>
        <p:txBody>
          <a:bodyPr wrap="square" lIns="0" tIns="0" rIns="0" bIns="0" rtlCol="0" anchor="t"/>
          <a:lstStyle/>
          <a:p>
            <a:pPr algn="l" indent="0" marL="0">
              <a:lnSpc>
                <a:spcPts val="3510"/>
              </a:lnSpc>
              <a:buNone/>
            </a:pPr>
            <a:r>
              <a:rPr lang="en-US" sz="2600" dirty="0">
                <a:solidFill>
                  <a:srgbClr val="1B1815"/>
                </a:solidFill>
                <a:latin typeface="Georgia" pitchFamily="34" charset="0"/>
                <a:ea typeface="Georgia" pitchFamily="34" charset="-122"/>
                <a:cs typeface="Georgia" pitchFamily="34" charset="-120"/>
              </a:rPr>
              <a:t>The interpreter in the room</a:t>
            </a:r>
            <a:endParaRPr lang="en-US" sz="2600" dirty="0"/>
          </a:p>
        </p:txBody>
      </p:sp>
      <p:sp>
        <p:nvSpPr>
          <p:cNvPr id="9" name="Shape 7"/>
          <p:cNvSpPr/>
          <p:nvPr/>
        </p:nvSpPr>
        <p:spPr>
          <a:xfrm>
            <a:off x="822960" y="1463040"/>
            <a:ext cx="7059168" cy="1847088"/>
          </a:xfrm>
          <a:prstGeom prst="roundRect">
            <a:avLst>
              <a:gd name="adj" fmla="val 490"/>
            </a:avLst>
          </a:prstGeom>
          <a:solidFill>
            <a:srgbClr val="EFE5D3">
              <a:alpha val="50000"/>
            </a:srgbClr>
          </a:solidFill>
          <a:ln w="12700">
            <a:solidFill>
              <a:srgbClr val="FFFFFF">
                <a:alpha val="0"/>
              </a:srgbClr>
            </a:solidFill>
            <a:prstDash val="solid"/>
          </a:ln>
        </p:spPr>
      </p:sp>
      <p:sp>
        <p:nvSpPr>
          <p:cNvPr id="10" name="Shape 8"/>
          <p:cNvSpPr/>
          <p:nvPr/>
        </p:nvSpPr>
        <p:spPr>
          <a:xfrm>
            <a:off x="822960" y="1463040"/>
            <a:ext cx="45720" cy="1847088"/>
          </a:xfrm>
          <a:prstGeom prst="rect">
            <a:avLst/>
          </a:prstGeom>
          <a:solidFill>
            <a:srgbClr val="A96A45"/>
          </a:solidFill>
          <a:ln w="12700">
            <a:solidFill>
              <a:srgbClr val="FFFFFF">
                <a:alpha val="0"/>
              </a:srgbClr>
            </a:solidFill>
            <a:prstDash val="solid"/>
          </a:ln>
        </p:spPr>
      </p:sp>
      <p:sp>
        <p:nvSpPr>
          <p:cNvPr id="11" name="Text 9"/>
          <p:cNvSpPr txBox="1"/>
          <p:nvPr/>
        </p:nvSpPr>
        <p:spPr>
          <a:xfrm>
            <a:off x="1115568" y="1627632"/>
            <a:ext cx="2743200" cy="202946"/>
          </a:xfrm>
          <a:prstGeom prst="rect">
            <a:avLst/>
          </a:prstGeom>
          <a:noFill/>
          <a:ln/>
        </p:spPr>
        <p:txBody>
          <a:bodyPr wrap="square" lIns="0" tIns="0" rIns="0" bIns="0" rtlCol="0" anchor="t"/>
          <a:lstStyle/>
          <a:p>
            <a:pPr algn="l" indent="0" marL="0">
              <a:lnSpc>
                <a:spcPts val="918"/>
              </a:lnSpc>
              <a:buNone/>
            </a:pPr>
            <a:r>
              <a:rPr lang="en-US" sz="680" b="1" spc="200" kern="0" dirty="0">
                <a:solidFill>
                  <a:srgbClr val="A96A45"/>
                </a:solidFill>
                <a:latin typeface="Calibri" pitchFamily="34" charset="0"/>
                <a:ea typeface="Calibri" pitchFamily="34" charset="-122"/>
                <a:cs typeface="Calibri" pitchFamily="34" charset="-120"/>
              </a:rPr>
              <a:t>CLINICAL VIGNETTE</a:t>
            </a:r>
            <a:endParaRPr lang="en-US" sz="680" dirty="0"/>
          </a:p>
        </p:txBody>
      </p:sp>
      <p:sp>
        <p:nvSpPr>
          <p:cNvPr id="12" name="Text 10"/>
          <p:cNvSpPr txBox="1"/>
          <p:nvPr/>
        </p:nvSpPr>
        <p:spPr>
          <a:xfrm>
            <a:off x="1115568" y="2187854"/>
            <a:ext cx="6446520" cy="1280160"/>
          </a:xfrm>
          <a:prstGeom prst="rect">
            <a:avLst/>
          </a:prstGeom>
          <a:noFill/>
          <a:ln/>
        </p:spPr>
        <p:txBody>
          <a:bodyPr wrap="square" lIns="0" tIns="0" rIns="0" bIns="0" rtlCol="0" anchor="t"/>
          <a:lstStyle/>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A family recently arrived from a rural area speaks a language you do not share. The interpreter</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is a member of their faith community. The parents defer to the interpreter; the daughter answers</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in the dominant language.</a:t>
            </a:r>
            <a:endParaRPr lang="en-US" sz="1160" dirty="0"/>
          </a:p>
        </p:txBody>
      </p:sp>
      <p:sp>
        <p:nvSpPr>
          <p:cNvPr id="13" name="Shape 11"/>
          <p:cNvSpPr/>
          <p:nvPr/>
        </p:nvSpPr>
        <p:spPr>
          <a:xfrm>
            <a:off x="8101584" y="1463040"/>
            <a:ext cx="3264408" cy="1847088"/>
          </a:xfrm>
          <a:prstGeom prst="roundRect">
            <a:avLst>
              <a:gd name="adj" fmla="val 490"/>
            </a:avLst>
          </a:prstGeom>
          <a:solidFill>
            <a:srgbClr val="FFFFFF">
              <a:alpha val="0"/>
            </a:srgbClr>
          </a:solidFill>
          <a:ln w="7620">
            <a:solidFill>
              <a:srgbClr val="D9CDB7"/>
            </a:solidFill>
            <a:prstDash val="solid"/>
          </a:ln>
        </p:spPr>
      </p:sp>
      <p:sp>
        <p:nvSpPr>
          <p:cNvPr id="14" name="Text 12"/>
          <p:cNvSpPr txBox="1"/>
          <p:nvPr/>
        </p:nvSpPr>
        <p:spPr>
          <a:xfrm>
            <a:off x="8302752" y="1627632"/>
            <a:ext cx="2898648" cy="196977"/>
          </a:xfrm>
          <a:prstGeom prst="rect">
            <a:avLst/>
          </a:prstGeom>
          <a:noFill/>
          <a:ln/>
        </p:spPr>
        <p:txBody>
          <a:bodyPr wrap="square" lIns="0" tIns="0" rIns="0" bIns="0" rtlCol="0" anchor="t"/>
          <a:lstStyle/>
          <a:p>
            <a:pPr algn="l" indent="0" marL="0">
              <a:lnSpc>
                <a:spcPts val="891"/>
              </a:lnSpc>
              <a:buNone/>
            </a:pPr>
            <a:r>
              <a:rPr lang="en-US" sz="660" b="1" spc="180" kern="0" dirty="0">
                <a:solidFill>
                  <a:srgbClr val="6E8274"/>
                </a:solidFill>
                <a:latin typeface="Calibri" pitchFamily="34" charset="0"/>
                <a:ea typeface="Calibri" pitchFamily="34" charset="-122"/>
                <a:cs typeface="Calibri" pitchFamily="34" charset="-120"/>
              </a:rPr>
              <a:t>APPLY THIS WEEK</a:t>
            </a:r>
            <a:endParaRPr lang="en-US" sz="660" dirty="0"/>
          </a:p>
        </p:txBody>
      </p:sp>
      <p:sp>
        <p:nvSpPr>
          <p:cNvPr id="15" name="Shape 13"/>
          <p:cNvSpPr/>
          <p:nvPr/>
        </p:nvSpPr>
        <p:spPr>
          <a:xfrm>
            <a:off x="8322869" y="1967789"/>
            <a:ext cx="51206" cy="51206"/>
          </a:xfrm>
          <a:prstGeom prst="ellipse">
            <a:avLst/>
          </a:prstGeom>
          <a:solidFill>
            <a:srgbClr val="6E8274"/>
          </a:solidFill>
          <a:ln w="12700">
            <a:solidFill>
              <a:srgbClr val="FFFFFF">
                <a:alpha val="0"/>
              </a:srgbClr>
            </a:solidFill>
            <a:prstDash val="solid"/>
          </a:ln>
        </p:spPr>
      </p:sp>
      <p:sp>
        <p:nvSpPr>
          <p:cNvPr id="16" name="Text 14"/>
          <p:cNvSpPr txBox="1"/>
          <p:nvPr/>
        </p:nvSpPr>
        <p:spPr>
          <a:xfrm>
            <a:off x="8485632" y="1911096"/>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cultural humility</a:t>
            </a:r>
            <a:endParaRPr lang="en-US" sz="830" dirty="0"/>
          </a:p>
        </p:txBody>
      </p:sp>
      <p:sp>
        <p:nvSpPr>
          <p:cNvPr id="17" name="Shape 15"/>
          <p:cNvSpPr/>
          <p:nvPr/>
        </p:nvSpPr>
        <p:spPr>
          <a:xfrm>
            <a:off x="8322869" y="2296973"/>
            <a:ext cx="51206" cy="51206"/>
          </a:xfrm>
          <a:prstGeom prst="ellipse">
            <a:avLst/>
          </a:prstGeom>
          <a:solidFill>
            <a:srgbClr val="6E8274"/>
          </a:solidFill>
          <a:ln w="12700">
            <a:solidFill>
              <a:srgbClr val="FFFFFF">
                <a:alpha val="0"/>
              </a:srgbClr>
            </a:solidFill>
            <a:prstDash val="solid"/>
          </a:ln>
        </p:spPr>
      </p:sp>
      <p:sp>
        <p:nvSpPr>
          <p:cNvPr id="18" name="Text 16"/>
          <p:cNvSpPr txBox="1"/>
          <p:nvPr/>
        </p:nvSpPr>
        <p:spPr>
          <a:xfrm>
            <a:off x="8485632" y="2240280"/>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intersectionality</a:t>
            </a:r>
            <a:endParaRPr lang="en-US" sz="830" dirty="0"/>
          </a:p>
        </p:txBody>
      </p:sp>
      <p:sp>
        <p:nvSpPr>
          <p:cNvPr id="19" name="Shape 17"/>
          <p:cNvSpPr/>
          <p:nvPr/>
        </p:nvSpPr>
        <p:spPr>
          <a:xfrm>
            <a:off x="8322869" y="2626157"/>
            <a:ext cx="51206" cy="51206"/>
          </a:xfrm>
          <a:prstGeom prst="ellipse">
            <a:avLst/>
          </a:prstGeom>
          <a:solidFill>
            <a:srgbClr val="6E8274"/>
          </a:solidFill>
          <a:ln w="12700">
            <a:solidFill>
              <a:srgbClr val="FFFFFF">
                <a:alpha val="0"/>
              </a:srgbClr>
            </a:solidFill>
            <a:prstDash val="solid"/>
          </a:ln>
        </p:spPr>
      </p:sp>
      <p:sp>
        <p:nvSpPr>
          <p:cNvPr id="20" name="Text 18"/>
          <p:cNvSpPr txBox="1"/>
          <p:nvPr/>
        </p:nvSpPr>
        <p:spPr>
          <a:xfrm>
            <a:off x="8485632" y="2569464"/>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power</a:t>
            </a:r>
            <a:endParaRPr lang="en-US" sz="830" dirty="0"/>
          </a:p>
        </p:txBody>
      </p:sp>
      <p:sp>
        <p:nvSpPr>
          <p:cNvPr id="21" name="Shape 19"/>
          <p:cNvSpPr/>
          <p:nvPr/>
        </p:nvSpPr>
        <p:spPr>
          <a:xfrm>
            <a:off x="8322869" y="2955341"/>
            <a:ext cx="51206" cy="51206"/>
          </a:xfrm>
          <a:prstGeom prst="ellipse">
            <a:avLst/>
          </a:prstGeom>
          <a:solidFill>
            <a:srgbClr val="6E8274"/>
          </a:solidFill>
          <a:ln w="12700">
            <a:solidFill>
              <a:srgbClr val="FFFFFF">
                <a:alpha val="0"/>
              </a:srgbClr>
            </a:solidFill>
            <a:prstDash val="solid"/>
          </a:ln>
        </p:spPr>
      </p:sp>
      <p:sp>
        <p:nvSpPr>
          <p:cNvPr id="22" name="Text 20"/>
          <p:cNvSpPr txBox="1"/>
          <p:nvPr/>
        </p:nvSpPr>
        <p:spPr>
          <a:xfrm>
            <a:off x="8485632" y="2898648"/>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cultural genogram</a:t>
            </a:r>
            <a:endParaRPr lang="en-US" sz="830" dirty="0"/>
          </a:p>
        </p:txBody>
      </p:sp>
      <p:sp>
        <p:nvSpPr>
          <p:cNvPr id="23" name="Text 21"/>
          <p:cNvSpPr txBox="1"/>
          <p:nvPr/>
        </p:nvSpPr>
        <p:spPr>
          <a:xfrm>
            <a:off x="822960" y="3675888"/>
            <a:ext cx="3657600" cy="214884"/>
          </a:xfrm>
          <a:prstGeom prst="rect">
            <a:avLst/>
          </a:prstGeom>
          <a:noFill/>
          <a:ln/>
        </p:spPr>
        <p:txBody>
          <a:bodyPr wrap="square" lIns="0" tIns="0" rIns="0" bIns="0" rtlCol="0" anchor="t"/>
          <a:lstStyle/>
          <a:p>
            <a:pPr algn="l" indent="0" marL="0">
              <a:lnSpc>
                <a:spcPts val="972"/>
              </a:lnSpc>
              <a:buNone/>
            </a:pPr>
            <a:r>
              <a:rPr lang="en-US" sz="720" b="1" spc="200" kern="0" dirty="0">
                <a:solidFill>
                  <a:srgbClr val="96733C"/>
                </a:solidFill>
                <a:latin typeface="Calibri" pitchFamily="34" charset="0"/>
                <a:ea typeface="Calibri" pitchFamily="34" charset="-122"/>
                <a:cs typeface="Calibri" pitchFamily="34" charset="-120"/>
              </a:rPr>
              <a:t>REFLECTION</a:t>
            </a:r>
            <a:endParaRPr lang="en-US" sz="720" dirty="0"/>
          </a:p>
        </p:txBody>
      </p:sp>
      <p:sp>
        <p:nvSpPr>
          <p:cNvPr id="24" name="Shape 22"/>
          <p:cNvSpPr/>
          <p:nvPr/>
        </p:nvSpPr>
        <p:spPr>
          <a:xfrm>
            <a:off x="1828800" y="3730752"/>
            <a:ext cx="548640" cy="91"/>
          </a:xfrm>
          <a:prstGeom prst="line">
            <a:avLst/>
          </a:prstGeom>
          <a:noFill/>
          <a:ln w="10160">
            <a:solidFill>
              <a:srgbClr val="C2A05F"/>
            </a:solidFill>
            <a:prstDash val="solid"/>
            <a:headEnd type="none"/>
            <a:tailEnd type="none"/>
          </a:ln>
        </p:spPr>
      </p:sp>
      <p:sp>
        <p:nvSpPr>
          <p:cNvPr id="25" name="Shape 23"/>
          <p:cNvSpPr/>
          <p:nvPr/>
        </p:nvSpPr>
        <p:spPr>
          <a:xfrm>
            <a:off x="822960" y="4041648"/>
            <a:ext cx="3319272" cy="1627632"/>
          </a:xfrm>
          <a:prstGeom prst="roundRect">
            <a:avLst>
              <a:gd name="adj" fmla="val 631"/>
            </a:avLst>
          </a:prstGeom>
          <a:solidFill>
            <a:srgbClr val="FCF8EF"/>
          </a:solidFill>
          <a:ln w="6350">
            <a:solidFill>
              <a:srgbClr val="D9CDB7"/>
            </a:solidFill>
            <a:prstDash val="solid"/>
          </a:ln>
        </p:spPr>
      </p:sp>
      <p:sp>
        <p:nvSpPr>
          <p:cNvPr id="26" name="Text 24"/>
          <p:cNvSpPr txBox="1"/>
          <p:nvPr/>
        </p:nvSpPr>
        <p:spPr>
          <a:xfrm>
            <a:off x="102412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27" name="Text 25"/>
          <p:cNvSpPr txBox="1"/>
          <p:nvPr/>
        </p:nvSpPr>
        <p:spPr>
          <a:xfrm>
            <a:off x="102412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are the risks of using a community interpreter?</a:t>
            </a:r>
            <a:endParaRPr lang="en-US" sz="920" dirty="0"/>
          </a:p>
        </p:txBody>
      </p:sp>
      <p:sp>
        <p:nvSpPr>
          <p:cNvPr id="28" name="Shape 26"/>
          <p:cNvSpPr/>
          <p:nvPr/>
        </p:nvSpPr>
        <p:spPr>
          <a:xfrm>
            <a:off x="1024128" y="5248656"/>
            <a:ext cx="2916936" cy="91"/>
          </a:xfrm>
          <a:prstGeom prst="line">
            <a:avLst/>
          </a:prstGeom>
          <a:noFill/>
          <a:ln w="3810">
            <a:solidFill>
              <a:srgbClr val="D9CDB7">
                <a:alpha val="75000"/>
              </a:srgbClr>
            </a:solidFill>
            <a:prstDash val="sysDot"/>
            <a:headEnd type="none"/>
            <a:tailEnd type="none"/>
          </a:ln>
        </p:spPr>
      </p:sp>
      <p:sp>
        <p:nvSpPr>
          <p:cNvPr id="29" name="Shape 27"/>
          <p:cNvSpPr/>
          <p:nvPr/>
        </p:nvSpPr>
        <p:spPr>
          <a:xfrm>
            <a:off x="1024128" y="5468112"/>
            <a:ext cx="2916936" cy="91"/>
          </a:xfrm>
          <a:prstGeom prst="line">
            <a:avLst/>
          </a:prstGeom>
          <a:noFill/>
          <a:ln w="3810">
            <a:solidFill>
              <a:srgbClr val="D9CDB7">
                <a:alpha val="75000"/>
              </a:srgbClr>
            </a:solidFill>
            <a:prstDash val="sysDot"/>
            <a:headEnd type="none"/>
            <a:tailEnd type="none"/>
          </a:ln>
        </p:spPr>
      </p:sp>
      <p:sp>
        <p:nvSpPr>
          <p:cNvPr id="30" name="Shape 28"/>
          <p:cNvSpPr/>
          <p:nvPr/>
        </p:nvSpPr>
        <p:spPr>
          <a:xfrm>
            <a:off x="4434840" y="4041648"/>
            <a:ext cx="3319272" cy="1627632"/>
          </a:xfrm>
          <a:prstGeom prst="roundRect">
            <a:avLst>
              <a:gd name="adj" fmla="val 631"/>
            </a:avLst>
          </a:prstGeom>
          <a:solidFill>
            <a:srgbClr val="FCF8EF"/>
          </a:solidFill>
          <a:ln w="6350">
            <a:solidFill>
              <a:srgbClr val="D9CDB7"/>
            </a:solidFill>
            <a:prstDash val="solid"/>
          </a:ln>
        </p:spPr>
      </p:sp>
      <p:sp>
        <p:nvSpPr>
          <p:cNvPr id="31" name="Text 29"/>
          <p:cNvSpPr txBox="1"/>
          <p:nvPr/>
        </p:nvSpPr>
        <p:spPr>
          <a:xfrm>
            <a:off x="463600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32" name="Text 30"/>
          <p:cNvSpPr txBox="1"/>
          <p:nvPr/>
        </p:nvSpPr>
        <p:spPr>
          <a:xfrm>
            <a:off x="463600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How do you protect the daughter’s voice?</a:t>
            </a:r>
            <a:endParaRPr lang="en-US" sz="920" dirty="0"/>
          </a:p>
        </p:txBody>
      </p:sp>
      <p:sp>
        <p:nvSpPr>
          <p:cNvPr id="33" name="Shape 31"/>
          <p:cNvSpPr/>
          <p:nvPr/>
        </p:nvSpPr>
        <p:spPr>
          <a:xfrm>
            <a:off x="4636008" y="5248656"/>
            <a:ext cx="2916936" cy="91"/>
          </a:xfrm>
          <a:prstGeom prst="line">
            <a:avLst/>
          </a:prstGeom>
          <a:noFill/>
          <a:ln w="3810">
            <a:solidFill>
              <a:srgbClr val="D9CDB7">
                <a:alpha val="75000"/>
              </a:srgbClr>
            </a:solidFill>
            <a:prstDash val="sysDot"/>
            <a:headEnd type="none"/>
            <a:tailEnd type="none"/>
          </a:ln>
        </p:spPr>
      </p:sp>
      <p:sp>
        <p:nvSpPr>
          <p:cNvPr id="34" name="Shape 32"/>
          <p:cNvSpPr/>
          <p:nvPr/>
        </p:nvSpPr>
        <p:spPr>
          <a:xfrm>
            <a:off x="4636008" y="5468112"/>
            <a:ext cx="2916936" cy="91"/>
          </a:xfrm>
          <a:prstGeom prst="line">
            <a:avLst/>
          </a:prstGeom>
          <a:noFill/>
          <a:ln w="3810">
            <a:solidFill>
              <a:srgbClr val="D9CDB7">
                <a:alpha val="75000"/>
              </a:srgbClr>
            </a:solidFill>
            <a:prstDash val="sysDot"/>
            <a:headEnd type="none"/>
            <a:tailEnd type="none"/>
          </a:ln>
        </p:spPr>
      </p:sp>
      <p:sp>
        <p:nvSpPr>
          <p:cNvPr id="35" name="Shape 33"/>
          <p:cNvSpPr/>
          <p:nvPr/>
        </p:nvSpPr>
        <p:spPr>
          <a:xfrm>
            <a:off x="8046720" y="4041648"/>
            <a:ext cx="3319272" cy="1627632"/>
          </a:xfrm>
          <a:prstGeom prst="roundRect">
            <a:avLst>
              <a:gd name="adj" fmla="val 631"/>
            </a:avLst>
          </a:prstGeom>
          <a:solidFill>
            <a:srgbClr val="FCF8EF"/>
          </a:solidFill>
          <a:ln w="6350">
            <a:solidFill>
              <a:srgbClr val="D9CDB7"/>
            </a:solidFill>
            <a:prstDash val="solid"/>
          </a:ln>
        </p:spPr>
      </p:sp>
      <p:sp>
        <p:nvSpPr>
          <p:cNvPr id="36" name="Text 34"/>
          <p:cNvSpPr txBox="1"/>
          <p:nvPr/>
        </p:nvSpPr>
        <p:spPr>
          <a:xfrm>
            <a:off x="824788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7" name="Text 35"/>
          <p:cNvSpPr txBox="1"/>
          <p:nvPr/>
        </p:nvSpPr>
        <p:spPr>
          <a:xfrm>
            <a:off x="8247888" y="4443984"/>
            <a:ext cx="2916936" cy="448666"/>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would you need to ask about the family’s own</a:t>
            </a:r>
            <a:endParaRPr lang="en-US" sz="920" dirty="0"/>
          </a:p>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explanation?</a:t>
            </a:r>
            <a:endParaRPr lang="en-US" sz="920" dirty="0"/>
          </a:p>
        </p:txBody>
      </p:sp>
      <p:sp>
        <p:nvSpPr>
          <p:cNvPr id="38" name="Shape 36"/>
          <p:cNvSpPr/>
          <p:nvPr/>
        </p:nvSpPr>
        <p:spPr>
          <a:xfrm>
            <a:off x="8247888" y="5248656"/>
            <a:ext cx="2916936" cy="91"/>
          </a:xfrm>
          <a:prstGeom prst="line">
            <a:avLst/>
          </a:prstGeom>
          <a:noFill/>
          <a:ln w="3810">
            <a:solidFill>
              <a:srgbClr val="D9CDB7">
                <a:alpha val="75000"/>
              </a:srgbClr>
            </a:solidFill>
            <a:prstDash val="sysDot"/>
            <a:headEnd type="none"/>
            <a:tailEnd type="none"/>
          </a:ln>
        </p:spPr>
      </p:sp>
      <p:sp>
        <p:nvSpPr>
          <p:cNvPr id="39" name="Shape 37"/>
          <p:cNvSpPr/>
          <p:nvPr/>
        </p:nvSpPr>
        <p:spPr>
          <a:xfrm>
            <a:off x="8247888" y="5468112"/>
            <a:ext cx="2916936" cy="91"/>
          </a:xfrm>
          <a:prstGeom prst="line">
            <a:avLst/>
          </a:prstGeom>
          <a:noFill/>
          <a:ln w="3810">
            <a:solidFill>
              <a:srgbClr val="D9CDB7">
                <a:alpha val="75000"/>
              </a:srgbClr>
            </a:solidFill>
            <a:prstDash val="sysDot"/>
            <a:headEnd type="none"/>
            <a:tailEnd type="none"/>
          </a:ln>
        </p:spPr>
      </p:sp>
      <p:sp>
        <p:nvSpPr>
          <p:cNvPr id="40" name="Text 38"/>
          <p:cNvSpPr txBox="1"/>
          <p:nvPr/>
        </p:nvSpPr>
        <p:spPr>
          <a:xfrm>
            <a:off x="822960" y="5742432"/>
            <a:ext cx="9875520" cy="244729"/>
          </a:xfrm>
          <a:prstGeom prst="rect">
            <a:avLst/>
          </a:prstGeom>
          <a:noFill/>
          <a:ln/>
        </p:spPr>
        <p:txBody>
          <a:bodyPr wrap="square" lIns="0" tIns="0" rIns="0" bIns="0" rtlCol="0" anchor="t"/>
          <a:lstStyle/>
          <a:p>
            <a:pPr algn="l" indent="0" marL="0">
              <a:lnSpc>
                <a:spcPts val="1107"/>
              </a:lnSpc>
              <a:buNone/>
            </a:pPr>
            <a:r>
              <a:rPr lang="en-US" sz="820" i="1" dirty="0">
                <a:solidFill>
                  <a:srgbClr val="8B8375"/>
                </a:solidFill>
                <a:latin typeface="Calibri" pitchFamily="34" charset="0"/>
                <a:ea typeface="Calibri" pitchFamily="34" charset="-122"/>
                <a:cs typeface="Calibri" pitchFamily="34" charset="-120"/>
              </a:rPr>
              <a:t>Discuss in seminar · bring one formulation to supervision.</a:t>
            </a:r>
            <a:endParaRPr lang="en-US" sz="82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48640"/>
            <a:ext cx="6400800" cy="238760"/>
          </a:xfrm>
          <a:prstGeom prst="rect">
            <a:avLst/>
          </a:prstGeom>
          <a:noFill/>
          <a:ln/>
        </p:spPr>
        <p:txBody>
          <a:bodyPr wrap="square" lIns="0" tIns="0" rIns="0" bIns="0" rtlCol="0" anchor="t"/>
          <a:lstStyle/>
          <a:p>
            <a:pPr algn="l" indent="0" marL="0">
              <a:lnSpc>
                <a:spcPts val="1080"/>
              </a:lnSpc>
              <a:buNone/>
            </a:pPr>
            <a:r>
              <a:rPr lang="en-US" sz="800" spc="300" kern="0" dirty="0">
                <a:solidFill>
                  <a:srgbClr val="C2A05F"/>
                </a:solidFill>
                <a:latin typeface="Calibri" pitchFamily="34" charset="0"/>
                <a:ea typeface="Calibri" pitchFamily="34" charset="-122"/>
                <a:cs typeface="Calibri" pitchFamily="34" charset="-120"/>
              </a:rPr>
              <a:t>PHASE IV · WEEKS 13–16</a:t>
            </a:r>
            <a:endParaRPr lang="en-US" sz="800" dirty="0"/>
          </a:p>
        </p:txBody>
      </p:sp>
      <p:sp>
        <p:nvSpPr>
          <p:cNvPr id="3" name="Text 1"/>
          <p:cNvSpPr txBox="1"/>
          <p:nvPr/>
        </p:nvSpPr>
        <p:spPr>
          <a:xfrm>
            <a:off x="6035040" y="-457200"/>
            <a:ext cx="5486400" cy="7620000"/>
          </a:xfrm>
          <a:prstGeom prst="rect">
            <a:avLst/>
          </a:prstGeom>
          <a:noFill/>
          <a:ln/>
        </p:spPr>
        <p:txBody>
          <a:bodyPr wrap="square" lIns="0" tIns="0" rIns="0" bIns="0" rtlCol="0" anchor="t"/>
          <a:lstStyle/>
          <a:p>
            <a:pPr algn="r" indent="0" marL="0">
              <a:lnSpc>
                <a:spcPts val="30000"/>
              </a:lnSpc>
              <a:buNone/>
            </a:pPr>
            <a:r>
              <a:rPr lang="en-US" sz="30000" dirty="0">
                <a:solidFill>
                  <a:srgbClr val="181611"/>
                </a:solidFill>
                <a:latin typeface="Georgia" pitchFamily="34" charset="0"/>
                <a:ea typeface="Georgia" pitchFamily="34" charset="-122"/>
                <a:cs typeface="Georgia" pitchFamily="34" charset="-120"/>
              </a:rPr>
              <a:t>13</a:t>
            </a:r>
            <a:endParaRPr lang="en-US" sz="30000" dirty="0"/>
          </a:p>
        </p:txBody>
      </p:sp>
      <p:sp>
        <p:nvSpPr>
          <p:cNvPr id="4" name="Text 2"/>
          <p:cNvSpPr txBox="1"/>
          <p:nvPr/>
        </p:nvSpPr>
        <p:spPr>
          <a:xfrm>
            <a:off x="822960" y="1874520"/>
            <a:ext cx="6766560" cy="1215136"/>
          </a:xfrm>
          <a:prstGeom prst="rect">
            <a:avLst/>
          </a:prstGeom>
          <a:noFill/>
          <a:ln/>
        </p:spPr>
        <p:txBody>
          <a:bodyPr wrap="square" lIns="0" tIns="0" rIns="0" bIns="0" rtlCol="0" anchor="t"/>
          <a:lstStyle/>
          <a:p>
            <a:pPr algn="l" indent="0" marL="0">
              <a:lnSpc>
                <a:spcPts val="4968"/>
              </a:lnSpc>
              <a:buNone/>
            </a:pPr>
            <a:r>
              <a:rPr lang="en-US" sz="4600" dirty="0">
                <a:solidFill>
                  <a:srgbClr val="F8F3E9"/>
                </a:solidFill>
                <a:latin typeface="Georgia" pitchFamily="34" charset="0"/>
                <a:ea typeface="Georgia" pitchFamily="34" charset="-122"/>
                <a:cs typeface="Georgia" pitchFamily="34" charset="-120"/>
              </a:rPr>
              <a:t>Integration &amp; Transition</a:t>
            </a:r>
            <a:endParaRPr lang="en-US" sz="4600" dirty="0"/>
          </a:p>
        </p:txBody>
      </p:sp>
      <p:sp>
        <p:nvSpPr>
          <p:cNvPr id="5" name="Text 3"/>
          <p:cNvSpPr txBox="1"/>
          <p:nvPr/>
        </p:nvSpPr>
        <p:spPr>
          <a:xfrm>
            <a:off x="822960" y="3429000"/>
            <a:ext cx="6035040" cy="736600"/>
          </a:xfrm>
          <a:prstGeom prst="rect">
            <a:avLst/>
          </a:prstGeom>
          <a:noFill/>
          <a:ln/>
        </p:spPr>
        <p:txBody>
          <a:bodyPr wrap="square" lIns="0" tIns="0" rIns="0" bIns="0" rtlCol="0" anchor="t"/>
          <a:lstStyle/>
          <a:p>
            <a:pPr algn="l" indent="0" marL="0">
              <a:lnSpc>
                <a:spcPts val="2175"/>
              </a:lnSpc>
              <a:buNone/>
            </a:pPr>
            <a:r>
              <a:rPr lang="en-US" sz="1450" i="1" dirty="0">
                <a:solidFill>
                  <a:srgbClr val="E7D3A9"/>
                </a:solidFill>
                <a:latin typeface="Georgia" pitchFamily="34" charset="0"/>
                <a:ea typeface="Georgia" pitchFamily="34" charset="-122"/>
                <a:cs typeface="Georgia" pitchFamily="34" charset="-120"/>
              </a:rPr>
              <a:t>Applying systemic thinking across the life course, and beginning the</a:t>
            </a:r>
            <a:endParaRPr lang="en-US" sz="1450" dirty="0"/>
          </a:p>
          <a:p>
            <a:pPr algn="l" indent="0" marL="0">
              <a:lnSpc>
                <a:spcPts val="2175"/>
              </a:lnSpc>
              <a:buNone/>
            </a:pPr>
            <a:r>
              <a:rPr lang="en-US" sz="1450" i="1" dirty="0">
                <a:solidFill>
                  <a:srgbClr val="E7D3A9"/>
                </a:solidFill>
                <a:latin typeface="Georgia" pitchFamily="34" charset="0"/>
                <a:ea typeface="Georgia" pitchFamily="34" charset="-122"/>
                <a:cs typeface="Georgia" pitchFamily="34" charset="-120"/>
              </a:rPr>
              <a:t>transition to supervised practice.</a:t>
            </a:r>
            <a:endParaRPr lang="en-US" sz="1450" dirty="0"/>
          </a:p>
        </p:txBody>
      </p:sp>
      <p:sp>
        <p:nvSpPr>
          <p:cNvPr id="6" name="Shape 4"/>
          <p:cNvSpPr/>
          <p:nvPr/>
        </p:nvSpPr>
        <p:spPr>
          <a:xfrm>
            <a:off x="822960" y="4572000"/>
            <a:ext cx="1554480" cy="91"/>
          </a:xfrm>
          <a:prstGeom prst="line">
            <a:avLst/>
          </a:prstGeom>
          <a:noFill/>
          <a:ln w="10160">
            <a:solidFill>
              <a:srgbClr val="C2A05F"/>
            </a:solidFill>
            <a:prstDash val="solid"/>
            <a:headEnd type="none"/>
            <a:tailEnd type="none"/>
          </a:ln>
        </p:spPr>
      </p:sp>
      <p:sp>
        <p:nvSpPr>
          <p:cNvPr id="7" name="Text 5"/>
          <p:cNvSpPr txBox="1"/>
          <p:nvPr/>
        </p:nvSpPr>
        <p:spPr>
          <a:xfrm>
            <a:off x="82296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013</a:t>
            </a:r>
            <a:endParaRPr lang="en-US" sz="1000" dirty="0"/>
          </a:p>
        </p:txBody>
      </p:sp>
      <p:sp>
        <p:nvSpPr>
          <p:cNvPr id="8" name="Text 6"/>
          <p:cNvSpPr txBox="1"/>
          <p:nvPr/>
        </p:nvSpPr>
        <p:spPr>
          <a:xfrm>
            <a:off x="822960" y="5074920"/>
            <a:ext cx="1234440" cy="21717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Children &amp; adolescents</a:t>
            </a:r>
            <a:endParaRPr lang="en-US" sz="760" dirty="0"/>
          </a:p>
        </p:txBody>
      </p:sp>
      <p:sp>
        <p:nvSpPr>
          <p:cNvPr id="9" name="Text 7"/>
          <p:cNvSpPr txBox="1"/>
          <p:nvPr/>
        </p:nvSpPr>
        <p:spPr>
          <a:xfrm>
            <a:off x="224028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014</a:t>
            </a:r>
            <a:endParaRPr lang="en-US" sz="1000" dirty="0"/>
          </a:p>
        </p:txBody>
      </p:sp>
      <p:sp>
        <p:nvSpPr>
          <p:cNvPr id="10" name="Text 8"/>
          <p:cNvSpPr txBox="1"/>
          <p:nvPr/>
        </p:nvSpPr>
        <p:spPr>
          <a:xfrm>
            <a:off x="2240280" y="5074920"/>
            <a:ext cx="1234440" cy="21717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Couples &amp; attachment</a:t>
            </a:r>
            <a:endParaRPr lang="en-US" sz="760" dirty="0"/>
          </a:p>
        </p:txBody>
      </p:sp>
      <p:sp>
        <p:nvSpPr>
          <p:cNvPr id="11" name="Text 9"/>
          <p:cNvSpPr txBox="1"/>
          <p:nvPr/>
        </p:nvSpPr>
        <p:spPr>
          <a:xfrm>
            <a:off x="365760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015</a:t>
            </a:r>
            <a:endParaRPr lang="en-US" sz="1000" dirty="0"/>
          </a:p>
        </p:txBody>
      </p:sp>
      <p:sp>
        <p:nvSpPr>
          <p:cNvPr id="12" name="Text 10"/>
          <p:cNvSpPr txBox="1"/>
          <p:nvPr/>
        </p:nvSpPr>
        <p:spPr>
          <a:xfrm>
            <a:off x="3657600" y="5074920"/>
            <a:ext cx="1234440" cy="21717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Transitions &amp; crisis</a:t>
            </a:r>
            <a:endParaRPr lang="en-US" sz="760" dirty="0"/>
          </a:p>
        </p:txBody>
      </p:sp>
      <p:sp>
        <p:nvSpPr>
          <p:cNvPr id="13" name="Text 11"/>
          <p:cNvSpPr txBox="1"/>
          <p:nvPr/>
        </p:nvSpPr>
        <p:spPr>
          <a:xfrm>
            <a:off x="5074920" y="4846320"/>
            <a:ext cx="457200" cy="298450"/>
          </a:xfrm>
          <a:prstGeom prst="rect">
            <a:avLst/>
          </a:prstGeom>
          <a:noFill/>
          <a:ln/>
        </p:spPr>
        <p:txBody>
          <a:bodyPr wrap="square" lIns="0" tIns="0" rIns="0" bIns="0" rtlCol="0" anchor="t"/>
          <a:lstStyle/>
          <a:p>
            <a:pPr algn="l" indent="0" marL="0">
              <a:lnSpc>
                <a:spcPts val="1350"/>
              </a:lnSpc>
              <a:buNone/>
            </a:pPr>
            <a:r>
              <a:rPr lang="en-US" sz="1000" dirty="0">
                <a:solidFill>
                  <a:srgbClr val="C2A05F"/>
                </a:solidFill>
                <a:latin typeface="Georgia" pitchFamily="34" charset="0"/>
                <a:ea typeface="Georgia" pitchFamily="34" charset="-122"/>
                <a:cs typeface="Georgia" pitchFamily="34" charset="-120"/>
              </a:rPr>
              <a:t>016</a:t>
            </a:r>
            <a:endParaRPr lang="en-US" sz="1000" dirty="0"/>
          </a:p>
        </p:txBody>
      </p:sp>
      <p:sp>
        <p:nvSpPr>
          <p:cNvPr id="14" name="Text 12"/>
          <p:cNvSpPr txBox="1"/>
          <p:nvPr/>
        </p:nvSpPr>
        <p:spPr>
          <a:xfrm>
            <a:off x="5074920" y="5074920"/>
            <a:ext cx="1234440" cy="337820"/>
          </a:xfrm>
          <a:prstGeom prst="rect">
            <a:avLst/>
          </a:prstGeom>
          <a:noFill/>
          <a:ln/>
        </p:spPr>
        <p:txBody>
          <a:bodyPr wrap="square" lIns="0" tIns="0" rIns="0" bIns="0" rtlCol="0" anchor="t"/>
          <a:lstStyle/>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Evidence &amp; professional</a:t>
            </a:r>
            <a:endParaRPr lang="en-US" sz="760" dirty="0"/>
          </a:p>
          <a:p>
            <a:pPr algn="l" indent="0" marL="0">
              <a:lnSpc>
                <a:spcPts val="950"/>
              </a:lnSpc>
              <a:buNone/>
            </a:pPr>
            <a:r>
              <a:rPr lang="en-US" sz="760" dirty="0">
                <a:solidFill>
                  <a:srgbClr val="EFE5D3"/>
                </a:solidFill>
                <a:latin typeface="Calibri" pitchFamily="34" charset="0"/>
                <a:ea typeface="Calibri" pitchFamily="34" charset="-122"/>
                <a:cs typeface="Calibri" pitchFamily="34" charset="-120"/>
              </a:rPr>
              <a:t>identity</a:t>
            </a:r>
            <a:endParaRPr lang="en-US" sz="760" dirty="0"/>
          </a:p>
        </p:txBody>
      </p:sp>
      <p:sp>
        <p:nvSpPr>
          <p:cNvPr id="15" name="Shape 13"/>
          <p:cNvSpPr/>
          <p:nvPr/>
        </p:nvSpPr>
        <p:spPr>
          <a:xfrm>
            <a:off x="822960" y="5742432"/>
            <a:ext cx="10515600" cy="91"/>
          </a:xfrm>
          <a:prstGeom prst="line">
            <a:avLst/>
          </a:prstGeom>
          <a:noFill/>
          <a:ln w="10160">
            <a:solidFill>
              <a:srgbClr val="3A332A"/>
            </a:solidFill>
            <a:prstDash val="solid"/>
            <a:headEnd type="none"/>
            <a:tailEnd type="none"/>
          </a:ln>
        </p:spPr>
      </p:sp>
      <p:sp>
        <p:nvSpPr>
          <p:cNvPr id="16" name="Shape 14"/>
          <p:cNvSpPr/>
          <p:nvPr/>
        </p:nvSpPr>
        <p:spPr>
          <a:xfrm>
            <a:off x="793699" y="5713171"/>
            <a:ext cx="58522" cy="58522"/>
          </a:xfrm>
          <a:prstGeom prst="ellipse">
            <a:avLst/>
          </a:prstGeom>
          <a:solidFill>
            <a:srgbClr val="96733C"/>
          </a:solidFill>
          <a:ln w="12700">
            <a:solidFill>
              <a:srgbClr val="FFFFFF">
                <a:alpha val="0"/>
              </a:srgbClr>
            </a:solidFill>
            <a:prstDash val="solid"/>
          </a:ln>
        </p:spPr>
      </p:sp>
      <p:sp>
        <p:nvSpPr>
          <p:cNvPr id="17" name="Shape 15"/>
          <p:cNvSpPr/>
          <p:nvPr/>
        </p:nvSpPr>
        <p:spPr>
          <a:xfrm>
            <a:off x="1494739" y="5713171"/>
            <a:ext cx="58522" cy="58522"/>
          </a:xfrm>
          <a:prstGeom prst="ellipse">
            <a:avLst/>
          </a:prstGeom>
          <a:solidFill>
            <a:srgbClr val="96733C"/>
          </a:solidFill>
          <a:ln w="12700">
            <a:solidFill>
              <a:srgbClr val="FFFFFF">
                <a:alpha val="0"/>
              </a:srgbClr>
            </a:solidFill>
            <a:prstDash val="solid"/>
          </a:ln>
        </p:spPr>
      </p:sp>
      <p:sp>
        <p:nvSpPr>
          <p:cNvPr id="18" name="Shape 16"/>
          <p:cNvSpPr/>
          <p:nvPr/>
        </p:nvSpPr>
        <p:spPr>
          <a:xfrm>
            <a:off x="2195779" y="5713171"/>
            <a:ext cx="58522" cy="58522"/>
          </a:xfrm>
          <a:prstGeom prst="ellipse">
            <a:avLst/>
          </a:prstGeom>
          <a:solidFill>
            <a:srgbClr val="96733C"/>
          </a:solidFill>
          <a:ln w="12700">
            <a:solidFill>
              <a:srgbClr val="FFFFFF">
                <a:alpha val="0"/>
              </a:srgbClr>
            </a:solidFill>
            <a:prstDash val="solid"/>
          </a:ln>
        </p:spPr>
      </p:sp>
      <p:sp>
        <p:nvSpPr>
          <p:cNvPr id="19" name="Shape 17"/>
          <p:cNvSpPr/>
          <p:nvPr/>
        </p:nvSpPr>
        <p:spPr>
          <a:xfrm>
            <a:off x="2896819" y="5713171"/>
            <a:ext cx="58522" cy="58522"/>
          </a:xfrm>
          <a:prstGeom prst="ellipse">
            <a:avLst/>
          </a:prstGeom>
          <a:solidFill>
            <a:srgbClr val="96733C"/>
          </a:solidFill>
          <a:ln w="12700">
            <a:solidFill>
              <a:srgbClr val="FFFFFF">
                <a:alpha val="0"/>
              </a:srgbClr>
            </a:solidFill>
            <a:prstDash val="solid"/>
          </a:ln>
        </p:spPr>
      </p:sp>
      <p:sp>
        <p:nvSpPr>
          <p:cNvPr id="20" name="Shape 18"/>
          <p:cNvSpPr/>
          <p:nvPr/>
        </p:nvSpPr>
        <p:spPr>
          <a:xfrm>
            <a:off x="3597859" y="5713171"/>
            <a:ext cx="58522" cy="58522"/>
          </a:xfrm>
          <a:prstGeom prst="ellipse">
            <a:avLst/>
          </a:prstGeom>
          <a:solidFill>
            <a:srgbClr val="96733C"/>
          </a:solidFill>
          <a:ln w="12700">
            <a:solidFill>
              <a:srgbClr val="FFFFFF">
                <a:alpha val="0"/>
              </a:srgbClr>
            </a:solidFill>
            <a:prstDash val="solid"/>
          </a:ln>
        </p:spPr>
      </p:sp>
      <p:sp>
        <p:nvSpPr>
          <p:cNvPr id="21" name="Shape 19"/>
          <p:cNvSpPr/>
          <p:nvPr/>
        </p:nvSpPr>
        <p:spPr>
          <a:xfrm>
            <a:off x="4298899" y="5713171"/>
            <a:ext cx="58522" cy="58522"/>
          </a:xfrm>
          <a:prstGeom prst="ellipse">
            <a:avLst/>
          </a:prstGeom>
          <a:solidFill>
            <a:srgbClr val="96733C"/>
          </a:solidFill>
          <a:ln w="12700">
            <a:solidFill>
              <a:srgbClr val="FFFFFF">
                <a:alpha val="0"/>
              </a:srgbClr>
            </a:solidFill>
            <a:prstDash val="solid"/>
          </a:ln>
        </p:spPr>
      </p:sp>
      <p:sp>
        <p:nvSpPr>
          <p:cNvPr id="22" name="Shape 20"/>
          <p:cNvSpPr/>
          <p:nvPr/>
        </p:nvSpPr>
        <p:spPr>
          <a:xfrm>
            <a:off x="4999939" y="5713171"/>
            <a:ext cx="58522" cy="58522"/>
          </a:xfrm>
          <a:prstGeom prst="ellipse">
            <a:avLst/>
          </a:prstGeom>
          <a:solidFill>
            <a:srgbClr val="96733C"/>
          </a:solidFill>
          <a:ln w="12700">
            <a:solidFill>
              <a:srgbClr val="FFFFFF">
                <a:alpha val="0"/>
              </a:srgbClr>
            </a:solidFill>
            <a:prstDash val="solid"/>
          </a:ln>
        </p:spPr>
      </p:sp>
      <p:sp>
        <p:nvSpPr>
          <p:cNvPr id="23" name="Shape 21"/>
          <p:cNvSpPr/>
          <p:nvPr/>
        </p:nvSpPr>
        <p:spPr>
          <a:xfrm>
            <a:off x="5700979" y="5713171"/>
            <a:ext cx="58522" cy="58522"/>
          </a:xfrm>
          <a:prstGeom prst="ellipse">
            <a:avLst/>
          </a:prstGeom>
          <a:solidFill>
            <a:srgbClr val="96733C"/>
          </a:solidFill>
          <a:ln w="12700">
            <a:solidFill>
              <a:srgbClr val="FFFFFF">
                <a:alpha val="0"/>
              </a:srgbClr>
            </a:solidFill>
            <a:prstDash val="solid"/>
          </a:ln>
        </p:spPr>
      </p:sp>
      <p:sp>
        <p:nvSpPr>
          <p:cNvPr id="24" name="Shape 22"/>
          <p:cNvSpPr/>
          <p:nvPr/>
        </p:nvSpPr>
        <p:spPr>
          <a:xfrm>
            <a:off x="6402019" y="5713171"/>
            <a:ext cx="58522" cy="58522"/>
          </a:xfrm>
          <a:prstGeom prst="ellipse">
            <a:avLst/>
          </a:prstGeom>
          <a:solidFill>
            <a:srgbClr val="96733C"/>
          </a:solidFill>
          <a:ln w="12700">
            <a:solidFill>
              <a:srgbClr val="FFFFFF">
                <a:alpha val="0"/>
              </a:srgbClr>
            </a:solidFill>
            <a:prstDash val="solid"/>
          </a:ln>
        </p:spPr>
      </p:sp>
      <p:sp>
        <p:nvSpPr>
          <p:cNvPr id="25" name="Shape 23"/>
          <p:cNvSpPr/>
          <p:nvPr/>
        </p:nvSpPr>
        <p:spPr>
          <a:xfrm>
            <a:off x="7103059" y="5713171"/>
            <a:ext cx="58522" cy="58522"/>
          </a:xfrm>
          <a:prstGeom prst="ellipse">
            <a:avLst/>
          </a:prstGeom>
          <a:solidFill>
            <a:srgbClr val="96733C"/>
          </a:solidFill>
          <a:ln w="12700">
            <a:solidFill>
              <a:srgbClr val="FFFFFF">
                <a:alpha val="0"/>
              </a:srgbClr>
            </a:solidFill>
            <a:prstDash val="solid"/>
          </a:ln>
        </p:spPr>
      </p:sp>
      <p:sp>
        <p:nvSpPr>
          <p:cNvPr id="26" name="Shape 24"/>
          <p:cNvSpPr/>
          <p:nvPr/>
        </p:nvSpPr>
        <p:spPr>
          <a:xfrm>
            <a:off x="7804099" y="5713171"/>
            <a:ext cx="58522" cy="58522"/>
          </a:xfrm>
          <a:prstGeom prst="ellipse">
            <a:avLst/>
          </a:prstGeom>
          <a:solidFill>
            <a:srgbClr val="96733C"/>
          </a:solidFill>
          <a:ln w="12700">
            <a:solidFill>
              <a:srgbClr val="FFFFFF">
                <a:alpha val="0"/>
              </a:srgbClr>
            </a:solidFill>
            <a:prstDash val="solid"/>
          </a:ln>
        </p:spPr>
      </p:sp>
      <p:sp>
        <p:nvSpPr>
          <p:cNvPr id="27" name="Shape 25"/>
          <p:cNvSpPr/>
          <p:nvPr/>
        </p:nvSpPr>
        <p:spPr>
          <a:xfrm>
            <a:off x="8505139" y="5713171"/>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9206179" y="5713171"/>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9907219" y="5713171"/>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10608259" y="5713171"/>
            <a:ext cx="58522" cy="58522"/>
          </a:xfrm>
          <a:prstGeom prst="ellipse">
            <a:avLst/>
          </a:prstGeom>
          <a:solidFill>
            <a:srgbClr val="96733C"/>
          </a:solidFill>
          <a:ln w="12700">
            <a:solidFill>
              <a:srgbClr val="FFFFFF">
                <a:alpha val="0"/>
              </a:srgbClr>
            </a:solidFill>
            <a:prstDash val="solid"/>
          </a:ln>
        </p:spPr>
      </p:sp>
      <p:sp>
        <p:nvSpPr>
          <p:cNvPr id="31" name="Shape 29"/>
          <p:cNvSpPr/>
          <p:nvPr/>
        </p:nvSpPr>
        <p:spPr>
          <a:xfrm>
            <a:off x="11274552" y="5678424"/>
            <a:ext cx="128016" cy="128016"/>
          </a:xfrm>
          <a:prstGeom prst="ellipse">
            <a:avLst/>
          </a:prstGeom>
          <a:solidFill>
            <a:srgbClr val="C2A05F"/>
          </a:solidFill>
          <a:ln w="8890">
            <a:solidFill>
              <a:srgbClr val="E7D3A9"/>
            </a:solidFill>
            <a:prstDash val="solid"/>
          </a:ln>
        </p:spPr>
      </p:sp>
      <p:sp>
        <p:nvSpPr>
          <p:cNvPr id="32" name="Shape 30"/>
          <p:cNvSpPr/>
          <p:nvPr/>
        </p:nvSpPr>
        <p:spPr>
          <a:xfrm>
            <a:off x="822960" y="722376"/>
            <a:ext cx="10546050" cy="91"/>
          </a:xfrm>
          <a:prstGeom prst="line">
            <a:avLst/>
          </a:prstGeom>
          <a:noFill/>
          <a:ln w="6350">
            <a:solidFill>
              <a:srgbClr val="3A332A"/>
            </a:solidFill>
            <a:prstDash val="solid"/>
            <a:headEnd type="none"/>
            <a:tailEnd type="none"/>
          </a:ln>
        </p:spPr>
      </p:sp>
      <p:sp>
        <p:nvSpPr>
          <p:cNvPr id="33" name="Text 31"/>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34" name="Text 32"/>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58</a:t>
            </a:r>
            <a:endParaRPr lang="en-US" sz="9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13 · PHASE IV — INTEGRATION &amp; TRANSITION</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13</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Children, Adolescents and</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Parenting</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476377"/>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How does a child’s symptom speak for the family — and to it?</a:t>
            </a:r>
            <a:endParaRPr lang="en-US" sz="1550" dirty="0"/>
          </a:p>
        </p:txBody>
      </p:sp>
      <p:sp>
        <p:nvSpPr>
          <p:cNvPr id="8" name="Shape 6"/>
          <p:cNvSpPr/>
          <p:nvPr/>
        </p:nvSpPr>
        <p:spPr>
          <a:xfrm>
            <a:off x="822960" y="3911219"/>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child in the system</a:t>
            </a:r>
            <a:endParaRPr lang="en-US" sz="850" dirty="0"/>
          </a:p>
        </p:txBody>
      </p:sp>
      <p:sp>
        <p:nvSpPr>
          <p:cNvPr id="11" name="Text 9"/>
          <p:cNvSpPr txBox="1"/>
          <p:nvPr/>
        </p:nvSpPr>
        <p:spPr>
          <a:xfrm>
            <a:off x="3282696"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Development as a clinical frame</a:t>
            </a:r>
            <a:endParaRPr lang="en-US" sz="850" dirty="0"/>
          </a:p>
        </p:txBody>
      </p:sp>
      <p:sp>
        <p:nvSpPr>
          <p:cNvPr id="13" name="Text 11"/>
          <p:cNvSpPr txBox="1"/>
          <p:nvPr/>
        </p:nvSpPr>
        <p:spPr>
          <a:xfrm>
            <a:off x="5742432"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CLINICAL CASE</a:t>
            </a:r>
            <a:endParaRPr lang="en-US" sz="620" dirty="0"/>
          </a:p>
        </p:txBody>
      </p:sp>
      <p:sp>
        <p:nvSpPr>
          <p:cNvPr id="14" name="Text 12"/>
          <p:cNvSpPr txBox="1"/>
          <p:nvPr/>
        </p:nvSpPr>
        <p:spPr>
          <a:xfrm>
            <a:off x="5742432"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symptomatic child</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Conduct child-inclusive family sessions.</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Apply a developmental frame to presenting</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problems.</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Work with the parental subsystem as a coalition.</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parentification · developmental task · triangulation · parenting coalition</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Combrinck-Graham (2006) · Sori &amp; Hecker (2015)</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96733C"/>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96733C"/>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96733C"/>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96733C"/>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96733C"/>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96733C"/>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96733C"/>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96733C"/>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96733C"/>
          </a:solidFill>
          <a:ln w="12700">
            <a:solidFill>
              <a:srgbClr val="FFFFFF">
                <a:alpha val="0"/>
              </a:srgbClr>
            </a:solidFill>
            <a:prstDash val="solid"/>
          </a:ln>
        </p:spPr>
      </p:sp>
      <p:sp>
        <p:nvSpPr>
          <p:cNvPr id="39" name="Shape 37"/>
          <p:cNvSpPr/>
          <p:nvPr/>
        </p:nvSpPr>
        <p:spPr>
          <a:xfrm>
            <a:off x="9171432" y="5696712"/>
            <a:ext cx="128016" cy="128016"/>
          </a:xfrm>
          <a:prstGeom prst="ellipse">
            <a:avLst/>
          </a:prstGeom>
          <a:solidFill>
            <a:srgbClr val="C2A05F"/>
          </a:solidFill>
          <a:ln w="8890">
            <a:solidFill>
              <a:srgbClr val="E7D3A9"/>
            </a:solidFill>
            <a:prstDash val="solid"/>
          </a:ln>
        </p:spPr>
      </p:sp>
      <p:sp>
        <p:nvSpPr>
          <p:cNvPr id="40" name="Shape 38"/>
          <p:cNvSpPr/>
          <p:nvPr/>
        </p:nvSpPr>
        <p:spPr>
          <a:xfrm>
            <a:off x="9907219" y="5731459"/>
            <a:ext cx="58522" cy="58522"/>
          </a:xfrm>
          <a:prstGeom prst="ellipse">
            <a:avLst/>
          </a:prstGeom>
          <a:solidFill>
            <a:srgbClr val="1E1913"/>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59</a:t>
            </a:r>
            <a:endParaRPr lang="en-US" sz="9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13 · LECTURE 13</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60</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The child in the system</a:t>
            </a:r>
            <a:endParaRPr lang="en-US" sz="2800" dirty="0"/>
          </a:p>
        </p:txBody>
      </p:sp>
      <p:sp>
        <p:nvSpPr>
          <p:cNvPr id="9" name="Text 7"/>
          <p:cNvSpPr txBox="1"/>
          <p:nvPr/>
        </p:nvSpPr>
        <p:spPr>
          <a:xfrm>
            <a:off x="822960" y="1486408"/>
            <a:ext cx="8138160" cy="387248"/>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Children are often the reason a family comes — and the least powerful person in the room.</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DEVELOPMENT AS CONSTRAINT</a:t>
            </a:r>
            <a:endParaRPr lang="en-US" sz="750" dirty="0"/>
          </a:p>
        </p:txBody>
      </p:sp>
      <p:sp>
        <p:nvSpPr>
          <p:cNvPr id="13" name="Text 11"/>
          <p:cNvSpPr txBox="1"/>
          <p:nvPr/>
        </p:nvSpPr>
        <p:spPr>
          <a:xfrm>
            <a:off x="82296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What looks like defiance at 14 may be a developmentally ordinary bid</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for autonomy; what looks like independence at 7 may be neglect.</a:t>
            </a:r>
            <a:endParaRPr lang="en-US" sz="900" dirty="0"/>
          </a:p>
        </p:txBody>
      </p:sp>
      <p:sp>
        <p:nvSpPr>
          <p:cNvPr id="14" name="Shape 12"/>
          <p:cNvSpPr/>
          <p:nvPr/>
        </p:nvSpPr>
        <p:spPr>
          <a:xfrm>
            <a:off x="822960" y="3364992"/>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Development is relational, not only biological</a:t>
            </a:r>
            <a:endParaRPr lang="en-US" sz="880" dirty="0"/>
          </a:p>
        </p:txBody>
      </p:sp>
      <p:sp>
        <p:nvSpPr>
          <p:cNvPr id="16" name="Shape 14"/>
          <p:cNvSpPr/>
          <p:nvPr/>
        </p:nvSpPr>
        <p:spPr>
          <a:xfrm>
            <a:off x="822960" y="3610661"/>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Behaviour is age-referenced</a:t>
            </a:r>
            <a:endParaRPr lang="en-US" sz="880" dirty="0"/>
          </a:p>
        </p:txBody>
      </p:sp>
      <p:sp>
        <p:nvSpPr>
          <p:cNvPr id="18" name="Shape 16"/>
          <p:cNvSpPr/>
          <p:nvPr/>
        </p:nvSpPr>
        <p:spPr>
          <a:xfrm>
            <a:off x="822960" y="3856330"/>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The symptom may be on schedule</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TRIANGULATION AND PARENTIFICATION</a:t>
            </a:r>
            <a:endParaRPr lang="en-US" sz="750" dirty="0"/>
          </a:p>
        </p:txBody>
      </p:sp>
      <p:sp>
        <p:nvSpPr>
          <p:cNvPr id="23" name="Text 21"/>
          <p:cNvSpPr txBox="1"/>
          <p:nvPr/>
        </p:nvSpPr>
        <p:spPr>
          <a:xfrm>
            <a:off x="446532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A child recruited into parental conflict may present the symptom. A</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child who cares for a parent may present competence — and neither</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is a diagnosis.</a:t>
            </a:r>
            <a:endParaRPr lang="en-US" sz="900" dirty="0"/>
          </a:p>
        </p:txBody>
      </p:sp>
      <p:sp>
        <p:nvSpPr>
          <p:cNvPr id="24" name="Shape 22"/>
          <p:cNvSpPr/>
          <p:nvPr/>
        </p:nvSpPr>
        <p:spPr>
          <a:xfrm>
            <a:off x="4465320" y="3529584"/>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Who is protecting whom?</a:t>
            </a:r>
            <a:endParaRPr lang="en-US" sz="880" dirty="0"/>
          </a:p>
        </p:txBody>
      </p:sp>
      <p:sp>
        <p:nvSpPr>
          <p:cNvPr id="26" name="Shape 24"/>
          <p:cNvSpPr/>
          <p:nvPr/>
        </p:nvSpPr>
        <p:spPr>
          <a:xfrm>
            <a:off x="4465320" y="3775253"/>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Who has been promoted to adult?</a:t>
            </a:r>
            <a:endParaRPr lang="en-US" sz="880" dirty="0"/>
          </a:p>
        </p:txBody>
      </p:sp>
      <p:sp>
        <p:nvSpPr>
          <p:cNvPr id="28" name="Shape 26"/>
          <p:cNvSpPr/>
          <p:nvPr/>
        </p:nvSpPr>
        <p:spPr>
          <a:xfrm>
            <a:off x="4465320" y="4020922"/>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What does the child’s behaviour hold together?</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PARENTING AS A SUBSYSTEM</a:t>
            </a:r>
            <a:endParaRPr lang="en-US" sz="750" dirty="0"/>
          </a:p>
        </p:txBody>
      </p:sp>
      <p:sp>
        <p:nvSpPr>
          <p:cNvPr id="33" name="Text 31"/>
          <p:cNvSpPr txBox="1"/>
          <p:nvPr/>
        </p:nvSpPr>
        <p:spPr>
          <a:xfrm>
            <a:off x="810768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Effective parenting requires a coalition between caregivers, not a</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coalition with the child. Agreement is not uniformity.</a:t>
            </a:r>
            <a:endParaRPr lang="en-US" sz="900" dirty="0"/>
          </a:p>
        </p:txBody>
      </p:sp>
      <p:sp>
        <p:nvSpPr>
          <p:cNvPr id="34" name="Shape 32"/>
          <p:cNvSpPr/>
          <p:nvPr/>
        </p:nvSpPr>
        <p:spPr>
          <a:xfrm>
            <a:off x="8107680" y="3364992"/>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Negotiate the frame before the rules</a:t>
            </a:r>
            <a:endParaRPr lang="en-US" sz="880" dirty="0"/>
          </a:p>
        </p:txBody>
      </p:sp>
      <p:sp>
        <p:nvSpPr>
          <p:cNvPr id="36" name="Shape 34"/>
          <p:cNvSpPr/>
          <p:nvPr/>
        </p:nvSpPr>
        <p:spPr>
          <a:xfrm>
            <a:off x="8107680" y="3610661"/>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Support the weaker parental voice</a:t>
            </a:r>
            <a:endParaRPr lang="en-US" sz="880" dirty="0"/>
          </a:p>
        </p:txBody>
      </p:sp>
      <p:sp>
        <p:nvSpPr>
          <p:cNvPr id="38" name="Shape 36"/>
          <p:cNvSpPr/>
          <p:nvPr/>
        </p:nvSpPr>
        <p:spPr>
          <a:xfrm>
            <a:off x="8107680" y="3856330"/>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Keep children out of the executive</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ALLIANCE</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The adolescent’s confidence</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Adolescents need a space that is theirs. Confidentiality must be negotiated explicitly with parents — and its</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limits stated in advance.</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291338"/>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Combrinck-Graham (2006); Sori &amp; Hecker</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(2015).</a:t>
            </a:r>
            <a:endParaRPr lang="en-US" sz="62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13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61</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Development as a clinical frame</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Each stage carries a task, a vulnerability and a particular way of speaking without words.</a:t>
            </a:r>
            <a:endParaRPr lang="en-US" sz="1060" dirty="0"/>
          </a:p>
        </p:txBody>
      </p:sp>
      <p:sp>
        <p:nvSpPr>
          <p:cNvPr id="10" name="Shape 8"/>
          <p:cNvSpPr/>
          <p:nvPr/>
        </p:nvSpPr>
        <p:spPr>
          <a:xfrm>
            <a:off x="822960" y="2313432"/>
            <a:ext cx="10543032" cy="420624"/>
          </a:xfrm>
          <a:prstGeom prst="rect">
            <a:avLst/>
          </a:prstGeom>
          <a:solidFill>
            <a:srgbClr val="1B1815"/>
          </a:solidFill>
          <a:ln w="12700">
            <a:solidFill>
              <a:srgbClr val="FFFFFF">
                <a:alpha val="0"/>
              </a:srgbClr>
            </a:solidFill>
            <a:prstDash val="solid"/>
          </a:ln>
        </p:spPr>
      </p:sp>
      <p:sp>
        <p:nvSpPr>
          <p:cNvPr id="11" name="Text 9"/>
          <p:cNvSpPr txBox="1"/>
          <p:nvPr/>
        </p:nvSpPr>
        <p:spPr>
          <a:xfrm>
            <a:off x="822960" y="2403729"/>
            <a:ext cx="2072030" cy="420624"/>
          </a:xfrm>
          <a:prstGeom prst="rect">
            <a:avLst/>
          </a:prstGeom>
          <a:noFill/>
          <a:ln/>
        </p:spPr>
        <p:txBody>
          <a:bodyPr wrap="square" lIns="0" tIns="0" rIns="0" bIns="0" rtlCol="0" anchor="t"/>
          <a:lstStyle/>
          <a:p>
            <a:pPr algn="ctr" indent="0" marL="0">
              <a:lnSpc>
                <a:spcPts val="1890"/>
              </a:lnSpc>
              <a:buNone/>
            </a:pPr>
            <a:r>
              <a:rPr lang="en-US" sz="1400" dirty="0">
                <a:solidFill>
                  <a:srgbClr val="E7D3A9"/>
                </a:solidFill>
                <a:latin typeface="Georgia" pitchFamily="34" charset="0"/>
                <a:ea typeface="Georgia" pitchFamily="34" charset="-122"/>
                <a:cs typeface="Georgia" pitchFamily="34" charset="-120"/>
              </a:rPr>
              <a:t>0–3</a:t>
            </a:r>
            <a:endParaRPr lang="en-US" sz="1400" dirty="0"/>
          </a:p>
        </p:txBody>
      </p:sp>
      <p:sp>
        <p:nvSpPr>
          <p:cNvPr id="12" name="Text 10"/>
          <p:cNvSpPr txBox="1"/>
          <p:nvPr/>
        </p:nvSpPr>
        <p:spPr>
          <a:xfrm>
            <a:off x="822960" y="2862072"/>
            <a:ext cx="2072030" cy="305816"/>
          </a:xfrm>
          <a:prstGeom prst="rect">
            <a:avLst/>
          </a:prstGeom>
          <a:noFill/>
          <a:ln/>
        </p:spPr>
        <p:txBody>
          <a:bodyPr wrap="square" lIns="0" tIns="0" rIns="0" bIns="0" rtlCol="0" anchor="t"/>
          <a:lstStyle/>
          <a:p>
            <a:pPr algn="ctr" indent="0" marL="0">
              <a:lnSpc>
                <a:spcPts val="1288"/>
              </a:lnSpc>
              <a:buNone/>
            </a:pPr>
            <a:r>
              <a:rPr lang="en-US" sz="1120" dirty="0">
                <a:solidFill>
                  <a:srgbClr val="1B1815"/>
                </a:solidFill>
                <a:latin typeface="Georgia" pitchFamily="34" charset="0"/>
                <a:ea typeface="Georgia" pitchFamily="34" charset="-122"/>
                <a:cs typeface="Georgia" pitchFamily="34" charset="-120"/>
              </a:rPr>
              <a:t>Infancy &amp; toddlerhood</a:t>
            </a:r>
            <a:endParaRPr lang="en-US" sz="1120" dirty="0"/>
          </a:p>
        </p:txBody>
      </p:sp>
      <p:sp>
        <p:nvSpPr>
          <p:cNvPr id="13" name="Text 11"/>
          <p:cNvSpPr txBox="1"/>
          <p:nvPr/>
        </p:nvSpPr>
        <p:spPr>
          <a:xfrm>
            <a:off x="932688" y="3538728"/>
            <a:ext cx="1852574" cy="238760"/>
          </a:xfrm>
          <a:prstGeom prst="rect">
            <a:avLst/>
          </a:prstGeom>
          <a:noFill/>
          <a:ln/>
        </p:spPr>
        <p:txBody>
          <a:bodyPr wrap="square" lIns="0" tIns="0" rIns="0" bIns="0" rtlCol="0" anchor="t"/>
          <a:lstStyle/>
          <a:p>
            <a:pPr algn="ctr" indent="0" marL="0">
              <a:lnSpc>
                <a:spcPts val="1080"/>
              </a:lnSpc>
              <a:buNone/>
            </a:pPr>
            <a:r>
              <a:rPr lang="en-US" sz="800" dirty="0">
                <a:solidFill>
                  <a:srgbClr val="5B544A"/>
                </a:solidFill>
                <a:latin typeface="Calibri" pitchFamily="34" charset="0"/>
                <a:ea typeface="Calibri" pitchFamily="34" charset="-122"/>
                <a:cs typeface="Calibri" pitchFamily="34" charset="-120"/>
              </a:rPr>
              <a:t>Attachment, regulation, co-regulation</a:t>
            </a:r>
            <a:endParaRPr lang="en-US" sz="800" dirty="0"/>
          </a:p>
        </p:txBody>
      </p:sp>
      <p:sp>
        <p:nvSpPr>
          <p:cNvPr id="14" name="Shape 12"/>
          <p:cNvSpPr/>
          <p:nvPr/>
        </p:nvSpPr>
        <p:spPr>
          <a:xfrm>
            <a:off x="1024128" y="4160520"/>
            <a:ext cx="1669694" cy="91"/>
          </a:xfrm>
          <a:prstGeom prst="line">
            <a:avLst/>
          </a:prstGeom>
          <a:noFill/>
          <a:ln w="7620">
            <a:solidFill>
              <a:srgbClr val="D9CDB7"/>
            </a:solidFill>
            <a:prstDash val="solid"/>
            <a:headEnd type="none"/>
            <a:tailEnd type="none"/>
          </a:ln>
        </p:spPr>
      </p:sp>
      <p:sp>
        <p:nvSpPr>
          <p:cNvPr id="15" name="Text 13"/>
          <p:cNvSpPr txBox="1"/>
          <p:nvPr/>
        </p:nvSpPr>
        <p:spPr>
          <a:xfrm>
            <a:off x="932688" y="4325112"/>
            <a:ext cx="1852574" cy="244729"/>
          </a:xfrm>
          <a:prstGeom prst="rect">
            <a:avLst/>
          </a:prstGeom>
          <a:noFill/>
          <a:ln/>
        </p:spPr>
        <p:txBody>
          <a:bodyPr wrap="square" lIns="0" tIns="0" rIns="0" bIns="0" rtlCol="0" anchor="t"/>
          <a:lstStyle/>
          <a:p>
            <a:pPr algn="ctr" indent="0" marL="0">
              <a:lnSpc>
                <a:spcPts val="1107"/>
              </a:lnSpc>
              <a:buNone/>
            </a:pPr>
            <a:r>
              <a:rPr lang="en-US" sz="820" dirty="0">
                <a:solidFill>
                  <a:srgbClr val="3F3A33"/>
                </a:solidFill>
                <a:latin typeface="Calibri" pitchFamily="34" charset="0"/>
                <a:ea typeface="Calibri" pitchFamily="34" charset="-122"/>
                <a:cs typeface="Calibri" pitchFamily="34" charset="-120"/>
              </a:rPr>
              <a:t>Include caregivers; observe the dyad</a:t>
            </a:r>
            <a:endParaRPr lang="en-US" sz="820" dirty="0"/>
          </a:p>
        </p:txBody>
      </p:sp>
      <p:sp>
        <p:nvSpPr>
          <p:cNvPr id="16" name="Text 14"/>
          <p:cNvSpPr txBox="1"/>
          <p:nvPr/>
        </p:nvSpPr>
        <p:spPr>
          <a:xfrm>
            <a:off x="822960" y="4690872"/>
            <a:ext cx="2072030" cy="179070"/>
          </a:xfrm>
          <a:prstGeom prst="rect">
            <a:avLst/>
          </a:prstGeom>
          <a:noFill/>
          <a:ln/>
        </p:spPr>
        <p:txBody>
          <a:bodyPr wrap="square" lIns="0" tIns="0" rIns="0" bIns="0" rtlCol="0" anchor="t"/>
          <a:lstStyle/>
          <a:p>
            <a:pPr algn="ctr" indent="0" marL="0">
              <a:lnSpc>
                <a:spcPts val="810"/>
              </a:lnSpc>
              <a:buNone/>
            </a:pPr>
            <a:r>
              <a:rPr lang="en-US" sz="600" spc="120" kern="0" dirty="0">
                <a:solidFill>
                  <a:srgbClr val="96733C">
                    <a:alpha val="75000"/>
                  </a:srgbClr>
                </a:solidFill>
                <a:latin typeface="Calibri" pitchFamily="34" charset="0"/>
                <a:ea typeface="Calibri" pitchFamily="34" charset="-122"/>
                <a:cs typeface="Calibri" pitchFamily="34" charset="-120"/>
              </a:rPr>
              <a:t>CLINICAL FOCUS</a:t>
            </a:r>
            <a:endParaRPr lang="en-US" sz="600" dirty="0"/>
          </a:p>
        </p:txBody>
      </p:sp>
      <p:sp>
        <p:nvSpPr>
          <p:cNvPr id="17" name="Text 15"/>
          <p:cNvSpPr txBox="1"/>
          <p:nvPr/>
        </p:nvSpPr>
        <p:spPr>
          <a:xfrm>
            <a:off x="2894990" y="2403729"/>
            <a:ext cx="2072030" cy="420624"/>
          </a:xfrm>
          <a:prstGeom prst="rect">
            <a:avLst/>
          </a:prstGeom>
          <a:noFill/>
          <a:ln/>
        </p:spPr>
        <p:txBody>
          <a:bodyPr wrap="square" lIns="0" tIns="0" rIns="0" bIns="0" rtlCol="0" anchor="t"/>
          <a:lstStyle/>
          <a:p>
            <a:pPr algn="ctr" indent="0" marL="0">
              <a:lnSpc>
                <a:spcPts val="1890"/>
              </a:lnSpc>
              <a:buNone/>
            </a:pPr>
            <a:r>
              <a:rPr lang="en-US" sz="1400" dirty="0">
                <a:solidFill>
                  <a:srgbClr val="E7D3A9"/>
                </a:solidFill>
                <a:latin typeface="Georgia" pitchFamily="34" charset="0"/>
                <a:ea typeface="Georgia" pitchFamily="34" charset="-122"/>
                <a:cs typeface="Georgia" pitchFamily="34" charset="-120"/>
              </a:rPr>
              <a:t>4–6</a:t>
            </a:r>
            <a:endParaRPr lang="en-US" sz="1400" dirty="0"/>
          </a:p>
        </p:txBody>
      </p:sp>
      <p:sp>
        <p:nvSpPr>
          <p:cNvPr id="18" name="Text 16"/>
          <p:cNvSpPr txBox="1"/>
          <p:nvPr/>
        </p:nvSpPr>
        <p:spPr>
          <a:xfrm>
            <a:off x="2894990" y="2862072"/>
            <a:ext cx="2072030" cy="305816"/>
          </a:xfrm>
          <a:prstGeom prst="rect">
            <a:avLst/>
          </a:prstGeom>
          <a:noFill/>
          <a:ln/>
        </p:spPr>
        <p:txBody>
          <a:bodyPr wrap="square" lIns="0" tIns="0" rIns="0" bIns="0" rtlCol="0" anchor="t"/>
          <a:lstStyle/>
          <a:p>
            <a:pPr algn="ctr" indent="0" marL="0">
              <a:lnSpc>
                <a:spcPts val="1288"/>
              </a:lnSpc>
              <a:buNone/>
            </a:pPr>
            <a:r>
              <a:rPr lang="en-US" sz="1120" dirty="0">
                <a:solidFill>
                  <a:srgbClr val="1B1815"/>
                </a:solidFill>
                <a:latin typeface="Georgia" pitchFamily="34" charset="0"/>
                <a:ea typeface="Georgia" pitchFamily="34" charset="-122"/>
                <a:cs typeface="Georgia" pitchFamily="34" charset="-120"/>
              </a:rPr>
              <a:t>Early childhood</a:t>
            </a:r>
            <a:endParaRPr lang="en-US" sz="1120" dirty="0"/>
          </a:p>
        </p:txBody>
      </p:sp>
      <p:sp>
        <p:nvSpPr>
          <p:cNvPr id="19" name="Text 17"/>
          <p:cNvSpPr txBox="1"/>
          <p:nvPr/>
        </p:nvSpPr>
        <p:spPr>
          <a:xfrm>
            <a:off x="3004718" y="3538728"/>
            <a:ext cx="1852574" cy="238760"/>
          </a:xfrm>
          <a:prstGeom prst="rect">
            <a:avLst/>
          </a:prstGeom>
          <a:noFill/>
          <a:ln/>
        </p:spPr>
        <p:txBody>
          <a:bodyPr wrap="square" lIns="0" tIns="0" rIns="0" bIns="0" rtlCol="0" anchor="t"/>
          <a:lstStyle/>
          <a:p>
            <a:pPr algn="ctr" indent="0" marL="0">
              <a:lnSpc>
                <a:spcPts val="1080"/>
              </a:lnSpc>
              <a:buNone/>
            </a:pPr>
            <a:r>
              <a:rPr lang="en-US" sz="800" dirty="0">
                <a:solidFill>
                  <a:srgbClr val="5B544A"/>
                </a:solidFill>
                <a:latin typeface="Calibri" pitchFamily="34" charset="0"/>
                <a:ea typeface="Calibri" pitchFamily="34" charset="-122"/>
                <a:cs typeface="Calibri" pitchFamily="34" charset="-120"/>
              </a:rPr>
              <a:t>Language, play, initiative</a:t>
            </a:r>
            <a:endParaRPr lang="en-US" sz="800" dirty="0"/>
          </a:p>
        </p:txBody>
      </p:sp>
      <p:sp>
        <p:nvSpPr>
          <p:cNvPr id="20" name="Shape 18"/>
          <p:cNvSpPr/>
          <p:nvPr/>
        </p:nvSpPr>
        <p:spPr>
          <a:xfrm>
            <a:off x="3096158" y="4160520"/>
            <a:ext cx="1669694" cy="91"/>
          </a:xfrm>
          <a:prstGeom prst="line">
            <a:avLst/>
          </a:prstGeom>
          <a:noFill/>
          <a:ln w="7620">
            <a:solidFill>
              <a:srgbClr val="D9CDB7"/>
            </a:solidFill>
            <a:prstDash val="solid"/>
            <a:headEnd type="none"/>
            <a:tailEnd type="none"/>
          </a:ln>
        </p:spPr>
      </p:sp>
      <p:sp>
        <p:nvSpPr>
          <p:cNvPr id="21" name="Text 19"/>
          <p:cNvSpPr txBox="1"/>
          <p:nvPr/>
        </p:nvSpPr>
        <p:spPr>
          <a:xfrm>
            <a:off x="3004718" y="4325112"/>
            <a:ext cx="1852574" cy="244729"/>
          </a:xfrm>
          <a:prstGeom prst="rect">
            <a:avLst/>
          </a:prstGeom>
          <a:noFill/>
          <a:ln/>
        </p:spPr>
        <p:txBody>
          <a:bodyPr wrap="square" lIns="0" tIns="0" rIns="0" bIns="0" rtlCol="0" anchor="t"/>
          <a:lstStyle/>
          <a:p>
            <a:pPr algn="ctr" indent="0" marL="0">
              <a:lnSpc>
                <a:spcPts val="1107"/>
              </a:lnSpc>
              <a:buNone/>
            </a:pPr>
            <a:r>
              <a:rPr lang="en-US" sz="820" dirty="0">
                <a:solidFill>
                  <a:srgbClr val="3F3A33"/>
                </a:solidFill>
                <a:latin typeface="Calibri" pitchFamily="34" charset="0"/>
                <a:ea typeface="Calibri" pitchFamily="34" charset="-122"/>
                <a:cs typeface="Calibri" pitchFamily="34" charset="-120"/>
              </a:rPr>
              <a:t>Play-based methods; parent guidance</a:t>
            </a:r>
            <a:endParaRPr lang="en-US" sz="820" dirty="0"/>
          </a:p>
        </p:txBody>
      </p:sp>
      <p:sp>
        <p:nvSpPr>
          <p:cNvPr id="22" name="Text 20"/>
          <p:cNvSpPr txBox="1"/>
          <p:nvPr/>
        </p:nvSpPr>
        <p:spPr>
          <a:xfrm>
            <a:off x="2894990" y="4690872"/>
            <a:ext cx="2072030" cy="179070"/>
          </a:xfrm>
          <a:prstGeom prst="rect">
            <a:avLst/>
          </a:prstGeom>
          <a:noFill/>
          <a:ln/>
        </p:spPr>
        <p:txBody>
          <a:bodyPr wrap="square" lIns="0" tIns="0" rIns="0" bIns="0" rtlCol="0" anchor="t"/>
          <a:lstStyle/>
          <a:p>
            <a:pPr algn="ctr" indent="0" marL="0">
              <a:lnSpc>
                <a:spcPts val="810"/>
              </a:lnSpc>
              <a:buNone/>
            </a:pPr>
            <a:r>
              <a:rPr lang="en-US" sz="600" spc="120" kern="0" dirty="0">
                <a:solidFill>
                  <a:srgbClr val="96733C">
                    <a:alpha val="75000"/>
                  </a:srgbClr>
                </a:solidFill>
                <a:latin typeface="Calibri" pitchFamily="34" charset="0"/>
                <a:ea typeface="Calibri" pitchFamily="34" charset="-122"/>
                <a:cs typeface="Calibri" pitchFamily="34" charset="-120"/>
              </a:rPr>
              <a:t>CLINICAL FOCUS</a:t>
            </a:r>
            <a:endParaRPr lang="en-US" sz="600" dirty="0"/>
          </a:p>
        </p:txBody>
      </p:sp>
      <p:sp>
        <p:nvSpPr>
          <p:cNvPr id="23" name="Shape 21"/>
          <p:cNvSpPr/>
          <p:nvPr/>
        </p:nvSpPr>
        <p:spPr>
          <a:xfrm>
            <a:off x="2894990" y="2816352"/>
            <a:ext cx="91" cy="2606040"/>
          </a:xfrm>
          <a:prstGeom prst="line">
            <a:avLst/>
          </a:prstGeom>
          <a:noFill/>
          <a:ln w="6350">
            <a:solidFill>
              <a:srgbClr val="D9CDB7">
                <a:alpha val="60000"/>
              </a:srgbClr>
            </a:solidFill>
            <a:prstDash val="solid"/>
            <a:headEnd type="none"/>
            <a:tailEnd type="none"/>
          </a:ln>
        </p:spPr>
      </p:sp>
      <p:sp>
        <p:nvSpPr>
          <p:cNvPr id="24" name="Text 22"/>
          <p:cNvSpPr txBox="1"/>
          <p:nvPr/>
        </p:nvSpPr>
        <p:spPr>
          <a:xfrm>
            <a:off x="4967021" y="2403729"/>
            <a:ext cx="2072030" cy="420624"/>
          </a:xfrm>
          <a:prstGeom prst="rect">
            <a:avLst/>
          </a:prstGeom>
          <a:noFill/>
          <a:ln/>
        </p:spPr>
        <p:txBody>
          <a:bodyPr wrap="square" lIns="0" tIns="0" rIns="0" bIns="0" rtlCol="0" anchor="t"/>
          <a:lstStyle/>
          <a:p>
            <a:pPr algn="ctr" indent="0" marL="0">
              <a:lnSpc>
                <a:spcPts val="1890"/>
              </a:lnSpc>
              <a:buNone/>
            </a:pPr>
            <a:r>
              <a:rPr lang="en-US" sz="1400" dirty="0">
                <a:solidFill>
                  <a:srgbClr val="E7D3A9"/>
                </a:solidFill>
                <a:latin typeface="Georgia" pitchFamily="34" charset="0"/>
                <a:ea typeface="Georgia" pitchFamily="34" charset="-122"/>
                <a:cs typeface="Georgia" pitchFamily="34" charset="-120"/>
              </a:rPr>
              <a:t>7–11</a:t>
            </a:r>
            <a:endParaRPr lang="en-US" sz="1400" dirty="0"/>
          </a:p>
        </p:txBody>
      </p:sp>
      <p:sp>
        <p:nvSpPr>
          <p:cNvPr id="25" name="Text 23"/>
          <p:cNvSpPr txBox="1"/>
          <p:nvPr/>
        </p:nvSpPr>
        <p:spPr>
          <a:xfrm>
            <a:off x="4967021" y="2862072"/>
            <a:ext cx="2072030" cy="305816"/>
          </a:xfrm>
          <a:prstGeom prst="rect">
            <a:avLst/>
          </a:prstGeom>
          <a:noFill/>
          <a:ln/>
        </p:spPr>
        <p:txBody>
          <a:bodyPr wrap="square" lIns="0" tIns="0" rIns="0" bIns="0" rtlCol="0" anchor="t"/>
          <a:lstStyle/>
          <a:p>
            <a:pPr algn="ctr" indent="0" marL="0">
              <a:lnSpc>
                <a:spcPts val="1288"/>
              </a:lnSpc>
              <a:buNone/>
            </a:pPr>
            <a:r>
              <a:rPr lang="en-US" sz="1120" dirty="0">
                <a:solidFill>
                  <a:srgbClr val="1B1815"/>
                </a:solidFill>
                <a:latin typeface="Georgia" pitchFamily="34" charset="0"/>
                <a:ea typeface="Georgia" pitchFamily="34" charset="-122"/>
                <a:cs typeface="Georgia" pitchFamily="34" charset="-120"/>
              </a:rPr>
              <a:t>Middle childhood</a:t>
            </a:r>
            <a:endParaRPr lang="en-US" sz="1120" dirty="0"/>
          </a:p>
        </p:txBody>
      </p:sp>
      <p:sp>
        <p:nvSpPr>
          <p:cNvPr id="26" name="Text 24"/>
          <p:cNvSpPr txBox="1"/>
          <p:nvPr/>
        </p:nvSpPr>
        <p:spPr>
          <a:xfrm>
            <a:off x="5076749" y="3538728"/>
            <a:ext cx="1852574" cy="238760"/>
          </a:xfrm>
          <a:prstGeom prst="rect">
            <a:avLst/>
          </a:prstGeom>
          <a:noFill/>
          <a:ln/>
        </p:spPr>
        <p:txBody>
          <a:bodyPr wrap="square" lIns="0" tIns="0" rIns="0" bIns="0" rtlCol="0" anchor="t"/>
          <a:lstStyle/>
          <a:p>
            <a:pPr algn="ctr" indent="0" marL="0">
              <a:lnSpc>
                <a:spcPts val="1080"/>
              </a:lnSpc>
              <a:buNone/>
            </a:pPr>
            <a:r>
              <a:rPr lang="en-US" sz="800" dirty="0">
                <a:solidFill>
                  <a:srgbClr val="5B544A"/>
                </a:solidFill>
                <a:latin typeface="Calibri" pitchFamily="34" charset="0"/>
                <a:ea typeface="Calibri" pitchFamily="34" charset="-122"/>
                <a:cs typeface="Calibri" pitchFamily="34" charset="-120"/>
              </a:rPr>
              <a:t>School, peers, competence</a:t>
            </a:r>
            <a:endParaRPr lang="en-US" sz="800" dirty="0"/>
          </a:p>
        </p:txBody>
      </p:sp>
      <p:sp>
        <p:nvSpPr>
          <p:cNvPr id="27" name="Shape 25"/>
          <p:cNvSpPr/>
          <p:nvPr/>
        </p:nvSpPr>
        <p:spPr>
          <a:xfrm>
            <a:off x="5168189" y="4160520"/>
            <a:ext cx="1669694" cy="91"/>
          </a:xfrm>
          <a:prstGeom prst="line">
            <a:avLst/>
          </a:prstGeom>
          <a:noFill/>
          <a:ln w="7620">
            <a:solidFill>
              <a:srgbClr val="D9CDB7"/>
            </a:solidFill>
            <a:prstDash val="solid"/>
            <a:headEnd type="none"/>
            <a:tailEnd type="none"/>
          </a:ln>
        </p:spPr>
      </p:sp>
      <p:sp>
        <p:nvSpPr>
          <p:cNvPr id="28" name="Text 26"/>
          <p:cNvSpPr txBox="1"/>
          <p:nvPr/>
        </p:nvSpPr>
        <p:spPr>
          <a:xfrm>
            <a:off x="5076749" y="4325112"/>
            <a:ext cx="1852574" cy="244729"/>
          </a:xfrm>
          <a:prstGeom prst="rect">
            <a:avLst/>
          </a:prstGeom>
          <a:noFill/>
          <a:ln/>
        </p:spPr>
        <p:txBody>
          <a:bodyPr wrap="square" lIns="0" tIns="0" rIns="0" bIns="0" rtlCol="0" anchor="t"/>
          <a:lstStyle/>
          <a:p>
            <a:pPr algn="ctr" indent="0" marL="0">
              <a:lnSpc>
                <a:spcPts val="1107"/>
              </a:lnSpc>
              <a:buNone/>
            </a:pPr>
            <a:r>
              <a:rPr lang="en-US" sz="820" dirty="0">
                <a:solidFill>
                  <a:srgbClr val="3F3A33"/>
                </a:solidFill>
                <a:latin typeface="Calibri" pitchFamily="34" charset="0"/>
                <a:ea typeface="Calibri" pitchFamily="34" charset="-122"/>
                <a:cs typeface="Calibri" pitchFamily="34" charset="-120"/>
              </a:rPr>
              <a:t>School–family liaison; structure</a:t>
            </a:r>
            <a:endParaRPr lang="en-US" sz="820" dirty="0"/>
          </a:p>
        </p:txBody>
      </p:sp>
      <p:sp>
        <p:nvSpPr>
          <p:cNvPr id="29" name="Text 27"/>
          <p:cNvSpPr txBox="1"/>
          <p:nvPr/>
        </p:nvSpPr>
        <p:spPr>
          <a:xfrm>
            <a:off x="4967021" y="4690872"/>
            <a:ext cx="2072030" cy="179070"/>
          </a:xfrm>
          <a:prstGeom prst="rect">
            <a:avLst/>
          </a:prstGeom>
          <a:noFill/>
          <a:ln/>
        </p:spPr>
        <p:txBody>
          <a:bodyPr wrap="square" lIns="0" tIns="0" rIns="0" bIns="0" rtlCol="0" anchor="t"/>
          <a:lstStyle/>
          <a:p>
            <a:pPr algn="ctr" indent="0" marL="0">
              <a:lnSpc>
                <a:spcPts val="810"/>
              </a:lnSpc>
              <a:buNone/>
            </a:pPr>
            <a:r>
              <a:rPr lang="en-US" sz="600" spc="120" kern="0" dirty="0">
                <a:solidFill>
                  <a:srgbClr val="96733C">
                    <a:alpha val="75000"/>
                  </a:srgbClr>
                </a:solidFill>
                <a:latin typeface="Calibri" pitchFamily="34" charset="0"/>
                <a:ea typeface="Calibri" pitchFamily="34" charset="-122"/>
                <a:cs typeface="Calibri" pitchFamily="34" charset="-120"/>
              </a:rPr>
              <a:t>CLINICAL FOCUS</a:t>
            </a:r>
            <a:endParaRPr lang="en-US" sz="600" dirty="0"/>
          </a:p>
        </p:txBody>
      </p:sp>
      <p:sp>
        <p:nvSpPr>
          <p:cNvPr id="30" name="Shape 28"/>
          <p:cNvSpPr/>
          <p:nvPr/>
        </p:nvSpPr>
        <p:spPr>
          <a:xfrm>
            <a:off x="4967021" y="2816352"/>
            <a:ext cx="91" cy="2606040"/>
          </a:xfrm>
          <a:prstGeom prst="line">
            <a:avLst/>
          </a:prstGeom>
          <a:noFill/>
          <a:ln w="6350">
            <a:solidFill>
              <a:srgbClr val="D9CDB7">
                <a:alpha val="60000"/>
              </a:srgbClr>
            </a:solidFill>
            <a:prstDash val="solid"/>
            <a:headEnd type="none"/>
            <a:tailEnd type="none"/>
          </a:ln>
        </p:spPr>
      </p:sp>
      <p:sp>
        <p:nvSpPr>
          <p:cNvPr id="31" name="Text 29"/>
          <p:cNvSpPr txBox="1"/>
          <p:nvPr/>
        </p:nvSpPr>
        <p:spPr>
          <a:xfrm>
            <a:off x="7039051" y="2403729"/>
            <a:ext cx="2072030" cy="420624"/>
          </a:xfrm>
          <a:prstGeom prst="rect">
            <a:avLst/>
          </a:prstGeom>
          <a:noFill/>
          <a:ln/>
        </p:spPr>
        <p:txBody>
          <a:bodyPr wrap="square" lIns="0" tIns="0" rIns="0" bIns="0" rtlCol="0" anchor="t"/>
          <a:lstStyle/>
          <a:p>
            <a:pPr algn="ctr" indent="0" marL="0">
              <a:lnSpc>
                <a:spcPts val="1890"/>
              </a:lnSpc>
              <a:buNone/>
            </a:pPr>
            <a:r>
              <a:rPr lang="en-US" sz="1400" dirty="0">
                <a:solidFill>
                  <a:srgbClr val="E7D3A9"/>
                </a:solidFill>
                <a:latin typeface="Georgia" pitchFamily="34" charset="0"/>
                <a:ea typeface="Georgia" pitchFamily="34" charset="-122"/>
                <a:cs typeface="Georgia" pitchFamily="34" charset="-120"/>
              </a:rPr>
              <a:t>12–18</a:t>
            </a:r>
            <a:endParaRPr lang="en-US" sz="1400" dirty="0"/>
          </a:p>
        </p:txBody>
      </p:sp>
      <p:sp>
        <p:nvSpPr>
          <p:cNvPr id="32" name="Text 30"/>
          <p:cNvSpPr txBox="1"/>
          <p:nvPr/>
        </p:nvSpPr>
        <p:spPr>
          <a:xfrm>
            <a:off x="7039051" y="2862072"/>
            <a:ext cx="2072030" cy="305816"/>
          </a:xfrm>
          <a:prstGeom prst="rect">
            <a:avLst/>
          </a:prstGeom>
          <a:noFill/>
          <a:ln/>
        </p:spPr>
        <p:txBody>
          <a:bodyPr wrap="square" lIns="0" tIns="0" rIns="0" bIns="0" rtlCol="0" anchor="t"/>
          <a:lstStyle/>
          <a:p>
            <a:pPr algn="ctr" indent="0" marL="0">
              <a:lnSpc>
                <a:spcPts val="1288"/>
              </a:lnSpc>
              <a:buNone/>
            </a:pPr>
            <a:r>
              <a:rPr lang="en-US" sz="1120" dirty="0">
                <a:solidFill>
                  <a:srgbClr val="1B1815"/>
                </a:solidFill>
                <a:latin typeface="Georgia" pitchFamily="34" charset="0"/>
                <a:ea typeface="Georgia" pitchFamily="34" charset="-122"/>
                <a:cs typeface="Georgia" pitchFamily="34" charset="-120"/>
              </a:rPr>
              <a:t>Adolescence</a:t>
            </a:r>
            <a:endParaRPr lang="en-US" sz="1120" dirty="0"/>
          </a:p>
        </p:txBody>
      </p:sp>
      <p:sp>
        <p:nvSpPr>
          <p:cNvPr id="33" name="Text 31"/>
          <p:cNvSpPr txBox="1"/>
          <p:nvPr/>
        </p:nvSpPr>
        <p:spPr>
          <a:xfrm>
            <a:off x="7148779" y="3538728"/>
            <a:ext cx="1852574" cy="238760"/>
          </a:xfrm>
          <a:prstGeom prst="rect">
            <a:avLst/>
          </a:prstGeom>
          <a:noFill/>
          <a:ln/>
        </p:spPr>
        <p:txBody>
          <a:bodyPr wrap="square" lIns="0" tIns="0" rIns="0" bIns="0" rtlCol="0" anchor="t"/>
          <a:lstStyle/>
          <a:p>
            <a:pPr algn="ctr" indent="0" marL="0">
              <a:lnSpc>
                <a:spcPts val="1080"/>
              </a:lnSpc>
              <a:buNone/>
            </a:pPr>
            <a:r>
              <a:rPr lang="en-US" sz="800" dirty="0">
                <a:solidFill>
                  <a:srgbClr val="5B544A"/>
                </a:solidFill>
                <a:latin typeface="Calibri" pitchFamily="34" charset="0"/>
                <a:ea typeface="Calibri" pitchFamily="34" charset="-122"/>
                <a:cs typeface="Calibri" pitchFamily="34" charset="-120"/>
              </a:rPr>
              <a:t>Identity, autonomy, sexuality</a:t>
            </a:r>
            <a:endParaRPr lang="en-US" sz="800" dirty="0"/>
          </a:p>
        </p:txBody>
      </p:sp>
      <p:sp>
        <p:nvSpPr>
          <p:cNvPr id="34" name="Shape 32"/>
          <p:cNvSpPr/>
          <p:nvPr/>
        </p:nvSpPr>
        <p:spPr>
          <a:xfrm>
            <a:off x="7240219" y="4160520"/>
            <a:ext cx="1669694" cy="91"/>
          </a:xfrm>
          <a:prstGeom prst="line">
            <a:avLst/>
          </a:prstGeom>
          <a:noFill/>
          <a:ln w="7620">
            <a:solidFill>
              <a:srgbClr val="D9CDB7"/>
            </a:solidFill>
            <a:prstDash val="solid"/>
            <a:headEnd type="none"/>
            <a:tailEnd type="none"/>
          </a:ln>
        </p:spPr>
      </p:sp>
      <p:sp>
        <p:nvSpPr>
          <p:cNvPr id="35" name="Text 33"/>
          <p:cNvSpPr txBox="1"/>
          <p:nvPr/>
        </p:nvSpPr>
        <p:spPr>
          <a:xfrm>
            <a:off x="7148779" y="4325112"/>
            <a:ext cx="1852574" cy="244729"/>
          </a:xfrm>
          <a:prstGeom prst="rect">
            <a:avLst/>
          </a:prstGeom>
          <a:noFill/>
          <a:ln/>
        </p:spPr>
        <p:txBody>
          <a:bodyPr wrap="square" lIns="0" tIns="0" rIns="0" bIns="0" rtlCol="0" anchor="t"/>
          <a:lstStyle/>
          <a:p>
            <a:pPr algn="ctr" indent="0" marL="0">
              <a:lnSpc>
                <a:spcPts val="1107"/>
              </a:lnSpc>
              <a:buNone/>
            </a:pPr>
            <a:r>
              <a:rPr lang="en-US" sz="820" dirty="0">
                <a:solidFill>
                  <a:srgbClr val="3F3A33"/>
                </a:solidFill>
                <a:latin typeface="Calibri" pitchFamily="34" charset="0"/>
                <a:ea typeface="Calibri" pitchFamily="34" charset="-122"/>
                <a:cs typeface="Calibri" pitchFamily="34" charset="-120"/>
              </a:rPr>
              <a:t>Negotiate privacy; alliance with teen</a:t>
            </a:r>
            <a:endParaRPr lang="en-US" sz="820" dirty="0"/>
          </a:p>
        </p:txBody>
      </p:sp>
      <p:sp>
        <p:nvSpPr>
          <p:cNvPr id="36" name="Text 34"/>
          <p:cNvSpPr txBox="1"/>
          <p:nvPr/>
        </p:nvSpPr>
        <p:spPr>
          <a:xfrm>
            <a:off x="7039051" y="4690872"/>
            <a:ext cx="2072030" cy="179070"/>
          </a:xfrm>
          <a:prstGeom prst="rect">
            <a:avLst/>
          </a:prstGeom>
          <a:noFill/>
          <a:ln/>
        </p:spPr>
        <p:txBody>
          <a:bodyPr wrap="square" lIns="0" tIns="0" rIns="0" bIns="0" rtlCol="0" anchor="t"/>
          <a:lstStyle/>
          <a:p>
            <a:pPr algn="ctr" indent="0" marL="0">
              <a:lnSpc>
                <a:spcPts val="810"/>
              </a:lnSpc>
              <a:buNone/>
            </a:pPr>
            <a:r>
              <a:rPr lang="en-US" sz="600" spc="120" kern="0" dirty="0">
                <a:solidFill>
                  <a:srgbClr val="96733C">
                    <a:alpha val="75000"/>
                  </a:srgbClr>
                </a:solidFill>
                <a:latin typeface="Calibri" pitchFamily="34" charset="0"/>
                <a:ea typeface="Calibri" pitchFamily="34" charset="-122"/>
                <a:cs typeface="Calibri" pitchFamily="34" charset="-120"/>
              </a:rPr>
              <a:t>CLINICAL FOCUS</a:t>
            </a:r>
            <a:endParaRPr lang="en-US" sz="600" dirty="0"/>
          </a:p>
        </p:txBody>
      </p:sp>
      <p:sp>
        <p:nvSpPr>
          <p:cNvPr id="37" name="Shape 35"/>
          <p:cNvSpPr/>
          <p:nvPr/>
        </p:nvSpPr>
        <p:spPr>
          <a:xfrm>
            <a:off x="7039051" y="2816352"/>
            <a:ext cx="91" cy="2606040"/>
          </a:xfrm>
          <a:prstGeom prst="line">
            <a:avLst/>
          </a:prstGeom>
          <a:noFill/>
          <a:ln w="6350">
            <a:solidFill>
              <a:srgbClr val="D9CDB7">
                <a:alpha val="60000"/>
              </a:srgbClr>
            </a:solidFill>
            <a:prstDash val="solid"/>
            <a:headEnd type="none"/>
            <a:tailEnd type="none"/>
          </a:ln>
        </p:spPr>
      </p:sp>
      <p:sp>
        <p:nvSpPr>
          <p:cNvPr id="38" name="Text 36"/>
          <p:cNvSpPr txBox="1"/>
          <p:nvPr/>
        </p:nvSpPr>
        <p:spPr>
          <a:xfrm>
            <a:off x="9111082" y="2403729"/>
            <a:ext cx="2072030" cy="420624"/>
          </a:xfrm>
          <a:prstGeom prst="rect">
            <a:avLst/>
          </a:prstGeom>
          <a:noFill/>
          <a:ln/>
        </p:spPr>
        <p:txBody>
          <a:bodyPr wrap="square" lIns="0" tIns="0" rIns="0" bIns="0" rtlCol="0" anchor="t"/>
          <a:lstStyle/>
          <a:p>
            <a:pPr algn="ctr" indent="0" marL="0">
              <a:lnSpc>
                <a:spcPts val="1890"/>
              </a:lnSpc>
              <a:buNone/>
            </a:pPr>
            <a:r>
              <a:rPr lang="en-US" sz="1400" dirty="0">
                <a:solidFill>
                  <a:srgbClr val="E7D3A9"/>
                </a:solidFill>
                <a:latin typeface="Georgia" pitchFamily="34" charset="0"/>
                <a:ea typeface="Georgia" pitchFamily="34" charset="-122"/>
                <a:cs typeface="Georgia" pitchFamily="34" charset="-120"/>
              </a:rPr>
              <a:t>19+</a:t>
            </a:r>
            <a:endParaRPr lang="en-US" sz="1400" dirty="0"/>
          </a:p>
        </p:txBody>
      </p:sp>
      <p:sp>
        <p:nvSpPr>
          <p:cNvPr id="39" name="Text 37"/>
          <p:cNvSpPr txBox="1"/>
          <p:nvPr/>
        </p:nvSpPr>
        <p:spPr>
          <a:xfrm>
            <a:off x="9111082" y="2862072"/>
            <a:ext cx="2072030" cy="305816"/>
          </a:xfrm>
          <a:prstGeom prst="rect">
            <a:avLst/>
          </a:prstGeom>
          <a:noFill/>
          <a:ln/>
        </p:spPr>
        <p:txBody>
          <a:bodyPr wrap="square" lIns="0" tIns="0" rIns="0" bIns="0" rtlCol="0" anchor="t"/>
          <a:lstStyle/>
          <a:p>
            <a:pPr algn="ctr" indent="0" marL="0">
              <a:lnSpc>
                <a:spcPts val="1288"/>
              </a:lnSpc>
              <a:buNone/>
            </a:pPr>
            <a:r>
              <a:rPr lang="en-US" sz="1120" dirty="0">
                <a:solidFill>
                  <a:srgbClr val="1B1815"/>
                </a:solidFill>
                <a:latin typeface="Georgia" pitchFamily="34" charset="0"/>
                <a:ea typeface="Georgia" pitchFamily="34" charset="-122"/>
                <a:cs typeface="Georgia" pitchFamily="34" charset="-120"/>
              </a:rPr>
              <a:t>Emerging adulthood</a:t>
            </a:r>
            <a:endParaRPr lang="en-US" sz="1120" dirty="0"/>
          </a:p>
        </p:txBody>
      </p:sp>
      <p:sp>
        <p:nvSpPr>
          <p:cNvPr id="40" name="Text 38"/>
          <p:cNvSpPr txBox="1"/>
          <p:nvPr/>
        </p:nvSpPr>
        <p:spPr>
          <a:xfrm>
            <a:off x="9220810" y="3538728"/>
            <a:ext cx="1852574" cy="238760"/>
          </a:xfrm>
          <a:prstGeom prst="rect">
            <a:avLst/>
          </a:prstGeom>
          <a:noFill/>
          <a:ln/>
        </p:spPr>
        <p:txBody>
          <a:bodyPr wrap="square" lIns="0" tIns="0" rIns="0" bIns="0" rtlCol="0" anchor="t"/>
          <a:lstStyle/>
          <a:p>
            <a:pPr algn="ctr" indent="0" marL="0">
              <a:lnSpc>
                <a:spcPts val="1080"/>
              </a:lnSpc>
              <a:buNone/>
            </a:pPr>
            <a:r>
              <a:rPr lang="en-US" sz="800" dirty="0">
                <a:solidFill>
                  <a:srgbClr val="5B544A"/>
                </a:solidFill>
                <a:latin typeface="Calibri" pitchFamily="34" charset="0"/>
                <a:ea typeface="Calibri" pitchFamily="34" charset="-122"/>
                <a:cs typeface="Calibri" pitchFamily="34" charset="-120"/>
              </a:rPr>
              <a:t>Launching, individuation</a:t>
            </a:r>
            <a:endParaRPr lang="en-US" sz="800" dirty="0"/>
          </a:p>
        </p:txBody>
      </p:sp>
      <p:sp>
        <p:nvSpPr>
          <p:cNvPr id="41" name="Shape 39"/>
          <p:cNvSpPr/>
          <p:nvPr/>
        </p:nvSpPr>
        <p:spPr>
          <a:xfrm>
            <a:off x="9312250" y="4160520"/>
            <a:ext cx="1669694" cy="91"/>
          </a:xfrm>
          <a:prstGeom prst="line">
            <a:avLst/>
          </a:prstGeom>
          <a:noFill/>
          <a:ln w="7620">
            <a:solidFill>
              <a:srgbClr val="D9CDB7"/>
            </a:solidFill>
            <a:prstDash val="solid"/>
            <a:headEnd type="none"/>
            <a:tailEnd type="none"/>
          </a:ln>
        </p:spPr>
      </p:sp>
      <p:sp>
        <p:nvSpPr>
          <p:cNvPr id="42" name="Text 40"/>
          <p:cNvSpPr txBox="1"/>
          <p:nvPr/>
        </p:nvSpPr>
        <p:spPr>
          <a:xfrm>
            <a:off x="9220810" y="4325112"/>
            <a:ext cx="1852574" cy="244729"/>
          </a:xfrm>
          <a:prstGeom prst="rect">
            <a:avLst/>
          </a:prstGeom>
          <a:noFill/>
          <a:ln/>
        </p:spPr>
        <p:txBody>
          <a:bodyPr wrap="square" lIns="0" tIns="0" rIns="0" bIns="0" rtlCol="0" anchor="t"/>
          <a:lstStyle/>
          <a:p>
            <a:pPr algn="ctr" indent="0" marL="0">
              <a:lnSpc>
                <a:spcPts val="1107"/>
              </a:lnSpc>
              <a:buNone/>
            </a:pPr>
            <a:r>
              <a:rPr lang="en-US" sz="820" dirty="0">
                <a:solidFill>
                  <a:srgbClr val="3F3A33"/>
                </a:solidFill>
                <a:latin typeface="Calibri" pitchFamily="34" charset="0"/>
                <a:ea typeface="Calibri" pitchFamily="34" charset="-122"/>
                <a:cs typeface="Calibri" pitchFamily="34" charset="-120"/>
              </a:rPr>
              <a:t>Re-contract the parent–child bond</a:t>
            </a:r>
            <a:endParaRPr lang="en-US" sz="820" dirty="0"/>
          </a:p>
        </p:txBody>
      </p:sp>
      <p:sp>
        <p:nvSpPr>
          <p:cNvPr id="43" name="Text 41"/>
          <p:cNvSpPr txBox="1"/>
          <p:nvPr/>
        </p:nvSpPr>
        <p:spPr>
          <a:xfrm>
            <a:off x="9111082" y="4690872"/>
            <a:ext cx="2072030" cy="179070"/>
          </a:xfrm>
          <a:prstGeom prst="rect">
            <a:avLst/>
          </a:prstGeom>
          <a:noFill/>
          <a:ln/>
        </p:spPr>
        <p:txBody>
          <a:bodyPr wrap="square" lIns="0" tIns="0" rIns="0" bIns="0" rtlCol="0" anchor="t"/>
          <a:lstStyle/>
          <a:p>
            <a:pPr algn="ctr" indent="0" marL="0">
              <a:lnSpc>
                <a:spcPts val="810"/>
              </a:lnSpc>
              <a:buNone/>
            </a:pPr>
            <a:r>
              <a:rPr lang="en-US" sz="600" spc="120" kern="0" dirty="0">
                <a:solidFill>
                  <a:srgbClr val="96733C">
                    <a:alpha val="75000"/>
                  </a:srgbClr>
                </a:solidFill>
                <a:latin typeface="Calibri" pitchFamily="34" charset="0"/>
                <a:ea typeface="Calibri" pitchFamily="34" charset="-122"/>
                <a:cs typeface="Calibri" pitchFamily="34" charset="-120"/>
              </a:rPr>
              <a:t>CLINICAL FOCUS</a:t>
            </a:r>
            <a:endParaRPr lang="en-US" sz="600" dirty="0"/>
          </a:p>
        </p:txBody>
      </p:sp>
      <p:sp>
        <p:nvSpPr>
          <p:cNvPr id="44" name="Shape 42"/>
          <p:cNvSpPr/>
          <p:nvPr/>
        </p:nvSpPr>
        <p:spPr>
          <a:xfrm>
            <a:off x="9111082" y="2816352"/>
            <a:ext cx="91" cy="2606040"/>
          </a:xfrm>
          <a:prstGeom prst="line">
            <a:avLst/>
          </a:prstGeom>
          <a:noFill/>
          <a:ln w="6350">
            <a:solidFill>
              <a:srgbClr val="D9CDB7">
                <a:alpha val="60000"/>
              </a:srgbClr>
            </a:solidFill>
            <a:prstDash val="solid"/>
            <a:headEnd type="none"/>
            <a:tailEnd type="none"/>
          </a:ln>
        </p:spPr>
      </p:sp>
      <p:sp>
        <p:nvSpPr>
          <p:cNvPr id="45" name="Shape 43"/>
          <p:cNvSpPr/>
          <p:nvPr/>
        </p:nvSpPr>
        <p:spPr>
          <a:xfrm>
            <a:off x="822960" y="4983480"/>
            <a:ext cx="10543032" cy="91"/>
          </a:xfrm>
          <a:prstGeom prst="line">
            <a:avLst/>
          </a:prstGeom>
          <a:noFill/>
          <a:ln w="8890">
            <a:solidFill>
              <a:srgbClr val="C2A05F">
                <a:alpha val="55000"/>
              </a:srgbClr>
            </a:solidFill>
            <a:prstDash val="solid"/>
            <a:headEnd type="none"/>
            <a:tailEnd type="none"/>
          </a:ln>
        </p:spPr>
      </p:sp>
      <p:sp>
        <p:nvSpPr>
          <p:cNvPr id="46" name="Text 44"/>
          <p:cNvSpPr txBox="1"/>
          <p:nvPr/>
        </p:nvSpPr>
        <p:spPr>
          <a:xfrm>
            <a:off x="822960" y="5102352"/>
            <a:ext cx="10543032" cy="233680"/>
          </a:xfrm>
          <a:prstGeom prst="rect">
            <a:avLst/>
          </a:prstGeom>
          <a:noFill/>
          <a:ln/>
        </p:spPr>
        <p:txBody>
          <a:bodyPr wrap="square" lIns="0" tIns="0" rIns="0" bIns="0" rtlCol="0" anchor="t"/>
          <a:lstStyle/>
          <a:p>
            <a:pPr algn="ctr" indent="0" marL="0">
              <a:lnSpc>
                <a:spcPts val="1040"/>
              </a:lnSpc>
              <a:buNone/>
            </a:pPr>
            <a:r>
              <a:rPr lang="en-US" sz="800" i="1" dirty="0">
                <a:solidFill>
                  <a:srgbClr val="5B544A"/>
                </a:solidFill>
                <a:latin typeface="Calibri" pitchFamily="34" charset="0"/>
                <a:ea typeface="Calibri" pitchFamily="34" charset="-122"/>
                <a:cs typeface="Calibri" pitchFamily="34" charset="-120"/>
              </a:rPr>
              <a:t>Development is not a backdrop to family life — it is one of the family’s organising constraints.</a:t>
            </a:r>
            <a:endParaRPr lang="en-US" sz="800" dirty="0"/>
          </a:p>
        </p:txBody>
      </p:sp>
      <p:sp>
        <p:nvSpPr>
          <p:cNvPr id="47" name="Text 45"/>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Read alongside the family life cycle (Week 15).</a:t>
            </a:r>
            <a:endParaRPr lang="en-US" sz="74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13 · CLINICAL APPLICATION</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62</a:t>
            </a:r>
            <a:endParaRPr lang="en-US" sz="950" dirty="0"/>
          </a:p>
        </p:txBody>
      </p:sp>
      <p:sp>
        <p:nvSpPr>
          <p:cNvPr id="8" name="Text 6"/>
          <p:cNvSpPr txBox="1"/>
          <p:nvPr/>
        </p:nvSpPr>
        <p:spPr>
          <a:xfrm>
            <a:off x="822960" y="932688"/>
            <a:ext cx="9509760" cy="775970"/>
          </a:xfrm>
          <a:prstGeom prst="rect">
            <a:avLst/>
          </a:prstGeom>
          <a:noFill/>
          <a:ln/>
        </p:spPr>
        <p:txBody>
          <a:bodyPr wrap="square" lIns="0" tIns="0" rIns="0" bIns="0" rtlCol="0" anchor="t"/>
          <a:lstStyle/>
          <a:p>
            <a:pPr algn="l" indent="0" marL="0">
              <a:lnSpc>
                <a:spcPts val="3510"/>
              </a:lnSpc>
              <a:buNone/>
            </a:pPr>
            <a:r>
              <a:rPr lang="en-US" sz="2600" dirty="0">
                <a:solidFill>
                  <a:srgbClr val="1B1815"/>
                </a:solidFill>
                <a:latin typeface="Georgia" pitchFamily="34" charset="0"/>
                <a:ea typeface="Georgia" pitchFamily="34" charset="-122"/>
                <a:cs typeface="Georgia" pitchFamily="34" charset="-120"/>
              </a:rPr>
              <a:t>The symptomatic child</a:t>
            </a:r>
            <a:endParaRPr lang="en-US" sz="2600" dirty="0"/>
          </a:p>
        </p:txBody>
      </p:sp>
      <p:sp>
        <p:nvSpPr>
          <p:cNvPr id="9" name="Shape 7"/>
          <p:cNvSpPr/>
          <p:nvPr/>
        </p:nvSpPr>
        <p:spPr>
          <a:xfrm>
            <a:off x="822960" y="1463040"/>
            <a:ext cx="7059168" cy="1847088"/>
          </a:xfrm>
          <a:prstGeom prst="roundRect">
            <a:avLst>
              <a:gd name="adj" fmla="val 490"/>
            </a:avLst>
          </a:prstGeom>
          <a:solidFill>
            <a:srgbClr val="EFE5D3">
              <a:alpha val="50000"/>
            </a:srgbClr>
          </a:solidFill>
          <a:ln w="12700">
            <a:solidFill>
              <a:srgbClr val="FFFFFF">
                <a:alpha val="0"/>
              </a:srgbClr>
            </a:solidFill>
            <a:prstDash val="solid"/>
          </a:ln>
        </p:spPr>
      </p:sp>
      <p:sp>
        <p:nvSpPr>
          <p:cNvPr id="10" name="Shape 8"/>
          <p:cNvSpPr/>
          <p:nvPr/>
        </p:nvSpPr>
        <p:spPr>
          <a:xfrm>
            <a:off x="822960" y="1463040"/>
            <a:ext cx="45720" cy="1847088"/>
          </a:xfrm>
          <a:prstGeom prst="rect">
            <a:avLst/>
          </a:prstGeom>
          <a:solidFill>
            <a:srgbClr val="A96A45"/>
          </a:solidFill>
          <a:ln w="12700">
            <a:solidFill>
              <a:srgbClr val="FFFFFF">
                <a:alpha val="0"/>
              </a:srgbClr>
            </a:solidFill>
            <a:prstDash val="solid"/>
          </a:ln>
        </p:spPr>
      </p:sp>
      <p:sp>
        <p:nvSpPr>
          <p:cNvPr id="11" name="Text 9"/>
          <p:cNvSpPr txBox="1"/>
          <p:nvPr/>
        </p:nvSpPr>
        <p:spPr>
          <a:xfrm>
            <a:off x="1115568" y="1627632"/>
            <a:ext cx="2743200" cy="202946"/>
          </a:xfrm>
          <a:prstGeom prst="rect">
            <a:avLst/>
          </a:prstGeom>
          <a:noFill/>
          <a:ln/>
        </p:spPr>
        <p:txBody>
          <a:bodyPr wrap="square" lIns="0" tIns="0" rIns="0" bIns="0" rtlCol="0" anchor="t"/>
          <a:lstStyle/>
          <a:p>
            <a:pPr algn="l" indent="0" marL="0">
              <a:lnSpc>
                <a:spcPts val="918"/>
              </a:lnSpc>
              <a:buNone/>
            </a:pPr>
            <a:r>
              <a:rPr lang="en-US" sz="680" b="1" spc="200" kern="0" dirty="0">
                <a:solidFill>
                  <a:srgbClr val="A96A45"/>
                </a:solidFill>
                <a:latin typeface="Calibri" pitchFamily="34" charset="0"/>
                <a:ea typeface="Calibri" pitchFamily="34" charset="-122"/>
                <a:cs typeface="Calibri" pitchFamily="34" charset="-120"/>
              </a:rPr>
              <a:t>CLINICAL VIGNETTE</a:t>
            </a:r>
            <a:endParaRPr lang="en-US" sz="680" dirty="0"/>
          </a:p>
        </p:txBody>
      </p:sp>
      <p:sp>
        <p:nvSpPr>
          <p:cNvPr id="12" name="Text 10"/>
          <p:cNvSpPr txBox="1"/>
          <p:nvPr/>
        </p:nvSpPr>
        <p:spPr>
          <a:xfrm>
            <a:off x="1115568" y="2299818"/>
            <a:ext cx="6446520" cy="1280160"/>
          </a:xfrm>
          <a:prstGeom prst="rect">
            <a:avLst/>
          </a:prstGeom>
          <a:noFill/>
          <a:ln/>
        </p:spPr>
        <p:txBody>
          <a:bodyPr wrap="square" lIns="0" tIns="0" rIns="0" bIns="0" rtlCol="0" anchor="t"/>
          <a:lstStyle/>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A 9-year-old refuses school. Her parents disagree about whether she is “manipulative” or</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“anxious”. Her mother has recently returned to full-time work; her father works nights.</a:t>
            </a:r>
            <a:endParaRPr lang="en-US" sz="1160" dirty="0"/>
          </a:p>
        </p:txBody>
      </p:sp>
      <p:sp>
        <p:nvSpPr>
          <p:cNvPr id="13" name="Shape 11"/>
          <p:cNvSpPr/>
          <p:nvPr/>
        </p:nvSpPr>
        <p:spPr>
          <a:xfrm>
            <a:off x="8101584" y="1463040"/>
            <a:ext cx="3264408" cy="1847088"/>
          </a:xfrm>
          <a:prstGeom prst="roundRect">
            <a:avLst>
              <a:gd name="adj" fmla="val 490"/>
            </a:avLst>
          </a:prstGeom>
          <a:solidFill>
            <a:srgbClr val="FFFFFF">
              <a:alpha val="0"/>
            </a:srgbClr>
          </a:solidFill>
          <a:ln w="7620">
            <a:solidFill>
              <a:srgbClr val="D9CDB7"/>
            </a:solidFill>
            <a:prstDash val="solid"/>
          </a:ln>
        </p:spPr>
      </p:sp>
      <p:sp>
        <p:nvSpPr>
          <p:cNvPr id="14" name="Text 12"/>
          <p:cNvSpPr txBox="1"/>
          <p:nvPr/>
        </p:nvSpPr>
        <p:spPr>
          <a:xfrm>
            <a:off x="8302752" y="1627632"/>
            <a:ext cx="2898648" cy="196977"/>
          </a:xfrm>
          <a:prstGeom prst="rect">
            <a:avLst/>
          </a:prstGeom>
          <a:noFill/>
          <a:ln/>
        </p:spPr>
        <p:txBody>
          <a:bodyPr wrap="square" lIns="0" tIns="0" rIns="0" bIns="0" rtlCol="0" anchor="t"/>
          <a:lstStyle/>
          <a:p>
            <a:pPr algn="l" indent="0" marL="0">
              <a:lnSpc>
                <a:spcPts val="891"/>
              </a:lnSpc>
              <a:buNone/>
            </a:pPr>
            <a:r>
              <a:rPr lang="en-US" sz="660" b="1" spc="180" kern="0" dirty="0">
                <a:solidFill>
                  <a:srgbClr val="6E8274"/>
                </a:solidFill>
                <a:latin typeface="Calibri" pitchFamily="34" charset="0"/>
                <a:ea typeface="Calibri" pitchFamily="34" charset="-122"/>
                <a:cs typeface="Calibri" pitchFamily="34" charset="-120"/>
              </a:rPr>
              <a:t>APPLY THIS WEEK</a:t>
            </a:r>
            <a:endParaRPr lang="en-US" sz="660" dirty="0"/>
          </a:p>
        </p:txBody>
      </p:sp>
      <p:sp>
        <p:nvSpPr>
          <p:cNvPr id="15" name="Shape 13"/>
          <p:cNvSpPr/>
          <p:nvPr/>
        </p:nvSpPr>
        <p:spPr>
          <a:xfrm>
            <a:off x="8322869" y="1967789"/>
            <a:ext cx="51206" cy="51206"/>
          </a:xfrm>
          <a:prstGeom prst="ellipse">
            <a:avLst/>
          </a:prstGeom>
          <a:solidFill>
            <a:srgbClr val="6E8274"/>
          </a:solidFill>
          <a:ln w="12700">
            <a:solidFill>
              <a:srgbClr val="FFFFFF">
                <a:alpha val="0"/>
              </a:srgbClr>
            </a:solidFill>
            <a:prstDash val="solid"/>
          </a:ln>
        </p:spPr>
      </p:sp>
      <p:sp>
        <p:nvSpPr>
          <p:cNvPr id="16" name="Text 14"/>
          <p:cNvSpPr txBox="1"/>
          <p:nvPr/>
        </p:nvSpPr>
        <p:spPr>
          <a:xfrm>
            <a:off x="8485632" y="1911096"/>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parentification</a:t>
            </a:r>
            <a:endParaRPr lang="en-US" sz="830" dirty="0"/>
          </a:p>
        </p:txBody>
      </p:sp>
      <p:sp>
        <p:nvSpPr>
          <p:cNvPr id="17" name="Shape 15"/>
          <p:cNvSpPr/>
          <p:nvPr/>
        </p:nvSpPr>
        <p:spPr>
          <a:xfrm>
            <a:off x="8322869" y="2296973"/>
            <a:ext cx="51206" cy="51206"/>
          </a:xfrm>
          <a:prstGeom prst="ellipse">
            <a:avLst/>
          </a:prstGeom>
          <a:solidFill>
            <a:srgbClr val="6E8274"/>
          </a:solidFill>
          <a:ln w="12700">
            <a:solidFill>
              <a:srgbClr val="FFFFFF">
                <a:alpha val="0"/>
              </a:srgbClr>
            </a:solidFill>
            <a:prstDash val="solid"/>
          </a:ln>
        </p:spPr>
      </p:sp>
      <p:sp>
        <p:nvSpPr>
          <p:cNvPr id="18" name="Text 16"/>
          <p:cNvSpPr txBox="1"/>
          <p:nvPr/>
        </p:nvSpPr>
        <p:spPr>
          <a:xfrm>
            <a:off x="8485632" y="2240280"/>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developmental task</a:t>
            </a:r>
            <a:endParaRPr lang="en-US" sz="830" dirty="0"/>
          </a:p>
        </p:txBody>
      </p:sp>
      <p:sp>
        <p:nvSpPr>
          <p:cNvPr id="19" name="Shape 17"/>
          <p:cNvSpPr/>
          <p:nvPr/>
        </p:nvSpPr>
        <p:spPr>
          <a:xfrm>
            <a:off x="8322869" y="2626157"/>
            <a:ext cx="51206" cy="51206"/>
          </a:xfrm>
          <a:prstGeom prst="ellipse">
            <a:avLst/>
          </a:prstGeom>
          <a:solidFill>
            <a:srgbClr val="6E8274"/>
          </a:solidFill>
          <a:ln w="12700">
            <a:solidFill>
              <a:srgbClr val="FFFFFF">
                <a:alpha val="0"/>
              </a:srgbClr>
            </a:solidFill>
            <a:prstDash val="solid"/>
          </a:ln>
        </p:spPr>
      </p:sp>
      <p:sp>
        <p:nvSpPr>
          <p:cNvPr id="20" name="Text 18"/>
          <p:cNvSpPr txBox="1"/>
          <p:nvPr/>
        </p:nvSpPr>
        <p:spPr>
          <a:xfrm>
            <a:off x="8485632" y="2569464"/>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triangulation</a:t>
            </a:r>
            <a:endParaRPr lang="en-US" sz="830" dirty="0"/>
          </a:p>
        </p:txBody>
      </p:sp>
      <p:sp>
        <p:nvSpPr>
          <p:cNvPr id="21" name="Shape 19"/>
          <p:cNvSpPr/>
          <p:nvPr/>
        </p:nvSpPr>
        <p:spPr>
          <a:xfrm>
            <a:off x="8322869" y="2955341"/>
            <a:ext cx="51206" cy="51206"/>
          </a:xfrm>
          <a:prstGeom prst="ellipse">
            <a:avLst/>
          </a:prstGeom>
          <a:solidFill>
            <a:srgbClr val="6E8274"/>
          </a:solidFill>
          <a:ln w="12700">
            <a:solidFill>
              <a:srgbClr val="FFFFFF">
                <a:alpha val="0"/>
              </a:srgbClr>
            </a:solidFill>
            <a:prstDash val="solid"/>
          </a:ln>
        </p:spPr>
      </p:sp>
      <p:sp>
        <p:nvSpPr>
          <p:cNvPr id="22" name="Text 20"/>
          <p:cNvSpPr txBox="1"/>
          <p:nvPr/>
        </p:nvSpPr>
        <p:spPr>
          <a:xfrm>
            <a:off x="8485632" y="2898648"/>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parenting coalition</a:t>
            </a:r>
            <a:endParaRPr lang="en-US" sz="830" dirty="0"/>
          </a:p>
        </p:txBody>
      </p:sp>
      <p:sp>
        <p:nvSpPr>
          <p:cNvPr id="23" name="Text 21"/>
          <p:cNvSpPr txBox="1"/>
          <p:nvPr/>
        </p:nvSpPr>
        <p:spPr>
          <a:xfrm>
            <a:off x="822960" y="3675888"/>
            <a:ext cx="3657600" cy="214884"/>
          </a:xfrm>
          <a:prstGeom prst="rect">
            <a:avLst/>
          </a:prstGeom>
          <a:noFill/>
          <a:ln/>
        </p:spPr>
        <p:txBody>
          <a:bodyPr wrap="square" lIns="0" tIns="0" rIns="0" bIns="0" rtlCol="0" anchor="t"/>
          <a:lstStyle/>
          <a:p>
            <a:pPr algn="l" indent="0" marL="0">
              <a:lnSpc>
                <a:spcPts val="972"/>
              </a:lnSpc>
              <a:buNone/>
            </a:pPr>
            <a:r>
              <a:rPr lang="en-US" sz="720" b="1" spc="200" kern="0" dirty="0">
                <a:solidFill>
                  <a:srgbClr val="96733C"/>
                </a:solidFill>
                <a:latin typeface="Calibri" pitchFamily="34" charset="0"/>
                <a:ea typeface="Calibri" pitchFamily="34" charset="-122"/>
                <a:cs typeface="Calibri" pitchFamily="34" charset="-120"/>
              </a:rPr>
              <a:t>REFLECTION</a:t>
            </a:r>
            <a:endParaRPr lang="en-US" sz="720" dirty="0"/>
          </a:p>
        </p:txBody>
      </p:sp>
      <p:sp>
        <p:nvSpPr>
          <p:cNvPr id="24" name="Shape 22"/>
          <p:cNvSpPr/>
          <p:nvPr/>
        </p:nvSpPr>
        <p:spPr>
          <a:xfrm>
            <a:off x="1828800" y="3730752"/>
            <a:ext cx="548640" cy="91"/>
          </a:xfrm>
          <a:prstGeom prst="line">
            <a:avLst/>
          </a:prstGeom>
          <a:noFill/>
          <a:ln w="10160">
            <a:solidFill>
              <a:srgbClr val="C2A05F"/>
            </a:solidFill>
            <a:prstDash val="solid"/>
            <a:headEnd type="none"/>
            <a:tailEnd type="none"/>
          </a:ln>
        </p:spPr>
      </p:sp>
      <p:sp>
        <p:nvSpPr>
          <p:cNvPr id="25" name="Shape 23"/>
          <p:cNvSpPr/>
          <p:nvPr/>
        </p:nvSpPr>
        <p:spPr>
          <a:xfrm>
            <a:off x="822960" y="4041648"/>
            <a:ext cx="3319272" cy="1627632"/>
          </a:xfrm>
          <a:prstGeom prst="roundRect">
            <a:avLst>
              <a:gd name="adj" fmla="val 631"/>
            </a:avLst>
          </a:prstGeom>
          <a:solidFill>
            <a:srgbClr val="FCF8EF"/>
          </a:solidFill>
          <a:ln w="6350">
            <a:solidFill>
              <a:srgbClr val="D9CDB7"/>
            </a:solidFill>
            <a:prstDash val="solid"/>
          </a:ln>
        </p:spPr>
      </p:sp>
      <p:sp>
        <p:nvSpPr>
          <p:cNvPr id="26" name="Text 24"/>
          <p:cNvSpPr txBox="1"/>
          <p:nvPr/>
        </p:nvSpPr>
        <p:spPr>
          <a:xfrm>
            <a:off x="102412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27" name="Text 25"/>
          <p:cNvSpPr txBox="1"/>
          <p:nvPr/>
        </p:nvSpPr>
        <p:spPr>
          <a:xfrm>
            <a:off x="102412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developmental and family transitions converge here?</a:t>
            </a:r>
            <a:endParaRPr lang="en-US" sz="920" dirty="0"/>
          </a:p>
        </p:txBody>
      </p:sp>
      <p:sp>
        <p:nvSpPr>
          <p:cNvPr id="28" name="Shape 26"/>
          <p:cNvSpPr/>
          <p:nvPr/>
        </p:nvSpPr>
        <p:spPr>
          <a:xfrm>
            <a:off x="1024128" y="5248656"/>
            <a:ext cx="2916936" cy="91"/>
          </a:xfrm>
          <a:prstGeom prst="line">
            <a:avLst/>
          </a:prstGeom>
          <a:noFill/>
          <a:ln w="3810">
            <a:solidFill>
              <a:srgbClr val="D9CDB7">
                <a:alpha val="75000"/>
              </a:srgbClr>
            </a:solidFill>
            <a:prstDash val="sysDot"/>
            <a:headEnd type="none"/>
            <a:tailEnd type="none"/>
          </a:ln>
        </p:spPr>
      </p:sp>
      <p:sp>
        <p:nvSpPr>
          <p:cNvPr id="29" name="Shape 27"/>
          <p:cNvSpPr/>
          <p:nvPr/>
        </p:nvSpPr>
        <p:spPr>
          <a:xfrm>
            <a:off x="1024128" y="5468112"/>
            <a:ext cx="2916936" cy="91"/>
          </a:xfrm>
          <a:prstGeom prst="line">
            <a:avLst/>
          </a:prstGeom>
          <a:noFill/>
          <a:ln w="3810">
            <a:solidFill>
              <a:srgbClr val="D9CDB7">
                <a:alpha val="75000"/>
              </a:srgbClr>
            </a:solidFill>
            <a:prstDash val="sysDot"/>
            <a:headEnd type="none"/>
            <a:tailEnd type="none"/>
          </a:ln>
        </p:spPr>
      </p:sp>
      <p:sp>
        <p:nvSpPr>
          <p:cNvPr id="30" name="Shape 28"/>
          <p:cNvSpPr/>
          <p:nvPr/>
        </p:nvSpPr>
        <p:spPr>
          <a:xfrm>
            <a:off x="4434840" y="4041648"/>
            <a:ext cx="3319272" cy="1627632"/>
          </a:xfrm>
          <a:prstGeom prst="roundRect">
            <a:avLst>
              <a:gd name="adj" fmla="val 631"/>
            </a:avLst>
          </a:prstGeom>
          <a:solidFill>
            <a:srgbClr val="FCF8EF"/>
          </a:solidFill>
          <a:ln w="6350">
            <a:solidFill>
              <a:srgbClr val="D9CDB7"/>
            </a:solidFill>
            <a:prstDash val="solid"/>
          </a:ln>
        </p:spPr>
      </p:sp>
      <p:sp>
        <p:nvSpPr>
          <p:cNvPr id="31" name="Text 29"/>
          <p:cNvSpPr txBox="1"/>
          <p:nvPr/>
        </p:nvSpPr>
        <p:spPr>
          <a:xfrm>
            <a:off x="463600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32" name="Text 30"/>
          <p:cNvSpPr txBox="1"/>
          <p:nvPr/>
        </p:nvSpPr>
        <p:spPr>
          <a:xfrm>
            <a:off x="463600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is the school refusal doing for the system?</a:t>
            </a:r>
            <a:endParaRPr lang="en-US" sz="920" dirty="0"/>
          </a:p>
        </p:txBody>
      </p:sp>
      <p:sp>
        <p:nvSpPr>
          <p:cNvPr id="33" name="Shape 31"/>
          <p:cNvSpPr/>
          <p:nvPr/>
        </p:nvSpPr>
        <p:spPr>
          <a:xfrm>
            <a:off x="4636008" y="5248656"/>
            <a:ext cx="2916936" cy="91"/>
          </a:xfrm>
          <a:prstGeom prst="line">
            <a:avLst/>
          </a:prstGeom>
          <a:noFill/>
          <a:ln w="3810">
            <a:solidFill>
              <a:srgbClr val="D9CDB7">
                <a:alpha val="75000"/>
              </a:srgbClr>
            </a:solidFill>
            <a:prstDash val="sysDot"/>
            <a:headEnd type="none"/>
            <a:tailEnd type="none"/>
          </a:ln>
        </p:spPr>
      </p:sp>
      <p:sp>
        <p:nvSpPr>
          <p:cNvPr id="34" name="Shape 32"/>
          <p:cNvSpPr/>
          <p:nvPr/>
        </p:nvSpPr>
        <p:spPr>
          <a:xfrm>
            <a:off x="4636008" y="5468112"/>
            <a:ext cx="2916936" cy="91"/>
          </a:xfrm>
          <a:prstGeom prst="line">
            <a:avLst/>
          </a:prstGeom>
          <a:noFill/>
          <a:ln w="3810">
            <a:solidFill>
              <a:srgbClr val="D9CDB7">
                <a:alpha val="75000"/>
              </a:srgbClr>
            </a:solidFill>
            <a:prstDash val="sysDot"/>
            <a:headEnd type="none"/>
            <a:tailEnd type="none"/>
          </a:ln>
        </p:spPr>
      </p:sp>
      <p:sp>
        <p:nvSpPr>
          <p:cNvPr id="35" name="Shape 33"/>
          <p:cNvSpPr/>
          <p:nvPr/>
        </p:nvSpPr>
        <p:spPr>
          <a:xfrm>
            <a:off x="8046720" y="4041648"/>
            <a:ext cx="3319272" cy="1627632"/>
          </a:xfrm>
          <a:prstGeom prst="roundRect">
            <a:avLst>
              <a:gd name="adj" fmla="val 631"/>
            </a:avLst>
          </a:prstGeom>
          <a:solidFill>
            <a:srgbClr val="FCF8EF"/>
          </a:solidFill>
          <a:ln w="6350">
            <a:solidFill>
              <a:srgbClr val="D9CDB7"/>
            </a:solidFill>
            <a:prstDash val="solid"/>
          </a:ln>
        </p:spPr>
      </p:sp>
      <p:sp>
        <p:nvSpPr>
          <p:cNvPr id="36" name="Text 34"/>
          <p:cNvSpPr txBox="1"/>
          <p:nvPr/>
        </p:nvSpPr>
        <p:spPr>
          <a:xfrm>
            <a:off x="824788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7" name="Text 35"/>
          <p:cNvSpPr txBox="1"/>
          <p:nvPr/>
        </p:nvSpPr>
        <p:spPr>
          <a:xfrm>
            <a:off x="824788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Who needs to be in the next session?</a:t>
            </a:r>
            <a:endParaRPr lang="en-US" sz="920" dirty="0"/>
          </a:p>
        </p:txBody>
      </p:sp>
      <p:sp>
        <p:nvSpPr>
          <p:cNvPr id="38" name="Shape 36"/>
          <p:cNvSpPr/>
          <p:nvPr/>
        </p:nvSpPr>
        <p:spPr>
          <a:xfrm>
            <a:off x="8247888" y="5248656"/>
            <a:ext cx="2916936" cy="91"/>
          </a:xfrm>
          <a:prstGeom prst="line">
            <a:avLst/>
          </a:prstGeom>
          <a:noFill/>
          <a:ln w="3810">
            <a:solidFill>
              <a:srgbClr val="D9CDB7">
                <a:alpha val="75000"/>
              </a:srgbClr>
            </a:solidFill>
            <a:prstDash val="sysDot"/>
            <a:headEnd type="none"/>
            <a:tailEnd type="none"/>
          </a:ln>
        </p:spPr>
      </p:sp>
      <p:sp>
        <p:nvSpPr>
          <p:cNvPr id="39" name="Shape 37"/>
          <p:cNvSpPr/>
          <p:nvPr/>
        </p:nvSpPr>
        <p:spPr>
          <a:xfrm>
            <a:off x="8247888" y="5468112"/>
            <a:ext cx="2916936" cy="91"/>
          </a:xfrm>
          <a:prstGeom prst="line">
            <a:avLst/>
          </a:prstGeom>
          <a:noFill/>
          <a:ln w="3810">
            <a:solidFill>
              <a:srgbClr val="D9CDB7">
                <a:alpha val="75000"/>
              </a:srgbClr>
            </a:solidFill>
            <a:prstDash val="sysDot"/>
            <a:headEnd type="none"/>
            <a:tailEnd type="none"/>
          </a:ln>
        </p:spPr>
      </p:sp>
      <p:sp>
        <p:nvSpPr>
          <p:cNvPr id="40" name="Text 38"/>
          <p:cNvSpPr txBox="1"/>
          <p:nvPr/>
        </p:nvSpPr>
        <p:spPr>
          <a:xfrm>
            <a:off x="822960" y="5742432"/>
            <a:ext cx="9875520" cy="244729"/>
          </a:xfrm>
          <a:prstGeom prst="rect">
            <a:avLst/>
          </a:prstGeom>
          <a:noFill/>
          <a:ln/>
        </p:spPr>
        <p:txBody>
          <a:bodyPr wrap="square" lIns="0" tIns="0" rIns="0" bIns="0" rtlCol="0" anchor="t"/>
          <a:lstStyle/>
          <a:p>
            <a:pPr algn="l" indent="0" marL="0">
              <a:lnSpc>
                <a:spcPts val="1107"/>
              </a:lnSpc>
              <a:buNone/>
            </a:pPr>
            <a:r>
              <a:rPr lang="en-US" sz="820" i="1" dirty="0">
                <a:solidFill>
                  <a:srgbClr val="8B8375"/>
                </a:solidFill>
                <a:latin typeface="Calibri" pitchFamily="34" charset="0"/>
                <a:ea typeface="Calibri" pitchFamily="34" charset="-122"/>
                <a:cs typeface="Calibri" pitchFamily="34" charset="-120"/>
              </a:rPr>
              <a:t>Discuss in seminar · bring one formulation to supervision.</a:t>
            </a:r>
            <a:endParaRPr lang="en-US" sz="82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14 · PHASE IV — INTEGRATION &amp; TRANSITION</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14</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Couple Relationships, Attachment</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and Repair</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476377"/>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What if the problem is not the argument, but the cycle beneath it?</a:t>
            </a:r>
            <a:endParaRPr lang="en-US" sz="1550" dirty="0"/>
          </a:p>
        </p:txBody>
      </p:sp>
      <p:sp>
        <p:nvSpPr>
          <p:cNvPr id="8" name="Shape 6"/>
          <p:cNvSpPr/>
          <p:nvPr/>
        </p:nvSpPr>
        <p:spPr>
          <a:xfrm>
            <a:off x="822960" y="3911219"/>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cycle beneath the argument</a:t>
            </a:r>
            <a:endParaRPr lang="en-US" sz="850" dirty="0"/>
          </a:p>
        </p:txBody>
      </p:sp>
      <p:sp>
        <p:nvSpPr>
          <p:cNvPr id="11" name="Text 9"/>
          <p:cNvSpPr txBox="1"/>
          <p:nvPr/>
        </p:nvSpPr>
        <p:spPr>
          <a:xfrm>
            <a:off x="3282696"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Mapping the negative cycle</a:t>
            </a:r>
            <a:endParaRPr lang="en-US" sz="850" dirty="0"/>
          </a:p>
        </p:txBody>
      </p:sp>
      <p:sp>
        <p:nvSpPr>
          <p:cNvPr id="13" name="Text 11"/>
          <p:cNvSpPr txBox="1"/>
          <p:nvPr/>
        </p:nvSpPr>
        <p:spPr>
          <a:xfrm>
            <a:off x="5742432" y="4057523"/>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SEMINAR</a:t>
            </a:r>
            <a:endParaRPr lang="en-US" sz="620" dirty="0"/>
          </a:p>
        </p:txBody>
      </p:sp>
      <p:sp>
        <p:nvSpPr>
          <p:cNvPr id="14" name="Text 12"/>
          <p:cNvSpPr txBox="1"/>
          <p:nvPr/>
        </p:nvSpPr>
        <p:spPr>
          <a:xfrm>
            <a:off x="5742432" y="4249547"/>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argument underneath</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Describe attachment cycles in couple distress.</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Map a pursuer–withdrawer sequence.</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Identify and rehearse a repair move.</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negative cycle · attachment · pursuer–withdrawer · repair</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Johnson (2019), ch. 1–4 · Gottman &amp; Gottman (2017)</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96733C"/>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96733C"/>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96733C"/>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96733C"/>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96733C"/>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96733C"/>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96733C"/>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96733C"/>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96733C"/>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96733C"/>
          </a:solidFill>
          <a:ln w="12700">
            <a:solidFill>
              <a:srgbClr val="FFFFFF">
                <a:alpha val="0"/>
              </a:srgbClr>
            </a:solidFill>
            <a:prstDash val="solid"/>
          </a:ln>
        </p:spPr>
      </p:sp>
      <p:sp>
        <p:nvSpPr>
          <p:cNvPr id="40" name="Shape 38"/>
          <p:cNvSpPr/>
          <p:nvPr/>
        </p:nvSpPr>
        <p:spPr>
          <a:xfrm>
            <a:off x="9872472" y="5696712"/>
            <a:ext cx="128016" cy="128016"/>
          </a:xfrm>
          <a:prstGeom prst="ellipse">
            <a:avLst/>
          </a:prstGeom>
          <a:solidFill>
            <a:srgbClr val="C2A05F"/>
          </a:solidFill>
          <a:ln w="8890">
            <a:solidFill>
              <a:srgbClr val="E7D3A9"/>
            </a:solidFill>
            <a:prstDash val="solid"/>
          </a:ln>
        </p:spPr>
      </p:sp>
      <p:sp>
        <p:nvSpPr>
          <p:cNvPr id="41" name="Shape 39"/>
          <p:cNvSpPr/>
          <p:nvPr/>
        </p:nvSpPr>
        <p:spPr>
          <a:xfrm>
            <a:off x="10608259" y="5731459"/>
            <a:ext cx="58522" cy="58522"/>
          </a:xfrm>
          <a:prstGeom prst="ellipse">
            <a:avLst/>
          </a:prstGeom>
          <a:solidFill>
            <a:srgbClr val="1E1913"/>
          </a:solidFill>
          <a:ln w="12700">
            <a:solidFill>
              <a:srgbClr val="FFFFFF">
                <a:alpha val="0"/>
              </a:srgbClr>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63</a:t>
            </a:r>
            <a:endParaRPr lang="en-US" sz="9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14 · LECTURE 14</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64</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The cycle beneath the argument</a:t>
            </a:r>
            <a:endParaRPr lang="en-US" sz="2800" dirty="0"/>
          </a:p>
        </p:txBody>
      </p:sp>
      <p:sp>
        <p:nvSpPr>
          <p:cNvPr id="9" name="Text 7"/>
          <p:cNvSpPr txBox="1"/>
          <p:nvPr/>
        </p:nvSpPr>
        <p:spPr>
          <a:xfrm>
            <a:off x="822960" y="1486408"/>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Couples do not fight about the dishes. They fight about whether they matter to each other — and the dishes are the only</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vocabulary available.</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ATTACHMENT IN ADULTHOOD</a:t>
            </a:r>
            <a:endParaRPr lang="en-US" sz="750" dirty="0"/>
          </a:p>
        </p:txBody>
      </p:sp>
      <p:sp>
        <p:nvSpPr>
          <p:cNvPr id="13" name="Text 11"/>
          <p:cNvSpPr txBox="1"/>
          <p:nvPr/>
        </p:nvSpPr>
        <p:spPr>
          <a:xfrm>
            <a:off x="82296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Proximity-seeking, safe haven, secure base: the needs that organise</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infancy organise marriage. Attachment is not dependency; it is how</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humans regulate fear.</a:t>
            </a:r>
            <a:endParaRPr lang="en-US" sz="900" dirty="0"/>
          </a:p>
        </p:txBody>
      </p:sp>
      <p:sp>
        <p:nvSpPr>
          <p:cNvPr id="14" name="Shape 12"/>
          <p:cNvSpPr/>
          <p:nvPr/>
        </p:nvSpPr>
        <p:spPr>
          <a:xfrm>
            <a:off x="822960" y="3529584"/>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Protest behaviours signal threat</a:t>
            </a:r>
            <a:endParaRPr lang="en-US" sz="880" dirty="0"/>
          </a:p>
        </p:txBody>
      </p:sp>
      <p:sp>
        <p:nvSpPr>
          <p:cNvPr id="16" name="Shape 14"/>
          <p:cNvSpPr/>
          <p:nvPr/>
        </p:nvSpPr>
        <p:spPr>
          <a:xfrm>
            <a:off x="822960" y="3775253"/>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Withdrawal protects and abandons</a:t>
            </a:r>
            <a:endParaRPr lang="en-US" sz="880" dirty="0"/>
          </a:p>
        </p:txBody>
      </p:sp>
      <p:sp>
        <p:nvSpPr>
          <p:cNvPr id="18" name="Shape 16"/>
          <p:cNvSpPr/>
          <p:nvPr/>
        </p:nvSpPr>
        <p:spPr>
          <a:xfrm>
            <a:off x="822960" y="4020922"/>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Security is built in small repetitions</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THE PURSUER–WITHDRAWER CYCLE</a:t>
            </a:r>
            <a:endParaRPr lang="en-US" sz="750" dirty="0"/>
          </a:p>
        </p:txBody>
      </p:sp>
      <p:sp>
        <p:nvSpPr>
          <p:cNvPr id="23" name="Text 21"/>
          <p:cNvSpPr txBox="1"/>
          <p:nvPr/>
        </p:nvSpPr>
        <p:spPr>
          <a:xfrm>
            <a:off x="446532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Protest and withdrawal are two versions of the same attachment cry.</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Each triggers the other, and each is experienced as the cause.</a:t>
            </a:r>
            <a:endParaRPr lang="en-US" sz="900" dirty="0"/>
          </a:p>
        </p:txBody>
      </p:sp>
      <p:sp>
        <p:nvSpPr>
          <p:cNvPr id="24" name="Shape 22"/>
          <p:cNvSpPr/>
          <p:nvPr/>
        </p:nvSpPr>
        <p:spPr>
          <a:xfrm>
            <a:off x="4465320" y="3364992"/>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Criticism invites distance</a:t>
            </a:r>
            <a:endParaRPr lang="en-US" sz="880" dirty="0"/>
          </a:p>
        </p:txBody>
      </p:sp>
      <p:sp>
        <p:nvSpPr>
          <p:cNvPr id="26" name="Shape 24"/>
          <p:cNvSpPr/>
          <p:nvPr/>
        </p:nvSpPr>
        <p:spPr>
          <a:xfrm>
            <a:off x="4465320" y="3610661"/>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Distance confirms abandonment</a:t>
            </a:r>
            <a:endParaRPr lang="en-US" sz="880" dirty="0"/>
          </a:p>
        </p:txBody>
      </p:sp>
      <p:sp>
        <p:nvSpPr>
          <p:cNvPr id="28" name="Shape 26"/>
          <p:cNvSpPr/>
          <p:nvPr/>
        </p:nvSpPr>
        <p:spPr>
          <a:xfrm>
            <a:off x="4465320" y="3856330"/>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The cycle, not the partner, is the problem</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REPAIR</a:t>
            </a:r>
            <a:endParaRPr lang="en-US" sz="750" dirty="0"/>
          </a:p>
        </p:txBody>
      </p:sp>
      <p:sp>
        <p:nvSpPr>
          <p:cNvPr id="33" name="Text 31"/>
          <p:cNvSpPr txBox="1"/>
          <p:nvPr/>
        </p:nvSpPr>
        <p:spPr>
          <a:xfrm>
            <a:off x="810768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Repair is not the absence of conflict. It is the return to connection</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after rupture — and it can be learned.</a:t>
            </a:r>
            <a:endParaRPr lang="en-US" sz="900" dirty="0"/>
          </a:p>
        </p:txBody>
      </p:sp>
      <p:sp>
        <p:nvSpPr>
          <p:cNvPr id="34" name="Shape 32"/>
          <p:cNvSpPr/>
          <p:nvPr/>
        </p:nvSpPr>
        <p:spPr>
          <a:xfrm>
            <a:off x="8107680" y="3364992"/>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Name the cycle</a:t>
            </a:r>
            <a:endParaRPr lang="en-US" sz="880" dirty="0"/>
          </a:p>
        </p:txBody>
      </p:sp>
      <p:sp>
        <p:nvSpPr>
          <p:cNvPr id="36" name="Shape 34"/>
          <p:cNvSpPr/>
          <p:nvPr/>
        </p:nvSpPr>
        <p:spPr>
          <a:xfrm>
            <a:off x="8107680" y="3610661"/>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Validate the fear beneath the move</a:t>
            </a:r>
            <a:endParaRPr lang="en-US" sz="880" dirty="0"/>
          </a:p>
        </p:txBody>
      </p:sp>
      <p:sp>
        <p:nvSpPr>
          <p:cNvPr id="38" name="Shape 36"/>
          <p:cNvSpPr/>
          <p:nvPr/>
        </p:nvSpPr>
        <p:spPr>
          <a:xfrm>
            <a:off x="8107680" y="3856330"/>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Risk a new response</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EMOTIONALLY FOCUSED THERAPY</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Change the cycle, not the person</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EFT tracks the cycle, accesses the attachment emotion, and stages a new conversation in which each partner</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can be reached.</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291338"/>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Johnson (2019); Gottman &amp; Gottman (2017);</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Epstein &amp; Baucom (2002).</a:t>
            </a:r>
            <a:endParaRPr lang="en-US" sz="62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14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65</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Mapping the negative cycle</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A three-move loop, repeated thousands of times, until it feels like the truth about the relationship.</a:t>
            </a:r>
            <a:endParaRPr lang="en-US" sz="1060" dirty="0"/>
          </a:p>
        </p:txBody>
      </p:sp>
      <p:sp>
        <p:nvSpPr>
          <p:cNvPr id="10" name="Shape 8"/>
          <p:cNvSpPr/>
          <p:nvPr/>
        </p:nvSpPr>
        <p:spPr>
          <a:xfrm>
            <a:off x="1325880" y="2194560"/>
            <a:ext cx="2240280" cy="877824"/>
          </a:xfrm>
          <a:prstGeom prst="roundRect">
            <a:avLst>
              <a:gd name="adj" fmla="val 4883"/>
            </a:avLst>
          </a:prstGeom>
          <a:solidFill>
            <a:srgbClr val="FBF7EF"/>
          </a:solidFill>
          <a:ln w="8890">
            <a:solidFill>
              <a:srgbClr val="D9CDB7"/>
            </a:solidFill>
            <a:prstDash val="solid"/>
          </a:ln>
        </p:spPr>
      </p:sp>
      <p:sp>
        <p:nvSpPr>
          <p:cNvPr id="11" name="Text 9"/>
          <p:cNvSpPr txBox="1"/>
          <p:nvPr/>
        </p:nvSpPr>
        <p:spPr>
          <a:xfrm>
            <a:off x="1417320" y="2331720"/>
            <a:ext cx="2057400" cy="370078"/>
          </a:xfrm>
          <a:prstGeom prst="rect">
            <a:avLst/>
          </a:prstGeom>
          <a:noFill/>
          <a:ln/>
        </p:spPr>
        <p:txBody>
          <a:bodyPr wrap="square" lIns="0" tIns="0" rIns="0" bIns="0" rtlCol="0" anchor="t"/>
          <a:lstStyle/>
          <a:p>
            <a:pPr algn="ctr" indent="0" marL="0">
              <a:lnSpc>
                <a:spcPts val="1674"/>
              </a:lnSpc>
              <a:buNone/>
            </a:pPr>
            <a:r>
              <a:rPr lang="en-US" sz="1240" dirty="0">
                <a:solidFill>
                  <a:srgbClr val="1B1815"/>
                </a:solidFill>
                <a:latin typeface="Georgia" pitchFamily="34" charset="0"/>
                <a:ea typeface="Georgia" pitchFamily="34" charset="-122"/>
                <a:cs typeface="Georgia" pitchFamily="34" charset="-120"/>
              </a:rPr>
              <a:t>Pursuer</a:t>
            </a:r>
            <a:endParaRPr lang="en-US" sz="1240" dirty="0"/>
          </a:p>
        </p:txBody>
      </p:sp>
      <p:sp>
        <p:nvSpPr>
          <p:cNvPr id="12" name="Text 10"/>
          <p:cNvSpPr txBox="1"/>
          <p:nvPr/>
        </p:nvSpPr>
        <p:spPr>
          <a:xfrm>
            <a:off x="1417320" y="2670048"/>
            <a:ext cx="2057400" cy="227838"/>
          </a:xfrm>
          <a:prstGeom prst="rect">
            <a:avLst/>
          </a:prstGeom>
          <a:noFill/>
          <a:ln/>
        </p:spPr>
        <p:txBody>
          <a:bodyPr wrap="square" lIns="0" tIns="0" rIns="0" bIns="0" rtlCol="0" anchor="t"/>
          <a:lstStyle/>
          <a:p>
            <a:pPr algn="ctr" indent="0" marL="0">
              <a:lnSpc>
                <a:spcPts val="1014"/>
              </a:lnSpc>
              <a:buNone/>
            </a:pPr>
            <a:r>
              <a:rPr lang="en-US" sz="780" dirty="0">
                <a:solidFill>
                  <a:srgbClr val="5B544A"/>
                </a:solidFill>
                <a:latin typeface="Calibri" pitchFamily="34" charset="0"/>
                <a:ea typeface="Calibri" pitchFamily="34" charset="-122"/>
                <a:cs typeface="Calibri" pitchFamily="34" charset="-120"/>
              </a:rPr>
              <a:t>protest, criticism, pursuit</a:t>
            </a:r>
            <a:endParaRPr lang="en-US" sz="780" dirty="0"/>
          </a:p>
        </p:txBody>
      </p:sp>
      <p:sp>
        <p:nvSpPr>
          <p:cNvPr id="13" name="Shape 11"/>
          <p:cNvSpPr/>
          <p:nvPr/>
        </p:nvSpPr>
        <p:spPr>
          <a:xfrm>
            <a:off x="4663440" y="2194560"/>
            <a:ext cx="2240280" cy="877824"/>
          </a:xfrm>
          <a:prstGeom prst="roundRect">
            <a:avLst>
              <a:gd name="adj" fmla="val 4883"/>
            </a:avLst>
          </a:prstGeom>
          <a:solidFill>
            <a:srgbClr val="FBF7EF"/>
          </a:solidFill>
          <a:ln w="8890">
            <a:solidFill>
              <a:srgbClr val="D9CDB7"/>
            </a:solidFill>
            <a:prstDash val="solid"/>
          </a:ln>
        </p:spPr>
      </p:sp>
      <p:sp>
        <p:nvSpPr>
          <p:cNvPr id="14" name="Text 12"/>
          <p:cNvSpPr txBox="1"/>
          <p:nvPr/>
        </p:nvSpPr>
        <p:spPr>
          <a:xfrm>
            <a:off x="4754880" y="2331720"/>
            <a:ext cx="2057400" cy="370078"/>
          </a:xfrm>
          <a:prstGeom prst="rect">
            <a:avLst/>
          </a:prstGeom>
          <a:noFill/>
          <a:ln/>
        </p:spPr>
        <p:txBody>
          <a:bodyPr wrap="square" lIns="0" tIns="0" rIns="0" bIns="0" rtlCol="0" anchor="t"/>
          <a:lstStyle/>
          <a:p>
            <a:pPr algn="ctr" indent="0" marL="0">
              <a:lnSpc>
                <a:spcPts val="1674"/>
              </a:lnSpc>
              <a:buNone/>
            </a:pPr>
            <a:r>
              <a:rPr lang="en-US" sz="1240" dirty="0">
                <a:solidFill>
                  <a:srgbClr val="1B1815"/>
                </a:solidFill>
                <a:latin typeface="Georgia" pitchFamily="34" charset="0"/>
                <a:ea typeface="Georgia" pitchFamily="34" charset="-122"/>
                <a:cs typeface="Georgia" pitchFamily="34" charset="-120"/>
              </a:rPr>
              <a:t>Withdrawer</a:t>
            </a:r>
            <a:endParaRPr lang="en-US" sz="1240" dirty="0"/>
          </a:p>
        </p:txBody>
      </p:sp>
      <p:sp>
        <p:nvSpPr>
          <p:cNvPr id="15" name="Text 13"/>
          <p:cNvSpPr txBox="1"/>
          <p:nvPr/>
        </p:nvSpPr>
        <p:spPr>
          <a:xfrm>
            <a:off x="4754880" y="2670048"/>
            <a:ext cx="2057400" cy="227838"/>
          </a:xfrm>
          <a:prstGeom prst="rect">
            <a:avLst/>
          </a:prstGeom>
          <a:noFill/>
          <a:ln/>
        </p:spPr>
        <p:txBody>
          <a:bodyPr wrap="square" lIns="0" tIns="0" rIns="0" bIns="0" rtlCol="0" anchor="t"/>
          <a:lstStyle/>
          <a:p>
            <a:pPr algn="ctr" indent="0" marL="0">
              <a:lnSpc>
                <a:spcPts val="1014"/>
              </a:lnSpc>
              <a:buNone/>
            </a:pPr>
            <a:r>
              <a:rPr lang="en-US" sz="780" dirty="0">
                <a:solidFill>
                  <a:srgbClr val="5B544A"/>
                </a:solidFill>
                <a:latin typeface="Calibri" pitchFamily="34" charset="0"/>
                <a:ea typeface="Calibri" pitchFamily="34" charset="-122"/>
                <a:cs typeface="Calibri" pitchFamily="34" charset="-120"/>
              </a:rPr>
              <a:t>silence, distance, shutdown</a:t>
            </a:r>
            <a:endParaRPr lang="en-US" sz="780" dirty="0"/>
          </a:p>
        </p:txBody>
      </p:sp>
      <p:sp>
        <p:nvSpPr>
          <p:cNvPr id="16" name="Shape 14"/>
          <p:cNvSpPr/>
          <p:nvPr/>
        </p:nvSpPr>
        <p:spPr>
          <a:xfrm>
            <a:off x="3602736" y="2468880"/>
            <a:ext cx="987552" cy="91"/>
          </a:xfrm>
          <a:prstGeom prst="line">
            <a:avLst/>
          </a:prstGeom>
          <a:noFill/>
          <a:ln w="12700">
            <a:solidFill>
              <a:srgbClr val="96733C"/>
            </a:solidFill>
            <a:prstDash val="solid"/>
            <a:headEnd type="none"/>
            <a:tailEnd type="triangle"/>
          </a:ln>
        </p:spPr>
      </p:sp>
      <p:sp>
        <p:nvSpPr>
          <p:cNvPr id="17" name="Shape 15"/>
          <p:cNvSpPr/>
          <p:nvPr/>
        </p:nvSpPr>
        <p:spPr>
          <a:xfrm flipH="1">
            <a:off x="3602736" y="2779776"/>
            <a:ext cx="987552" cy="91"/>
          </a:xfrm>
          <a:prstGeom prst="line">
            <a:avLst/>
          </a:prstGeom>
          <a:noFill/>
          <a:ln w="12700">
            <a:solidFill>
              <a:srgbClr val="96733C"/>
            </a:solidFill>
            <a:prstDash val="solid"/>
            <a:headEnd type="none"/>
            <a:tailEnd type="triangle"/>
          </a:ln>
        </p:spPr>
      </p:sp>
      <p:sp>
        <p:nvSpPr>
          <p:cNvPr id="18" name="Text 16"/>
          <p:cNvSpPr txBox="1"/>
          <p:nvPr/>
        </p:nvSpPr>
        <p:spPr>
          <a:xfrm>
            <a:off x="3456432" y="2048256"/>
            <a:ext cx="1316736" cy="179070"/>
          </a:xfrm>
          <a:prstGeom prst="rect">
            <a:avLst/>
          </a:prstGeom>
          <a:noFill/>
          <a:ln/>
        </p:spPr>
        <p:txBody>
          <a:bodyPr wrap="square" lIns="0" tIns="0" rIns="0" bIns="0" rtlCol="0" anchor="t"/>
          <a:lstStyle/>
          <a:p>
            <a:pPr algn="ctr" indent="0" marL="0">
              <a:lnSpc>
                <a:spcPts val="810"/>
              </a:lnSpc>
              <a:buNone/>
            </a:pPr>
            <a:r>
              <a:rPr lang="en-US" sz="600" spc="140" kern="0" dirty="0">
                <a:solidFill>
                  <a:srgbClr val="96733C"/>
                </a:solidFill>
                <a:latin typeface="Calibri" pitchFamily="34" charset="0"/>
                <a:ea typeface="Calibri" pitchFamily="34" charset="-122"/>
                <a:cs typeface="Calibri" pitchFamily="34" charset="-120"/>
              </a:rPr>
              <a:t>MUTUAL TRIGGER</a:t>
            </a:r>
            <a:endParaRPr lang="en-US" sz="600" dirty="0"/>
          </a:p>
        </p:txBody>
      </p:sp>
      <p:sp>
        <p:nvSpPr>
          <p:cNvPr id="19" name="Shape 17"/>
          <p:cNvSpPr/>
          <p:nvPr/>
        </p:nvSpPr>
        <p:spPr>
          <a:xfrm>
            <a:off x="2944368" y="3977640"/>
            <a:ext cx="2340864" cy="896112"/>
          </a:xfrm>
          <a:prstGeom prst="roundRect">
            <a:avLst>
              <a:gd name="adj" fmla="val 4686"/>
            </a:avLst>
          </a:prstGeom>
          <a:solidFill>
            <a:srgbClr val="1B1815"/>
          </a:solidFill>
          <a:ln w="7620">
            <a:solidFill>
              <a:srgbClr val="C2A05F"/>
            </a:solidFill>
            <a:prstDash val="solid"/>
          </a:ln>
        </p:spPr>
      </p:sp>
      <p:sp>
        <p:nvSpPr>
          <p:cNvPr id="20" name="Text 18"/>
          <p:cNvSpPr txBox="1"/>
          <p:nvPr/>
        </p:nvSpPr>
        <p:spPr>
          <a:xfrm>
            <a:off x="3054096" y="4123944"/>
            <a:ext cx="2121408" cy="185039"/>
          </a:xfrm>
          <a:prstGeom prst="rect">
            <a:avLst/>
          </a:prstGeom>
          <a:noFill/>
          <a:ln/>
        </p:spPr>
        <p:txBody>
          <a:bodyPr wrap="square" lIns="0" tIns="0" rIns="0" bIns="0" rtlCol="0" anchor="t"/>
          <a:lstStyle/>
          <a:p>
            <a:pPr algn="ctr" indent="0" marL="0">
              <a:lnSpc>
                <a:spcPts val="837"/>
              </a:lnSpc>
              <a:buNone/>
            </a:pPr>
            <a:r>
              <a:rPr lang="en-US" sz="620" spc="150" kern="0" dirty="0">
                <a:solidFill>
                  <a:srgbClr val="C2A05F"/>
                </a:solidFill>
                <a:latin typeface="Calibri" pitchFamily="34" charset="0"/>
                <a:ea typeface="Calibri" pitchFamily="34" charset="-122"/>
                <a:cs typeface="Calibri" pitchFamily="34" charset="-120"/>
              </a:rPr>
              <a:t>ATTACHMENT FEAR</a:t>
            </a:r>
            <a:endParaRPr lang="en-US" sz="620" dirty="0"/>
          </a:p>
        </p:txBody>
      </p:sp>
      <p:sp>
        <p:nvSpPr>
          <p:cNvPr id="21" name="Text 19"/>
          <p:cNvSpPr txBox="1"/>
          <p:nvPr/>
        </p:nvSpPr>
        <p:spPr>
          <a:xfrm>
            <a:off x="3054096" y="4361688"/>
            <a:ext cx="2121408" cy="328295"/>
          </a:xfrm>
          <a:prstGeom prst="rect">
            <a:avLst/>
          </a:prstGeom>
          <a:noFill/>
          <a:ln/>
        </p:spPr>
        <p:txBody>
          <a:bodyPr wrap="square" lIns="0" tIns="0" rIns="0" bIns="0" rtlCol="0" anchor="t"/>
          <a:lstStyle/>
          <a:p>
            <a:pPr algn="ctr" indent="0" marL="0">
              <a:lnSpc>
                <a:spcPts val="1485"/>
              </a:lnSpc>
              <a:buNone/>
            </a:pPr>
            <a:r>
              <a:rPr lang="en-US" sz="1100" i="1" dirty="0">
                <a:solidFill>
                  <a:srgbClr val="FBF7EF"/>
                </a:solidFill>
                <a:latin typeface="Georgia" pitchFamily="34" charset="0"/>
                <a:ea typeface="Georgia" pitchFamily="34" charset="-122"/>
                <a:cs typeface="Georgia" pitchFamily="34" charset="-120"/>
              </a:rPr>
              <a:t>“I do not matter to you”</a:t>
            </a:r>
            <a:endParaRPr lang="en-US" sz="1100" dirty="0"/>
          </a:p>
        </p:txBody>
      </p:sp>
      <p:sp>
        <p:nvSpPr>
          <p:cNvPr id="22" name="Shape 20"/>
          <p:cNvSpPr/>
          <p:nvPr/>
        </p:nvSpPr>
        <p:spPr>
          <a:xfrm flipV="1">
            <a:off x="2743200" y="3127248"/>
            <a:ext cx="91" cy="813816"/>
          </a:xfrm>
          <a:prstGeom prst="line">
            <a:avLst/>
          </a:prstGeom>
          <a:noFill/>
          <a:ln w="10160">
            <a:solidFill>
              <a:srgbClr val="C2A05F"/>
            </a:solidFill>
            <a:prstDash val="solid"/>
            <a:headEnd type="none"/>
            <a:tailEnd type="none"/>
          </a:ln>
        </p:spPr>
      </p:sp>
      <p:sp>
        <p:nvSpPr>
          <p:cNvPr id="23" name="Shape 21"/>
          <p:cNvSpPr/>
          <p:nvPr/>
        </p:nvSpPr>
        <p:spPr>
          <a:xfrm flipV="1">
            <a:off x="5486400" y="3127248"/>
            <a:ext cx="91" cy="813816"/>
          </a:xfrm>
          <a:prstGeom prst="line">
            <a:avLst/>
          </a:prstGeom>
          <a:noFill/>
          <a:ln w="10160">
            <a:solidFill>
              <a:srgbClr val="C2A05F"/>
            </a:solidFill>
            <a:prstDash val="solid"/>
            <a:headEnd type="none"/>
            <a:tailEnd type="none"/>
          </a:ln>
        </p:spPr>
      </p:sp>
      <p:sp>
        <p:nvSpPr>
          <p:cNvPr id="24" name="Shape 22"/>
          <p:cNvSpPr/>
          <p:nvPr/>
        </p:nvSpPr>
        <p:spPr>
          <a:xfrm>
            <a:off x="2713939" y="3893515"/>
            <a:ext cx="58522" cy="58522"/>
          </a:xfrm>
          <a:prstGeom prst="ellipse">
            <a:avLst/>
          </a:prstGeom>
          <a:solidFill>
            <a:srgbClr val="C2A05F"/>
          </a:solidFill>
          <a:ln w="12700">
            <a:solidFill>
              <a:srgbClr val="FFFFFF">
                <a:alpha val="0"/>
              </a:srgbClr>
            </a:solidFill>
            <a:prstDash val="solid"/>
          </a:ln>
        </p:spPr>
      </p:sp>
      <p:sp>
        <p:nvSpPr>
          <p:cNvPr id="25" name="Shape 23"/>
          <p:cNvSpPr/>
          <p:nvPr/>
        </p:nvSpPr>
        <p:spPr>
          <a:xfrm>
            <a:off x="5457139" y="3893515"/>
            <a:ext cx="58522" cy="58522"/>
          </a:xfrm>
          <a:prstGeom prst="ellipse">
            <a:avLst/>
          </a:prstGeom>
          <a:solidFill>
            <a:srgbClr val="C2A05F"/>
          </a:solidFill>
          <a:ln w="12700">
            <a:solidFill>
              <a:srgbClr val="FFFFFF">
                <a:alpha val="0"/>
              </a:srgbClr>
            </a:solidFill>
            <a:prstDash val="solid"/>
          </a:ln>
        </p:spPr>
      </p:sp>
      <p:sp>
        <p:nvSpPr>
          <p:cNvPr id="26" name="Text 24"/>
          <p:cNvSpPr txBox="1"/>
          <p:nvPr/>
        </p:nvSpPr>
        <p:spPr>
          <a:xfrm>
            <a:off x="5687568" y="3794760"/>
            <a:ext cx="1600200" cy="204470"/>
          </a:xfrm>
          <a:prstGeom prst="rect">
            <a:avLst/>
          </a:prstGeom>
          <a:noFill/>
          <a:ln/>
        </p:spPr>
        <p:txBody>
          <a:bodyPr wrap="square" lIns="0" tIns="0" rIns="0" bIns="0" rtlCol="0" anchor="t"/>
          <a:lstStyle/>
          <a:p>
            <a:pPr algn="l" indent="0" marL="0">
              <a:lnSpc>
                <a:spcPts val="910"/>
              </a:lnSpc>
              <a:buNone/>
            </a:pPr>
            <a:r>
              <a:rPr lang="en-US" sz="700" i="1" dirty="0">
                <a:solidFill>
                  <a:srgbClr val="5B544A"/>
                </a:solidFill>
                <a:latin typeface="Calibri" pitchFamily="34" charset="0"/>
                <a:ea typeface="Calibri" pitchFamily="34" charset="-122"/>
                <a:cs typeface="Calibri" pitchFamily="34" charset="-120"/>
              </a:rPr>
              <a:t>beneath both moves, one fear</a:t>
            </a:r>
            <a:endParaRPr lang="en-US" sz="700" dirty="0"/>
          </a:p>
        </p:txBody>
      </p:sp>
      <p:sp>
        <p:nvSpPr>
          <p:cNvPr id="27" name="Text 25"/>
          <p:cNvSpPr txBox="1"/>
          <p:nvPr/>
        </p:nvSpPr>
        <p:spPr>
          <a:xfrm>
            <a:off x="7680960" y="2121408"/>
            <a:ext cx="3566160" cy="402908"/>
          </a:xfrm>
          <a:prstGeom prst="rect">
            <a:avLst/>
          </a:prstGeom>
          <a:noFill/>
          <a:ln/>
        </p:spPr>
        <p:txBody>
          <a:bodyPr wrap="square" lIns="0" tIns="0" rIns="0" bIns="0" rtlCol="0" anchor="t"/>
          <a:lstStyle/>
          <a:p>
            <a:pPr algn="l" indent="0" marL="0">
              <a:lnSpc>
                <a:spcPts val="1823"/>
              </a:lnSpc>
              <a:buNone/>
            </a:pPr>
            <a:r>
              <a:rPr lang="en-US" sz="1350" dirty="0">
                <a:solidFill>
                  <a:srgbClr val="1B1815"/>
                </a:solidFill>
                <a:latin typeface="Georgia" pitchFamily="34" charset="0"/>
                <a:ea typeface="Georgia" pitchFamily="34" charset="-122"/>
                <a:cs typeface="Georgia" pitchFamily="34" charset="-120"/>
              </a:rPr>
              <a:t>Interrupting the cycle</a:t>
            </a:r>
            <a:endParaRPr lang="en-US" sz="1350" dirty="0"/>
          </a:p>
        </p:txBody>
      </p:sp>
      <p:sp>
        <p:nvSpPr>
          <p:cNvPr id="28" name="Shape 26"/>
          <p:cNvSpPr/>
          <p:nvPr/>
        </p:nvSpPr>
        <p:spPr>
          <a:xfrm>
            <a:off x="7662672" y="2670048"/>
            <a:ext cx="237744" cy="237744"/>
          </a:xfrm>
          <a:prstGeom prst="ellipse">
            <a:avLst/>
          </a:prstGeom>
          <a:solidFill>
            <a:srgbClr val="FFFFFF">
              <a:alpha val="0"/>
            </a:srgbClr>
          </a:solidFill>
          <a:ln w="7620">
            <a:solidFill>
              <a:srgbClr val="C2A05F"/>
            </a:solidFill>
            <a:prstDash val="solid"/>
          </a:ln>
        </p:spPr>
      </p:sp>
      <p:sp>
        <p:nvSpPr>
          <p:cNvPr id="29" name="Text 27"/>
          <p:cNvSpPr txBox="1"/>
          <p:nvPr/>
        </p:nvSpPr>
        <p:spPr>
          <a:xfrm>
            <a:off x="7662672" y="2741930"/>
            <a:ext cx="237744" cy="237744"/>
          </a:xfrm>
          <a:prstGeom prst="rect">
            <a:avLst/>
          </a:prstGeom>
          <a:noFill/>
          <a:ln/>
        </p:spPr>
        <p:txBody>
          <a:bodyPr wrap="square" lIns="0" tIns="0" rIns="0" bIns="0" rtlCol="0" anchor="t"/>
          <a:lstStyle/>
          <a:p>
            <a:pPr algn="ctr" indent="0" marL="0">
              <a:lnSpc>
                <a:spcPts val="740"/>
              </a:lnSpc>
              <a:buNone/>
            </a:pPr>
            <a:r>
              <a:rPr lang="en-US" sz="740" b="1" dirty="0">
                <a:solidFill>
                  <a:srgbClr val="96733C"/>
                </a:solidFill>
                <a:latin typeface="Calibri" pitchFamily="34" charset="0"/>
                <a:ea typeface="Calibri" pitchFamily="34" charset="-122"/>
                <a:cs typeface="Calibri" pitchFamily="34" charset="-120"/>
              </a:rPr>
              <a:t>1</a:t>
            </a:r>
            <a:endParaRPr lang="en-US" sz="740" dirty="0"/>
          </a:p>
        </p:txBody>
      </p:sp>
      <p:sp>
        <p:nvSpPr>
          <p:cNvPr id="30" name="Text 28"/>
          <p:cNvSpPr txBox="1"/>
          <p:nvPr/>
        </p:nvSpPr>
        <p:spPr>
          <a:xfrm>
            <a:off x="8046720" y="2633472"/>
            <a:ext cx="2971800" cy="274574"/>
          </a:xfrm>
          <a:prstGeom prst="rect">
            <a:avLst/>
          </a:prstGeom>
          <a:noFill/>
          <a:ln/>
        </p:spPr>
        <p:txBody>
          <a:bodyPr wrap="square" lIns="0" tIns="0" rIns="0" bIns="0" rtlCol="0" anchor="t"/>
          <a:lstStyle/>
          <a:p>
            <a:pPr algn="l" indent="0" marL="0">
              <a:lnSpc>
                <a:spcPts val="1222"/>
              </a:lnSpc>
              <a:buNone/>
            </a:pPr>
            <a:r>
              <a:rPr lang="en-US" sz="940" b="1" dirty="0">
                <a:solidFill>
                  <a:srgbClr val="1B1815"/>
                </a:solidFill>
                <a:latin typeface="Calibri" pitchFamily="34" charset="0"/>
                <a:ea typeface="Calibri" pitchFamily="34" charset="-122"/>
                <a:cs typeface="Calibri" pitchFamily="34" charset="-120"/>
              </a:rPr>
              <a:t>Name it</a:t>
            </a:r>
            <a:endParaRPr lang="en-US" sz="940" dirty="0"/>
          </a:p>
        </p:txBody>
      </p:sp>
      <p:sp>
        <p:nvSpPr>
          <p:cNvPr id="31" name="Text 29"/>
          <p:cNvSpPr txBox="1"/>
          <p:nvPr/>
        </p:nvSpPr>
        <p:spPr>
          <a:xfrm>
            <a:off x="8046720" y="2880360"/>
            <a:ext cx="2971800" cy="244729"/>
          </a:xfrm>
          <a:prstGeom prst="rect">
            <a:avLst/>
          </a:prstGeom>
          <a:noFill/>
          <a:ln/>
        </p:spPr>
        <p:txBody>
          <a:bodyPr wrap="square" lIns="0" tIns="0" rIns="0" bIns="0" rtlCol="0" anchor="t"/>
          <a:lstStyle/>
          <a:p>
            <a:pPr algn="l" indent="0" marL="0">
              <a:lnSpc>
                <a:spcPts val="1107"/>
              </a:lnSpc>
              <a:buNone/>
            </a:pPr>
            <a:r>
              <a:rPr lang="en-US" sz="820" dirty="0">
                <a:solidFill>
                  <a:srgbClr val="5B544A"/>
                </a:solidFill>
                <a:latin typeface="Calibri" pitchFamily="34" charset="0"/>
                <a:ea typeface="Calibri" pitchFamily="34" charset="-122"/>
                <a:cs typeface="Calibri" pitchFamily="34" charset="-120"/>
              </a:rPr>
              <a:t>“Can we slow this down and look at the loop together?”</a:t>
            </a:r>
            <a:endParaRPr lang="en-US" sz="820" dirty="0"/>
          </a:p>
        </p:txBody>
      </p:sp>
      <p:sp>
        <p:nvSpPr>
          <p:cNvPr id="32" name="Shape 30"/>
          <p:cNvSpPr/>
          <p:nvPr/>
        </p:nvSpPr>
        <p:spPr>
          <a:xfrm>
            <a:off x="7662672" y="3694176"/>
            <a:ext cx="237744" cy="237744"/>
          </a:xfrm>
          <a:prstGeom prst="ellipse">
            <a:avLst/>
          </a:prstGeom>
          <a:solidFill>
            <a:srgbClr val="FFFFFF">
              <a:alpha val="0"/>
            </a:srgbClr>
          </a:solidFill>
          <a:ln w="7620">
            <a:solidFill>
              <a:srgbClr val="C2A05F"/>
            </a:solidFill>
            <a:prstDash val="solid"/>
          </a:ln>
        </p:spPr>
      </p:sp>
      <p:sp>
        <p:nvSpPr>
          <p:cNvPr id="33" name="Text 31"/>
          <p:cNvSpPr txBox="1"/>
          <p:nvPr/>
        </p:nvSpPr>
        <p:spPr>
          <a:xfrm>
            <a:off x="7662672" y="3766058"/>
            <a:ext cx="237744" cy="237744"/>
          </a:xfrm>
          <a:prstGeom prst="rect">
            <a:avLst/>
          </a:prstGeom>
          <a:noFill/>
          <a:ln/>
        </p:spPr>
        <p:txBody>
          <a:bodyPr wrap="square" lIns="0" tIns="0" rIns="0" bIns="0" rtlCol="0" anchor="t"/>
          <a:lstStyle/>
          <a:p>
            <a:pPr algn="ctr" indent="0" marL="0">
              <a:lnSpc>
                <a:spcPts val="740"/>
              </a:lnSpc>
              <a:buNone/>
            </a:pPr>
            <a:r>
              <a:rPr lang="en-US" sz="740" b="1" dirty="0">
                <a:solidFill>
                  <a:srgbClr val="96733C"/>
                </a:solidFill>
                <a:latin typeface="Calibri" pitchFamily="34" charset="0"/>
                <a:ea typeface="Calibri" pitchFamily="34" charset="-122"/>
                <a:cs typeface="Calibri" pitchFamily="34" charset="-120"/>
              </a:rPr>
              <a:t>2</a:t>
            </a:r>
            <a:endParaRPr lang="en-US" sz="740" dirty="0"/>
          </a:p>
        </p:txBody>
      </p:sp>
      <p:sp>
        <p:nvSpPr>
          <p:cNvPr id="34" name="Text 32"/>
          <p:cNvSpPr txBox="1"/>
          <p:nvPr/>
        </p:nvSpPr>
        <p:spPr>
          <a:xfrm>
            <a:off x="8046720" y="3657600"/>
            <a:ext cx="2971800" cy="274574"/>
          </a:xfrm>
          <a:prstGeom prst="rect">
            <a:avLst/>
          </a:prstGeom>
          <a:noFill/>
          <a:ln/>
        </p:spPr>
        <p:txBody>
          <a:bodyPr wrap="square" lIns="0" tIns="0" rIns="0" bIns="0" rtlCol="0" anchor="t"/>
          <a:lstStyle/>
          <a:p>
            <a:pPr algn="l" indent="0" marL="0">
              <a:lnSpc>
                <a:spcPts val="1222"/>
              </a:lnSpc>
              <a:buNone/>
            </a:pPr>
            <a:r>
              <a:rPr lang="en-US" sz="940" b="1" dirty="0">
                <a:solidFill>
                  <a:srgbClr val="1B1815"/>
                </a:solidFill>
                <a:latin typeface="Calibri" pitchFamily="34" charset="0"/>
                <a:ea typeface="Calibri" pitchFamily="34" charset="-122"/>
                <a:cs typeface="Calibri" pitchFamily="34" charset="-120"/>
              </a:rPr>
              <a:t>Validate both</a:t>
            </a:r>
            <a:endParaRPr lang="en-US" sz="940" dirty="0"/>
          </a:p>
        </p:txBody>
      </p:sp>
      <p:sp>
        <p:nvSpPr>
          <p:cNvPr id="35" name="Text 33"/>
          <p:cNvSpPr txBox="1"/>
          <p:nvPr/>
        </p:nvSpPr>
        <p:spPr>
          <a:xfrm>
            <a:off x="8046720" y="3904488"/>
            <a:ext cx="2971800" cy="244729"/>
          </a:xfrm>
          <a:prstGeom prst="rect">
            <a:avLst/>
          </a:prstGeom>
          <a:noFill/>
          <a:ln/>
        </p:spPr>
        <p:txBody>
          <a:bodyPr wrap="square" lIns="0" tIns="0" rIns="0" bIns="0" rtlCol="0" anchor="t"/>
          <a:lstStyle/>
          <a:p>
            <a:pPr algn="l" indent="0" marL="0">
              <a:lnSpc>
                <a:spcPts val="1107"/>
              </a:lnSpc>
              <a:buNone/>
            </a:pPr>
            <a:r>
              <a:rPr lang="en-US" sz="820" dirty="0">
                <a:solidFill>
                  <a:srgbClr val="5B544A"/>
                </a:solidFill>
                <a:latin typeface="Calibri" pitchFamily="34" charset="0"/>
                <a:ea typeface="Calibri" pitchFamily="34" charset="-122"/>
                <a:cs typeface="Calibri" pitchFamily="34" charset="-120"/>
              </a:rPr>
              <a:t>Each response makes sense given the attachment fear beneath it.</a:t>
            </a:r>
            <a:endParaRPr lang="en-US" sz="820" dirty="0"/>
          </a:p>
        </p:txBody>
      </p:sp>
      <p:sp>
        <p:nvSpPr>
          <p:cNvPr id="36" name="Shape 34"/>
          <p:cNvSpPr/>
          <p:nvPr/>
        </p:nvSpPr>
        <p:spPr>
          <a:xfrm>
            <a:off x="7662672" y="4718304"/>
            <a:ext cx="237744" cy="237744"/>
          </a:xfrm>
          <a:prstGeom prst="ellipse">
            <a:avLst/>
          </a:prstGeom>
          <a:solidFill>
            <a:srgbClr val="FFFFFF">
              <a:alpha val="0"/>
            </a:srgbClr>
          </a:solidFill>
          <a:ln w="7620">
            <a:solidFill>
              <a:srgbClr val="C2A05F"/>
            </a:solidFill>
            <a:prstDash val="solid"/>
          </a:ln>
        </p:spPr>
      </p:sp>
      <p:sp>
        <p:nvSpPr>
          <p:cNvPr id="37" name="Text 35"/>
          <p:cNvSpPr txBox="1"/>
          <p:nvPr/>
        </p:nvSpPr>
        <p:spPr>
          <a:xfrm>
            <a:off x="7662672" y="4790186"/>
            <a:ext cx="237744" cy="237744"/>
          </a:xfrm>
          <a:prstGeom prst="rect">
            <a:avLst/>
          </a:prstGeom>
          <a:noFill/>
          <a:ln/>
        </p:spPr>
        <p:txBody>
          <a:bodyPr wrap="square" lIns="0" tIns="0" rIns="0" bIns="0" rtlCol="0" anchor="t"/>
          <a:lstStyle/>
          <a:p>
            <a:pPr algn="ctr" indent="0" marL="0">
              <a:lnSpc>
                <a:spcPts val="740"/>
              </a:lnSpc>
              <a:buNone/>
            </a:pPr>
            <a:r>
              <a:rPr lang="en-US" sz="740" b="1" dirty="0">
                <a:solidFill>
                  <a:srgbClr val="96733C"/>
                </a:solidFill>
                <a:latin typeface="Calibri" pitchFamily="34" charset="0"/>
                <a:ea typeface="Calibri" pitchFamily="34" charset="-122"/>
                <a:cs typeface="Calibri" pitchFamily="34" charset="-120"/>
              </a:rPr>
              <a:t>3</a:t>
            </a:r>
            <a:endParaRPr lang="en-US" sz="740" dirty="0"/>
          </a:p>
        </p:txBody>
      </p:sp>
      <p:sp>
        <p:nvSpPr>
          <p:cNvPr id="38" name="Text 36"/>
          <p:cNvSpPr txBox="1"/>
          <p:nvPr/>
        </p:nvSpPr>
        <p:spPr>
          <a:xfrm>
            <a:off x="8046720" y="4681728"/>
            <a:ext cx="2971800" cy="274574"/>
          </a:xfrm>
          <a:prstGeom prst="rect">
            <a:avLst/>
          </a:prstGeom>
          <a:noFill/>
          <a:ln/>
        </p:spPr>
        <p:txBody>
          <a:bodyPr wrap="square" lIns="0" tIns="0" rIns="0" bIns="0" rtlCol="0" anchor="t"/>
          <a:lstStyle/>
          <a:p>
            <a:pPr algn="l" indent="0" marL="0">
              <a:lnSpc>
                <a:spcPts val="1222"/>
              </a:lnSpc>
              <a:buNone/>
            </a:pPr>
            <a:r>
              <a:rPr lang="en-US" sz="940" b="1" dirty="0">
                <a:solidFill>
                  <a:srgbClr val="1B1815"/>
                </a:solidFill>
                <a:latin typeface="Calibri" pitchFamily="34" charset="0"/>
                <a:ea typeface="Calibri" pitchFamily="34" charset="-122"/>
                <a:cs typeface="Calibri" pitchFamily="34" charset="-120"/>
              </a:rPr>
              <a:t>Create a new move</a:t>
            </a:r>
            <a:endParaRPr lang="en-US" sz="940" dirty="0"/>
          </a:p>
        </p:txBody>
      </p:sp>
      <p:sp>
        <p:nvSpPr>
          <p:cNvPr id="39" name="Text 37"/>
          <p:cNvSpPr txBox="1"/>
          <p:nvPr/>
        </p:nvSpPr>
        <p:spPr>
          <a:xfrm>
            <a:off x="8046720" y="4928616"/>
            <a:ext cx="2971800" cy="244729"/>
          </a:xfrm>
          <a:prstGeom prst="rect">
            <a:avLst/>
          </a:prstGeom>
          <a:noFill/>
          <a:ln/>
        </p:spPr>
        <p:txBody>
          <a:bodyPr wrap="square" lIns="0" tIns="0" rIns="0" bIns="0" rtlCol="0" anchor="t"/>
          <a:lstStyle/>
          <a:p>
            <a:pPr algn="l" indent="0" marL="0">
              <a:lnSpc>
                <a:spcPts val="1107"/>
              </a:lnSpc>
              <a:buNone/>
            </a:pPr>
            <a:r>
              <a:rPr lang="en-US" sz="820" dirty="0">
                <a:solidFill>
                  <a:srgbClr val="5B544A"/>
                </a:solidFill>
                <a:latin typeface="Calibri" pitchFamily="34" charset="0"/>
                <a:ea typeface="Calibri" pitchFamily="34" charset="-122"/>
                <a:cs typeface="Calibri" pitchFamily="34" charset="-120"/>
              </a:rPr>
              <a:t>Risk a softer signal; respond with accessibility and responsiveness.</a:t>
            </a:r>
            <a:endParaRPr lang="en-US" sz="820" dirty="0"/>
          </a:p>
        </p:txBody>
      </p:sp>
      <p:sp>
        <p:nvSpPr>
          <p:cNvPr id="40" name="Text 38"/>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After Johnson (2019).</a:t>
            </a:r>
            <a:endParaRPr lang="en-US" sz="74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48640"/>
            <a:ext cx="82296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14 · SEMINAR</a:t>
            </a:r>
            <a:endParaRPr lang="en-US" sz="760" dirty="0"/>
          </a:p>
        </p:txBody>
      </p:sp>
      <p:sp>
        <p:nvSpPr>
          <p:cNvPr id="3" name="Text 1"/>
          <p:cNvSpPr txBox="1"/>
          <p:nvPr/>
        </p:nvSpPr>
        <p:spPr>
          <a:xfrm>
            <a:off x="822960" y="1417320"/>
            <a:ext cx="7863840" cy="915416"/>
          </a:xfrm>
          <a:prstGeom prst="rect">
            <a:avLst/>
          </a:prstGeom>
          <a:noFill/>
          <a:ln/>
        </p:spPr>
        <p:txBody>
          <a:bodyPr wrap="square" lIns="0" tIns="0" rIns="0" bIns="0" rtlCol="0" anchor="t"/>
          <a:lstStyle/>
          <a:p>
            <a:pPr algn="l" indent="0" marL="0">
              <a:lnSpc>
                <a:spcPts val="3808"/>
              </a:lnSpc>
              <a:buNone/>
            </a:pPr>
            <a:r>
              <a:rPr lang="en-US" sz="3400" dirty="0">
                <a:solidFill>
                  <a:srgbClr val="F8F3E9"/>
                </a:solidFill>
                <a:latin typeface="Georgia" pitchFamily="34" charset="0"/>
                <a:ea typeface="Georgia" pitchFamily="34" charset="-122"/>
                <a:cs typeface="Georgia" pitchFamily="34" charset="-120"/>
              </a:rPr>
              <a:t>The argument underneath</a:t>
            </a:r>
            <a:endParaRPr lang="en-US" sz="3400" dirty="0"/>
          </a:p>
        </p:txBody>
      </p:sp>
      <p:sp>
        <p:nvSpPr>
          <p:cNvPr id="4" name="Shape 2"/>
          <p:cNvSpPr/>
          <p:nvPr/>
        </p:nvSpPr>
        <p:spPr>
          <a:xfrm>
            <a:off x="822960" y="2395728"/>
            <a:ext cx="1280160" cy="91"/>
          </a:xfrm>
          <a:prstGeom prst="line">
            <a:avLst/>
          </a:prstGeom>
          <a:noFill/>
          <a:ln w="11430">
            <a:solidFill>
              <a:srgbClr val="C2A05F"/>
            </a:solidFill>
            <a:prstDash val="solid"/>
            <a:headEnd type="none"/>
            <a:tailEnd type="none"/>
          </a:ln>
        </p:spPr>
      </p:sp>
      <p:sp>
        <p:nvSpPr>
          <p:cNvPr id="5" name="Text 3"/>
          <p:cNvSpPr txBox="1"/>
          <p:nvPr/>
        </p:nvSpPr>
        <p:spPr>
          <a:xfrm>
            <a:off x="822960" y="2651760"/>
            <a:ext cx="6949440" cy="643890"/>
          </a:xfrm>
          <a:prstGeom prst="rect">
            <a:avLst/>
          </a:prstGeom>
          <a:noFill/>
          <a:ln/>
        </p:spPr>
        <p:txBody>
          <a:bodyPr wrap="square" lIns="0" tIns="0" rIns="0" bIns="0" rtlCol="0" anchor="t"/>
          <a:lstStyle/>
          <a:p>
            <a:pPr algn="l" indent="0" marL="0">
              <a:lnSpc>
                <a:spcPts val="1885"/>
              </a:lnSpc>
              <a:buNone/>
            </a:pPr>
            <a:r>
              <a:rPr lang="en-US" sz="1300" i="1" dirty="0">
                <a:solidFill>
                  <a:srgbClr val="E7D3A9"/>
                </a:solidFill>
                <a:latin typeface="Georgia" pitchFamily="34" charset="0"/>
                <a:ea typeface="Georgia" pitchFamily="34" charset="-122"/>
                <a:cs typeface="Georgia" pitchFamily="34" charset="-120"/>
              </a:rPr>
              <a:t>In pairs, take one repeated argument and map it as an attachment cycle rather than a</a:t>
            </a:r>
            <a:endParaRPr lang="en-US" sz="1300" dirty="0"/>
          </a:p>
          <a:p>
            <a:pPr algn="l" indent="0" marL="0">
              <a:lnSpc>
                <a:spcPts val="1885"/>
              </a:lnSpc>
              <a:buNone/>
            </a:pPr>
            <a:r>
              <a:rPr lang="en-US" sz="1300" i="1" dirty="0">
                <a:solidFill>
                  <a:srgbClr val="E7D3A9"/>
                </a:solidFill>
                <a:latin typeface="Georgia" pitchFamily="34" charset="0"/>
                <a:ea typeface="Georgia" pitchFamily="34" charset="-122"/>
                <a:cs typeface="Georgia" pitchFamily="34" charset="-120"/>
              </a:rPr>
              <a:t>disagreement.</a:t>
            </a:r>
            <a:endParaRPr lang="en-US" sz="1300" dirty="0"/>
          </a:p>
        </p:txBody>
      </p:sp>
      <p:sp>
        <p:nvSpPr>
          <p:cNvPr id="6" name="Text 4"/>
          <p:cNvSpPr txBox="1"/>
          <p:nvPr/>
        </p:nvSpPr>
        <p:spPr>
          <a:xfrm>
            <a:off x="822960" y="374904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01</a:t>
            </a:r>
            <a:endParaRPr lang="en-US" sz="1500" dirty="0"/>
          </a:p>
        </p:txBody>
      </p:sp>
      <p:sp>
        <p:nvSpPr>
          <p:cNvPr id="7" name="Text 5"/>
          <p:cNvSpPr txBox="1"/>
          <p:nvPr/>
        </p:nvSpPr>
        <p:spPr>
          <a:xfrm>
            <a:off x="1280160" y="374904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What is each partner asking for beneath the complaint?</a:t>
            </a:r>
            <a:endParaRPr lang="en-US" sz="980" dirty="0"/>
          </a:p>
        </p:txBody>
      </p:sp>
      <p:sp>
        <p:nvSpPr>
          <p:cNvPr id="8" name="Text 6"/>
          <p:cNvSpPr txBox="1"/>
          <p:nvPr/>
        </p:nvSpPr>
        <p:spPr>
          <a:xfrm>
            <a:off x="6400800" y="374904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02</a:t>
            </a:r>
            <a:endParaRPr lang="en-US" sz="1500" dirty="0"/>
          </a:p>
        </p:txBody>
      </p:sp>
      <p:sp>
        <p:nvSpPr>
          <p:cNvPr id="9" name="Text 7"/>
          <p:cNvSpPr txBox="1"/>
          <p:nvPr/>
        </p:nvSpPr>
        <p:spPr>
          <a:xfrm>
            <a:off x="6858000" y="374904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Which move most reliably triggers the other?</a:t>
            </a:r>
            <a:endParaRPr lang="en-US" sz="980" dirty="0"/>
          </a:p>
        </p:txBody>
      </p:sp>
      <p:sp>
        <p:nvSpPr>
          <p:cNvPr id="10" name="Text 8"/>
          <p:cNvSpPr txBox="1"/>
          <p:nvPr/>
        </p:nvSpPr>
        <p:spPr>
          <a:xfrm>
            <a:off x="822960" y="480060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03</a:t>
            </a:r>
            <a:endParaRPr lang="en-US" sz="1500" dirty="0"/>
          </a:p>
        </p:txBody>
      </p:sp>
      <p:sp>
        <p:nvSpPr>
          <p:cNvPr id="11" name="Text 9"/>
          <p:cNvSpPr txBox="1"/>
          <p:nvPr/>
        </p:nvSpPr>
        <p:spPr>
          <a:xfrm>
            <a:off x="1280160" y="480060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Where could a softer signal be risked?</a:t>
            </a:r>
            <a:endParaRPr lang="en-US" sz="980" dirty="0"/>
          </a:p>
        </p:txBody>
      </p:sp>
      <p:sp>
        <p:nvSpPr>
          <p:cNvPr id="12" name="Text 10"/>
          <p:cNvSpPr txBox="1"/>
          <p:nvPr/>
        </p:nvSpPr>
        <p:spPr>
          <a:xfrm>
            <a:off x="6400800" y="480060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04</a:t>
            </a:r>
            <a:endParaRPr lang="en-US" sz="1500" dirty="0"/>
          </a:p>
        </p:txBody>
      </p:sp>
      <p:sp>
        <p:nvSpPr>
          <p:cNvPr id="13" name="Text 11"/>
          <p:cNvSpPr txBox="1"/>
          <p:nvPr/>
        </p:nvSpPr>
        <p:spPr>
          <a:xfrm>
            <a:off x="6858000" y="480060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What would make repair credible rather than polite?</a:t>
            </a:r>
            <a:endParaRPr lang="en-US" sz="980" dirty="0"/>
          </a:p>
        </p:txBody>
      </p:sp>
      <p:sp>
        <p:nvSpPr>
          <p:cNvPr id="14" name="Shape 12"/>
          <p:cNvSpPr/>
          <p:nvPr/>
        </p:nvSpPr>
        <p:spPr>
          <a:xfrm>
            <a:off x="822960" y="5340096"/>
            <a:ext cx="10546050" cy="91"/>
          </a:xfrm>
          <a:prstGeom prst="line">
            <a:avLst/>
          </a:prstGeom>
          <a:noFill/>
          <a:ln w="6350">
            <a:solidFill>
              <a:srgbClr val="3A332A"/>
            </a:solidFill>
            <a:prstDash val="solid"/>
            <a:headEnd type="none"/>
            <a:tailEnd type="none"/>
          </a:ln>
        </p:spPr>
      </p:sp>
      <p:sp>
        <p:nvSpPr>
          <p:cNvPr id="15" name="Text 13"/>
          <p:cNvSpPr txBox="1"/>
          <p:nvPr/>
        </p:nvSpPr>
        <p:spPr>
          <a:xfrm>
            <a:off x="82296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05</a:t>
            </a:r>
            <a:endParaRPr lang="en-US" sz="1100" dirty="0"/>
          </a:p>
        </p:txBody>
      </p:sp>
      <p:sp>
        <p:nvSpPr>
          <p:cNvPr id="16" name="Text 14"/>
          <p:cNvSpPr txBox="1"/>
          <p:nvPr/>
        </p:nvSpPr>
        <p:spPr>
          <a:xfrm>
            <a:off x="120700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SILENT WRITING</a:t>
            </a:r>
            <a:endParaRPr lang="en-US" sz="680" dirty="0"/>
          </a:p>
        </p:txBody>
      </p:sp>
      <p:sp>
        <p:nvSpPr>
          <p:cNvPr id="17" name="Text 15"/>
          <p:cNvSpPr txBox="1"/>
          <p:nvPr/>
        </p:nvSpPr>
        <p:spPr>
          <a:xfrm>
            <a:off x="352044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10</a:t>
            </a:r>
            <a:endParaRPr lang="en-US" sz="1100" dirty="0"/>
          </a:p>
        </p:txBody>
      </p:sp>
      <p:sp>
        <p:nvSpPr>
          <p:cNvPr id="18" name="Text 16"/>
          <p:cNvSpPr txBox="1"/>
          <p:nvPr/>
        </p:nvSpPr>
        <p:spPr>
          <a:xfrm>
            <a:off x="390448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PAIRS</a:t>
            </a:r>
            <a:endParaRPr lang="en-US" sz="680" dirty="0"/>
          </a:p>
        </p:txBody>
      </p:sp>
      <p:sp>
        <p:nvSpPr>
          <p:cNvPr id="19" name="Text 17"/>
          <p:cNvSpPr txBox="1"/>
          <p:nvPr/>
        </p:nvSpPr>
        <p:spPr>
          <a:xfrm>
            <a:off x="621792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20</a:t>
            </a:r>
            <a:endParaRPr lang="en-US" sz="1100" dirty="0"/>
          </a:p>
        </p:txBody>
      </p:sp>
      <p:sp>
        <p:nvSpPr>
          <p:cNvPr id="20" name="Text 18"/>
          <p:cNvSpPr txBox="1"/>
          <p:nvPr/>
        </p:nvSpPr>
        <p:spPr>
          <a:xfrm>
            <a:off x="660196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PLENARY</a:t>
            </a:r>
            <a:endParaRPr lang="en-US" sz="680" dirty="0"/>
          </a:p>
        </p:txBody>
      </p:sp>
      <p:sp>
        <p:nvSpPr>
          <p:cNvPr id="21" name="Text 19"/>
          <p:cNvSpPr txBox="1"/>
          <p:nvPr/>
        </p:nvSpPr>
        <p:spPr>
          <a:xfrm>
            <a:off x="891540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05</a:t>
            </a:r>
            <a:endParaRPr lang="en-US" sz="1100" dirty="0"/>
          </a:p>
        </p:txBody>
      </p:sp>
      <p:sp>
        <p:nvSpPr>
          <p:cNvPr id="22" name="Text 20"/>
          <p:cNvSpPr txBox="1"/>
          <p:nvPr/>
        </p:nvSpPr>
        <p:spPr>
          <a:xfrm>
            <a:off x="929944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CLOSE</a:t>
            </a:r>
            <a:endParaRPr lang="en-US" sz="680" dirty="0"/>
          </a:p>
        </p:txBody>
      </p:sp>
      <p:sp>
        <p:nvSpPr>
          <p:cNvPr id="23" name="Text 21"/>
          <p:cNvSpPr txBox="1"/>
          <p:nvPr/>
        </p:nvSpPr>
        <p:spPr>
          <a:xfrm>
            <a:off x="8442930" y="5522976"/>
            <a:ext cx="2926080" cy="191008"/>
          </a:xfrm>
          <a:prstGeom prst="rect">
            <a:avLst/>
          </a:prstGeom>
          <a:noFill/>
          <a:ln/>
        </p:spPr>
        <p:txBody>
          <a:bodyPr wrap="square" lIns="0" tIns="0" rIns="0" bIns="0" rtlCol="0" anchor="t"/>
          <a:lstStyle/>
          <a:p>
            <a:pPr algn="r" indent="0" marL="0">
              <a:lnSpc>
                <a:spcPts val="864"/>
              </a:lnSpc>
              <a:buNone/>
            </a:pPr>
            <a:r>
              <a:rPr lang="en-US" sz="640" spc="160" kern="0" dirty="0">
                <a:solidFill>
                  <a:srgbClr val="8B8375"/>
                </a:solidFill>
                <a:latin typeface="Calibri" pitchFamily="34" charset="0"/>
                <a:ea typeface="Calibri" pitchFamily="34" charset="-122"/>
                <a:cs typeface="Calibri" pitchFamily="34" charset="-120"/>
              </a:rPr>
              <a:t>MINUTES</a:t>
            </a:r>
            <a:endParaRPr lang="en-US" sz="640" dirty="0"/>
          </a:p>
        </p:txBody>
      </p:sp>
      <p:sp>
        <p:nvSpPr>
          <p:cNvPr id="24" name="Shape 22"/>
          <p:cNvSpPr/>
          <p:nvPr/>
        </p:nvSpPr>
        <p:spPr>
          <a:xfrm>
            <a:off x="822960" y="722376"/>
            <a:ext cx="10546050" cy="91"/>
          </a:xfrm>
          <a:prstGeom prst="line">
            <a:avLst/>
          </a:prstGeom>
          <a:noFill/>
          <a:ln w="6350">
            <a:solidFill>
              <a:srgbClr val="3A332A"/>
            </a:solidFill>
            <a:prstDash val="solid"/>
            <a:headEnd type="none"/>
            <a:tailEnd type="none"/>
          </a:ln>
        </p:spPr>
      </p:sp>
      <p:sp>
        <p:nvSpPr>
          <p:cNvPr id="25" name="Text 23"/>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26" name="Text 24"/>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66</a:t>
            </a:r>
            <a:endParaRPr lang="en-US" sz="9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15 · PHASE IV — INTEGRATION &amp; TRANSITION</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15</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Family Transitions, Crisis and</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High-Conflict Contexts</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755904"/>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When the family changes shape, what holds it together — and what must be made</a:t>
            </a:r>
            <a:endParaRPr lang="en-US" sz="1550" dirty="0"/>
          </a:p>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safe first?</a:t>
            </a:r>
            <a:endParaRPr lang="en-US" sz="1550" dirty="0"/>
          </a:p>
        </p:txBody>
      </p:sp>
      <p:sp>
        <p:nvSpPr>
          <p:cNvPr id="8" name="Shape 6"/>
          <p:cNvSpPr/>
          <p:nvPr/>
        </p:nvSpPr>
        <p:spPr>
          <a:xfrm>
            <a:off x="822960" y="4190746"/>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337050"/>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529074"/>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Symptoms at the threshold</a:t>
            </a:r>
            <a:endParaRPr lang="en-US" sz="850" dirty="0"/>
          </a:p>
        </p:txBody>
      </p:sp>
      <p:sp>
        <p:nvSpPr>
          <p:cNvPr id="11" name="Text 9"/>
          <p:cNvSpPr txBox="1"/>
          <p:nvPr/>
        </p:nvSpPr>
        <p:spPr>
          <a:xfrm>
            <a:off x="3282696" y="4337050"/>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529074"/>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staircase of transitions</a:t>
            </a:r>
            <a:endParaRPr lang="en-US" sz="850" dirty="0"/>
          </a:p>
        </p:txBody>
      </p:sp>
      <p:sp>
        <p:nvSpPr>
          <p:cNvPr id="13" name="Text 11"/>
          <p:cNvSpPr txBox="1"/>
          <p:nvPr/>
        </p:nvSpPr>
        <p:spPr>
          <a:xfrm>
            <a:off x="5742432" y="4337050"/>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CLINICAL CASE</a:t>
            </a:r>
            <a:endParaRPr lang="en-US" sz="620" dirty="0"/>
          </a:p>
        </p:txBody>
      </p:sp>
      <p:sp>
        <p:nvSpPr>
          <p:cNvPr id="14" name="Text 12"/>
          <p:cNvSpPr txBox="1"/>
          <p:nvPr/>
        </p:nvSpPr>
        <p:spPr>
          <a:xfrm>
            <a:off x="5742432" y="4529074"/>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transition nobody named</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Map transitions using a family life cycle frame.</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Assess safety and crisis in family work.</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Work systemically with separation and stepfamily</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formation.</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transition · family life cycle · ambiguous loss · coercive control · safety plan</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Carter &amp; McGoldrick (1999), ch. 1–2 · Walsh (2016) · Emery (2012)</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96733C"/>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96733C"/>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96733C"/>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96733C"/>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96733C"/>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96733C"/>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96733C"/>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96733C"/>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96733C"/>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96733C"/>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96733C"/>
          </a:solidFill>
          <a:ln w="12700">
            <a:solidFill>
              <a:srgbClr val="FFFFFF">
                <a:alpha val="0"/>
              </a:srgbClr>
            </a:solidFill>
            <a:prstDash val="solid"/>
          </a:ln>
        </p:spPr>
      </p:sp>
      <p:sp>
        <p:nvSpPr>
          <p:cNvPr id="41" name="Shape 39"/>
          <p:cNvSpPr/>
          <p:nvPr/>
        </p:nvSpPr>
        <p:spPr>
          <a:xfrm>
            <a:off x="10573512" y="5696712"/>
            <a:ext cx="128016" cy="128016"/>
          </a:xfrm>
          <a:prstGeom prst="ellipse">
            <a:avLst/>
          </a:prstGeom>
          <a:solidFill>
            <a:srgbClr val="C2A05F"/>
          </a:solidFill>
          <a:ln w="8890">
            <a:solidFill>
              <a:srgbClr val="E7D3A9"/>
            </a:solidFill>
            <a:prstDash val="solid"/>
          </a:ln>
        </p:spPr>
      </p:sp>
      <p:sp>
        <p:nvSpPr>
          <p:cNvPr id="42" name="Shape 40"/>
          <p:cNvSpPr/>
          <p:nvPr/>
        </p:nvSpPr>
        <p:spPr>
          <a:xfrm>
            <a:off x="11309299" y="5731459"/>
            <a:ext cx="58522" cy="58522"/>
          </a:xfrm>
          <a:prstGeom prst="ellipse">
            <a:avLst/>
          </a:prstGeom>
          <a:solidFill>
            <a:srgbClr val="1E1913"/>
          </a:solidFill>
          <a:ln w="12700">
            <a:solidFill>
              <a:srgbClr val="FFFFFF">
                <a:alpha val="0"/>
              </a:srgbClr>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67</a:t>
            </a:r>
            <a:endParaRPr lang="en-US" sz="9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15 · LECTURE 15</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68</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Symptoms at the threshold</a:t>
            </a:r>
            <a:endParaRPr lang="en-US" sz="2800" dirty="0"/>
          </a:p>
        </p:txBody>
      </p:sp>
      <p:sp>
        <p:nvSpPr>
          <p:cNvPr id="9" name="Text 7"/>
          <p:cNvSpPr txBox="1"/>
          <p:nvPr/>
        </p:nvSpPr>
        <p:spPr>
          <a:xfrm>
            <a:off x="822960" y="1486408"/>
            <a:ext cx="8138160" cy="614477"/>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Families do not present at random. Symptoms cluster at transitions — when the old rules no longer fit and the new ones do</a:t>
            </a:r>
            <a:endParaRPr lang="en-US" sz="1260" dirty="0"/>
          </a:p>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not yet exist.</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THE FAMILY LIFE CYCLE</a:t>
            </a:r>
            <a:endParaRPr lang="en-US" sz="750" dirty="0"/>
          </a:p>
        </p:txBody>
      </p:sp>
      <p:sp>
        <p:nvSpPr>
          <p:cNvPr id="13" name="Text 11"/>
          <p:cNvSpPr txBox="1"/>
          <p:nvPr/>
        </p:nvSpPr>
        <p:spPr>
          <a:xfrm>
            <a:off x="82296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Stages and transitions; vertical stressors (history, legacy) meet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horizontal stressors (events, time). The symptom often appears in the</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in-between.</a:t>
            </a:r>
            <a:endParaRPr lang="en-US" sz="900" dirty="0"/>
          </a:p>
        </p:txBody>
      </p:sp>
      <p:sp>
        <p:nvSpPr>
          <p:cNvPr id="14" name="Shape 12"/>
          <p:cNvSpPr/>
          <p:nvPr/>
        </p:nvSpPr>
        <p:spPr>
          <a:xfrm>
            <a:off x="822960" y="3529584"/>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Not a timetable but a set of tasks</a:t>
            </a:r>
            <a:endParaRPr lang="en-US" sz="880" dirty="0"/>
          </a:p>
        </p:txBody>
      </p:sp>
      <p:sp>
        <p:nvSpPr>
          <p:cNvPr id="16" name="Shape 14"/>
          <p:cNvSpPr/>
          <p:nvPr/>
        </p:nvSpPr>
        <p:spPr>
          <a:xfrm>
            <a:off x="822960" y="3775253"/>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Transitions renegotiate every relationship</a:t>
            </a:r>
            <a:endParaRPr lang="en-US" sz="880" dirty="0"/>
          </a:p>
        </p:txBody>
      </p:sp>
      <p:sp>
        <p:nvSpPr>
          <p:cNvPr id="18" name="Shape 16"/>
          <p:cNvSpPr/>
          <p:nvPr/>
        </p:nvSpPr>
        <p:spPr>
          <a:xfrm>
            <a:off x="822960" y="4020922"/>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Cultural timing varies widely</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CRISIS AND SAFETY</a:t>
            </a:r>
            <a:endParaRPr lang="en-US" sz="750" dirty="0"/>
          </a:p>
        </p:txBody>
      </p:sp>
      <p:sp>
        <p:nvSpPr>
          <p:cNvPr id="23" name="Text 21"/>
          <p:cNvSpPr txBox="1"/>
          <p:nvPr/>
        </p:nvSpPr>
        <p:spPr>
          <a:xfrm>
            <a:off x="446532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Crisis compresses time. The first tasks are safety and stabilisation;</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meaning-making comes after the system can hold it.</a:t>
            </a:r>
            <a:endParaRPr lang="en-US" sz="900" dirty="0"/>
          </a:p>
        </p:txBody>
      </p:sp>
      <p:sp>
        <p:nvSpPr>
          <p:cNvPr id="24" name="Shape 22"/>
          <p:cNvSpPr/>
          <p:nvPr/>
        </p:nvSpPr>
        <p:spPr>
          <a:xfrm>
            <a:off x="4465320" y="3364992"/>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Screen for violence separately</a:t>
            </a:r>
            <a:endParaRPr lang="en-US" sz="880" dirty="0"/>
          </a:p>
        </p:txBody>
      </p:sp>
      <p:sp>
        <p:nvSpPr>
          <p:cNvPr id="26" name="Shape 24"/>
          <p:cNvSpPr/>
          <p:nvPr/>
        </p:nvSpPr>
        <p:spPr>
          <a:xfrm>
            <a:off x="4465320" y="3610661"/>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Do not do couple work under coercive control</a:t>
            </a:r>
            <a:endParaRPr lang="en-US" sz="880" dirty="0"/>
          </a:p>
        </p:txBody>
      </p:sp>
      <p:sp>
        <p:nvSpPr>
          <p:cNvPr id="28" name="Shape 26"/>
          <p:cNvSpPr/>
          <p:nvPr/>
        </p:nvSpPr>
        <p:spPr>
          <a:xfrm>
            <a:off x="4465320" y="3856330"/>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Document and refer</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SEPARATION AND STEPFAMILY</a:t>
            </a:r>
            <a:endParaRPr lang="en-US" sz="750" dirty="0"/>
          </a:p>
        </p:txBody>
      </p:sp>
      <p:sp>
        <p:nvSpPr>
          <p:cNvPr id="33" name="Text 31"/>
          <p:cNvSpPr txBox="1"/>
          <p:nvPr/>
        </p:nvSpPr>
        <p:spPr>
          <a:xfrm>
            <a:off x="810768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Divorce is not an event but a process. Co-parenting requires a new</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boundary around the couple relationship — and stepfamily formation</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requires time.</a:t>
            </a:r>
            <a:endParaRPr lang="en-US" sz="900" dirty="0"/>
          </a:p>
        </p:txBody>
      </p:sp>
      <p:sp>
        <p:nvSpPr>
          <p:cNvPr id="34" name="Shape 32"/>
          <p:cNvSpPr/>
          <p:nvPr/>
        </p:nvSpPr>
        <p:spPr>
          <a:xfrm>
            <a:off x="8107680" y="3529584"/>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Grief alongside relief</a:t>
            </a:r>
            <a:endParaRPr lang="en-US" sz="880" dirty="0"/>
          </a:p>
        </p:txBody>
      </p:sp>
      <p:sp>
        <p:nvSpPr>
          <p:cNvPr id="36" name="Shape 34"/>
          <p:cNvSpPr/>
          <p:nvPr/>
        </p:nvSpPr>
        <p:spPr>
          <a:xfrm>
            <a:off x="8107680" y="3775253"/>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Loyalty conflicts</a:t>
            </a:r>
            <a:endParaRPr lang="en-US" sz="880" dirty="0"/>
          </a:p>
        </p:txBody>
      </p:sp>
      <p:sp>
        <p:nvSpPr>
          <p:cNvPr id="38" name="Shape 36"/>
          <p:cNvSpPr/>
          <p:nvPr/>
        </p:nvSpPr>
        <p:spPr>
          <a:xfrm>
            <a:off x="8107680" y="4020922"/>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A slower integration than adults expect</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AMBIGUOUS LOSS</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Present and absent at once</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When a person is physically absent but psychologically present — or the reverse — grief cannot close. Naming</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the ambiguity can restore movement.</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291338"/>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Carter &amp; McGoldrick (1999); Walsh (2016);</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Emery (2012).</a:t>
            </a:r>
            <a:endParaRPr lang="en-US" sz="62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15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69</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The staircase of transitions</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Each step up requires the family to reorganise. The step down is where symptoms often appear.</a:t>
            </a:r>
            <a:endParaRPr lang="en-US" sz="1060" dirty="0"/>
          </a:p>
        </p:txBody>
      </p:sp>
      <p:sp>
        <p:nvSpPr>
          <p:cNvPr id="10" name="Shape 8"/>
          <p:cNvSpPr/>
          <p:nvPr/>
        </p:nvSpPr>
        <p:spPr>
          <a:xfrm>
            <a:off x="1097280" y="4663440"/>
            <a:ext cx="1574292" cy="457200"/>
          </a:xfrm>
          <a:prstGeom prst="rect">
            <a:avLst/>
          </a:prstGeom>
          <a:solidFill>
            <a:srgbClr val="EFE3CF">
              <a:alpha val="50000"/>
            </a:srgbClr>
          </a:solidFill>
          <a:ln w="12700">
            <a:solidFill>
              <a:srgbClr val="FFFFFF">
                <a:alpha val="0"/>
              </a:srgbClr>
            </a:solidFill>
            <a:prstDash val="solid"/>
          </a:ln>
        </p:spPr>
      </p:sp>
      <p:sp>
        <p:nvSpPr>
          <p:cNvPr id="11" name="Shape 9"/>
          <p:cNvSpPr/>
          <p:nvPr/>
        </p:nvSpPr>
        <p:spPr>
          <a:xfrm>
            <a:off x="1097280" y="4663440"/>
            <a:ext cx="1574292" cy="91"/>
          </a:xfrm>
          <a:prstGeom prst="line">
            <a:avLst/>
          </a:prstGeom>
          <a:noFill/>
          <a:ln w="12700">
            <a:solidFill>
              <a:srgbClr val="C2A05F"/>
            </a:solidFill>
            <a:prstDash val="solid"/>
            <a:headEnd type="none"/>
            <a:tailEnd type="none"/>
          </a:ln>
        </p:spPr>
      </p:sp>
      <p:sp>
        <p:nvSpPr>
          <p:cNvPr id="12" name="Text 10"/>
          <p:cNvSpPr txBox="1"/>
          <p:nvPr/>
        </p:nvSpPr>
        <p:spPr>
          <a:xfrm>
            <a:off x="1188720" y="4773168"/>
            <a:ext cx="1409700" cy="205740"/>
          </a:xfrm>
          <a:prstGeom prst="rect">
            <a:avLst/>
          </a:prstGeom>
          <a:noFill/>
          <a:ln/>
        </p:spPr>
        <p:txBody>
          <a:bodyPr wrap="square" lIns="0" tIns="0" rIns="0" bIns="0" rtlCol="0" anchor="t"/>
          <a:lstStyle/>
          <a:p>
            <a:pPr algn="l" indent="0" marL="0">
              <a:lnSpc>
                <a:spcPts val="900"/>
              </a:lnSpc>
              <a:buNone/>
            </a:pPr>
            <a:r>
              <a:rPr lang="en-US" sz="720" dirty="0">
                <a:solidFill>
                  <a:srgbClr val="5B544A"/>
                </a:solidFill>
                <a:latin typeface="Calibri" pitchFamily="34" charset="0"/>
                <a:ea typeface="Calibri" pitchFamily="34" charset="-122"/>
                <a:cs typeface="Calibri" pitchFamily="34" charset="-120"/>
              </a:rPr>
              <a:t>Differentiate without cutting off</a:t>
            </a:r>
            <a:endParaRPr lang="en-US" sz="720" dirty="0"/>
          </a:p>
        </p:txBody>
      </p:sp>
      <p:sp>
        <p:nvSpPr>
          <p:cNvPr id="13" name="Text 11"/>
          <p:cNvSpPr txBox="1"/>
          <p:nvPr/>
        </p:nvSpPr>
        <p:spPr>
          <a:xfrm>
            <a:off x="1097280" y="2706624"/>
            <a:ext cx="1537716" cy="282550"/>
          </a:xfrm>
          <a:prstGeom prst="rect">
            <a:avLst/>
          </a:prstGeom>
          <a:noFill/>
          <a:ln/>
        </p:spPr>
        <p:txBody>
          <a:bodyPr wrap="square" lIns="0" tIns="0" rIns="0" bIns="0" rtlCol="0" anchor="t"/>
          <a:lstStyle/>
          <a:p>
            <a:pPr algn="l" indent="0" marL="0">
              <a:lnSpc>
                <a:spcPts val="1145"/>
              </a:lnSpc>
              <a:buNone/>
            </a:pPr>
            <a:r>
              <a:rPr lang="en-US" sz="1080" dirty="0">
                <a:solidFill>
                  <a:srgbClr val="1B1815"/>
                </a:solidFill>
                <a:latin typeface="Georgia" pitchFamily="34" charset="0"/>
                <a:ea typeface="Georgia" pitchFamily="34" charset="-122"/>
                <a:cs typeface="Georgia" pitchFamily="34" charset="-120"/>
              </a:rPr>
              <a:t>Leaving home</a:t>
            </a:r>
            <a:endParaRPr lang="en-US" sz="1080" dirty="0"/>
          </a:p>
        </p:txBody>
      </p:sp>
      <p:sp>
        <p:nvSpPr>
          <p:cNvPr id="14" name="Text 12"/>
          <p:cNvSpPr txBox="1"/>
          <p:nvPr/>
        </p:nvSpPr>
        <p:spPr>
          <a:xfrm>
            <a:off x="2525268" y="2377440"/>
            <a:ext cx="201168" cy="283528"/>
          </a:xfrm>
          <a:prstGeom prst="rect">
            <a:avLst/>
          </a:prstGeom>
          <a:noFill/>
          <a:ln/>
        </p:spPr>
        <p:txBody>
          <a:bodyPr wrap="square" lIns="0" tIns="0" rIns="0" bIns="0" rtlCol="0" anchor="t"/>
          <a:lstStyle/>
          <a:p>
            <a:pPr algn="r" indent="0" marL="0">
              <a:lnSpc>
                <a:spcPts val="1283"/>
              </a:lnSpc>
              <a:buNone/>
            </a:pPr>
            <a:r>
              <a:rPr lang="en-US" sz="950" dirty="0">
                <a:solidFill>
                  <a:srgbClr val="96733C"/>
                </a:solidFill>
                <a:latin typeface="Georgia" pitchFamily="34" charset="0"/>
                <a:ea typeface="Georgia" pitchFamily="34" charset="-122"/>
                <a:cs typeface="Georgia" pitchFamily="34" charset="-120"/>
              </a:rPr>
              <a:t>1</a:t>
            </a:r>
            <a:endParaRPr lang="en-US" sz="950" dirty="0"/>
          </a:p>
        </p:txBody>
      </p:sp>
      <p:sp>
        <p:nvSpPr>
          <p:cNvPr id="15" name="Shape 13"/>
          <p:cNvSpPr/>
          <p:nvPr/>
        </p:nvSpPr>
        <p:spPr>
          <a:xfrm>
            <a:off x="2671572" y="4663440"/>
            <a:ext cx="91" cy="457200"/>
          </a:xfrm>
          <a:prstGeom prst="line">
            <a:avLst/>
          </a:prstGeom>
          <a:noFill/>
          <a:ln w="5715">
            <a:solidFill>
              <a:srgbClr val="D9CDB7"/>
            </a:solidFill>
            <a:prstDash val="sysDot"/>
            <a:headEnd type="none"/>
            <a:tailEnd type="none"/>
          </a:ln>
        </p:spPr>
      </p:sp>
      <p:sp>
        <p:nvSpPr>
          <p:cNvPr id="16" name="Shape 14"/>
          <p:cNvSpPr/>
          <p:nvPr/>
        </p:nvSpPr>
        <p:spPr>
          <a:xfrm>
            <a:off x="2763012" y="4347556"/>
            <a:ext cx="1574292" cy="773084"/>
          </a:xfrm>
          <a:prstGeom prst="rect">
            <a:avLst/>
          </a:prstGeom>
          <a:solidFill>
            <a:srgbClr val="EFE5D3">
              <a:alpha val="50000"/>
            </a:srgbClr>
          </a:solidFill>
          <a:ln w="12700">
            <a:solidFill>
              <a:srgbClr val="FFFFFF">
                <a:alpha val="0"/>
              </a:srgbClr>
            </a:solidFill>
            <a:prstDash val="solid"/>
          </a:ln>
        </p:spPr>
      </p:sp>
      <p:sp>
        <p:nvSpPr>
          <p:cNvPr id="17" name="Shape 15"/>
          <p:cNvSpPr/>
          <p:nvPr/>
        </p:nvSpPr>
        <p:spPr>
          <a:xfrm>
            <a:off x="2763012" y="4347556"/>
            <a:ext cx="1574292" cy="91"/>
          </a:xfrm>
          <a:prstGeom prst="line">
            <a:avLst/>
          </a:prstGeom>
          <a:noFill/>
          <a:ln w="12700">
            <a:solidFill>
              <a:srgbClr val="C2A05F"/>
            </a:solidFill>
            <a:prstDash val="solid"/>
            <a:headEnd type="none"/>
            <a:tailEnd type="none"/>
          </a:ln>
        </p:spPr>
      </p:sp>
      <p:sp>
        <p:nvSpPr>
          <p:cNvPr id="18" name="Text 16"/>
          <p:cNvSpPr txBox="1"/>
          <p:nvPr/>
        </p:nvSpPr>
        <p:spPr>
          <a:xfrm>
            <a:off x="2854452" y="4457284"/>
            <a:ext cx="1409700" cy="205740"/>
          </a:xfrm>
          <a:prstGeom prst="rect">
            <a:avLst/>
          </a:prstGeom>
          <a:noFill/>
          <a:ln/>
        </p:spPr>
        <p:txBody>
          <a:bodyPr wrap="square" lIns="0" tIns="0" rIns="0" bIns="0" rtlCol="0" anchor="t"/>
          <a:lstStyle/>
          <a:p>
            <a:pPr algn="l" indent="0" marL="0">
              <a:lnSpc>
                <a:spcPts val="900"/>
              </a:lnSpc>
              <a:buNone/>
            </a:pPr>
            <a:r>
              <a:rPr lang="en-US" sz="720" dirty="0">
                <a:solidFill>
                  <a:srgbClr val="5B544A"/>
                </a:solidFill>
                <a:latin typeface="Calibri" pitchFamily="34" charset="0"/>
                <a:ea typeface="Calibri" pitchFamily="34" charset="-122"/>
                <a:cs typeface="Calibri" pitchFamily="34" charset="-120"/>
              </a:rPr>
              <a:t>Negotiate a new couple system</a:t>
            </a:r>
            <a:endParaRPr lang="en-US" sz="720" dirty="0"/>
          </a:p>
        </p:txBody>
      </p:sp>
      <p:sp>
        <p:nvSpPr>
          <p:cNvPr id="19" name="Text 17"/>
          <p:cNvSpPr txBox="1"/>
          <p:nvPr/>
        </p:nvSpPr>
        <p:spPr>
          <a:xfrm>
            <a:off x="2763012" y="2706624"/>
            <a:ext cx="1537716" cy="282550"/>
          </a:xfrm>
          <a:prstGeom prst="rect">
            <a:avLst/>
          </a:prstGeom>
          <a:noFill/>
          <a:ln/>
        </p:spPr>
        <p:txBody>
          <a:bodyPr wrap="square" lIns="0" tIns="0" rIns="0" bIns="0" rtlCol="0" anchor="t"/>
          <a:lstStyle/>
          <a:p>
            <a:pPr algn="l" indent="0" marL="0">
              <a:lnSpc>
                <a:spcPts val="1145"/>
              </a:lnSpc>
              <a:buNone/>
            </a:pPr>
            <a:r>
              <a:rPr lang="en-US" sz="1080" dirty="0">
                <a:solidFill>
                  <a:srgbClr val="1B1815"/>
                </a:solidFill>
                <a:latin typeface="Georgia" pitchFamily="34" charset="0"/>
                <a:ea typeface="Georgia" pitchFamily="34" charset="-122"/>
                <a:cs typeface="Georgia" pitchFamily="34" charset="-120"/>
              </a:rPr>
              <a:t>Joining families</a:t>
            </a:r>
            <a:endParaRPr lang="en-US" sz="1080" dirty="0"/>
          </a:p>
        </p:txBody>
      </p:sp>
      <p:sp>
        <p:nvSpPr>
          <p:cNvPr id="20" name="Text 18"/>
          <p:cNvSpPr txBox="1"/>
          <p:nvPr/>
        </p:nvSpPr>
        <p:spPr>
          <a:xfrm>
            <a:off x="4191000" y="2377440"/>
            <a:ext cx="201168" cy="283528"/>
          </a:xfrm>
          <a:prstGeom prst="rect">
            <a:avLst/>
          </a:prstGeom>
          <a:noFill/>
          <a:ln/>
        </p:spPr>
        <p:txBody>
          <a:bodyPr wrap="square" lIns="0" tIns="0" rIns="0" bIns="0" rtlCol="0" anchor="t"/>
          <a:lstStyle/>
          <a:p>
            <a:pPr algn="r" indent="0" marL="0">
              <a:lnSpc>
                <a:spcPts val="1283"/>
              </a:lnSpc>
              <a:buNone/>
            </a:pPr>
            <a:r>
              <a:rPr lang="en-US" sz="950" dirty="0">
                <a:solidFill>
                  <a:srgbClr val="96733C"/>
                </a:solidFill>
                <a:latin typeface="Georgia" pitchFamily="34" charset="0"/>
                <a:ea typeface="Georgia" pitchFamily="34" charset="-122"/>
                <a:cs typeface="Georgia" pitchFamily="34" charset="-120"/>
              </a:rPr>
              <a:t>2</a:t>
            </a:r>
            <a:endParaRPr lang="en-US" sz="950" dirty="0"/>
          </a:p>
        </p:txBody>
      </p:sp>
      <p:sp>
        <p:nvSpPr>
          <p:cNvPr id="21" name="Shape 19"/>
          <p:cNvSpPr/>
          <p:nvPr/>
        </p:nvSpPr>
        <p:spPr>
          <a:xfrm>
            <a:off x="4337304" y="4347556"/>
            <a:ext cx="91" cy="773084"/>
          </a:xfrm>
          <a:prstGeom prst="line">
            <a:avLst/>
          </a:prstGeom>
          <a:noFill/>
          <a:ln w="5715">
            <a:solidFill>
              <a:srgbClr val="D9CDB7"/>
            </a:solidFill>
            <a:prstDash val="sysDot"/>
            <a:headEnd type="none"/>
            <a:tailEnd type="none"/>
          </a:ln>
        </p:spPr>
      </p:sp>
      <p:sp>
        <p:nvSpPr>
          <p:cNvPr id="22" name="Shape 20"/>
          <p:cNvSpPr/>
          <p:nvPr/>
        </p:nvSpPr>
        <p:spPr>
          <a:xfrm>
            <a:off x="4428744" y="4031673"/>
            <a:ext cx="1574292" cy="1088967"/>
          </a:xfrm>
          <a:prstGeom prst="rect">
            <a:avLst/>
          </a:prstGeom>
          <a:solidFill>
            <a:srgbClr val="EFE3CF">
              <a:alpha val="50000"/>
            </a:srgbClr>
          </a:solidFill>
          <a:ln w="12700">
            <a:solidFill>
              <a:srgbClr val="FFFFFF">
                <a:alpha val="0"/>
              </a:srgbClr>
            </a:solidFill>
            <a:prstDash val="solid"/>
          </a:ln>
        </p:spPr>
      </p:sp>
      <p:sp>
        <p:nvSpPr>
          <p:cNvPr id="23" name="Shape 21"/>
          <p:cNvSpPr/>
          <p:nvPr/>
        </p:nvSpPr>
        <p:spPr>
          <a:xfrm>
            <a:off x="4428744" y="4031673"/>
            <a:ext cx="1574292" cy="91"/>
          </a:xfrm>
          <a:prstGeom prst="line">
            <a:avLst/>
          </a:prstGeom>
          <a:noFill/>
          <a:ln w="12700">
            <a:solidFill>
              <a:srgbClr val="C2A05F"/>
            </a:solidFill>
            <a:prstDash val="solid"/>
            <a:headEnd type="none"/>
            <a:tailEnd type="none"/>
          </a:ln>
        </p:spPr>
      </p:sp>
      <p:sp>
        <p:nvSpPr>
          <p:cNvPr id="24" name="Text 22"/>
          <p:cNvSpPr txBox="1"/>
          <p:nvPr/>
        </p:nvSpPr>
        <p:spPr>
          <a:xfrm>
            <a:off x="4520184" y="4141401"/>
            <a:ext cx="1409700" cy="205740"/>
          </a:xfrm>
          <a:prstGeom prst="rect">
            <a:avLst/>
          </a:prstGeom>
          <a:noFill/>
          <a:ln/>
        </p:spPr>
        <p:txBody>
          <a:bodyPr wrap="square" lIns="0" tIns="0" rIns="0" bIns="0" rtlCol="0" anchor="t"/>
          <a:lstStyle/>
          <a:p>
            <a:pPr algn="l" indent="0" marL="0">
              <a:lnSpc>
                <a:spcPts val="900"/>
              </a:lnSpc>
              <a:buNone/>
            </a:pPr>
            <a:r>
              <a:rPr lang="en-US" sz="720" dirty="0">
                <a:solidFill>
                  <a:srgbClr val="5B544A"/>
                </a:solidFill>
                <a:latin typeface="Calibri" pitchFamily="34" charset="0"/>
                <a:ea typeface="Calibri" pitchFamily="34" charset="-122"/>
                <a:cs typeface="Calibri" pitchFamily="34" charset="-120"/>
              </a:rPr>
              <a:t>Expand the system; share care</a:t>
            </a:r>
            <a:endParaRPr lang="en-US" sz="720" dirty="0"/>
          </a:p>
        </p:txBody>
      </p:sp>
      <p:sp>
        <p:nvSpPr>
          <p:cNvPr id="25" name="Text 23"/>
          <p:cNvSpPr txBox="1"/>
          <p:nvPr/>
        </p:nvSpPr>
        <p:spPr>
          <a:xfrm>
            <a:off x="4428744" y="2706624"/>
            <a:ext cx="1537716" cy="282550"/>
          </a:xfrm>
          <a:prstGeom prst="rect">
            <a:avLst/>
          </a:prstGeom>
          <a:noFill/>
          <a:ln/>
        </p:spPr>
        <p:txBody>
          <a:bodyPr wrap="square" lIns="0" tIns="0" rIns="0" bIns="0" rtlCol="0" anchor="t"/>
          <a:lstStyle/>
          <a:p>
            <a:pPr algn="l" indent="0" marL="0">
              <a:lnSpc>
                <a:spcPts val="1145"/>
              </a:lnSpc>
              <a:buNone/>
            </a:pPr>
            <a:r>
              <a:rPr lang="en-US" sz="1080" dirty="0">
                <a:solidFill>
                  <a:srgbClr val="1B1815"/>
                </a:solidFill>
                <a:latin typeface="Georgia" pitchFamily="34" charset="0"/>
                <a:ea typeface="Georgia" pitchFamily="34" charset="-122"/>
                <a:cs typeface="Georgia" pitchFamily="34" charset="-120"/>
              </a:rPr>
              <a:t>Young children</a:t>
            </a:r>
            <a:endParaRPr lang="en-US" sz="1080" dirty="0"/>
          </a:p>
        </p:txBody>
      </p:sp>
      <p:sp>
        <p:nvSpPr>
          <p:cNvPr id="26" name="Text 24"/>
          <p:cNvSpPr txBox="1"/>
          <p:nvPr/>
        </p:nvSpPr>
        <p:spPr>
          <a:xfrm>
            <a:off x="5856732" y="2377440"/>
            <a:ext cx="201168" cy="283528"/>
          </a:xfrm>
          <a:prstGeom prst="rect">
            <a:avLst/>
          </a:prstGeom>
          <a:noFill/>
          <a:ln/>
        </p:spPr>
        <p:txBody>
          <a:bodyPr wrap="square" lIns="0" tIns="0" rIns="0" bIns="0" rtlCol="0" anchor="t"/>
          <a:lstStyle/>
          <a:p>
            <a:pPr algn="r" indent="0" marL="0">
              <a:lnSpc>
                <a:spcPts val="1283"/>
              </a:lnSpc>
              <a:buNone/>
            </a:pPr>
            <a:r>
              <a:rPr lang="en-US" sz="950" dirty="0">
                <a:solidFill>
                  <a:srgbClr val="96733C"/>
                </a:solidFill>
                <a:latin typeface="Georgia" pitchFamily="34" charset="0"/>
                <a:ea typeface="Georgia" pitchFamily="34" charset="-122"/>
                <a:cs typeface="Georgia" pitchFamily="34" charset="-120"/>
              </a:rPr>
              <a:t>3</a:t>
            </a:r>
            <a:endParaRPr lang="en-US" sz="950" dirty="0"/>
          </a:p>
        </p:txBody>
      </p:sp>
      <p:sp>
        <p:nvSpPr>
          <p:cNvPr id="27" name="Shape 25"/>
          <p:cNvSpPr/>
          <p:nvPr/>
        </p:nvSpPr>
        <p:spPr>
          <a:xfrm>
            <a:off x="6003036" y="4031673"/>
            <a:ext cx="91" cy="1088967"/>
          </a:xfrm>
          <a:prstGeom prst="line">
            <a:avLst/>
          </a:prstGeom>
          <a:noFill/>
          <a:ln w="5715">
            <a:solidFill>
              <a:srgbClr val="D9CDB7"/>
            </a:solidFill>
            <a:prstDash val="sysDot"/>
            <a:headEnd type="none"/>
            <a:tailEnd type="none"/>
          </a:ln>
        </p:spPr>
      </p:sp>
      <p:sp>
        <p:nvSpPr>
          <p:cNvPr id="28" name="Shape 26"/>
          <p:cNvSpPr/>
          <p:nvPr/>
        </p:nvSpPr>
        <p:spPr>
          <a:xfrm>
            <a:off x="6094476" y="3715789"/>
            <a:ext cx="1574292" cy="1404851"/>
          </a:xfrm>
          <a:prstGeom prst="rect">
            <a:avLst/>
          </a:prstGeom>
          <a:solidFill>
            <a:srgbClr val="EFE5D3">
              <a:alpha val="50000"/>
            </a:srgbClr>
          </a:solidFill>
          <a:ln w="12700">
            <a:solidFill>
              <a:srgbClr val="FFFFFF">
                <a:alpha val="0"/>
              </a:srgbClr>
            </a:solidFill>
            <a:prstDash val="solid"/>
          </a:ln>
        </p:spPr>
      </p:sp>
      <p:sp>
        <p:nvSpPr>
          <p:cNvPr id="29" name="Shape 27"/>
          <p:cNvSpPr/>
          <p:nvPr/>
        </p:nvSpPr>
        <p:spPr>
          <a:xfrm>
            <a:off x="6094476" y="3715789"/>
            <a:ext cx="1574292" cy="91"/>
          </a:xfrm>
          <a:prstGeom prst="line">
            <a:avLst/>
          </a:prstGeom>
          <a:noFill/>
          <a:ln w="12700">
            <a:solidFill>
              <a:srgbClr val="C2A05F"/>
            </a:solidFill>
            <a:prstDash val="solid"/>
            <a:headEnd type="none"/>
            <a:tailEnd type="none"/>
          </a:ln>
        </p:spPr>
      </p:sp>
      <p:sp>
        <p:nvSpPr>
          <p:cNvPr id="30" name="Text 28"/>
          <p:cNvSpPr txBox="1"/>
          <p:nvPr/>
        </p:nvSpPr>
        <p:spPr>
          <a:xfrm>
            <a:off x="6185916" y="3825517"/>
            <a:ext cx="1409700" cy="205740"/>
          </a:xfrm>
          <a:prstGeom prst="rect">
            <a:avLst/>
          </a:prstGeom>
          <a:noFill/>
          <a:ln/>
        </p:spPr>
        <p:txBody>
          <a:bodyPr wrap="square" lIns="0" tIns="0" rIns="0" bIns="0" rtlCol="0" anchor="t"/>
          <a:lstStyle/>
          <a:p>
            <a:pPr algn="l" indent="0" marL="0">
              <a:lnSpc>
                <a:spcPts val="900"/>
              </a:lnSpc>
              <a:buNone/>
            </a:pPr>
            <a:r>
              <a:rPr lang="en-US" sz="720" dirty="0">
                <a:solidFill>
                  <a:srgbClr val="5B544A"/>
                </a:solidFill>
                <a:latin typeface="Calibri" pitchFamily="34" charset="0"/>
                <a:ea typeface="Calibri" pitchFamily="34" charset="-122"/>
                <a:cs typeface="Calibri" pitchFamily="34" charset="-120"/>
              </a:rPr>
              <a:t>Increase flexibility; open boundaries</a:t>
            </a:r>
            <a:endParaRPr lang="en-US" sz="720" dirty="0"/>
          </a:p>
        </p:txBody>
      </p:sp>
      <p:sp>
        <p:nvSpPr>
          <p:cNvPr id="31" name="Text 29"/>
          <p:cNvSpPr txBox="1"/>
          <p:nvPr/>
        </p:nvSpPr>
        <p:spPr>
          <a:xfrm>
            <a:off x="6094476" y="2706624"/>
            <a:ext cx="1537716" cy="282550"/>
          </a:xfrm>
          <a:prstGeom prst="rect">
            <a:avLst/>
          </a:prstGeom>
          <a:noFill/>
          <a:ln/>
        </p:spPr>
        <p:txBody>
          <a:bodyPr wrap="square" lIns="0" tIns="0" rIns="0" bIns="0" rtlCol="0" anchor="t"/>
          <a:lstStyle/>
          <a:p>
            <a:pPr algn="l" indent="0" marL="0">
              <a:lnSpc>
                <a:spcPts val="1145"/>
              </a:lnSpc>
              <a:buNone/>
            </a:pPr>
            <a:r>
              <a:rPr lang="en-US" sz="1080" dirty="0">
                <a:solidFill>
                  <a:srgbClr val="1B1815"/>
                </a:solidFill>
                <a:latin typeface="Georgia" pitchFamily="34" charset="0"/>
                <a:ea typeface="Georgia" pitchFamily="34" charset="-122"/>
                <a:cs typeface="Georgia" pitchFamily="34" charset="-120"/>
              </a:rPr>
              <a:t>Adolescents</a:t>
            </a:r>
            <a:endParaRPr lang="en-US" sz="1080" dirty="0"/>
          </a:p>
        </p:txBody>
      </p:sp>
      <p:sp>
        <p:nvSpPr>
          <p:cNvPr id="32" name="Text 30"/>
          <p:cNvSpPr txBox="1"/>
          <p:nvPr/>
        </p:nvSpPr>
        <p:spPr>
          <a:xfrm>
            <a:off x="7522464" y="2377440"/>
            <a:ext cx="201168" cy="283528"/>
          </a:xfrm>
          <a:prstGeom prst="rect">
            <a:avLst/>
          </a:prstGeom>
          <a:noFill/>
          <a:ln/>
        </p:spPr>
        <p:txBody>
          <a:bodyPr wrap="square" lIns="0" tIns="0" rIns="0" bIns="0" rtlCol="0" anchor="t"/>
          <a:lstStyle/>
          <a:p>
            <a:pPr algn="r" indent="0" marL="0">
              <a:lnSpc>
                <a:spcPts val="1283"/>
              </a:lnSpc>
              <a:buNone/>
            </a:pPr>
            <a:r>
              <a:rPr lang="en-US" sz="950" dirty="0">
                <a:solidFill>
                  <a:srgbClr val="96733C"/>
                </a:solidFill>
                <a:latin typeface="Georgia" pitchFamily="34" charset="0"/>
                <a:ea typeface="Georgia" pitchFamily="34" charset="-122"/>
                <a:cs typeface="Georgia" pitchFamily="34" charset="-120"/>
              </a:rPr>
              <a:t>4</a:t>
            </a:r>
            <a:endParaRPr lang="en-US" sz="950" dirty="0"/>
          </a:p>
        </p:txBody>
      </p:sp>
      <p:sp>
        <p:nvSpPr>
          <p:cNvPr id="33" name="Shape 31"/>
          <p:cNvSpPr/>
          <p:nvPr/>
        </p:nvSpPr>
        <p:spPr>
          <a:xfrm>
            <a:off x="7668768" y="3715789"/>
            <a:ext cx="91" cy="1404851"/>
          </a:xfrm>
          <a:prstGeom prst="line">
            <a:avLst/>
          </a:prstGeom>
          <a:noFill/>
          <a:ln w="5715">
            <a:solidFill>
              <a:srgbClr val="D9CDB7"/>
            </a:solidFill>
            <a:prstDash val="sysDot"/>
            <a:headEnd type="none"/>
            <a:tailEnd type="none"/>
          </a:ln>
        </p:spPr>
      </p:sp>
      <p:sp>
        <p:nvSpPr>
          <p:cNvPr id="34" name="Shape 32"/>
          <p:cNvSpPr/>
          <p:nvPr/>
        </p:nvSpPr>
        <p:spPr>
          <a:xfrm>
            <a:off x="7760208" y="3399905"/>
            <a:ext cx="1574292" cy="1720735"/>
          </a:xfrm>
          <a:prstGeom prst="rect">
            <a:avLst/>
          </a:prstGeom>
          <a:solidFill>
            <a:srgbClr val="EFE3CF">
              <a:alpha val="50000"/>
            </a:srgbClr>
          </a:solidFill>
          <a:ln w="12700">
            <a:solidFill>
              <a:srgbClr val="FFFFFF">
                <a:alpha val="0"/>
              </a:srgbClr>
            </a:solidFill>
            <a:prstDash val="solid"/>
          </a:ln>
        </p:spPr>
      </p:sp>
      <p:sp>
        <p:nvSpPr>
          <p:cNvPr id="35" name="Shape 33"/>
          <p:cNvSpPr/>
          <p:nvPr/>
        </p:nvSpPr>
        <p:spPr>
          <a:xfrm>
            <a:off x="7760208" y="3399905"/>
            <a:ext cx="1574292" cy="91"/>
          </a:xfrm>
          <a:prstGeom prst="line">
            <a:avLst/>
          </a:prstGeom>
          <a:noFill/>
          <a:ln w="12700">
            <a:solidFill>
              <a:srgbClr val="C2A05F"/>
            </a:solidFill>
            <a:prstDash val="solid"/>
            <a:headEnd type="none"/>
            <a:tailEnd type="none"/>
          </a:ln>
        </p:spPr>
      </p:sp>
      <p:sp>
        <p:nvSpPr>
          <p:cNvPr id="36" name="Text 34"/>
          <p:cNvSpPr txBox="1"/>
          <p:nvPr/>
        </p:nvSpPr>
        <p:spPr>
          <a:xfrm>
            <a:off x="7851648" y="3509633"/>
            <a:ext cx="1409700" cy="205740"/>
          </a:xfrm>
          <a:prstGeom prst="rect">
            <a:avLst/>
          </a:prstGeom>
          <a:noFill/>
          <a:ln/>
        </p:spPr>
        <p:txBody>
          <a:bodyPr wrap="square" lIns="0" tIns="0" rIns="0" bIns="0" rtlCol="0" anchor="t"/>
          <a:lstStyle/>
          <a:p>
            <a:pPr algn="l" indent="0" marL="0">
              <a:lnSpc>
                <a:spcPts val="900"/>
              </a:lnSpc>
              <a:buNone/>
            </a:pPr>
            <a:r>
              <a:rPr lang="en-US" sz="720" dirty="0">
                <a:solidFill>
                  <a:srgbClr val="5B544A"/>
                </a:solidFill>
                <a:latin typeface="Calibri" pitchFamily="34" charset="0"/>
                <a:ea typeface="Calibri" pitchFamily="34" charset="-122"/>
                <a:cs typeface="Calibri" pitchFamily="34" charset="-120"/>
              </a:rPr>
              <a:t>Re-negotiate the couple bond</a:t>
            </a:r>
            <a:endParaRPr lang="en-US" sz="720" dirty="0"/>
          </a:p>
        </p:txBody>
      </p:sp>
      <p:sp>
        <p:nvSpPr>
          <p:cNvPr id="37" name="Text 35"/>
          <p:cNvSpPr txBox="1"/>
          <p:nvPr/>
        </p:nvSpPr>
        <p:spPr>
          <a:xfrm>
            <a:off x="7760208" y="2706624"/>
            <a:ext cx="1537716" cy="282550"/>
          </a:xfrm>
          <a:prstGeom prst="rect">
            <a:avLst/>
          </a:prstGeom>
          <a:noFill/>
          <a:ln/>
        </p:spPr>
        <p:txBody>
          <a:bodyPr wrap="square" lIns="0" tIns="0" rIns="0" bIns="0" rtlCol="0" anchor="t"/>
          <a:lstStyle/>
          <a:p>
            <a:pPr algn="l" indent="0" marL="0">
              <a:lnSpc>
                <a:spcPts val="1145"/>
              </a:lnSpc>
              <a:buNone/>
            </a:pPr>
            <a:r>
              <a:rPr lang="en-US" sz="1080" dirty="0">
                <a:solidFill>
                  <a:srgbClr val="1B1815"/>
                </a:solidFill>
                <a:latin typeface="Georgia" pitchFamily="34" charset="0"/>
                <a:ea typeface="Georgia" pitchFamily="34" charset="-122"/>
                <a:cs typeface="Georgia" pitchFamily="34" charset="-120"/>
              </a:rPr>
              <a:t>Launching</a:t>
            </a:r>
            <a:endParaRPr lang="en-US" sz="1080" dirty="0"/>
          </a:p>
        </p:txBody>
      </p:sp>
      <p:sp>
        <p:nvSpPr>
          <p:cNvPr id="38" name="Text 36"/>
          <p:cNvSpPr txBox="1"/>
          <p:nvPr/>
        </p:nvSpPr>
        <p:spPr>
          <a:xfrm>
            <a:off x="9188196" y="2377440"/>
            <a:ext cx="201168" cy="283528"/>
          </a:xfrm>
          <a:prstGeom prst="rect">
            <a:avLst/>
          </a:prstGeom>
          <a:noFill/>
          <a:ln/>
        </p:spPr>
        <p:txBody>
          <a:bodyPr wrap="square" lIns="0" tIns="0" rIns="0" bIns="0" rtlCol="0" anchor="t"/>
          <a:lstStyle/>
          <a:p>
            <a:pPr algn="r" indent="0" marL="0">
              <a:lnSpc>
                <a:spcPts val="1283"/>
              </a:lnSpc>
              <a:buNone/>
            </a:pPr>
            <a:r>
              <a:rPr lang="en-US" sz="950" dirty="0">
                <a:solidFill>
                  <a:srgbClr val="96733C"/>
                </a:solidFill>
                <a:latin typeface="Georgia" pitchFamily="34" charset="0"/>
                <a:ea typeface="Georgia" pitchFamily="34" charset="-122"/>
                <a:cs typeface="Georgia" pitchFamily="34" charset="-120"/>
              </a:rPr>
              <a:t>5</a:t>
            </a:r>
            <a:endParaRPr lang="en-US" sz="950" dirty="0"/>
          </a:p>
        </p:txBody>
      </p:sp>
      <p:sp>
        <p:nvSpPr>
          <p:cNvPr id="39" name="Shape 37"/>
          <p:cNvSpPr/>
          <p:nvPr/>
        </p:nvSpPr>
        <p:spPr>
          <a:xfrm>
            <a:off x="9334500" y="3399905"/>
            <a:ext cx="91" cy="1720735"/>
          </a:xfrm>
          <a:prstGeom prst="line">
            <a:avLst/>
          </a:prstGeom>
          <a:noFill/>
          <a:ln w="5715">
            <a:solidFill>
              <a:srgbClr val="D9CDB7"/>
            </a:solidFill>
            <a:prstDash val="sysDot"/>
            <a:headEnd type="none"/>
            <a:tailEnd type="none"/>
          </a:ln>
        </p:spPr>
      </p:sp>
      <p:sp>
        <p:nvSpPr>
          <p:cNvPr id="40" name="Shape 38"/>
          <p:cNvSpPr/>
          <p:nvPr/>
        </p:nvSpPr>
        <p:spPr>
          <a:xfrm>
            <a:off x="9425940" y="3084022"/>
            <a:ext cx="1574292" cy="2036618"/>
          </a:xfrm>
          <a:prstGeom prst="rect">
            <a:avLst/>
          </a:prstGeom>
          <a:solidFill>
            <a:srgbClr val="EFE5D3">
              <a:alpha val="50000"/>
            </a:srgbClr>
          </a:solidFill>
          <a:ln w="12700">
            <a:solidFill>
              <a:srgbClr val="FFFFFF">
                <a:alpha val="0"/>
              </a:srgbClr>
            </a:solidFill>
            <a:prstDash val="solid"/>
          </a:ln>
        </p:spPr>
      </p:sp>
      <p:sp>
        <p:nvSpPr>
          <p:cNvPr id="41" name="Shape 39"/>
          <p:cNvSpPr/>
          <p:nvPr/>
        </p:nvSpPr>
        <p:spPr>
          <a:xfrm>
            <a:off x="9425940" y="3084022"/>
            <a:ext cx="1574292" cy="91"/>
          </a:xfrm>
          <a:prstGeom prst="line">
            <a:avLst/>
          </a:prstGeom>
          <a:noFill/>
          <a:ln w="12700">
            <a:solidFill>
              <a:srgbClr val="C2A05F"/>
            </a:solidFill>
            <a:prstDash val="solid"/>
            <a:headEnd type="none"/>
            <a:tailEnd type="none"/>
          </a:ln>
        </p:spPr>
      </p:sp>
      <p:sp>
        <p:nvSpPr>
          <p:cNvPr id="42" name="Text 40"/>
          <p:cNvSpPr txBox="1"/>
          <p:nvPr/>
        </p:nvSpPr>
        <p:spPr>
          <a:xfrm>
            <a:off x="9517380" y="3193750"/>
            <a:ext cx="1409700" cy="205740"/>
          </a:xfrm>
          <a:prstGeom prst="rect">
            <a:avLst/>
          </a:prstGeom>
          <a:noFill/>
          <a:ln/>
        </p:spPr>
        <p:txBody>
          <a:bodyPr wrap="square" lIns="0" tIns="0" rIns="0" bIns="0" rtlCol="0" anchor="t"/>
          <a:lstStyle/>
          <a:p>
            <a:pPr algn="l" indent="0" marL="0">
              <a:lnSpc>
                <a:spcPts val="900"/>
              </a:lnSpc>
              <a:buNone/>
            </a:pPr>
            <a:r>
              <a:rPr lang="en-US" sz="720" dirty="0">
                <a:solidFill>
                  <a:srgbClr val="5B544A"/>
                </a:solidFill>
                <a:latin typeface="Calibri" pitchFamily="34" charset="0"/>
                <a:ea typeface="Calibri" pitchFamily="34" charset="-122"/>
                <a:cs typeface="Calibri" pitchFamily="34" charset="-120"/>
              </a:rPr>
              <a:t>Accept shifts in roles and loss</a:t>
            </a:r>
            <a:endParaRPr lang="en-US" sz="720" dirty="0"/>
          </a:p>
        </p:txBody>
      </p:sp>
      <p:sp>
        <p:nvSpPr>
          <p:cNvPr id="43" name="Text 41"/>
          <p:cNvSpPr txBox="1"/>
          <p:nvPr/>
        </p:nvSpPr>
        <p:spPr>
          <a:xfrm>
            <a:off x="9425940" y="2706624"/>
            <a:ext cx="1537716" cy="282550"/>
          </a:xfrm>
          <a:prstGeom prst="rect">
            <a:avLst/>
          </a:prstGeom>
          <a:noFill/>
          <a:ln/>
        </p:spPr>
        <p:txBody>
          <a:bodyPr wrap="square" lIns="0" tIns="0" rIns="0" bIns="0" rtlCol="0" anchor="t"/>
          <a:lstStyle/>
          <a:p>
            <a:pPr algn="l" indent="0" marL="0">
              <a:lnSpc>
                <a:spcPts val="1145"/>
              </a:lnSpc>
              <a:buNone/>
            </a:pPr>
            <a:r>
              <a:rPr lang="en-US" sz="1080" dirty="0">
                <a:solidFill>
                  <a:srgbClr val="1B1815"/>
                </a:solidFill>
                <a:latin typeface="Georgia" pitchFamily="34" charset="0"/>
                <a:ea typeface="Georgia" pitchFamily="34" charset="-122"/>
                <a:cs typeface="Georgia" pitchFamily="34" charset="-120"/>
              </a:rPr>
              <a:t>Later life</a:t>
            </a:r>
            <a:endParaRPr lang="en-US" sz="1080" dirty="0"/>
          </a:p>
        </p:txBody>
      </p:sp>
      <p:sp>
        <p:nvSpPr>
          <p:cNvPr id="44" name="Text 42"/>
          <p:cNvSpPr txBox="1"/>
          <p:nvPr/>
        </p:nvSpPr>
        <p:spPr>
          <a:xfrm>
            <a:off x="10853928" y="2377440"/>
            <a:ext cx="201168" cy="283528"/>
          </a:xfrm>
          <a:prstGeom prst="rect">
            <a:avLst/>
          </a:prstGeom>
          <a:noFill/>
          <a:ln/>
        </p:spPr>
        <p:txBody>
          <a:bodyPr wrap="square" lIns="0" tIns="0" rIns="0" bIns="0" rtlCol="0" anchor="t"/>
          <a:lstStyle/>
          <a:p>
            <a:pPr algn="r" indent="0" marL="0">
              <a:lnSpc>
                <a:spcPts val="1283"/>
              </a:lnSpc>
              <a:buNone/>
            </a:pPr>
            <a:r>
              <a:rPr lang="en-US" sz="950" dirty="0">
                <a:solidFill>
                  <a:srgbClr val="96733C"/>
                </a:solidFill>
                <a:latin typeface="Georgia" pitchFamily="34" charset="0"/>
                <a:ea typeface="Georgia" pitchFamily="34" charset="-122"/>
                <a:cs typeface="Georgia" pitchFamily="34" charset="-120"/>
              </a:rPr>
              <a:t>6</a:t>
            </a:r>
            <a:endParaRPr lang="en-US" sz="950" dirty="0"/>
          </a:p>
        </p:txBody>
      </p:sp>
      <p:sp>
        <p:nvSpPr>
          <p:cNvPr id="45" name="Shape 43"/>
          <p:cNvSpPr/>
          <p:nvPr/>
        </p:nvSpPr>
        <p:spPr>
          <a:xfrm>
            <a:off x="1097280" y="3291840"/>
            <a:ext cx="9902952" cy="91"/>
          </a:xfrm>
          <a:prstGeom prst="line">
            <a:avLst/>
          </a:prstGeom>
          <a:noFill/>
          <a:ln w="6350">
            <a:solidFill>
              <a:srgbClr val="D9CDB7"/>
            </a:solidFill>
            <a:prstDash val="solid"/>
            <a:headEnd type="none"/>
            <a:tailEnd type="none"/>
          </a:ln>
        </p:spPr>
      </p:sp>
      <p:sp>
        <p:nvSpPr>
          <p:cNvPr id="46" name="Shape 44"/>
          <p:cNvSpPr/>
          <p:nvPr/>
        </p:nvSpPr>
        <p:spPr>
          <a:xfrm>
            <a:off x="1097280" y="5120640"/>
            <a:ext cx="9902952" cy="91"/>
          </a:xfrm>
          <a:prstGeom prst="line">
            <a:avLst/>
          </a:prstGeom>
          <a:noFill/>
          <a:ln w="13970">
            <a:solidFill>
              <a:srgbClr val="C2A05F"/>
            </a:solidFill>
            <a:prstDash val="solid"/>
            <a:headEnd type="none"/>
            <a:tailEnd type="none"/>
          </a:ln>
        </p:spPr>
      </p:sp>
      <p:sp>
        <p:nvSpPr>
          <p:cNvPr id="47" name="Text 45"/>
          <p:cNvSpPr txBox="1"/>
          <p:nvPr/>
        </p:nvSpPr>
        <p:spPr>
          <a:xfrm>
            <a:off x="1097280" y="5266944"/>
            <a:ext cx="5852160" cy="216154"/>
          </a:xfrm>
          <a:prstGeom prst="rect">
            <a:avLst/>
          </a:prstGeom>
          <a:noFill/>
          <a:ln/>
        </p:spPr>
        <p:txBody>
          <a:bodyPr wrap="square" lIns="0" tIns="0" rIns="0" bIns="0" rtlCol="0" anchor="t"/>
          <a:lstStyle/>
          <a:p>
            <a:pPr algn="l" indent="0" marL="0">
              <a:lnSpc>
                <a:spcPts val="962"/>
              </a:lnSpc>
              <a:buNone/>
            </a:pPr>
            <a:r>
              <a:rPr lang="en-US" sz="740" i="1" dirty="0">
                <a:solidFill>
                  <a:srgbClr val="5B544A"/>
                </a:solidFill>
                <a:latin typeface="Calibri" pitchFamily="34" charset="0"/>
                <a:ea typeface="Calibri" pitchFamily="34" charset="-122"/>
                <a:cs typeface="Calibri" pitchFamily="34" charset="-120"/>
              </a:rPr>
              <a:t>Vertical stressors · family history, legacy, scripts</a:t>
            </a:r>
            <a:endParaRPr lang="en-US" sz="740" dirty="0"/>
          </a:p>
        </p:txBody>
      </p:sp>
      <p:sp>
        <p:nvSpPr>
          <p:cNvPr id="48" name="Text 46"/>
          <p:cNvSpPr txBox="1"/>
          <p:nvPr/>
        </p:nvSpPr>
        <p:spPr>
          <a:xfrm>
            <a:off x="6217920" y="5266944"/>
            <a:ext cx="5120640" cy="216154"/>
          </a:xfrm>
          <a:prstGeom prst="rect">
            <a:avLst/>
          </a:prstGeom>
          <a:noFill/>
          <a:ln/>
        </p:spPr>
        <p:txBody>
          <a:bodyPr wrap="square" lIns="0" tIns="0" rIns="0" bIns="0" rtlCol="0" anchor="t"/>
          <a:lstStyle/>
          <a:p>
            <a:pPr algn="r" indent="0" marL="0">
              <a:lnSpc>
                <a:spcPts val="962"/>
              </a:lnSpc>
              <a:buNone/>
            </a:pPr>
            <a:r>
              <a:rPr lang="en-US" sz="740" i="1" dirty="0">
                <a:solidFill>
                  <a:srgbClr val="5B544A"/>
                </a:solidFill>
                <a:latin typeface="Calibri" pitchFamily="34" charset="0"/>
                <a:ea typeface="Calibri" pitchFamily="34" charset="-122"/>
                <a:cs typeface="Calibri" pitchFamily="34" charset="-120"/>
              </a:rPr>
              <a:t>Horizontal stressors · transitions, events, time</a:t>
            </a:r>
            <a:endParaRPr lang="en-US" sz="740" dirty="0"/>
          </a:p>
        </p:txBody>
      </p:sp>
      <p:sp>
        <p:nvSpPr>
          <p:cNvPr id="49" name="Shape 47"/>
          <p:cNvSpPr/>
          <p:nvPr/>
        </p:nvSpPr>
        <p:spPr>
          <a:xfrm>
            <a:off x="1097280" y="2139696"/>
            <a:ext cx="457200" cy="91"/>
          </a:xfrm>
          <a:prstGeom prst="line">
            <a:avLst/>
          </a:prstGeom>
          <a:noFill/>
          <a:ln w="15240">
            <a:solidFill>
              <a:srgbClr val="A96A45"/>
            </a:solidFill>
            <a:prstDash val="solid"/>
            <a:headEnd type="none"/>
            <a:tailEnd type="none"/>
          </a:ln>
        </p:spPr>
      </p:sp>
      <p:sp>
        <p:nvSpPr>
          <p:cNvPr id="50" name="Text 48"/>
          <p:cNvSpPr txBox="1"/>
          <p:nvPr/>
        </p:nvSpPr>
        <p:spPr>
          <a:xfrm>
            <a:off x="1664208" y="2048256"/>
            <a:ext cx="8595360" cy="245364"/>
          </a:xfrm>
          <a:prstGeom prst="rect">
            <a:avLst/>
          </a:prstGeom>
          <a:noFill/>
          <a:ln/>
        </p:spPr>
        <p:txBody>
          <a:bodyPr wrap="square" lIns="0" tIns="0" rIns="0" bIns="0" rtlCol="0" anchor="t"/>
          <a:lstStyle/>
          <a:p>
            <a:pPr algn="l" indent="0" marL="0">
              <a:lnSpc>
                <a:spcPts val="1092"/>
              </a:lnSpc>
              <a:buNone/>
            </a:pPr>
            <a:r>
              <a:rPr lang="en-US" sz="840" i="1" dirty="0">
                <a:solidFill>
                  <a:srgbClr val="96733C"/>
                </a:solidFill>
                <a:latin typeface="Calibri" pitchFamily="34" charset="0"/>
                <a:ea typeface="Calibri" pitchFamily="34" charset="-122"/>
                <a:cs typeface="Calibri" pitchFamily="34" charset="-120"/>
              </a:rPr>
              <a:t>The symptom often appears at the transition, not inside the stage itself.</a:t>
            </a:r>
            <a:endParaRPr lang="en-US" sz="840" dirty="0"/>
          </a:p>
        </p:txBody>
      </p:sp>
      <p:sp>
        <p:nvSpPr>
          <p:cNvPr id="51" name="Text 49"/>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After Carter &amp; McGoldrick (1999).</a:t>
            </a:r>
            <a:endParaRPr lang="en-US" sz="74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15 · CLINICAL APPLICATION</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70</a:t>
            </a:r>
            <a:endParaRPr lang="en-US" sz="950" dirty="0"/>
          </a:p>
        </p:txBody>
      </p:sp>
      <p:sp>
        <p:nvSpPr>
          <p:cNvPr id="8" name="Text 6"/>
          <p:cNvSpPr txBox="1"/>
          <p:nvPr/>
        </p:nvSpPr>
        <p:spPr>
          <a:xfrm>
            <a:off x="822960" y="932688"/>
            <a:ext cx="9509760" cy="775970"/>
          </a:xfrm>
          <a:prstGeom prst="rect">
            <a:avLst/>
          </a:prstGeom>
          <a:noFill/>
          <a:ln/>
        </p:spPr>
        <p:txBody>
          <a:bodyPr wrap="square" lIns="0" tIns="0" rIns="0" bIns="0" rtlCol="0" anchor="t"/>
          <a:lstStyle/>
          <a:p>
            <a:pPr algn="l" indent="0" marL="0">
              <a:lnSpc>
                <a:spcPts val="3510"/>
              </a:lnSpc>
              <a:buNone/>
            </a:pPr>
            <a:r>
              <a:rPr lang="en-US" sz="2600" dirty="0">
                <a:solidFill>
                  <a:srgbClr val="1B1815"/>
                </a:solidFill>
                <a:latin typeface="Georgia" pitchFamily="34" charset="0"/>
                <a:ea typeface="Georgia" pitchFamily="34" charset="-122"/>
                <a:cs typeface="Georgia" pitchFamily="34" charset="-120"/>
              </a:rPr>
              <a:t>The transition nobody named</a:t>
            </a:r>
            <a:endParaRPr lang="en-US" sz="2600" dirty="0"/>
          </a:p>
        </p:txBody>
      </p:sp>
      <p:sp>
        <p:nvSpPr>
          <p:cNvPr id="9" name="Shape 7"/>
          <p:cNvSpPr/>
          <p:nvPr/>
        </p:nvSpPr>
        <p:spPr>
          <a:xfrm>
            <a:off x="822960" y="1463040"/>
            <a:ext cx="7059168" cy="1847088"/>
          </a:xfrm>
          <a:prstGeom prst="roundRect">
            <a:avLst>
              <a:gd name="adj" fmla="val 490"/>
            </a:avLst>
          </a:prstGeom>
          <a:solidFill>
            <a:srgbClr val="EFE5D3">
              <a:alpha val="50000"/>
            </a:srgbClr>
          </a:solidFill>
          <a:ln w="12700">
            <a:solidFill>
              <a:srgbClr val="FFFFFF">
                <a:alpha val="0"/>
              </a:srgbClr>
            </a:solidFill>
            <a:prstDash val="solid"/>
          </a:ln>
        </p:spPr>
      </p:sp>
      <p:sp>
        <p:nvSpPr>
          <p:cNvPr id="10" name="Shape 8"/>
          <p:cNvSpPr/>
          <p:nvPr/>
        </p:nvSpPr>
        <p:spPr>
          <a:xfrm>
            <a:off x="822960" y="1463040"/>
            <a:ext cx="45720" cy="1847088"/>
          </a:xfrm>
          <a:prstGeom prst="rect">
            <a:avLst/>
          </a:prstGeom>
          <a:solidFill>
            <a:srgbClr val="A96A45"/>
          </a:solidFill>
          <a:ln w="12700">
            <a:solidFill>
              <a:srgbClr val="FFFFFF">
                <a:alpha val="0"/>
              </a:srgbClr>
            </a:solidFill>
            <a:prstDash val="solid"/>
          </a:ln>
        </p:spPr>
      </p:sp>
      <p:sp>
        <p:nvSpPr>
          <p:cNvPr id="11" name="Text 9"/>
          <p:cNvSpPr txBox="1"/>
          <p:nvPr/>
        </p:nvSpPr>
        <p:spPr>
          <a:xfrm>
            <a:off x="1115568" y="1627632"/>
            <a:ext cx="2743200" cy="202946"/>
          </a:xfrm>
          <a:prstGeom prst="rect">
            <a:avLst/>
          </a:prstGeom>
          <a:noFill/>
          <a:ln/>
        </p:spPr>
        <p:txBody>
          <a:bodyPr wrap="square" lIns="0" tIns="0" rIns="0" bIns="0" rtlCol="0" anchor="t"/>
          <a:lstStyle/>
          <a:p>
            <a:pPr algn="l" indent="0" marL="0">
              <a:lnSpc>
                <a:spcPts val="918"/>
              </a:lnSpc>
              <a:buNone/>
            </a:pPr>
            <a:r>
              <a:rPr lang="en-US" sz="680" b="1" spc="200" kern="0" dirty="0">
                <a:solidFill>
                  <a:srgbClr val="A96A45"/>
                </a:solidFill>
                <a:latin typeface="Calibri" pitchFamily="34" charset="0"/>
                <a:ea typeface="Calibri" pitchFamily="34" charset="-122"/>
                <a:cs typeface="Calibri" pitchFamily="34" charset="-120"/>
              </a:rPr>
              <a:t>CLINICAL VIGNETTE</a:t>
            </a:r>
            <a:endParaRPr lang="en-US" sz="680" dirty="0"/>
          </a:p>
        </p:txBody>
      </p:sp>
      <p:sp>
        <p:nvSpPr>
          <p:cNvPr id="12" name="Text 10"/>
          <p:cNvSpPr txBox="1"/>
          <p:nvPr/>
        </p:nvSpPr>
        <p:spPr>
          <a:xfrm>
            <a:off x="1115568" y="2299818"/>
            <a:ext cx="6446520" cy="1280160"/>
          </a:xfrm>
          <a:prstGeom prst="rect">
            <a:avLst/>
          </a:prstGeom>
          <a:noFill/>
          <a:ln/>
        </p:spPr>
        <p:txBody>
          <a:bodyPr wrap="square" lIns="0" tIns="0" rIns="0" bIns="0" rtlCol="0" anchor="t"/>
          <a:lstStyle/>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A family seeks help because their 16-year-old has “become impossible”. The eldest child left for</a:t>
            </a:r>
            <a:endParaRPr lang="en-US" sz="1160" dirty="0"/>
          </a:p>
          <a:p>
            <a:pPr algn="l" indent="0" marL="0">
              <a:lnSpc>
                <a:spcPts val="1763"/>
              </a:lnSpc>
              <a:buNone/>
            </a:pPr>
            <a:r>
              <a:rPr lang="en-US" sz="1160" i="1" dirty="0">
                <a:solidFill>
                  <a:srgbClr val="1B1815"/>
                </a:solidFill>
                <a:latin typeface="Georgia" pitchFamily="34" charset="0"/>
                <a:ea typeface="Georgia" pitchFamily="34" charset="-122"/>
                <a:cs typeface="Georgia" pitchFamily="34" charset="-120"/>
              </a:rPr>
              <a:t>university last term; the grandmother moved in after a stroke three months ago.</a:t>
            </a:r>
            <a:endParaRPr lang="en-US" sz="1160" dirty="0"/>
          </a:p>
        </p:txBody>
      </p:sp>
      <p:sp>
        <p:nvSpPr>
          <p:cNvPr id="13" name="Shape 11"/>
          <p:cNvSpPr/>
          <p:nvPr/>
        </p:nvSpPr>
        <p:spPr>
          <a:xfrm>
            <a:off x="8101584" y="1463040"/>
            <a:ext cx="3264408" cy="1847088"/>
          </a:xfrm>
          <a:prstGeom prst="roundRect">
            <a:avLst>
              <a:gd name="adj" fmla="val 490"/>
            </a:avLst>
          </a:prstGeom>
          <a:solidFill>
            <a:srgbClr val="FFFFFF">
              <a:alpha val="0"/>
            </a:srgbClr>
          </a:solidFill>
          <a:ln w="7620">
            <a:solidFill>
              <a:srgbClr val="D9CDB7"/>
            </a:solidFill>
            <a:prstDash val="solid"/>
          </a:ln>
        </p:spPr>
      </p:sp>
      <p:sp>
        <p:nvSpPr>
          <p:cNvPr id="14" name="Text 12"/>
          <p:cNvSpPr txBox="1"/>
          <p:nvPr/>
        </p:nvSpPr>
        <p:spPr>
          <a:xfrm>
            <a:off x="8302752" y="1627632"/>
            <a:ext cx="2898648" cy="196977"/>
          </a:xfrm>
          <a:prstGeom prst="rect">
            <a:avLst/>
          </a:prstGeom>
          <a:noFill/>
          <a:ln/>
        </p:spPr>
        <p:txBody>
          <a:bodyPr wrap="square" lIns="0" tIns="0" rIns="0" bIns="0" rtlCol="0" anchor="t"/>
          <a:lstStyle/>
          <a:p>
            <a:pPr algn="l" indent="0" marL="0">
              <a:lnSpc>
                <a:spcPts val="891"/>
              </a:lnSpc>
              <a:buNone/>
            </a:pPr>
            <a:r>
              <a:rPr lang="en-US" sz="660" b="1" spc="180" kern="0" dirty="0">
                <a:solidFill>
                  <a:srgbClr val="6E8274"/>
                </a:solidFill>
                <a:latin typeface="Calibri" pitchFamily="34" charset="0"/>
                <a:ea typeface="Calibri" pitchFamily="34" charset="-122"/>
                <a:cs typeface="Calibri" pitchFamily="34" charset="-120"/>
              </a:rPr>
              <a:t>APPLY THIS WEEK</a:t>
            </a:r>
            <a:endParaRPr lang="en-US" sz="660" dirty="0"/>
          </a:p>
        </p:txBody>
      </p:sp>
      <p:sp>
        <p:nvSpPr>
          <p:cNvPr id="15" name="Shape 13"/>
          <p:cNvSpPr/>
          <p:nvPr/>
        </p:nvSpPr>
        <p:spPr>
          <a:xfrm>
            <a:off x="8322869" y="1967789"/>
            <a:ext cx="51206" cy="51206"/>
          </a:xfrm>
          <a:prstGeom prst="ellipse">
            <a:avLst/>
          </a:prstGeom>
          <a:solidFill>
            <a:srgbClr val="6E8274"/>
          </a:solidFill>
          <a:ln w="12700">
            <a:solidFill>
              <a:srgbClr val="FFFFFF">
                <a:alpha val="0"/>
              </a:srgbClr>
            </a:solidFill>
            <a:prstDash val="solid"/>
          </a:ln>
        </p:spPr>
      </p:sp>
      <p:sp>
        <p:nvSpPr>
          <p:cNvPr id="16" name="Text 14"/>
          <p:cNvSpPr txBox="1"/>
          <p:nvPr/>
        </p:nvSpPr>
        <p:spPr>
          <a:xfrm>
            <a:off x="8485632" y="1911096"/>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transition</a:t>
            </a:r>
            <a:endParaRPr lang="en-US" sz="830" dirty="0"/>
          </a:p>
        </p:txBody>
      </p:sp>
      <p:sp>
        <p:nvSpPr>
          <p:cNvPr id="17" name="Shape 15"/>
          <p:cNvSpPr/>
          <p:nvPr/>
        </p:nvSpPr>
        <p:spPr>
          <a:xfrm>
            <a:off x="8322869" y="2296973"/>
            <a:ext cx="51206" cy="51206"/>
          </a:xfrm>
          <a:prstGeom prst="ellipse">
            <a:avLst/>
          </a:prstGeom>
          <a:solidFill>
            <a:srgbClr val="6E8274"/>
          </a:solidFill>
          <a:ln w="12700">
            <a:solidFill>
              <a:srgbClr val="FFFFFF">
                <a:alpha val="0"/>
              </a:srgbClr>
            </a:solidFill>
            <a:prstDash val="solid"/>
          </a:ln>
        </p:spPr>
      </p:sp>
      <p:sp>
        <p:nvSpPr>
          <p:cNvPr id="18" name="Text 16"/>
          <p:cNvSpPr txBox="1"/>
          <p:nvPr/>
        </p:nvSpPr>
        <p:spPr>
          <a:xfrm>
            <a:off x="8485632" y="2240280"/>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family life cycle</a:t>
            </a:r>
            <a:endParaRPr lang="en-US" sz="830" dirty="0"/>
          </a:p>
        </p:txBody>
      </p:sp>
      <p:sp>
        <p:nvSpPr>
          <p:cNvPr id="19" name="Shape 17"/>
          <p:cNvSpPr/>
          <p:nvPr/>
        </p:nvSpPr>
        <p:spPr>
          <a:xfrm>
            <a:off x="8322869" y="2626157"/>
            <a:ext cx="51206" cy="51206"/>
          </a:xfrm>
          <a:prstGeom prst="ellipse">
            <a:avLst/>
          </a:prstGeom>
          <a:solidFill>
            <a:srgbClr val="6E8274"/>
          </a:solidFill>
          <a:ln w="12700">
            <a:solidFill>
              <a:srgbClr val="FFFFFF">
                <a:alpha val="0"/>
              </a:srgbClr>
            </a:solidFill>
            <a:prstDash val="solid"/>
          </a:ln>
        </p:spPr>
      </p:sp>
      <p:sp>
        <p:nvSpPr>
          <p:cNvPr id="20" name="Text 18"/>
          <p:cNvSpPr txBox="1"/>
          <p:nvPr/>
        </p:nvSpPr>
        <p:spPr>
          <a:xfrm>
            <a:off x="8485632" y="2569464"/>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ambiguous loss</a:t>
            </a:r>
            <a:endParaRPr lang="en-US" sz="830" dirty="0"/>
          </a:p>
        </p:txBody>
      </p:sp>
      <p:sp>
        <p:nvSpPr>
          <p:cNvPr id="21" name="Shape 19"/>
          <p:cNvSpPr/>
          <p:nvPr/>
        </p:nvSpPr>
        <p:spPr>
          <a:xfrm>
            <a:off x="8322869" y="2955341"/>
            <a:ext cx="51206" cy="51206"/>
          </a:xfrm>
          <a:prstGeom prst="ellipse">
            <a:avLst/>
          </a:prstGeom>
          <a:solidFill>
            <a:srgbClr val="6E8274"/>
          </a:solidFill>
          <a:ln w="12700">
            <a:solidFill>
              <a:srgbClr val="FFFFFF">
                <a:alpha val="0"/>
              </a:srgbClr>
            </a:solidFill>
            <a:prstDash val="solid"/>
          </a:ln>
        </p:spPr>
      </p:sp>
      <p:sp>
        <p:nvSpPr>
          <p:cNvPr id="22" name="Text 20"/>
          <p:cNvSpPr txBox="1"/>
          <p:nvPr/>
        </p:nvSpPr>
        <p:spPr>
          <a:xfrm>
            <a:off x="8485632" y="2898648"/>
            <a:ext cx="2761488" cy="237173"/>
          </a:xfrm>
          <a:prstGeom prst="rect">
            <a:avLst/>
          </a:prstGeom>
          <a:noFill/>
          <a:ln/>
        </p:spPr>
        <p:txBody>
          <a:bodyPr wrap="square" lIns="0" tIns="0" rIns="0" bIns="0" rtlCol="0" anchor="t"/>
          <a:lstStyle/>
          <a:p>
            <a:pPr algn="l" indent="0" marL="0">
              <a:lnSpc>
                <a:spcPts val="1038"/>
              </a:lnSpc>
              <a:buNone/>
            </a:pPr>
            <a:r>
              <a:rPr lang="en-US" sz="830" dirty="0">
                <a:solidFill>
                  <a:srgbClr val="3F3A33"/>
                </a:solidFill>
                <a:latin typeface="Calibri" pitchFamily="34" charset="0"/>
                <a:ea typeface="Calibri" pitchFamily="34" charset="-122"/>
                <a:cs typeface="Calibri" pitchFamily="34" charset="-120"/>
              </a:rPr>
              <a:t>coercive control</a:t>
            </a:r>
            <a:endParaRPr lang="en-US" sz="830" dirty="0"/>
          </a:p>
        </p:txBody>
      </p:sp>
      <p:sp>
        <p:nvSpPr>
          <p:cNvPr id="23" name="Text 21"/>
          <p:cNvSpPr txBox="1"/>
          <p:nvPr/>
        </p:nvSpPr>
        <p:spPr>
          <a:xfrm>
            <a:off x="822960" y="3675888"/>
            <a:ext cx="3657600" cy="214884"/>
          </a:xfrm>
          <a:prstGeom prst="rect">
            <a:avLst/>
          </a:prstGeom>
          <a:noFill/>
          <a:ln/>
        </p:spPr>
        <p:txBody>
          <a:bodyPr wrap="square" lIns="0" tIns="0" rIns="0" bIns="0" rtlCol="0" anchor="t"/>
          <a:lstStyle/>
          <a:p>
            <a:pPr algn="l" indent="0" marL="0">
              <a:lnSpc>
                <a:spcPts val="972"/>
              </a:lnSpc>
              <a:buNone/>
            </a:pPr>
            <a:r>
              <a:rPr lang="en-US" sz="720" b="1" spc="200" kern="0" dirty="0">
                <a:solidFill>
                  <a:srgbClr val="96733C"/>
                </a:solidFill>
                <a:latin typeface="Calibri" pitchFamily="34" charset="0"/>
                <a:ea typeface="Calibri" pitchFamily="34" charset="-122"/>
                <a:cs typeface="Calibri" pitchFamily="34" charset="-120"/>
              </a:rPr>
              <a:t>REFLECTION</a:t>
            </a:r>
            <a:endParaRPr lang="en-US" sz="720" dirty="0"/>
          </a:p>
        </p:txBody>
      </p:sp>
      <p:sp>
        <p:nvSpPr>
          <p:cNvPr id="24" name="Shape 22"/>
          <p:cNvSpPr/>
          <p:nvPr/>
        </p:nvSpPr>
        <p:spPr>
          <a:xfrm>
            <a:off x="1828800" y="3730752"/>
            <a:ext cx="548640" cy="91"/>
          </a:xfrm>
          <a:prstGeom prst="line">
            <a:avLst/>
          </a:prstGeom>
          <a:noFill/>
          <a:ln w="10160">
            <a:solidFill>
              <a:srgbClr val="C2A05F"/>
            </a:solidFill>
            <a:prstDash val="solid"/>
            <a:headEnd type="none"/>
            <a:tailEnd type="none"/>
          </a:ln>
        </p:spPr>
      </p:sp>
      <p:sp>
        <p:nvSpPr>
          <p:cNvPr id="25" name="Shape 23"/>
          <p:cNvSpPr/>
          <p:nvPr/>
        </p:nvSpPr>
        <p:spPr>
          <a:xfrm>
            <a:off x="822960" y="4041648"/>
            <a:ext cx="3319272" cy="1627632"/>
          </a:xfrm>
          <a:prstGeom prst="roundRect">
            <a:avLst>
              <a:gd name="adj" fmla="val 631"/>
            </a:avLst>
          </a:prstGeom>
          <a:solidFill>
            <a:srgbClr val="FCF8EF"/>
          </a:solidFill>
          <a:ln w="6350">
            <a:solidFill>
              <a:srgbClr val="D9CDB7"/>
            </a:solidFill>
            <a:prstDash val="solid"/>
          </a:ln>
        </p:spPr>
      </p:sp>
      <p:sp>
        <p:nvSpPr>
          <p:cNvPr id="26" name="Text 24"/>
          <p:cNvSpPr txBox="1"/>
          <p:nvPr/>
        </p:nvSpPr>
        <p:spPr>
          <a:xfrm>
            <a:off x="102412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27" name="Text 25"/>
          <p:cNvSpPr txBox="1"/>
          <p:nvPr/>
        </p:nvSpPr>
        <p:spPr>
          <a:xfrm>
            <a:off x="102412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Which transitions are stacking up?</a:t>
            </a:r>
            <a:endParaRPr lang="en-US" sz="920" dirty="0"/>
          </a:p>
        </p:txBody>
      </p:sp>
      <p:sp>
        <p:nvSpPr>
          <p:cNvPr id="28" name="Shape 26"/>
          <p:cNvSpPr/>
          <p:nvPr/>
        </p:nvSpPr>
        <p:spPr>
          <a:xfrm>
            <a:off x="1024128" y="5248656"/>
            <a:ext cx="2916936" cy="91"/>
          </a:xfrm>
          <a:prstGeom prst="line">
            <a:avLst/>
          </a:prstGeom>
          <a:noFill/>
          <a:ln w="3810">
            <a:solidFill>
              <a:srgbClr val="D9CDB7">
                <a:alpha val="75000"/>
              </a:srgbClr>
            </a:solidFill>
            <a:prstDash val="sysDot"/>
            <a:headEnd type="none"/>
            <a:tailEnd type="none"/>
          </a:ln>
        </p:spPr>
      </p:sp>
      <p:sp>
        <p:nvSpPr>
          <p:cNvPr id="29" name="Shape 27"/>
          <p:cNvSpPr/>
          <p:nvPr/>
        </p:nvSpPr>
        <p:spPr>
          <a:xfrm>
            <a:off x="1024128" y="5468112"/>
            <a:ext cx="2916936" cy="91"/>
          </a:xfrm>
          <a:prstGeom prst="line">
            <a:avLst/>
          </a:prstGeom>
          <a:noFill/>
          <a:ln w="3810">
            <a:solidFill>
              <a:srgbClr val="D9CDB7">
                <a:alpha val="75000"/>
              </a:srgbClr>
            </a:solidFill>
            <a:prstDash val="sysDot"/>
            <a:headEnd type="none"/>
            <a:tailEnd type="none"/>
          </a:ln>
        </p:spPr>
      </p:sp>
      <p:sp>
        <p:nvSpPr>
          <p:cNvPr id="30" name="Shape 28"/>
          <p:cNvSpPr/>
          <p:nvPr/>
        </p:nvSpPr>
        <p:spPr>
          <a:xfrm>
            <a:off x="4434840" y="4041648"/>
            <a:ext cx="3319272" cy="1627632"/>
          </a:xfrm>
          <a:prstGeom prst="roundRect">
            <a:avLst>
              <a:gd name="adj" fmla="val 631"/>
            </a:avLst>
          </a:prstGeom>
          <a:solidFill>
            <a:srgbClr val="FCF8EF"/>
          </a:solidFill>
          <a:ln w="6350">
            <a:solidFill>
              <a:srgbClr val="D9CDB7"/>
            </a:solidFill>
            <a:prstDash val="solid"/>
          </a:ln>
        </p:spPr>
      </p:sp>
      <p:sp>
        <p:nvSpPr>
          <p:cNvPr id="31" name="Text 29"/>
          <p:cNvSpPr txBox="1"/>
          <p:nvPr/>
        </p:nvSpPr>
        <p:spPr>
          <a:xfrm>
            <a:off x="463600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32" name="Text 30"/>
          <p:cNvSpPr txBox="1"/>
          <p:nvPr/>
        </p:nvSpPr>
        <p:spPr>
          <a:xfrm>
            <a:off x="463600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meaning does the adolescent’s behaviour carry?</a:t>
            </a:r>
            <a:endParaRPr lang="en-US" sz="920" dirty="0"/>
          </a:p>
        </p:txBody>
      </p:sp>
      <p:sp>
        <p:nvSpPr>
          <p:cNvPr id="33" name="Shape 31"/>
          <p:cNvSpPr/>
          <p:nvPr/>
        </p:nvSpPr>
        <p:spPr>
          <a:xfrm>
            <a:off x="4636008" y="5248656"/>
            <a:ext cx="2916936" cy="91"/>
          </a:xfrm>
          <a:prstGeom prst="line">
            <a:avLst/>
          </a:prstGeom>
          <a:noFill/>
          <a:ln w="3810">
            <a:solidFill>
              <a:srgbClr val="D9CDB7">
                <a:alpha val="75000"/>
              </a:srgbClr>
            </a:solidFill>
            <a:prstDash val="sysDot"/>
            <a:headEnd type="none"/>
            <a:tailEnd type="none"/>
          </a:ln>
        </p:spPr>
      </p:sp>
      <p:sp>
        <p:nvSpPr>
          <p:cNvPr id="34" name="Shape 32"/>
          <p:cNvSpPr/>
          <p:nvPr/>
        </p:nvSpPr>
        <p:spPr>
          <a:xfrm>
            <a:off x="4636008" y="5468112"/>
            <a:ext cx="2916936" cy="91"/>
          </a:xfrm>
          <a:prstGeom prst="line">
            <a:avLst/>
          </a:prstGeom>
          <a:noFill/>
          <a:ln w="3810">
            <a:solidFill>
              <a:srgbClr val="D9CDB7">
                <a:alpha val="75000"/>
              </a:srgbClr>
            </a:solidFill>
            <a:prstDash val="sysDot"/>
            <a:headEnd type="none"/>
            <a:tailEnd type="none"/>
          </a:ln>
        </p:spPr>
      </p:sp>
      <p:sp>
        <p:nvSpPr>
          <p:cNvPr id="35" name="Shape 33"/>
          <p:cNvSpPr/>
          <p:nvPr/>
        </p:nvSpPr>
        <p:spPr>
          <a:xfrm>
            <a:off x="8046720" y="4041648"/>
            <a:ext cx="3319272" cy="1627632"/>
          </a:xfrm>
          <a:prstGeom prst="roundRect">
            <a:avLst>
              <a:gd name="adj" fmla="val 631"/>
            </a:avLst>
          </a:prstGeom>
          <a:solidFill>
            <a:srgbClr val="FCF8EF"/>
          </a:solidFill>
          <a:ln w="6350">
            <a:solidFill>
              <a:srgbClr val="D9CDB7"/>
            </a:solidFill>
            <a:prstDash val="solid"/>
          </a:ln>
        </p:spPr>
      </p:sp>
      <p:sp>
        <p:nvSpPr>
          <p:cNvPr id="36" name="Text 34"/>
          <p:cNvSpPr txBox="1"/>
          <p:nvPr/>
        </p:nvSpPr>
        <p:spPr>
          <a:xfrm>
            <a:off x="8247888" y="4197096"/>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7" name="Text 35"/>
          <p:cNvSpPr txBox="1"/>
          <p:nvPr/>
        </p:nvSpPr>
        <p:spPr>
          <a:xfrm>
            <a:off x="8247888" y="4443984"/>
            <a:ext cx="2916936" cy="282753"/>
          </a:xfrm>
          <a:prstGeom prst="rect">
            <a:avLst/>
          </a:prstGeom>
          <a:noFill/>
          <a:ln/>
        </p:spPr>
        <p:txBody>
          <a:bodyPr wrap="square" lIns="0" tIns="0" rIns="0" bIns="0" rtlCol="0" anchor="t"/>
          <a:lstStyle/>
          <a:p>
            <a:pPr algn="l" indent="0" marL="0">
              <a:lnSpc>
                <a:spcPts val="1306"/>
              </a:lnSpc>
              <a:buNone/>
            </a:pPr>
            <a:r>
              <a:rPr lang="en-US" sz="920" dirty="0">
                <a:solidFill>
                  <a:srgbClr val="3F3A33"/>
                </a:solidFill>
                <a:latin typeface="Calibri" pitchFamily="34" charset="0"/>
                <a:ea typeface="Calibri" pitchFamily="34" charset="-122"/>
                <a:cs typeface="Calibri" pitchFamily="34" charset="-120"/>
              </a:rPr>
              <a:t>What would stabilisation look like in the first three sessions?</a:t>
            </a:r>
            <a:endParaRPr lang="en-US" sz="920" dirty="0"/>
          </a:p>
        </p:txBody>
      </p:sp>
      <p:sp>
        <p:nvSpPr>
          <p:cNvPr id="38" name="Shape 36"/>
          <p:cNvSpPr/>
          <p:nvPr/>
        </p:nvSpPr>
        <p:spPr>
          <a:xfrm>
            <a:off x="8247888" y="5248656"/>
            <a:ext cx="2916936" cy="91"/>
          </a:xfrm>
          <a:prstGeom prst="line">
            <a:avLst/>
          </a:prstGeom>
          <a:noFill/>
          <a:ln w="3810">
            <a:solidFill>
              <a:srgbClr val="D9CDB7">
                <a:alpha val="75000"/>
              </a:srgbClr>
            </a:solidFill>
            <a:prstDash val="sysDot"/>
            <a:headEnd type="none"/>
            <a:tailEnd type="none"/>
          </a:ln>
        </p:spPr>
      </p:sp>
      <p:sp>
        <p:nvSpPr>
          <p:cNvPr id="39" name="Shape 37"/>
          <p:cNvSpPr/>
          <p:nvPr/>
        </p:nvSpPr>
        <p:spPr>
          <a:xfrm>
            <a:off x="8247888" y="5468112"/>
            <a:ext cx="2916936" cy="91"/>
          </a:xfrm>
          <a:prstGeom prst="line">
            <a:avLst/>
          </a:prstGeom>
          <a:noFill/>
          <a:ln w="3810">
            <a:solidFill>
              <a:srgbClr val="D9CDB7">
                <a:alpha val="75000"/>
              </a:srgbClr>
            </a:solidFill>
            <a:prstDash val="sysDot"/>
            <a:headEnd type="none"/>
            <a:tailEnd type="none"/>
          </a:ln>
        </p:spPr>
      </p:sp>
      <p:sp>
        <p:nvSpPr>
          <p:cNvPr id="40" name="Text 38"/>
          <p:cNvSpPr txBox="1"/>
          <p:nvPr/>
        </p:nvSpPr>
        <p:spPr>
          <a:xfrm>
            <a:off x="822960" y="5742432"/>
            <a:ext cx="9875520" cy="244729"/>
          </a:xfrm>
          <a:prstGeom prst="rect">
            <a:avLst/>
          </a:prstGeom>
          <a:noFill/>
          <a:ln/>
        </p:spPr>
        <p:txBody>
          <a:bodyPr wrap="square" lIns="0" tIns="0" rIns="0" bIns="0" rtlCol="0" anchor="t"/>
          <a:lstStyle/>
          <a:p>
            <a:pPr algn="l" indent="0" marL="0">
              <a:lnSpc>
                <a:spcPts val="1107"/>
              </a:lnSpc>
              <a:buNone/>
            </a:pPr>
            <a:r>
              <a:rPr lang="en-US" sz="820" i="1" dirty="0">
                <a:solidFill>
                  <a:srgbClr val="8B8375"/>
                </a:solidFill>
                <a:latin typeface="Calibri" pitchFamily="34" charset="0"/>
                <a:ea typeface="Calibri" pitchFamily="34" charset="-122"/>
                <a:cs typeface="Calibri" pitchFamily="34" charset="-120"/>
              </a:rPr>
              <a:t>Discuss in seminar · bring one formulation to supervision.</a:t>
            </a:r>
            <a:endParaRPr lang="en-US" sz="82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30352"/>
            <a:ext cx="64008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16 · PHASE IV — INTEGRATION &amp; TRANSITION</a:t>
            </a:r>
            <a:endParaRPr lang="en-US" sz="760" dirty="0"/>
          </a:p>
        </p:txBody>
      </p:sp>
      <p:sp>
        <p:nvSpPr>
          <p:cNvPr id="3" name="Text 1"/>
          <p:cNvSpPr txBox="1"/>
          <p:nvPr/>
        </p:nvSpPr>
        <p:spPr>
          <a:xfrm>
            <a:off x="6400800" y="-384048"/>
            <a:ext cx="5486400" cy="6350000"/>
          </a:xfrm>
          <a:prstGeom prst="rect">
            <a:avLst/>
          </a:prstGeom>
          <a:noFill/>
          <a:ln/>
        </p:spPr>
        <p:txBody>
          <a:bodyPr wrap="square" lIns="0" tIns="0" rIns="0" bIns="0" rtlCol="0" anchor="t"/>
          <a:lstStyle/>
          <a:p>
            <a:pPr algn="r" indent="0" marL="0">
              <a:lnSpc>
                <a:spcPts val="25000"/>
              </a:lnSpc>
              <a:buNone/>
            </a:pPr>
            <a:r>
              <a:rPr lang="en-US" sz="25000" dirty="0">
                <a:solidFill>
                  <a:srgbClr val="191710"/>
                </a:solidFill>
                <a:latin typeface="Georgia" pitchFamily="34" charset="0"/>
                <a:ea typeface="Georgia" pitchFamily="34" charset="-122"/>
                <a:cs typeface="Georgia" pitchFamily="34" charset="-120"/>
              </a:rPr>
              <a:t>16</a:t>
            </a:r>
            <a:endParaRPr lang="en-US" sz="25000" dirty="0"/>
          </a:p>
        </p:txBody>
      </p:sp>
      <p:sp>
        <p:nvSpPr>
          <p:cNvPr id="4" name="Text 2"/>
          <p:cNvSpPr txBox="1"/>
          <p:nvPr/>
        </p:nvSpPr>
        <p:spPr>
          <a:xfrm>
            <a:off x="822960" y="1572768"/>
            <a:ext cx="7589520" cy="1584960"/>
          </a:xfrm>
          <a:prstGeom prst="rect">
            <a:avLst/>
          </a:prstGeom>
          <a:noFill/>
          <a:ln/>
        </p:spPr>
        <p:txBody>
          <a:bodyPr wrap="square" lIns="0" tIns="0" rIns="0" bIns="0" rtlCol="0" anchor="t"/>
          <a:lstStyle/>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Evidence, Outcomes and</a:t>
            </a:r>
            <a:endParaRPr lang="en-US" sz="3900" dirty="0"/>
          </a:p>
          <a:p>
            <a:pPr algn="l" indent="0" marL="0">
              <a:lnSpc>
                <a:spcPts val="4290"/>
              </a:lnSpc>
              <a:buNone/>
            </a:pPr>
            <a:r>
              <a:rPr lang="en-US" sz="3900" dirty="0">
                <a:solidFill>
                  <a:srgbClr val="F8F3E9"/>
                </a:solidFill>
                <a:latin typeface="Georgia" pitchFamily="34" charset="0"/>
                <a:ea typeface="Georgia" pitchFamily="34" charset="-122"/>
                <a:cs typeface="Georgia" pitchFamily="34" charset="-120"/>
              </a:rPr>
              <a:t>Professional Identity</a:t>
            </a:r>
            <a:endParaRPr lang="en-US" sz="3900" dirty="0"/>
          </a:p>
        </p:txBody>
      </p:sp>
      <p:sp>
        <p:nvSpPr>
          <p:cNvPr id="5" name="Shape 3"/>
          <p:cNvSpPr/>
          <p:nvPr/>
        </p:nvSpPr>
        <p:spPr>
          <a:xfrm>
            <a:off x="822960" y="2863596"/>
            <a:ext cx="1463040" cy="91"/>
          </a:xfrm>
          <a:prstGeom prst="line">
            <a:avLst/>
          </a:prstGeom>
          <a:noFill/>
          <a:ln w="11430">
            <a:solidFill>
              <a:srgbClr val="C2A05F"/>
            </a:solidFill>
            <a:prstDash val="solid"/>
            <a:headEnd type="none"/>
            <a:tailEnd type="none"/>
          </a:ln>
        </p:spPr>
      </p:sp>
      <p:sp>
        <p:nvSpPr>
          <p:cNvPr id="6" name="Text 4"/>
          <p:cNvSpPr txBox="1"/>
          <p:nvPr/>
        </p:nvSpPr>
        <p:spPr>
          <a:xfrm>
            <a:off x="822960" y="3101340"/>
            <a:ext cx="740664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ESSENTIAL QUESTION</a:t>
            </a:r>
            <a:endParaRPr lang="en-US" sz="700" dirty="0"/>
          </a:p>
        </p:txBody>
      </p:sp>
      <p:sp>
        <p:nvSpPr>
          <p:cNvPr id="7" name="Text 5"/>
          <p:cNvSpPr txBox="1"/>
          <p:nvPr/>
        </p:nvSpPr>
        <p:spPr>
          <a:xfrm>
            <a:off x="822960" y="3320796"/>
            <a:ext cx="7223760" cy="755904"/>
          </a:xfrm>
          <a:prstGeom prst="rect">
            <a:avLst/>
          </a:prstGeom>
          <a:noFill/>
          <a:ln/>
        </p:spPr>
        <p:txBody>
          <a:bodyPr wrap="square" lIns="0" tIns="0" rIns="0" bIns="0" rtlCol="0" anchor="t"/>
          <a:lstStyle/>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How will you know your work is helping — and who are you becoming as a</a:t>
            </a:r>
            <a:endParaRPr lang="en-US" sz="1550" dirty="0"/>
          </a:p>
          <a:p>
            <a:pPr algn="l" indent="0" marL="0">
              <a:lnSpc>
                <a:spcPts val="2201"/>
              </a:lnSpc>
              <a:buNone/>
            </a:pPr>
            <a:r>
              <a:rPr lang="en-US" sz="1550" i="1" dirty="0">
                <a:solidFill>
                  <a:srgbClr val="E7D3A9"/>
                </a:solidFill>
                <a:latin typeface="Georgia" pitchFamily="34" charset="0"/>
                <a:ea typeface="Georgia" pitchFamily="34" charset="-122"/>
                <a:cs typeface="Georgia" pitchFamily="34" charset="-120"/>
              </a:rPr>
              <a:t>therapist?</a:t>
            </a:r>
            <a:endParaRPr lang="en-US" sz="1550" dirty="0"/>
          </a:p>
        </p:txBody>
      </p:sp>
      <p:sp>
        <p:nvSpPr>
          <p:cNvPr id="8" name="Shape 6"/>
          <p:cNvSpPr/>
          <p:nvPr/>
        </p:nvSpPr>
        <p:spPr>
          <a:xfrm>
            <a:off x="822960" y="4190746"/>
            <a:ext cx="7223760" cy="91"/>
          </a:xfrm>
          <a:prstGeom prst="line">
            <a:avLst/>
          </a:prstGeom>
          <a:noFill/>
          <a:ln w="6350">
            <a:solidFill>
              <a:srgbClr val="3A332A"/>
            </a:solidFill>
            <a:prstDash val="solid"/>
            <a:headEnd type="none"/>
            <a:tailEnd type="none"/>
          </a:ln>
        </p:spPr>
      </p:sp>
      <p:sp>
        <p:nvSpPr>
          <p:cNvPr id="9" name="Text 7"/>
          <p:cNvSpPr txBox="1"/>
          <p:nvPr/>
        </p:nvSpPr>
        <p:spPr>
          <a:xfrm>
            <a:off x="822960" y="4337050"/>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01 · LECTURE</a:t>
            </a:r>
            <a:endParaRPr lang="en-US" sz="620" dirty="0"/>
          </a:p>
        </p:txBody>
      </p:sp>
      <p:sp>
        <p:nvSpPr>
          <p:cNvPr id="10" name="Text 8"/>
          <p:cNvSpPr txBox="1"/>
          <p:nvPr/>
        </p:nvSpPr>
        <p:spPr>
          <a:xfrm>
            <a:off x="822960" y="4529074"/>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What makes therapy work</a:t>
            </a:r>
            <a:endParaRPr lang="en-US" sz="850" dirty="0"/>
          </a:p>
        </p:txBody>
      </p:sp>
      <p:sp>
        <p:nvSpPr>
          <p:cNvPr id="11" name="Text 9"/>
          <p:cNvSpPr txBox="1"/>
          <p:nvPr/>
        </p:nvSpPr>
        <p:spPr>
          <a:xfrm>
            <a:off x="3282696" y="4337050"/>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02 · DIAGRAM</a:t>
            </a:r>
            <a:endParaRPr lang="en-US" sz="620" dirty="0"/>
          </a:p>
        </p:txBody>
      </p:sp>
      <p:sp>
        <p:nvSpPr>
          <p:cNvPr id="12" name="Text 10"/>
          <p:cNvSpPr txBox="1"/>
          <p:nvPr/>
        </p:nvSpPr>
        <p:spPr>
          <a:xfrm>
            <a:off x="3282696" y="4529074"/>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Feedback as a clinical discipline</a:t>
            </a:r>
            <a:endParaRPr lang="en-US" sz="850" dirty="0"/>
          </a:p>
        </p:txBody>
      </p:sp>
      <p:sp>
        <p:nvSpPr>
          <p:cNvPr id="13" name="Text 11"/>
          <p:cNvSpPr txBox="1"/>
          <p:nvPr/>
        </p:nvSpPr>
        <p:spPr>
          <a:xfrm>
            <a:off x="5742432" y="4337050"/>
            <a:ext cx="2331720" cy="185039"/>
          </a:xfrm>
          <a:prstGeom prst="rect">
            <a:avLst/>
          </a:prstGeom>
          <a:noFill/>
          <a:ln/>
        </p:spPr>
        <p:txBody>
          <a:bodyPr wrap="square" lIns="0" tIns="0" rIns="0" bIns="0" rtlCol="0" anchor="t"/>
          <a:lstStyle/>
          <a:p>
            <a:pPr algn="l" indent="0" marL="0">
              <a:lnSpc>
                <a:spcPts val="837"/>
              </a:lnSpc>
              <a:buNone/>
            </a:pPr>
            <a:r>
              <a:rPr lang="en-US" sz="620" spc="140" kern="0" dirty="0">
                <a:solidFill>
                  <a:srgbClr val="C2A05F"/>
                </a:solidFill>
                <a:latin typeface="Calibri" pitchFamily="34" charset="0"/>
                <a:ea typeface="Calibri" pitchFamily="34" charset="-122"/>
                <a:cs typeface="Calibri" pitchFamily="34" charset="-120"/>
              </a:rPr>
              <a:t>03 · SEMINAR</a:t>
            </a:r>
            <a:endParaRPr lang="en-US" sz="620" dirty="0"/>
          </a:p>
        </p:txBody>
      </p:sp>
      <p:sp>
        <p:nvSpPr>
          <p:cNvPr id="14" name="Text 12"/>
          <p:cNvSpPr txBox="1"/>
          <p:nvPr/>
        </p:nvSpPr>
        <p:spPr>
          <a:xfrm>
            <a:off x="5742432" y="4529074"/>
            <a:ext cx="2240280" cy="242888"/>
          </a:xfrm>
          <a:prstGeom prst="rect">
            <a:avLst/>
          </a:prstGeom>
          <a:noFill/>
          <a:ln/>
        </p:spPr>
        <p:txBody>
          <a:bodyPr wrap="square" lIns="0" tIns="0" rIns="0" bIns="0" rtlCol="0" anchor="t"/>
          <a:lstStyle/>
          <a:p>
            <a:pPr algn="l" indent="0" marL="0">
              <a:lnSpc>
                <a:spcPts val="1063"/>
              </a:lnSpc>
              <a:buNone/>
            </a:pPr>
            <a:r>
              <a:rPr lang="en-US" sz="850" dirty="0">
                <a:solidFill>
                  <a:srgbClr val="EFE5D3"/>
                </a:solidFill>
                <a:latin typeface="Calibri" pitchFamily="34" charset="0"/>
                <a:ea typeface="Calibri" pitchFamily="34" charset="-122"/>
                <a:cs typeface="Calibri" pitchFamily="34" charset="-120"/>
              </a:rPr>
              <a:t>The clinician you are becoming</a:t>
            </a:r>
            <a:endParaRPr lang="en-US" sz="850" dirty="0"/>
          </a:p>
        </p:txBody>
      </p:sp>
      <p:sp>
        <p:nvSpPr>
          <p:cNvPr id="15" name="Shape 13"/>
          <p:cNvSpPr/>
          <p:nvPr/>
        </p:nvSpPr>
        <p:spPr>
          <a:xfrm>
            <a:off x="8366760" y="1371600"/>
            <a:ext cx="91" cy="2971800"/>
          </a:xfrm>
          <a:prstGeom prst="line">
            <a:avLst/>
          </a:prstGeom>
          <a:noFill/>
          <a:ln w="6350">
            <a:solidFill>
              <a:srgbClr val="3A332A"/>
            </a:solidFill>
            <a:prstDash val="solid"/>
            <a:headEnd type="none"/>
            <a:tailEnd type="none"/>
          </a:ln>
        </p:spPr>
      </p:sp>
      <p:sp>
        <p:nvSpPr>
          <p:cNvPr id="16" name="Text 14"/>
          <p:cNvSpPr txBox="1"/>
          <p:nvPr/>
        </p:nvSpPr>
        <p:spPr>
          <a:xfrm>
            <a:off x="8732520" y="1417320"/>
            <a:ext cx="2651760" cy="208915"/>
          </a:xfrm>
          <a:prstGeom prst="rect">
            <a:avLst/>
          </a:prstGeom>
          <a:noFill/>
          <a:ln/>
        </p:spPr>
        <p:txBody>
          <a:bodyPr wrap="square" lIns="0" tIns="0" rIns="0" bIns="0" rtlCol="0" anchor="t"/>
          <a:lstStyle/>
          <a:p>
            <a:pPr algn="l" indent="0" marL="0">
              <a:lnSpc>
                <a:spcPts val="945"/>
              </a:lnSpc>
              <a:buNone/>
            </a:pPr>
            <a:r>
              <a:rPr lang="en-US" sz="700" spc="220" kern="0" dirty="0">
                <a:solidFill>
                  <a:srgbClr val="C2A05F"/>
                </a:solidFill>
                <a:latin typeface="Calibri" pitchFamily="34" charset="0"/>
                <a:ea typeface="Calibri" pitchFamily="34" charset="-122"/>
                <a:cs typeface="Calibri" pitchFamily="34" charset="-120"/>
              </a:rPr>
              <a:t>THIS WEEK</a:t>
            </a:r>
            <a:endParaRPr lang="en-US" sz="700" dirty="0"/>
          </a:p>
        </p:txBody>
      </p:sp>
      <p:sp>
        <p:nvSpPr>
          <p:cNvPr id="17" name="Text 15"/>
          <p:cNvSpPr txBox="1"/>
          <p:nvPr/>
        </p:nvSpPr>
        <p:spPr>
          <a:xfrm>
            <a:off x="8732520" y="1755648"/>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01</a:t>
            </a:r>
            <a:endParaRPr lang="en-US" sz="900" dirty="0"/>
          </a:p>
        </p:txBody>
      </p:sp>
      <p:sp>
        <p:nvSpPr>
          <p:cNvPr id="18" name="Text 16"/>
          <p:cNvSpPr txBox="1"/>
          <p:nvPr/>
        </p:nvSpPr>
        <p:spPr>
          <a:xfrm>
            <a:off x="9043416" y="1737360"/>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Explain common factors and evidence-based</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practice.</a:t>
            </a:r>
            <a:endParaRPr lang="en-US" sz="840" dirty="0"/>
          </a:p>
        </p:txBody>
      </p:sp>
      <p:sp>
        <p:nvSpPr>
          <p:cNvPr id="19" name="Text 17"/>
          <p:cNvSpPr txBox="1"/>
          <p:nvPr/>
        </p:nvSpPr>
        <p:spPr>
          <a:xfrm>
            <a:off x="8732520" y="2651760"/>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02</a:t>
            </a:r>
            <a:endParaRPr lang="en-US" sz="900" dirty="0"/>
          </a:p>
        </p:txBody>
      </p:sp>
      <p:sp>
        <p:nvSpPr>
          <p:cNvPr id="20" name="Text 18"/>
          <p:cNvSpPr txBox="1"/>
          <p:nvPr/>
        </p:nvSpPr>
        <p:spPr>
          <a:xfrm>
            <a:off x="9043416" y="2633472"/>
            <a:ext cx="2304288" cy="250698"/>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Use routine outcome monitoring in a session.</a:t>
            </a:r>
            <a:endParaRPr lang="en-US" sz="840" dirty="0"/>
          </a:p>
        </p:txBody>
      </p:sp>
      <p:sp>
        <p:nvSpPr>
          <p:cNvPr id="21" name="Text 19"/>
          <p:cNvSpPr txBox="1"/>
          <p:nvPr/>
        </p:nvSpPr>
        <p:spPr>
          <a:xfrm>
            <a:off x="8732520" y="3547872"/>
            <a:ext cx="274320" cy="268605"/>
          </a:xfrm>
          <a:prstGeom prst="rect">
            <a:avLst/>
          </a:prstGeom>
          <a:noFill/>
          <a:ln/>
        </p:spPr>
        <p:txBody>
          <a:bodyPr wrap="square" lIns="0" tIns="0" rIns="0" bIns="0" rtlCol="0" anchor="t"/>
          <a:lstStyle/>
          <a:p>
            <a:pPr algn="l" indent="0" marL="0">
              <a:lnSpc>
                <a:spcPts val="1215"/>
              </a:lnSpc>
              <a:buNone/>
            </a:pPr>
            <a:r>
              <a:rPr lang="en-US" sz="900" dirty="0">
                <a:solidFill>
                  <a:srgbClr val="C2A05F"/>
                </a:solidFill>
                <a:latin typeface="Georgia" pitchFamily="34" charset="0"/>
                <a:ea typeface="Georgia" pitchFamily="34" charset="-122"/>
                <a:cs typeface="Georgia" pitchFamily="34" charset="-120"/>
              </a:rPr>
              <a:t>03</a:t>
            </a:r>
            <a:endParaRPr lang="en-US" sz="900" dirty="0"/>
          </a:p>
        </p:txBody>
      </p:sp>
      <p:sp>
        <p:nvSpPr>
          <p:cNvPr id="22" name="Text 20"/>
          <p:cNvSpPr txBox="1"/>
          <p:nvPr/>
        </p:nvSpPr>
        <p:spPr>
          <a:xfrm>
            <a:off x="9043416" y="3529584"/>
            <a:ext cx="2304288" cy="394716"/>
          </a:xfrm>
          <a:prstGeom prst="rect">
            <a:avLst/>
          </a:prstGeom>
          <a:noFill/>
          <a:ln/>
        </p:spPr>
        <p:txBody>
          <a:bodyPr wrap="square" lIns="0" tIns="0" rIns="0" bIns="0" rtlCol="0" anchor="t"/>
          <a:lstStyle/>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Write a professional development and supervision</a:t>
            </a:r>
            <a:endParaRPr lang="en-US" sz="840" dirty="0"/>
          </a:p>
          <a:p>
            <a:pPr algn="l" indent="0" marL="0">
              <a:lnSpc>
                <a:spcPts val="1134"/>
              </a:lnSpc>
              <a:buNone/>
            </a:pPr>
            <a:r>
              <a:rPr lang="en-US" sz="840" dirty="0">
                <a:solidFill>
                  <a:srgbClr val="EFE5D3"/>
                </a:solidFill>
                <a:latin typeface="Calibri" pitchFamily="34" charset="0"/>
                <a:ea typeface="Calibri" pitchFamily="34" charset="-122"/>
                <a:cs typeface="Calibri" pitchFamily="34" charset="-120"/>
              </a:rPr>
              <a:t>plan.</a:t>
            </a:r>
            <a:endParaRPr lang="en-US" sz="840" dirty="0"/>
          </a:p>
        </p:txBody>
      </p:sp>
      <p:sp>
        <p:nvSpPr>
          <p:cNvPr id="23" name="Text 21"/>
          <p:cNvSpPr txBox="1"/>
          <p:nvPr/>
        </p:nvSpPr>
        <p:spPr>
          <a:xfrm>
            <a:off x="822960" y="4846320"/>
            <a:ext cx="2194560" cy="196977"/>
          </a:xfrm>
          <a:prstGeom prst="rect">
            <a:avLst/>
          </a:prstGeom>
          <a:noFill/>
          <a:ln/>
        </p:spPr>
        <p:txBody>
          <a:bodyPr wrap="square" lIns="0" tIns="0" rIns="0" bIns="0" rtlCol="0" anchor="t"/>
          <a:lstStyle/>
          <a:p>
            <a:pPr algn="l" indent="0" marL="0">
              <a:lnSpc>
                <a:spcPts val="891"/>
              </a:lnSpc>
              <a:buNone/>
            </a:pPr>
            <a:r>
              <a:rPr lang="en-US" sz="660" spc="180" kern="0" dirty="0">
                <a:solidFill>
                  <a:srgbClr val="C2A05F"/>
                </a:solidFill>
                <a:latin typeface="Calibri" pitchFamily="34" charset="0"/>
                <a:ea typeface="Calibri" pitchFamily="34" charset="-122"/>
                <a:cs typeface="Calibri" pitchFamily="34" charset="-120"/>
              </a:rPr>
              <a:t>KEY TERMS</a:t>
            </a:r>
            <a:endParaRPr lang="en-US" sz="660" dirty="0"/>
          </a:p>
        </p:txBody>
      </p:sp>
      <p:sp>
        <p:nvSpPr>
          <p:cNvPr id="24" name="Text 22"/>
          <p:cNvSpPr txBox="1"/>
          <p:nvPr/>
        </p:nvSpPr>
        <p:spPr>
          <a:xfrm>
            <a:off x="822960" y="5047488"/>
            <a:ext cx="6766560" cy="256667"/>
          </a:xfrm>
          <a:prstGeom prst="rect">
            <a:avLst/>
          </a:prstGeom>
          <a:noFill/>
          <a:ln/>
        </p:spPr>
        <p:txBody>
          <a:bodyPr wrap="square" lIns="0" tIns="0" rIns="0" bIns="0" rtlCol="0" anchor="t"/>
          <a:lstStyle/>
          <a:p>
            <a:pPr algn="l" indent="0" marL="0">
              <a:lnSpc>
                <a:spcPts val="1161"/>
              </a:lnSpc>
              <a:buNone/>
            </a:pPr>
            <a:r>
              <a:rPr lang="en-US" sz="860" i="1" dirty="0">
                <a:solidFill>
                  <a:srgbClr val="EFE5D3"/>
                </a:solidFill>
                <a:latin typeface="Calibri" pitchFamily="34" charset="0"/>
                <a:ea typeface="Calibri" pitchFamily="34" charset="-122"/>
                <a:cs typeface="Calibri" pitchFamily="34" charset="-120"/>
              </a:rPr>
              <a:t>common factors · evidence-based practice · routine outcome monitoring · reflective practice</a:t>
            </a:r>
            <a:endParaRPr lang="en-US" sz="860" dirty="0"/>
          </a:p>
        </p:txBody>
      </p:sp>
      <p:sp>
        <p:nvSpPr>
          <p:cNvPr id="25" name="Text 23"/>
          <p:cNvSpPr txBox="1"/>
          <p:nvPr/>
        </p:nvSpPr>
        <p:spPr>
          <a:xfrm>
            <a:off x="822960" y="5541264"/>
            <a:ext cx="7680960" cy="220853"/>
          </a:xfrm>
          <a:prstGeom prst="rect">
            <a:avLst/>
          </a:prstGeom>
          <a:noFill/>
          <a:ln/>
        </p:spPr>
        <p:txBody>
          <a:bodyPr wrap="square" lIns="0" tIns="0" rIns="0" bIns="0" rtlCol="0" anchor="t"/>
          <a:lstStyle/>
          <a:p>
            <a:pPr algn="l" indent="0" marL="0">
              <a:lnSpc>
                <a:spcPts val="999"/>
              </a:lnSpc>
              <a:buNone/>
            </a:pPr>
            <a:r>
              <a:rPr lang="en-US" sz="740" i="1" dirty="0">
                <a:solidFill>
                  <a:srgbClr val="8B8375"/>
                </a:solidFill>
                <a:latin typeface="Calibri" pitchFamily="34" charset="0"/>
                <a:ea typeface="Calibri" pitchFamily="34" charset="-122"/>
                <a:cs typeface="Calibri" pitchFamily="34" charset="-120"/>
              </a:rPr>
              <a:t>Key reading · Sprenkle, Davis &amp; Lebow (2009) · Wampold &amp; Imel (2015) · Duncan et al. (2010)</a:t>
            </a:r>
            <a:endParaRPr lang="en-US" sz="740" dirty="0"/>
          </a:p>
        </p:txBody>
      </p:sp>
      <p:sp>
        <p:nvSpPr>
          <p:cNvPr id="26" name="Shape 24"/>
          <p:cNvSpPr/>
          <p:nvPr/>
        </p:nvSpPr>
        <p:spPr>
          <a:xfrm>
            <a:off x="822960" y="5760720"/>
            <a:ext cx="10515600" cy="91"/>
          </a:xfrm>
          <a:prstGeom prst="line">
            <a:avLst/>
          </a:prstGeom>
          <a:noFill/>
          <a:ln w="10160">
            <a:solidFill>
              <a:srgbClr val="3A332A"/>
            </a:solidFill>
            <a:prstDash val="solid"/>
            <a:headEnd type="none"/>
            <a:tailEnd type="none"/>
          </a:ln>
        </p:spPr>
      </p:sp>
      <p:sp>
        <p:nvSpPr>
          <p:cNvPr id="27" name="Shape 25"/>
          <p:cNvSpPr/>
          <p:nvPr/>
        </p:nvSpPr>
        <p:spPr>
          <a:xfrm>
            <a:off x="793699" y="5731459"/>
            <a:ext cx="58522" cy="58522"/>
          </a:xfrm>
          <a:prstGeom prst="ellipse">
            <a:avLst/>
          </a:prstGeom>
          <a:solidFill>
            <a:srgbClr val="96733C"/>
          </a:solidFill>
          <a:ln w="12700">
            <a:solidFill>
              <a:srgbClr val="FFFFFF">
                <a:alpha val="0"/>
              </a:srgbClr>
            </a:solidFill>
            <a:prstDash val="solid"/>
          </a:ln>
        </p:spPr>
      </p:sp>
      <p:sp>
        <p:nvSpPr>
          <p:cNvPr id="28" name="Shape 26"/>
          <p:cNvSpPr/>
          <p:nvPr/>
        </p:nvSpPr>
        <p:spPr>
          <a:xfrm>
            <a:off x="1494739" y="5731459"/>
            <a:ext cx="58522" cy="58522"/>
          </a:xfrm>
          <a:prstGeom prst="ellipse">
            <a:avLst/>
          </a:prstGeom>
          <a:solidFill>
            <a:srgbClr val="96733C"/>
          </a:solidFill>
          <a:ln w="12700">
            <a:solidFill>
              <a:srgbClr val="FFFFFF">
                <a:alpha val="0"/>
              </a:srgbClr>
            </a:solidFill>
            <a:prstDash val="solid"/>
          </a:ln>
        </p:spPr>
      </p:sp>
      <p:sp>
        <p:nvSpPr>
          <p:cNvPr id="29" name="Shape 27"/>
          <p:cNvSpPr/>
          <p:nvPr/>
        </p:nvSpPr>
        <p:spPr>
          <a:xfrm>
            <a:off x="2195779" y="5731459"/>
            <a:ext cx="58522" cy="58522"/>
          </a:xfrm>
          <a:prstGeom prst="ellipse">
            <a:avLst/>
          </a:prstGeom>
          <a:solidFill>
            <a:srgbClr val="96733C"/>
          </a:solidFill>
          <a:ln w="12700">
            <a:solidFill>
              <a:srgbClr val="FFFFFF">
                <a:alpha val="0"/>
              </a:srgbClr>
            </a:solidFill>
            <a:prstDash val="solid"/>
          </a:ln>
        </p:spPr>
      </p:sp>
      <p:sp>
        <p:nvSpPr>
          <p:cNvPr id="30" name="Shape 28"/>
          <p:cNvSpPr/>
          <p:nvPr/>
        </p:nvSpPr>
        <p:spPr>
          <a:xfrm>
            <a:off x="2896819" y="5731459"/>
            <a:ext cx="58522" cy="58522"/>
          </a:xfrm>
          <a:prstGeom prst="ellipse">
            <a:avLst/>
          </a:prstGeom>
          <a:solidFill>
            <a:srgbClr val="96733C"/>
          </a:solidFill>
          <a:ln w="12700">
            <a:solidFill>
              <a:srgbClr val="FFFFFF">
                <a:alpha val="0"/>
              </a:srgbClr>
            </a:solidFill>
            <a:prstDash val="solid"/>
          </a:ln>
        </p:spPr>
      </p:sp>
      <p:sp>
        <p:nvSpPr>
          <p:cNvPr id="31" name="Shape 29"/>
          <p:cNvSpPr/>
          <p:nvPr/>
        </p:nvSpPr>
        <p:spPr>
          <a:xfrm>
            <a:off x="3597859" y="5731459"/>
            <a:ext cx="58522" cy="58522"/>
          </a:xfrm>
          <a:prstGeom prst="ellipse">
            <a:avLst/>
          </a:prstGeom>
          <a:solidFill>
            <a:srgbClr val="96733C"/>
          </a:solidFill>
          <a:ln w="12700">
            <a:solidFill>
              <a:srgbClr val="FFFFFF">
                <a:alpha val="0"/>
              </a:srgbClr>
            </a:solidFill>
            <a:prstDash val="solid"/>
          </a:ln>
        </p:spPr>
      </p:sp>
      <p:sp>
        <p:nvSpPr>
          <p:cNvPr id="32" name="Shape 30"/>
          <p:cNvSpPr/>
          <p:nvPr/>
        </p:nvSpPr>
        <p:spPr>
          <a:xfrm>
            <a:off x="4298899" y="5731459"/>
            <a:ext cx="58522" cy="58522"/>
          </a:xfrm>
          <a:prstGeom prst="ellipse">
            <a:avLst/>
          </a:prstGeom>
          <a:solidFill>
            <a:srgbClr val="96733C"/>
          </a:solidFill>
          <a:ln w="12700">
            <a:solidFill>
              <a:srgbClr val="FFFFFF">
                <a:alpha val="0"/>
              </a:srgbClr>
            </a:solidFill>
            <a:prstDash val="solid"/>
          </a:ln>
        </p:spPr>
      </p:sp>
      <p:sp>
        <p:nvSpPr>
          <p:cNvPr id="33" name="Shape 31"/>
          <p:cNvSpPr/>
          <p:nvPr/>
        </p:nvSpPr>
        <p:spPr>
          <a:xfrm>
            <a:off x="4999939" y="5731459"/>
            <a:ext cx="58522" cy="58522"/>
          </a:xfrm>
          <a:prstGeom prst="ellipse">
            <a:avLst/>
          </a:prstGeom>
          <a:solidFill>
            <a:srgbClr val="96733C"/>
          </a:solidFill>
          <a:ln w="12700">
            <a:solidFill>
              <a:srgbClr val="FFFFFF">
                <a:alpha val="0"/>
              </a:srgbClr>
            </a:solidFill>
            <a:prstDash val="solid"/>
          </a:ln>
        </p:spPr>
      </p:sp>
      <p:sp>
        <p:nvSpPr>
          <p:cNvPr id="34" name="Shape 32"/>
          <p:cNvSpPr/>
          <p:nvPr/>
        </p:nvSpPr>
        <p:spPr>
          <a:xfrm>
            <a:off x="5700979" y="5731459"/>
            <a:ext cx="58522" cy="58522"/>
          </a:xfrm>
          <a:prstGeom prst="ellipse">
            <a:avLst/>
          </a:prstGeom>
          <a:solidFill>
            <a:srgbClr val="96733C"/>
          </a:solidFill>
          <a:ln w="12700">
            <a:solidFill>
              <a:srgbClr val="FFFFFF">
                <a:alpha val="0"/>
              </a:srgbClr>
            </a:solidFill>
            <a:prstDash val="solid"/>
          </a:ln>
        </p:spPr>
      </p:sp>
      <p:sp>
        <p:nvSpPr>
          <p:cNvPr id="35" name="Shape 33"/>
          <p:cNvSpPr/>
          <p:nvPr/>
        </p:nvSpPr>
        <p:spPr>
          <a:xfrm>
            <a:off x="6402019" y="5731459"/>
            <a:ext cx="58522" cy="58522"/>
          </a:xfrm>
          <a:prstGeom prst="ellipse">
            <a:avLst/>
          </a:prstGeom>
          <a:solidFill>
            <a:srgbClr val="96733C"/>
          </a:solidFill>
          <a:ln w="12700">
            <a:solidFill>
              <a:srgbClr val="FFFFFF">
                <a:alpha val="0"/>
              </a:srgbClr>
            </a:solidFill>
            <a:prstDash val="solid"/>
          </a:ln>
        </p:spPr>
      </p:sp>
      <p:sp>
        <p:nvSpPr>
          <p:cNvPr id="36" name="Shape 34"/>
          <p:cNvSpPr/>
          <p:nvPr/>
        </p:nvSpPr>
        <p:spPr>
          <a:xfrm>
            <a:off x="7103059" y="5731459"/>
            <a:ext cx="58522" cy="58522"/>
          </a:xfrm>
          <a:prstGeom prst="ellipse">
            <a:avLst/>
          </a:prstGeom>
          <a:solidFill>
            <a:srgbClr val="96733C"/>
          </a:solidFill>
          <a:ln w="12700">
            <a:solidFill>
              <a:srgbClr val="FFFFFF">
                <a:alpha val="0"/>
              </a:srgbClr>
            </a:solidFill>
            <a:prstDash val="solid"/>
          </a:ln>
        </p:spPr>
      </p:sp>
      <p:sp>
        <p:nvSpPr>
          <p:cNvPr id="37" name="Shape 35"/>
          <p:cNvSpPr/>
          <p:nvPr/>
        </p:nvSpPr>
        <p:spPr>
          <a:xfrm>
            <a:off x="7804099" y="5731459"/>
            <a:ext cx="58522" cy="58522"/>
          </a:xfrm>
          <a:prstGeom prst="ellipse">
            <a:avLst/>
          </a:prstGeom>
          <a:solidFill>
            <a:srgbClr val="96733C"/>
          </a:solidFill>
          <a:ln w="12700">
            <a:solidFill>
              <a:srgbClr val="FFFFFF">
                <a:alpha val="0"/>
              </a:srgbClr>
            </a:solidFill>
            <a:prstDash val="solid"/>
          </a:ln>
        </p:spPr>
      </p:sp>
      <p:sp>
        <p:nvSpPr>
          <p:cNvPr id="38" name="Shape 36"/>
          <p:cNvSpPr/>
          <p:nvPr/>
        </p:nvSpPr>
        <p:spPr>
          <a:xfrm>
            <a:off x="8505139" y="5731459"/>
            <a:ext cx="58522" cy="58522"/>
          </a:xfrm>
          <a:prstGeom prst="ellipse">
            <a:avLst/>
          </a:prstGeom>
          <a:solidFill>
            <a:srgbClr val="96733C"/>
          </a:solidFill>
          <a:ln w="12700">
            <a:solidFill>
              <a:srgbClr val="FFFFFF">
                <a:alpha val="0"/>
              </a:srgbClr>
            </a:solidFill>
            <a:prstDash val="solid"/>
          </a:ln>
        </p:spPr>
      </p:sp>
      <p:sp>
        <p:nvSpPr>
          <p:cNvPr id="39" name="Shape 37"/>
          <p:cNvSpPr/>
          <p:nvPr/>
        </p:nvSpPr>
        <p:spPr>
          <a:xfrm>
            <a:off x="9206179" y="5731459"/>
            <a:ext cx="58522" cy="58522"/>
          </a:xfrm>
          <a:prstGeom prst="ellipse">
            <a:avLst/>
          </a:prstGeom>
          <a:solidFill>
            <a:srgbClr val="96733C"/>
          </a:solidFill>
          <a:ln w="12700">
            <a:solidFill>
              <a:srgbClr val="FFFFFF">
                <a:alpha val="0"/>
              </a:srgbClr>
            </a:solidFill>
            <a:prstDash val="solid"/>
          </a:ln>
        </p:spPr>
      </p:sp>
      <p:sp>
        <p:nvSpPr>
          <p:cNvPr id="40" name="Shape 38"/>
          <p:cNvSpPr/>
          <p:nvPr/>
        </p:nvSpPr>
        <p:spPr>
          <a:xfrm>
            <a:off x="9907219" y="5731459"/>
            <a:ext cx="58522" cy="58522"/>
          </a:xfrm>
          <a:prstGeom prst="ellipse">
            <a:avLst/>
          </a:prstGeom>
          <a:solidFill>
            <a:srgbClr val="96733C"/>
          </a:solidFill>
          <a:ln w="12700">
            <a:solidFill>
              <a:srgbClr val="FFFFFF">
                <a:alpha val="0"/>
              </a:srgbClr>
            </a:solidFill>
            <a:prstDash val="solid"/>
          </a:ln>
        </p:spPr>
      </p:sp>
      <p:sp>
        <p:nvSpPr>
          <p:cNvPr id="41" name="Shape 39"/>
          <p:cNvSpPr/>
          <p:nvPr/>
        </p:nvSpPr>
        <p:spPr>
          <a:xfrm>
            <a:off x="10608259" y="5731459"/>
            <a:ext cx="58522" cy="58522"/>
          </a:xfrm>
          <a:prstGeom prst="ellipse">
            <a:avLst/>
          </a:prstGeom>
          <a:solidFill>
            <a:srgbClr val="96733C"/>
          </a:solidFill>
          <a:ln w="12700">
            <a:solidFill>
              <a:srgbClr val="FFFFFF">
                <a:alpha val="0"/>
              </a:srgbClr>
            </a:solidFill>
            <a:prstDash val="solid"/>
          </a:ln>
        </p:spPr>
      </p:sp>
      <p:sp>
        <p:nvSpPr>
          <p:cNvPr id="42" name="Shape 40"/>
          <p:cNvSpPr/>
          <p:nvPr/>
        </p:nvSpPr>
        <p:spPr>
          <a:xfrm>
            <a:off x="11274552" y="5696712"/>
            <a:ext cx="128016" cy="128016"/>
          </a:xfrm>
          <a:prstGeom prst="ellipse">
            <a:avLst/>
          </a:prstGeom>
          <a:solidFill>
            <a:srgbClr val="C2A05F"/>
          </a:solidFill>
          <a:ln w="8890">
            <a:solidFill>
              <a:srgbClr val="E7D3A9"/>
            </a:solidFill>
            <a:prstDash val="solid"/>
          </a:ln>
        </p:spPr>
      </p:sp>
      <p:sp>
        <p:nvSpPr>
          <p:cNvPr id="43" name="Shape 41"/>
          <p:cNvSpPr/>
          <p:nvPr/>
        </p:nvSpPr>
        <p:spPr>
          <a:xfrm>
            <a:off x="822960" y="722376"/>
            <a:ext cx="10546050" cy="91"/>
          </a:xfrm>
          <a:prstGeom prst="line">
            <a:avLst/>
          </a:prstGeom>
          <a:noFill/>
          <a:ln w="6350">
            <a:solidFill>
              <a:srgbClr val="3A332A"/>
            </a:solidFill>
            <a:prstDash val="solid"/>
            <a:headEnd type="none"/>
            <a:tailEnd type="none"/>
          </a:ln>
        </p:spPr>
      </p:sp>
      <p:sp>
        <p:nvSpPr>
          <p:cNvPr id="44" name="Text 42"/>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45" name="Text 43"/>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71</a:t>
            </a:r>
            <a:endParaRPr lang="en-US" sz="9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16 · LECTURE 16</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72</a:t>
            </a:r>
            <a:endParaRPr lang="en-US" sz="950" dirty="0"/>
          </a:p>
        </p:txBody>
      </p:sp>
      <p:sp>
        <p:nvSpPr>
          <p:cNvPr id="8" name="Text 6"/>
          <p:cNvSpPr txBox="1"/>
          <p:nvPr/>
        </p:nvSpPr>
        <p:spPr>
          <a:xfrm>
            <a:off x="822960" y="960120"/>
            <a:ext cx="9966960" cy="753872"/>
          </a:xfrm>
          <a:prstGeom prst="rect">
            <a:avLst/>
          </a:prstGeom>
          <a:noFill/>
          <a:ln/>
        </p:spPr>
        <p:txBody>
          <a:bodyPr wrap="square" lIns="0" tIns="0" rIns="0" bIns="0" rtlCol="0" anchor="t"/>
          <a:lstStyle/>
          <a:p>
            <a:pPr algn="l" indent="0" marL="0">
              <a:lnSpc>
                <a:spcPts val="3136"/>
              </a:lnSpc>
              <a:buNone/>
            </a:pPr>
            <a:r>
              <a:rPr lang="en-US" sz="2800" dirty="0">
                <a:solidFill>
                  <a:srgbClr val="1B1815"/>
                </a:solidFill>
                <a:latin typeface="Georgia" pitchFamily="34" charset="0"/>
                <a:ea typeface="Georgia" pitchFamily="34" charset="-122"/>
                <a:cs typeface="Georgia" pitchFamily="34" charset="-120"/>
              </a:rPr>
              <a:t>What makes therapy work</a:t>
            </a:r>
            <a:endParaRPr lang="en-US" sz="2800" dirty="0"/>
          </a:p>
        </p:txBody>
      </p:sp>
      <p:sp>
        <p:nvSpPr>
          <p:cNvPr id="9" name="Text 7"/>
          <p:cNvSpPr txBox="1"/>
          <p:nvPr/>
        </p:nvSpPr>
        <p:spPr>
          <a:xfrm>
            <a:off x="822960" y="1486408"/>
            <a:ext cx="8138160" cy="387248"/>
          </a:xfrm>
          <a:prstGeom prst="rect">
            <a:avLst/>
          </a:prstGeom>
          <a:noFill/>
          <a:ln/>
        </p:spPr>
        <p:txBody>
          <a:bodyPr wrap="square" lIns="0" tIns="0" rIns="0" bIns="0" rtlCol="0" anchor="t"/>
          <a:lstStyle/>
          <a:p>
            <a:pPr algn="l" indent="0" marL="0">
              <a:lnSpc>
                <a:spcPts val="1789"/>
              </a:lnSpc>
              <a:buNone/>
            </a:pPr>
            <a:r>
              <a:rPr lang="en-US" sz="1260" dirty="0">
                <a:solidFill>
                  <a:srgbClr val="5B544A"/>
                </a:solidFill>
                <a:latin typeface="Calibri" pitchFamily="34" charset="0"/>
                <a:ea typeface="Calibri" pitchFamily="34" charset="-122"/>
                <a:cs typeface="Calibri" pitchFamily="34" charset="-120"/>
              </a:rPr>
              <a:t>Models differ; the factors that carry change overlap. Evidence is not the enemy of relationship — it is a discipline of humility.</a:t>
            </a:r>
            <a:endParaRPr lang="en-US" sz="1260" dirty="0"/>
          </a:p>
        </p:txBody>
      </p:sp>
      <p:sp>
        <p:nvSpPr>
          <p:cNvPr id="10" name="Text 8"/>
          <p:cNvSpPr txBox="1"/>
          <p:nvPr/>
        </p:nvSpPr>
        <p:spPr>
          <a:xfrm>
            <a:off x="82296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01</a:t>
            </a:r>
            <a:endParaRPr lang="en-US" sz="1100" dirty="0"/>
          </a:p>
        </p:txBody>
      </p:sp>
      <p:sp>
        <p:nvSpPr>
          <p:cNvPr id="11" name="Shape 9"/>
          <p:cNvSpPr/>
          <p:nvPr/>
        </p:nvSpPr>
        <p:spPr>
          <a:xfrm>
            <a:off x="1188720" y="2450592"/>
            <a:ext cx="2892552" cy="91"/>
          </a:xfrm>
          <a:prstGeom prst="line">
            <a:avLst/>
          </a:prstGeom>
          <a:noFill/>
          <a:ln w="5715">
            <a:solidFill>
              <a:srgbClr val="D9CDB7"/>
            </a:solidFill>
            <a:prstDash val="solid"/>
            <a:headEnd type="none"/>
            <a:tailEnd type="none"/>
          </a:ln>
        </p:spPr>
      </p:sp>
      <p:sp>
        <p:nvSpPr>
          <p:cNvPr id="12" name="Text 10"/>
          <p:cNvSpPr txBox="1"/>
          <p:nvPr/>
        </p:nvSpPr>
        <p:spPr>
          <a:xfrm>
            <a:off x="82296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COMMON FACTORS</a:t>
            </a:r>
            <a:endParaRPr lang="en-US" sz="750" dirty="0"/>
          </a:p>
        </p:txBody>
      </p:sp>
      <p:sp>
        <p:nvSpPr>
          <p:cNvPr id="13" name="Text 11"/>
          <p:cNvSpPr txBox="1"/>
          <p:nvPr/>
        </p:nvSpPr>
        <p:spPr>
          <a:xfrm>
            <a:off x="822960" y="2834640"/>
            <a:ext cx="3258312" cy="608076"/>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Alliance, empathy, expectancy and client resources account for</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substantial variance across models — which is why the therapeutic</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relationship is a clinical variable, not a pleasant extra.</a:t>
            </a:r>
            <a:endParaRPr lang="en-US" sz="900" dirty="0"/>
          </a:p>
        </p:txBody>
      </p:sp>
      <p:sp>
        <p:nvSpPr>
          <p:cNvPr id="14" name="Shape 12"/>
          <p:cNvSpPr/>
          <p:nvPr/>
        </p:nvSpPr>
        <p:spPr>
          <a:xfrm>
            <a:off x="822960" y="3529584"/>
            <a:ext cx="118872" cy="91"/>
          </a:xfrm>
          <a:prstGeom prst="line">
            <a:avLst/>
          </a:prstGeom>
          <a:noFill/>
          <a:ln w="10160">
            <a:solidFill>
              <a:srgbClr val="C2A05F"/>
            </a:solidFill>
            <a:prstDash val="solid"/>
            <a:headEnd type="none"/>
            <a:tailEnd type="none"/>
          </a:ln>
        </p:spPr>
      </p:sp>
      <p:sp>
        <p:nvSpPr>
          <p:cNvPr id="15" name="Text 13"/>
          <p:cNvSpPr txBox="1"/>
          <p:nvPr/>
        </p:nvSpPr>
        <p:spPr>
          <a:xfrm>
            <a:off x="1033272" y="3438144"/>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Alliance as outcome predictor</a:t>
            </a:r>
            <a:endParaRPr lang="en-US" sz="880" dirty="0"/>
          </a:p>
        </p:txBody>
      </p:sp>
      <p:sp>
        <p:nvSpPr>
          <p:cNvPr id="16" name="Shape 14"/>
          <p:cNvSpPr/>
          <p:nvPr/>
        </p:nvSpPr>
        <p:spPr>
          <a:xfrm>
            <a:off x="822960" y="3775253"/>
            <a:ext cx="118872" cy="91"/>
          </a:xfrm>
          <a:prstGeom prst="line">
            <a:avLst/>
          </a:prstGeom>
          <a:noFill/>
          <a:ln w="10160">
            <a:solidFill>
              <a:srgbClr val="C2A05F"/>
            </a:solidFill>
            <a:prstDash val="solid"/>
            <a:headEnd type="none"/>
            <a:tailEnd type="none"/>
          </a:ln>
        </p:spPr>
      </p:sp>
      <p:sp>
        <p:nvSpPr>
          <p:cNvPr id="17" name="Text 15"/>
          <p:cNvSpPr txBox="1"/>
          <p:nvPr/>
        </p:nvSpPr>
        <p:spPr>
          <a:xfrm>
            <a:off x="1033272" y="3683813"/>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Therapist effects are real</a:t>
            </a:r>
            <a:endParaRPr lang="en-US" sz="880" dirty="0"/>
          </a:p>
        </p:txBody>
      </p:sp>
      <p:sp>
        <p:nvSpPr>
          <p:cNvPr id="18" name="Shape 16"/>
          <p:cNvSpPr/>
          <p:nvPr/>
        </p:nvSpPr>
        <p:spPr>
          <a:xfrm>
            <a:off x="822960" y="4020922"/>
            <a:ext cx="118872" cy="91"/>
          </a:xfrm>
          <a:prstGeom prst="line">
            <a:avLst/>
          </a:prstGeom>
          <a:noFill/>
          <a:ln w="10160">
            <a:solidFill>
              <a:srgbClr val="C2A05F"/>
            </a:solidFill>
            <a:prstDash val="solid"/>
            <a:headEnd type="none"/>
            <a:tailEnd type="none"/>
          </a:ln>
        </p:spPr>
      </p:sp>
      <p:sp>
        <p:nvSpPr>
          <p:cNvPr id="19" name="Text 17"/>
          <p:cNvSpPr txBox="1"/>
          <p:nvPr/>
        </p:nvSpPr>
        <p:spPr>
          <a:xfrm>
            <a:off x="1033272" y="392948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Fit the model to the family</a:t>
            </a:r>
            <a:endParaRPr lang="en-US" sz="880" dirty="0"/>
          </a:p>
        </p:txBody>
      </p:sp>
      <p:sp>
        <p:nvSpPr>
          <p:cNvPr id="20" name="Text 18"/>
          <p:cNvSpPr txBox="1"/>
          <p:nvPr/>
        </p:nvSpPr>
        <p:spPr>
          <a:xfrm>
            <a:off x="446532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02</a:t>
            </a:r>
            <a:endParaRPr lang="en-US" sz="1100" dirty="0"/>
          </a:p>
        </p:txBody>
      </p:sp>
      <p:sp>
        <p:nvSpPr>
          <p:cNvPr id="21" name="Shape 19"/>
          <p:cNvSpPr/>
          <p:nvPr/>
        </p:nvSpPr>
        <p:spPr>
          <a:xfrm>
            <a:off x="4831080" y="2450592"/>
            <a:ext cx="2892552" cy="91"/>
          </a:xfrm>
          <a:prstGeom prst="line">
            <a:avLst/>
          </a:prstGeom>
          <a:noFill/>
          <a:ln w="5715">
            <a:solidFill>
              <a:srgbClr val="D9CDB7"/>
            </a:solidFill>
            <a:prstDash val="solid"/>
            <a:headEnd type="none"/>
            <a:tailEnd type="none"/>
          </a:ln>
        </p:spPr>
      </p:sp>
      <p:sp>
        <p:nvSpPr>
          <p:cNvPr id="22" name="Text 20"/>
          <p:cNvSpPr txBox="1"/>
          <p:nvPr/>
        </p:nvSpPr>
        <p:spPr>
          <a:xfrm>
            <a:off x="446532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6E8274"/>
                </a:solidFill>
                <a:latin typeface="Calibri" pitchFamily="34" charset="0"/>
                <a:ea typeface="Calibri" pitchFamily="34" charset="-122"/>
                <a:cs typeface="Calibri" pitchFamily="34" charset="-120"/>
              </a:rPr>
              <a:t>EVIDENCE-BASED PRACTICE</a:t>
            </a:r>
            <a:endParaRPr lang="en-US" sz="750" dirty="0"/>
          </a:p>
        </p:txBody>
      </p:sp>
      <p:sp>
        <p:nvSpPr>
          <p:cNvPr id="23" name="Text 21"/>
          <p:cNvSpPr txBox="1"/>
          <p:nvPr/>
        </p:nvSpPr>
        <p:spPr>
          <a:xfrm>
            <a:off x="446532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EBP is the integration of best research, clinical expertise and client</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values — not the mechanical application of a manual.</a:t>
            </a:r>
            <a:endParaRPr lang="en-US" sz="900" dirty="0"/>
          </a:p>
        </p:txBody>
      </p:sp>
      <p:sp>
        <p:nvSpPr>
          <p:cNvPr id="24" name="Shape 22"/>
          <p:cNvSpPr/>
          <p:nvPr/>
        </p:nvSpPr>
        <p:spPr>
          <a:xfrm>
            <a:off x="4465320" y="3364992"/>
            <a:ext cx="118872" cy="91"/>
          </a:xfrm>
          <a:prstGeom prst="line">
            <a:avLst/>
          </a:prstGeom>
          <a:noFill/>
          <a:ln w="10160">
            <a:solidFill>
              <a:srgbClr val="C2A05F"/>
            </a:solidFill>
            <a:prstDash val="solid"/>
            <a:headEnd type="none"/>
            <a:tailEnd type="none"/>
          </a:ln>
        </p:spPr>
      </p:sp>
      <p:sp>
        <p:nvSpPr>
          <p:cNvPr id="25" name="Text 23"/>
          <p:cNvSpPr txBox="1"/>
          <p:nvPr/>
        </p:nvSpPr>
        <p:spPr>
          <a:xfrm>
            <a:off x="467563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Know the evidence base for your model</a:t>
            </a:r>
            <a:endParaRPr lang="en-US" sz="880" dirty="0"/>
          </a:p>
        </p:txBody>
      </p:sp>
      <p:sp>
        <p:nvSpPr>
          <p:cNvPr id="26" name="Shape 24"/>
          <p:cNvSpPr/>
          <p:nvPr/>
        </p:nvSpPr>
        <p:spPr>
          <a:xfrm>
            <a:off x="4465320" y="3610661"/>
            <a:ext cx="118872" cy="91"/>
          </a:xfrm>
          <a:prstGeom prst="line">
            <a:avLst/>
          </a:prstGeom>
          <a:noFill/>
          <a:ln w="10160">
            <a:solidFill>
              <a:srgbClr val="C2A05F"/>
            </a:solidFill>
            <a:prstDash val="solid"/>
            <a:headEnd type="none"/>
            <a:tailEnd type="none"/>
          </a:ln>
        </p:spPr>
      </p:sp>
      <p:sp>
        <p:nvSpPr>
          <p:cNvPr id="27" name="Text 25"/>
          <p:cNvSpPr txBox="1"/>
          <p:nvPr/>
        </p:nvSpPr>
        <p:spPr>
          <a:xfrm>
            <a:off x="467563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Adapt without abandoning fidelity</a:t>
            </a:r>
            <a:endParaRPr lang="en-US" sz="880" dirty="0"/>
          </a:p>
        </p:txBody>
      </p:sp>
      <p:sp>
        <p:nvSpPr>
          <p:cNvPr id="28" name="Shape 26"/>
          <p:cNvSpPr/>
          <p:nvPr/>
        </p:nvSpPr>
        <p:spPr>
          <a:xfrm>
            <a:off x="4465320" y="3856330"/>
            <a:ext cx="118872" cy="91"/>
          </a:xfrm>
          <a:prstGeom prst="line">
            <a:avLst/>
          </a:prstGeom>
          <a:noFill/>
          <a:ln w="10160">
            <a:solidFill>
              <a:srgbClr val="C2A05F"/>
            </a:solidFill>
            <a:prstDash val="solid"/>
            <a:headEnd type="none"/>
            <a:tailEnd type="none"/>
          </a:ln>
        </p:spPr>
      </p:sp>
      <p:sp>
        <p:nvSpPr>
          <p:cNvPr id="29" name="Text 27"/>
          <p:cNvSpPr txBox="1"/>
          <p:nvPr/>
        </p:nvSpPr>
        <p:spPr>
          <a:xfrm>
            <a:off x="467563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Name uncertainty honestly</a:t>
            </a:r>
            <a:endParaRPr lang="en-US" sz="880" dirty="0"/>
          </a:p>
        </p:txBody>
      </p:sp>
      <p:sp>
        <p:nvSpPr>
          <p:cNvPr id="30" name="Text 28"/>
          <p:cNvSpPr txBox="1"/>
          <p:nvPr/>
        </p:nvSpPr>
        <p:spPr>
          <a:xfrm>
            <a:off x="8107680" y="2377440"/>
            <a:ext cx="45720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03</a:t>
            </a:r>
            <a:endParaRPr lang="en-US" sz="1100" dirty="0"/>
          </a:p>
        </p:txBody>
      </p:sp>
      <p:sp>
        <p:nvSpPr>
          <p:cNvPr id="31" name="Shape 29"/>
          <p:cNvSpPr/>
          <p:nvPr/>
        </p:nvSpPr>
        <p:spPr>
          <a:xfrm>
            <a:off x="8473440" y="2450592"/>
            <a:ext cx="2892552" cy="91"/>
          </a:xfrm>
          <a:prstGeom prst="line">
            <a:avLst/>
          </a:prstGeom>
          <a:noFill/>
          <a:ln w="5715">
            <a:solidFill>
              <a:srgbClr val="D9CDB7"/>
            </a:solidFill>
            <a:prstDash val="solid"/>
            <a:headEnd type="none"/>
            <a:tailEnd type="none"/>
          </a:ln>
        </p:spPr>
      </p:sp>
      <p:sp>
        <p:nvSpPr>
          <p:cNvPr id="32" name="Text 30"/>
          <p:cNvSpPr txBox="1"/>
          <p:nvPr/>
        </p:nvSpPr>
        <p:spPr>
          <a:xfrm>
            <a:off x="8107680" y="2587752"/>
            <a:ext cx="3258312" cy="223838"/>
          </a:xfrm>
          <a:prstGeom prst="rect">
            <a:avLst/>
          </a:prstGeom>
          <a:noFill/>
          <a:ln/>
        </p:spPr>
        <p:txBody>
          <a:bodyPr wrap="square" lIns="0" tIns="0" rIns="0" bIns="0" rtlCol="0" anchor="t"/>
          <a:lstStyle/>
          <a:p>
            <a:pPr algn="l" indent="0" marL="0">
              <a:lnSpc>
                <a:spcPts val="1013"/>
              </a:lnSpc>
              <a:buNone/>
            </a:pPr>
            <a:r>
              <a:rPr lang="en-US" sz="750" b="1" spc="170" kern="0" dirty="0">
                <a:solidFill>
                  <a:srgbClr val="96733C"/>
                </a:solidFill>
                <a:latin typeface="Calibri" pitchFamily="34" charset="0"/>
                <a:ea typeface="Calibri" pitchFamily="34" charset="-122"/>
                <a:cs typeface="Calibri" pitchFamily="34" charset="-120"/>
              </a:rPr>
              <a:t>ROUTINE OUTCOME MONITORING</a:t>
            </a:r>
            <a:endParaRPr lang="en-US" sz="750" dirty="0"/>
          </a:p>
        </p:txBody>
      </p:sp>
      <p:sp>
        <p:nvSpPr>
          <p:cNvPr id="33" name="Text 31"/>
          <p:cNvSpPr txBox="1"/>
          <p:nvPr/>
        </p:nvSpPr>
        <p:spPr>
          <a:xfrm>
            <a:off x="8107680" y="2834640"/>
            <a:ext cx="3258312" cy="443484"/>
          </a:xfrm>
          <a:prstGeom prst="rect">
            <a:avLst/>
          </a:prstGeom>
          <a:noFill/>
          <a:ln/>
        </p:spPr>
        <p:txBody>
          <a:bodyPr wrap="square" lIns="0" tIns="0" rIns="0" bIns="0" rtlCol="0" anchor="t"/>
          <a:lstStyle/>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Measure each session; review with the client; act early on</a:t>
            </a:r>
            <a:endParaRPr lang="en-US" sz="900" dirty="0"/>
          </a:p>
          <a:p>
            <a:pPr algn="l" indent="0" marL="0">
              <a:lnSpc>
                <a:spcPts val="1296"/>
              </a:lnSpc>
              <a:buNone/>
            </a:pPr>
            <a:r>
              <a:rPr lang="en-US" sz="900" dirty="0">
                <a:solidFill>
                  <a:srgbClr val="3F3A33"/>
                </a:solidFill>
                <a:latin typeface="Calibri" pitchFamily="34" charset="0"/>
                <a:ea typeface="Calibri" pitchFamily="34" charset="-122"/>
                <a:cs typeface="Calibri" pitchFamily="34" charset="-120"/>
              </a:rPr>
              <a:t>deterioration. Feedback turns the client’s view into clinical data.</a:t>
            </a:r>
            <a:endParaRPr lang="en-US" sz="900" dirty="0"/>
          </a:p>
        </p:txBody>
      </p:sp>
      <p:sp>
        <p:nvSpPr>
          <p:cNvPr id="34" name="Shape 32"/>
          <p:cNvSpPr/>
          <p:nvPr/>
        </p:nvSpPr>
        <p:spPr>
          <a:xfrm>
            <a:off x="8107680" y="3364992"/>
            <a:ext cx="118872" cy="91"/>
          </a:xfrm>
          <a:prstGeom prst="line">
            <a:avLst/>
          </a:prstGeom>
          <a:noFill/>
          <a:ln w="10160">
            <a:solidFill>
              <a:srgbClr val="C2A05F"/>
            </a:solidFill>
            <a:prstDash val="solid"/>
            <a:headEnd type="none"/>
            <a:tailEnd type="none"/>
          </a:ln>
        </p:spPr>
      </p:sp>
      <p:sp>
        <p:nvSpPr>
          <p:cNvPr id="35" name="Text 33"/>
          <p:cNvSpPr txBox="1"/>
          <p:nvPr/>
        </p:nvSpPr>
        <p:spPr>
          <a:xfrm>
            <a:off x="8317992" y="3273552"/>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ORS and SRS</a:t>
            </a:r>
            <a:endParaRPr lang="en-US" sz="880" dirty="0"/>
          </a:p>
        </p:txBody>
      </p:sp>
      <p:sp>
        <p:nvSpPr>
          <p:cNvPr id="36" name="Shape 34"/>
          <p:cNvSpPr/>
          <p:nvPr/>
        </p:nvSpPr>
        <p:spPr>
          <a:xfrm>
            <a:off x="8107680" y="3610661"/>
            <a:ext cx="118872" cy="91"/>
          </a:xfrm>
          <a:prstGeom prst="line">
            <a:avLst/>
          </a:prstGeom>
          <a:noFill/>
          <a:ln w="10160">
            <a:solidFill>
              <a:srgbClr val="C2A05F"/>
            </a:solidFill>
            <a:prstDash val="solid"/>
            <a:headEnd type="none"/>
            <a:tailEnd type="none"/>
          </a:ln>
        </p:spPr>
      </p:sp>
      <p:sp>
        <p:nvSpPr>
          <p:cNvPr id="37" name="Text 35"/>
          <p:cNvSpPr txBox="1"/>
          <p:nvPr/>
        </p:nvSpPr>
        <p:spPr>
          <a:xfrm>
            <a:off x="8317992" y="3519221"/>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Review the score together</a:t>
            </a:r>
            <a:endParaRPr lang="en-US" sz="880" dirty="0"/>
          </a:p>
        </p:txBody>
      </p:sp>
      <p:sp>
        <p:nvSpPr>
          <p:cNvPr id="38" name="Shape 36"/>
          <p:cNvSpPr/>
          <p:nvPr/>
        </p:nvSpPr>
        <p:spPr>
          <a:xfrm>
            <a:off x="8107680" y="3856330"/>
            <a:ext cx="118872" cy="91"/>
          </a:xfrm>
          <a:prstGeom prst="line">
            <a:avLst/>
          </a:prstGeom>
          <a:noFill/>
          <a:ln w="10160">
            <a:solidFill>
              <a:srgbClr val="C2A05F"/>
            </a:solidFill>
            <a:prstDash val="solid"/>
            <a:headEnd type="none"/>
            <a:tailEnd type="none"/>
          </a:ln>
        </p:spPr>
      </p:sp>
      <p:sp>
        <p:nvSpPr>
          <p:cNvPr id="39" name="Text 37"/>
          <p:cNvSpPr txBox="1"/>
          <p:nvPr/>
        </p:nvSpPr>
        <p:spPr>
          <a:xfrm>
            <a:off x="8317992" y="3764890"/>
            <a:ext cx="3048000" cy="265989"/>
          </a:xfrm>
          <a:prstGeom prst="rect">
            <a:avLst/>
          </a:prstGeom>
          <a:noFill/>
          <a:ln/>
        </p:spPr>
        <p:txBody>
          <a:bodyPr wrap="square" lIns="0" tIns="0" rIns="0" bIns="0" rtlCol="0" anchor="t"/>
          <a:lstStyle/>
          <a:p>
            <a:pPr algn="l" indent="0" marL="0">
              <a:lnSpc>
                <a:spcPts val="1214"/>
              </a:lnSpc>
              <a:buNone/>
            </a:pPr>
            <a:r>
              <a:rPr lang="en-US" sz="880" dirty="0">
                <a:solidFill>
                  <a:srgbClr val="3F3A33"/>
                </a:solidFill>
                <a:latin typeface="Calibri" pitchFamily="34" charset="0"/>
                <a:ea typeface="Calibri" pitchFamily="34" charset="-122"/>
                <a:cs typeface="Calibri" pitchFamily="34" charset="-120"/>
              </a:rPr>
              <a:t>Escalate, consult, or change method</a:t>
            </a:r>
            <a:endParaRPr lang="en-US" sz="880" dirty="0"/>
          </a:p>
        </p:txBody>
      </p:sp>
      <p:sp>
        <p:nvSpPr>
          <p:cNvPr id="40" name="Shape 38"/>
          <p:cNvSpPr/>
          <p:nvPr/>
        </p:nvSpPr>
        <p:spPr>
          <a:xfrm>
            <a:off x="822960" y="5285232"/>
            <a:ext cx="10543032" cy="896112"/>
          </a:xfrm>
          <a:prstGeom prst="roundRect">
            <a:avLst>
              <a:gd name="adj" fmla="val 2082"/>
            </a:avLst>
          </a:prstGeom>
          <a:solidFill>
            <a:srgbClr val="1B1815"/>
          </a:solidFill>
          <a:ln w="12700">
            <a:solidFill>
              <a:srgbClr val="FFFFFF">
                <a:alpha val="0"/>
              </a:srgbClr>
            </a:solidFill>
            <a:prstDash val="solid"/>
          </a:ln>
        </p:spPr>
      </p:sp>
      <p:sp>
        <p:nvSpPr>
          <p:cNvPr id="41" name="Shape 39"/>
          <p:cNvSpPr/>
          <p:nvPr/>
        </p:nvSpPr>
        <p:spPr>
          <a:xfrm>
            <a:off x="841248" y="5285232"/>
            <a:ext cx="45720" cy="896112"/>
          </a:xfrm>
          <a:prstGeom prst="rect">
            <a:avLst/>
          </a:prstGeom>
          <a:solidFill>
            <a:srgbClr val="C2A05F"/>
          </a:solidFill>
          <a:ln w="12700">
            <a:solidFill>
              <a:srgbClr val="FFFFFF">
                <a:alpha val="0"/>
              </a:srgbClr>
            </a:solidFill>
            <a:prstDash val="solid"/>
          </a:ln>
        </p:spPr>
      </p:sp>
      <p:sp>
        <p:nvSpPr>
          <p:cNvPr id="42" name="Text 40"/>
          <p:cNvSpPr txBox="1"/>
          <p:nvPr/>
        </p:nvSpPr>
        <p:spPr>
          <a:xfrm>
            <a:off x="1097280" y="5422392"/>
            <a:ext cx="2468880" cy="191008"/>
          </a:xfrm>
          <a:prstGeom prst="rect">
            <a:avLst/>
          </a:prstGeom>
          <a:noFill/>
          <a:ln/>
        </p:spPr>
        <p:txBody>
          <a:bodyPr wrap="square" lIns="0" tIns="0" rIns="0" bIns="0" rtlCol="0" anchor="t"/>
          <a:lstStyle/>
          <a:p>
            <a:pPr algn="l" indent="0" marL="0">
              <a:lnSpc>
                <a:spcPts val="864"/>
              </a:lnSpc>
              <a:buNone/>
            </a:pPr>
            <a:r>
              <a:rPr lang="en-US" sz="640" spc="170" kern="0" dirty="0">
                <a:solidFill>
                  <a:srgbClr val="C2A05F"/>
                </a:solidFill>
                <a:latin typeface="Calibri" pitchFamily="34" charset="0"/>
                <a:ea typeface="Calibri" pitchFamily="34" charset="-122"/>
                <a:cs typeface="Calibri" pitchFamily="34" charset="-120"/>
              </a:rPr>
              <a:t>FEEDBACK-INFORMED</a:t>
            </a:r>
            <a:endParaRPr lang="en-US" sz="640" dirty="0"/>
          </a:p>
        </p:txBody>
      </p:sp>
      <p:sp>
        <p:nvSpPr>
          <p:cNvPr id="43" name="Text 41"/>
          <p:cNvSpPr txBox="1"/>
          <p:nvPr/>
        </p:nvSpPr>
        <p:spPr>
          <a:xfrm>
            <a:off x="1097280" y="5586984"/>
            <a:ext cx="3017520" cy="354965"/>
          </a:xfrm>
          <a:prstGeom prst="rect">
            <a:avLst/>
          </a:prstGeom>
          <a:noFill/>
          <a:ln/>
        </p:spPr>
        <p:txBody>
          <a:bodyPr wrap="square" lIns="0" tIns="0" rIns="0" bIns="0" rtlCol="0" anchor="t"/>
          <a:lstStyle/>
          <a:p>
            <a:pPr algn="l" indent="0" marL="0">
              <a:lnSpc>
                <a:spcPts val="1495"/>
              </a:lnSpc>
              <a:buNone/>
            </a:pPr>
            <a:r>
              <a:rPr lang="en-US" sz="1300" dirty="0">
                <a:solidFill>
                  <a:srgbClr val="F8F3E9"/>
                </a:solidFill>
                <a:latin typeface="Georgia" pitchFamily="34" charset="0"/>
                <a:ea typeface="Georgia" pitchFamily="34" charset="-122"/>
                <a:cs typeface="Georgia" pitchFamily="34" charset="-120"/>
              </a:rPr>
              <a:t>The client’s view</a:t>
            </a:r>
            <a:endParaRPr lang="en-US" sz="1300" dirty="0"/>
          </a:p>
        </p:txBody>
      </p:sp>
      <p:sp>
        <p:nvSpPr>
          <p:cNvPr id="44" name="Text 42"/>
          <p:cNvSpPr txBox="1"/>
          <p:nvPr/>
        </p:nvSpPr>
        <p:spPr>
          <a:xfrm>
            <a:off x="4434840" y="5431536"/>
            <a:ext cx="4983480" cy="425958"/>
          </a:xfrm>
          <a:prstGeom prst="rect">
            <a:avLst/>
          </a:prstGeom>
          <a:noFill/>
          <a:ln/>
        </p:spPr>
        <p:txBody>
          <a:bodyPr wrap="square" lIns="0" tIns="0" rIns="0" bIns="0" rtlCol="0" anchor="t"/>
          <a:lstStyle/>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The most predictive feedback is not the therapist’s evaluation of the session, but the client’s experience of</a:t>
            </a:r>
            <a:endParaRPr lang="en-US" sz="860" dirty="0"/>
          </a:p>
          <a:p>
            <a:pPr algn="l" indent="0" marL="0">
              <a:lnSpc>
                <a:spcPts val="1247"/>
              </a:lnSpc>
              <a:buNone/>
            </a:pPr>
            <a:r>
              <a:rPr lang="en-US" sz="860" dirty="0">
                <a:solidFill>
                  <a:srgbClr val="EFE5D3"/>
                </a:solidFill>
                <a:latin typeface="Calibri" pitchFamily="34" charset="0"/>
                <a:ea typeface="Calibri" pitchFamily="34" charset="-122"/>
                <a:cs typeface="Calibri" pitchFamily="34" charset="-120"/>
              </a:rPr>
              <a:t>alliance and outcome.</a:t>
            </a:r>
            <a:endParaRPr lang="en-US" sz="860" dirty="0"/>
          </a:p>
        </p:txBody>
      </p:sp>
      <p:sp>
        <p:nvSpPr>
          <p:cNvPr id="45" name="Shape 43"/>
          <p:cNvSpPr/>
          <p:nvPr/>
        </p:nvSpPr>
        <p:spPr>
          <a:xfrm>
            <a:off x="9601200" y="5431536"/>
            <a:ext cx="91" cy="603504"/>
          </a:xfrm>
          <a:prstGeom prst="line">
            <a:avLst/>
          </a:prstGeom>
          <a:noFill/>
          <a:ln w="6350">
            <a:solidFill>
              <a:srgbClr val="3A332A"/>
            </a:solidFill>
            <a:prstDash val="solid"/>
            <a:headEnd type="none"/>
            <a:tailEnd type="none"/>
          </a:ln>
        </p:spPr>
      </p:sp>
      <p:sp>
        <p:nvSpPr>
          <p:cNvPr id="46" name="Text 44"/>
          <p:cNvSpPr txBox="1"/>
          <p:nvPr/>
        </p:nvSpPr>
        <p:spPr>
          <a:xfrm>
            <a:off x="9765792" y="5413248"/>
            <a:ext cx="1463040" cy="291338"/>
          </a:xfrm>
          <a:prstGeom prst="rect">
            <a:avLst/>
          </a:prstGeom>
          <a:noFill/>
          <a:ln/>
        </p:spPr>
        <p:txBody>
          <a:bodyPr wrap="square" lIns="0" tIns="0" rIns="0" bIns="0" rtlCol="0" anchor="t"/>
          <a:lstStyle/>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Sprenkle, Davis &amp; Lebow (2009); Wampold &amp;</a:t>
            </a:r>
            <a:endParaRPr lang="en-US" sz="620" dirty="0"/>
          </a:p>
          <a:p>
            <a:pPr algn="l" indent="0" marL="0">
              <a:lnSpc>
                <a:spcPts val="837"/>
              </a:lnSpc>
              <a:buNone/>
            </a:pPr>
            <a:r>
              <a:rPr lang="en-US" sz="620" i="1" dirty="0">
                <a:solidFill>
                  <a:srgbClr val="B9AE9C"/>
                </a:solidFill>
                <a:latin typeface="Calibri" pitchFamily="34" charset="0"/>
                <a:ea typeface="Calibri" pitchFamily="34" charset="-122"/>
                <a:cs typeface="Calibri" pitchFamily="34" charset="-120"/>
              </a:rPr>
              <a:t>Imel (2015); Duncan et al. (2010).</a:t>
            </a:r>
            <a:endParaRPr lang="en-US" sz="62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WEEK 16 · DIAGRAM</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73</a:t>
            </a:r>
            <a:endParaRPr lang="en-US" sz="950" dirty="0"/>
          </a:p>
        </p:txBody>
      </p:sp>
      <p:sp>
        <p:nvSpPr>
          <p:cNvPr id="8" name="Text 6"/>
          <p:cNvSpPr txBox="1"/>
          <p:nvPr/>
        </p:nvSpPr>
        <p:spPr>
          <a:xfrm>
            <a:off x="822960" y="932688"/>
            <a:ext cx="9966960" cy="726948"/>
          </a:xfrm>
          <a:prstGeom prst="rect">
            <a:avLst/>
          </a:prstGeom>
          <a:noFill/>
          <a:ln/>
        </p:spPr>
        <p:txBody>
          <a:bodyPr wrap="square" lIns="0" tIns="0" rIns="0" bIns="0" rtlCol="0" anchor="t"/>
          <a:lstStyle/>
          <a:p>
            <a:pPr algn="l" indent="0" marL="0">
              <a:lnSpc>
                <a:spcPts val="3024"/>
              </a:lnSpc>
              <a:buNone/>
            </a:pPr>
            <a:r>
              <a:rPr lang="en-US" sz="2700" dirty="0">
                <a:solidFill>
                  <a:srgbClr val="1B1815"/>
                </a:solidFill>
                <a:latin typeface="Georgia" pitchFamily="34" charset="0"/>
                <a:ea typeface="Georgia" pitchFamily="34" charset="-122"/>
                <a:cs typeface="Georgia" pitchFamily="34" charset="-120"/>
              </a:rPr>
              <a:t>Feedback as a clinical discipline</a:t>
            </a:r>
            <a:endParaRPr lang="en-US" sz="2700" dirty="0"/>
          </a:p>
        </p:txBody>
      </p:sp>
      <p:sp>
        <p:nvSpPr>
          <p:cNvPr id="9" name="Text 7"/>
          <p:cNvSpPr txBox="1"/>
          <p:nvPr/>
        </p:nvSpPr>
        <p:spPr>
          <a:xfrm>
            <a:off x="822960" y="1417320"/>
            <a:ext cx="9144000" cy="323088"/>
          </a:xfrm>
          <a:prstGeom prst="rect">
            <a:avLst/>
          </a:prstGeom>
          <a:noFill/>
          <a:ln/>
        </p:spPr>
        <p:txBody>
          <a:bodyPr wrap="square" lIns="0" tIns="0" rIns="0" bIns="0" rtlCol="0" anchor="t"/>
          <a:lstStyle/>
          <a:p>
            <a:pPr algn="l" indent="0" marL="0">
              <a:lnSpc>
                <a:spcPts val="1484"/>
              </a:lnSpc>
              <a:buNone/>
            </a:pPr>
            <a:r>
              <a:rPr lang="en-US" sz="1060" dirty="0">
                <a:solidFill>
                  <a:srgbClr val="5B544A"/>
                </a:solidFill>
                <a:latin typeface="Calibri" pitchFamily="34" charset="0"/>
                <a:ea typeface="Calibri" pitchFamily="34" charset="-122"/>
                <a:cs typeface="Calibri" pitchFamily="34" charset="-120"/>
              </a:rPr>
              <a:t>Measurement is not surveillance. Done well, it is a structured conversation about whether this work is helping this family.</a:t>
            </a:r>
            <a:endParaRPr lang="en-US" sz="1060" dirty="0"/>
          </a:p>
        </p:txBody>
      </p:sp>
      <p:sp>
        <p:nvSpPr>
          <p:cNvPr id="10" name="Shape 8"/>
          <p:cNvSpPr/>
          <p:nvPr/>
        </p:nvSpPr>
        <p:spPr>
          <a:xfrm>
            <a:off x="3876934" y="3008376"/>
            <a:ext cx="398009" cy="237744"/>
          </a:xfrm>
          <a:prstGeom prst="line">
            <a:avLst/>
          </a:prstGeom>
          <a:noFill/>
          <a:ln w="11430">
            <a:solidFill>
              <a:srgbClr val="96733C"/>
            </a:solidFill>
            <a:prstDash val="solid"/>
            <a:headEnd type="none"/>
            <a:tailEnd type="triangle"/>
          </a:ln>
        </p:spPr>
      </p:sp>
      <p:sp>
        <p:nvSpPr>
          <p:cNvPr id="11" name="Shape 9"/>
          <p:cNvSpPr/>
          <p:nvPr/>
        </p:nvSpPr>
        <p:spPr>
          <a:xfrm flipH="1">
            <a:off x="3876934" y="4032504"/>
            <a:ext cx="398009" cy="237744"/>
          </a:xfrm>
          <a:prstGeom prst="line">
            <a:avLst/>
          </a:prstGeom>
          <a:noFill/>
          <a:ln w="11430">
            <a:solidFill>
              <a:srgbClr val="96733C"/>
            </a:solidFill>
            <a:prstDash val="solid"/>
            <a:headEnd type="none"/>
            <a:tailEnd type="triangle"/>
          </a:ln>
        </p:spPr>
      </p:sp>
      <p:sp>
        <p:nvSpPr>
          <p:cNvPr id="12" name="Shape 10"/>
          <p:cNvSpPr/>
          <p:nvPr/>
        </p:nvSpPr>
        <p:spPr>
          <a:xfrm flipH="1" flipV="1">
            <a:off x="2697602" y="4032504"/>
            <a:ext cx="196351" cy="237744"/>
          </a:xfrm>
          <a:prstGeom prst="line">
            <a:avLst/>
          </a:prstGeom>
          <a:noFill/>
          <a:ln w="11430">
            <a:solidFill>
              <a:srgbClr val="96733C"/>
            </a:solidFill>
            <a:prstDash val="solid"/>
            <a:headEnd type="none"/>
            <a:tailEnd type="triangle"/>
          </a:ln>
        </p:spPr>
      </p:sp>
      <p:sp>
        <p:nvSpPr>
          <p:cNvPr id="13" name="Shape 11"/>
          <p:cNvSpPr/>
          <p:nvPr/>
        </p:nvSpPr>
        <p:spPr>
          <a:xfrm flipV="1">
            <a:off x="2697602" y="3008376"/>
            <a:ext cx="196351" cy="237744"/>
          </a:xfrm>
          <a:prstGeom prst="line">
            <a:avLst/>
          </a:prstGeom>
          <a:noFill/>
          <a:ln w="11430">
            <a:solidFill>
              <a:srgbClr val="96733C"/>
            </a:solidFill>
            <a:prstDash val="solid"/>
            <a:headEnd type="none"/>
            <a:tailEnd type="triangle"/>
          </a:ln>
        </p:spPr>
      </p:sp>
      <p:sp>
        <p:nvSpPr>
          <p:cNvPr id="14" name="Shape 12"/>
          <p:cNvSpPr/>
          <p:nvPr/>
        </p:nvSpPr>
        <p:spPr>
          <a:xfrm>
            <a:off x="2281428" y="2221992"/>
            <a:ext cx="1874520" cy="786384"/>
          </a:xfrm>
          <a:prstGeom prst="roundRect">
            <a:avLst>
              <a:gd name="adj" fmla="val 6084"/>
            </a:avLst>
          </a:prstGeom>
          <a:solidFill>
            <a:srgbClr val="FBF7EF"/>
          </a:solidFill>
          <a:ln w="8890">
            <a:solidFill>
              <a:srgbClr val="D9CDB7"/>
            </a:solidFill>
            <a:prstDash val="solid"/>
          </a:ln>
        </p:spPr>
      </p:sp>
      <p:sp>
        <p:nvSpPr>
          <p:cNvPr id="15" name="Text 13"/>
          <p:cNvSpPr txBox="1"/>
          <p:nvPr/>
        </p:nvSpPr>
        <p:spPr>
          <a:xfrm>
            <a:off x="2354580" y="2350008"/>
            <a:ext cx="1728216" cy="343218"/>
          </a:xfrm>
          <a:prstGeom prst="rect">
            <a:avLst/>
          </a:prstGeom>
          <a:noFill/>
          <a:ln/>
        </p:spPr>
        <p:txBody>
          <a:bodyPr wrap="square" lIns="0" tIns="0" rIns="0" bIns="0" rtlCol="0" anchor="t"/>
          <a:lstStyle/>
          <a:p>
            <a:pPr algn="ctr" indent="0" marL="0">
              <a:lnSpc>
                <a:spcPts val="1553"/>
              </a:lnSpc>
              <a:buNone/>
            </a:pPr>
            <a:r>
              <a:rPr lang="en-US" sz="1150" dirty="0">
                <a:solidFill>
                  <a:srgbClr val="1B1815"/>
                </a:solidFill>
                <a:latin typeface="Georgia" pitchFamily="34" charset="0"/>
                <a:ea typeface="Georgia" pitchFamily="34" charset="-122"/>
                <a:cs typeface="Georgia" pitchFamily="34" charset="-120"/>
              </a:rPr>
              <a:t>Engage</a:t>
            </a:r>
            <a:endParaRPr lang="en-US" sz="1150" dirty="0"/>
          </a:p>
        </p:txBody>
      </p:sp>
      <p:sp>
        <p:nvSpPr>
          <p:cNvPr id="16" name="Text 14"/>
          <p:cNvSpPr txBox="1"/>
          <p:nvPr/>
        </p:nvSpPr>
        <p:spPr>
          <a:xfrm>
            <a:off x="2354580" y="2660904"/>
            <a:ext cx="1728216" cy="201168"/>
          </a:xfrm>
          <a:prstGeom prst="rect">
            <a:avLst/>
          </a:prstGeom>
          <a:noFill/>
          <a:ln/>
        </p:spPr>
        <p:txBody>
          <a:bodyPr wrap="square" lIns="0" tIns="0" rIns="0" bIns="0" rtlCol="0" anchor="t"/>
          <a:lstStyle/>
          <a:p>
            <a:pPr algn="ctr" indent="0" marL="0">
              <a:lnSpc>
                <a:spcPts val="864"/>
              </a:lnSpc>
              <a:buNone/>
            </a:pPr>
            <a:r>
              <a:rPr lang="en-US" sz="720" dirty="0">
                <a:solidFill>
                  <a:srgbClr val="5B544A"/>
                </a:solidFill>
                <a:latin typeface="Calibri" pitchFamily="34" charset="0"/>
                <a:ea typeface="Calibri" pitchFamily="34" charset="-122"/>
                <a:cs typeface="Calibri" pitchFamily="34" charset="-120"/>
              </a:rPr>
              <a:t>alliance &amp; goals</a:t>
            </a:r>
            <a:endParaRPr lang="en-US" sz="720" dirty="0"/>
          </a:p>
        </p:txBody>
      </p:sp>
      <p:sp>
        <p:nvSpPr>
          <p:cNvPr id="17" name="Shape 15"/>
          <p:cNvSpPr/>
          <p:nvPr/>
        </p:nvSpPr>
        <p:spPr>
          <a:xfrm>
            <a:off x="3995928" y="3246120"/>
            <a:ext cx="1874520" cy="786384"/>
          </a:xfrm>
          <a:prstGeom prst="roundRect">
            <a:avLst>
              <a:gd name="adj" fmla="val 6084"/>
            </a:avLst>
          </a:prstGeom>
          <a:solidFill>
            <a:srgbClr val="FBF7EF"/>
          </a:solidFill>
          <a:ln w="8890">
            <a:solidFill>
              <a:srgbClr val="D9CDB7"/>
            </a:solidFill>
            <a:prstDash val="solid"/>
          </a:ln>
        </p:spPr>
      </p:sp>
      <p:sp>
        <p:nvSpPr>
          <p:cNvPr id="18" name="Text 16"/>
          <p:cNvSpPr txBox="1"/>
          <p:nvPr/>
        </p:nvSpPr>
        <p:spPr>
          <a:xfrm>
            <a:off x="4069080" y="3374136"/>
            <a:ext cx="1728216" cy="343218"/>
          </a:xfrm>
          <a:prstGeom prst="rect">
            <a:avLst/>
          </a:prstGeom>
          <a:noFill/>
          <a:ln/>
        </p:spPr>
        <p:txBody>
          <a:bodyPr wrap="square" lIns="0" tIns="0" rIns="0" bIns="0" rtlCol="0" anchor="t"/>
          <a:lstStyle/>
          <a:p>
            <a:pPr algn="ctr" indent="0" marL="0">
              <a:lnSpc>
                <a:spcPts val="1553"/>
              </a:lnSpc>
              <a:buNone/>
            </a:pPr>
            <a:r>
              <a:rPr lang="en-US" sz="1150" dirty="0">
                <a:solidFill>
                  <a:srgbClr val="1B1815"/>
                </a:solidFill>
                <a:latin typeface="Georgia" pitchFamily="34" charset="0"/>
                <a:ea typeface="Georgia" pitchFamily="34" charset="-122"/>
                <a:cs typeface="Georgia" pitchFamily="34" charset="-120"/>
              </a:rPr>
              <a:t>Measure</a:t>
            </a:r>
            <a:endParaRPr lang="en-US" sz="1150" dirty="0"/>
          </a:p>
        </p:txBody>
      </p:sp>
      <p:sp>
        <p:nvSpPr>
          <p:cNvPr id="19" name="Text 17"/>
          <p:cNvSpPr txBox="1"/>
          <p:nvPr/>
        </p:nvSpPr>
        <p:spPr>
          <a:xfrm>
            <a:off x="4069080" y="3685032"/>
            <a:ext cx="1728216" cy="201168"/>
          </a:xfrm>
          <a:prstGeom prst="rect">
            <a:avLst/>
          </a:prstGeom>
          <a:noFill/>
          <a:ln/>
        </p:spPr>
        <p:txBody>
          <a:bodyPr wrap="square" lIns="0" tIns="0" rIns="0" bIns="0" rtlCol="0" anchor="t"/>
          <a:lstStyle/>
          <a:p>
            <a:pPr algn="ctr" indent="0" marL="0">
              <a:lnSpc>
                <a:spcPts val="864"/>
              </a:lnSpc>
              <a:buNone/>
            </a:pPr>
            <a:r>
              <a:rPr lang="en-US" sz="720" dirty="0">
                <a:solidFill>
                  <a:srgbClr val="5B544A"/>
                </a:solidFill>
                <a:latin typeface="Calibri" pitchFamily="34" charset="0"/>
                <a:ea typeface="Calibri" pitchFamily="34" charset="-122"/>
                <a:cs typeface="Calibri" pitchFamily="34" charset="-120"/>
              </a:rPr>
              <a:t>ORS / SRS each session</a:t>
            </a:r>
            <a:endParaRPr lang="en-US" sz="720" dirty="0"/>
          </a:p>
        </p:txBody>
      </p:sp>
      <p:sp>
        <p:nvSpPr>
          <p:cNvPr id="20" name="Shape 18"/>
          <p:cNvSpPr/>
          <p:nvPr/>
        </p:nvSpPr>
        <p:spPr>
          <a:xfrm>
            <a:off x="2281428" y="4270248"/>
            <a:ext cx="1874520" cy="786384"/>
          </a:xfrm>
          <a:prstGeom prst="roundRect">
            <a:avLst>
              <a:gd name="adj" fmla="val 6084"/>
            </a:avLst>
          </a:prstGeom>
          <a:solidFill>
            <a:srgbClr val="FBF7EF"/>
          </a:solidFill>
          <a:ln w="8890">
            <a:solidFill>
              <a:srgbClr val="D9CDB7"/>
            </a:solidFill>
            <a:prstDash val="solid"/>
          </a:ln>
        </p:spPr>
      </p:sp>
      <p:sp>
        <p:nvSpPr>
          <p:cNvPr id="21" name="Text 19"/>
          <p:cNvSpPr txBox="1"/>
          <p:nvPr/>
        </p:nvSpPr>
        <p:spPr>
          <a:xfrm>
            <a:off x="2354580" y="4398264"/>
            <a:ext cx="1728216" cy="343218"/>
          </a:xfrm>
          <a:prstGeom prst="rect">
            <a:avLst/>
          </a:prstGeom>
          <a:noFill/>
          <a:ln/>
        </p:spPr>
        <p:txBody>
          <a:bodyPr wrap="square" lIns="0" tIns="0" rIns="0" bIns="0" rtlCol="0" anchor="t"/>
          <a:lstStyle/>
          <a:p>
            <a:pPr algn="ctr" indent="0" marL="0">
              <a:lnSpc>
                <a:spcPts val="1553"/>
              </a:lnSpc>
              <a:buNone/>
            </a:pPr>
            <a:r>
              <a:rPr lang="en-US" sz="1150" dirty="0">
                <a:solidFill>
                  <a:srgbClr val="1B1815"/>
                </a:solidFill>
                <a:latin typeface="Georgia" pitchFamily="34" charset="0"/>
                <a:ea typeface="Georgia" pitchFamily="34" charset="-122"/>
                <a:cs typeface="Georgia" pitchFamily="34" charset="-120"/>
              </a:rPr>
              <a:t>Review</a:t>
            </a:r>
            <a:endParaRPr lang="en-US" sz="1150" dirty="0"/>
          </a:p>
        </p:txBody>
      </p:sp>
      <p:sp>
        <p:nvSpPr>
          <p:cNvPr id="22" name="Text 20"/>
          <p:cNvSpPr txBox="1"/>
          <p:nvPr/>
        </p:nvSpPr>
        <p:spPr>
          <a:xfrm>
            <a:off x="2354580" y="4709160"/>
            <a:ext cx="1728216" cy="201168"/>
          </a:xfrm>
          <a:prstGeom prst="rect">
            <a:avLst/>
          </a:prstGeom>
          <a:noFill/>
          <a:ln/>
        </p:spPr>
        <p:txBody>
          <a:bodyPr wrap="square" lIns="0" tIns="0" rIns="0" bIns="0" rtlCol="0" anchor="t"/>
          <a:lstStyle/>
          <a:p>
            <a:pPr algn="ctr" indent="0" marL="0">
              <a:lnSpc>
                <a:spcPts val="864"/>
              </a:lnSpc>
              <a:buNone/>
            </a:pPr>
            <a:r>
              <a:rPr lang="en-US" sz="720" dirty="0">
                <a:solidFill>
                  <a:srgbClr val="5B544A"/>
                </a:solidFill>
                <a:latin typeface="Calibri" pitchFamily="34" charset="0"/>
                <a:ea typeface="Calibri" pitchFamily="34" charset="-122"/>
                <a:cs typeface="Calibri" pitchFamily="34" charset="-120"/>
              </a:rPr>
              <a:t>with the client, openly</a:t>
            </a:r>
            <a:endParaRPr lang="en-US" sz="720" dirty="0"/>
          </a:p>
        </p:txBody>
      </p:sp>
      <p:sp>
        <p:nvSpPr>
          <p:cNvPr id="23" name="Shape 21"/>
          <p:cNvSpPr/>
          <p:nvPr/>
        </p:nvSpPr>
        <p:spPr>
          <a:xfrm>
            <a:off x="1435608" y="3246120"/>
            <a:ext cx="1874520" cy="786384"/>
          </a:xfrm>
          <a:prstGeom prst="roundRect">
            <a:avLst>
              <a:gd name="adj" fmla="val 6084"/>
            </a:avLst>
          </a:prstGeom>
          <a:solidFill>
            <a:srgbClr val="FBF7EF"/>
          </a:solidFill>
          <a:ln w="8890">
            <a:solidFill>
              <a:srgbClr val="D9CDB7"/>
            </a:solidFill>
            <a:prstDash val="solid"/>
          </a:ln>
        </p:spPr>
      </p:sp>
      <p:sp>
        <p:nvSpPr>
          <p:cNvPr id="24" name="Text 22"/>
          <p:cNvSpPr txBox="1"/>
          <p:nvPr/>
        </p:nvSpPr>
        <p:spPr>
          <a:xfrm>
            <a:off x="1508760" y="3374136"/>
            <a:ext cx="1728216" cy="343218"/>
          </a:xfrm>
          <a:prstGeom prst="rect">
            <a:avLst/>
          </a:prstGeom>
          <a:noFill/>
          <a:ln/>
        </p:spPr>
        <p:txBody>
          <a:bodyPr wrap="square" lIns="0" tIns="0" rIns="0" bIns="0" rtlCol="0" anchor="t"/>
          <a:lstStyle/>
          <a:p>
            <a:pPr algn="ctr" indent="0" marL="0">
              <a:lnSpc>
                <a:spcPts val="1553"/>
              </a:lnSpc>
              <a:buNone/>
            </a:pPr>
            <a:r>
              <a:rPr lang="en-US" sz="1150" dirty="0">
                <a:solidFill>
                  <a:srgbClr val="1B1815"/>
                </a:solidFill>
                <a:latin typeface="Georgia" pitchFamily="34" charset="0"/>
                <a:ea typeface="Georgia" pitchFamily="34" charset="-122"/>
                <a:cs typeface="Georgia" pitchFamily="34" charset="-120"/>
              </a:rPr>
              <a:t>Adapt</a:t>
            </a:r>
            <a:endParaRPr lang="en-US" sz="1150" dirty="0"/>
          </a:p>
        </p:txBody>
      </p:sp>
      <p:sp>
        <p:nvSpPr>
          <p:cNvPr id="25" name="Text 23"/>
          <p:cNvSpPr txBox="1"/>
          <p:nvPr/>
        </p:nvSpPr>
        <p:spPr>
          <a:xfrm>
            <a:off x="1508760" y="3685032"/>
            <a:ext cx="1728216" cy="201168"/>
          </a:xfrm>
          <a:prstGeom prst="rect">
            <a:avLst/>
          </a:prstGeom>
          <a:noFill/>
          <a:ln/>
        </p:spPr>
        <p:txBody>
          <a:bodyPr wrap="square" lIns="0" tIns="0" rIns="0" bIns="0" rtlCol="0" anchor="t"/>
          <a:lstStyle/>
          <a:p>
            <a:pPr algn="ctr" indent="0" marL="0">
              <a:lnSpc>
                <a:spcPts val="864"/>
              </a:lnSpc>
              <a:buNone/>
            </a:pPr>
            <a:r>
              <a:rPr lang="en-US" sz="720" dirty="0">
                <a:solidFill>
                  <a:srgbClr val="5B544A"/>
                </a:solidFill>
                <a:latin typeface="Calibri" pitchFamily="34" charset="0"/>
                <a:ea typeface="Calibri" pitchFamily="34" charset="-122"/>
                <a:cs typeface="Calibri" pitchFamily="34" charset="-120"/>
              </a:rPr>
              <a:t>plan, method, or therapist</a:t>
            </a:r>
            <a:endParaRPr lang="en-US" sz="720" dirty="0"/>
          </a:p>
        </p:txBody>
      </p:sp>
      <p:sp>
        <p:nvSpPr>
          <p:cNvPr id="26" name="Text 24"/>
          <p:cNvSpPr txBox="1"/>
          <p:nvPr/>
        </p:nvSpPr>
        <p:spPr>
          <a:xfrm>
            <a:off x="2395728" y="3474720"/>
            <a:ext cx="1645920" cy="196977"/>
          </a:xfrm>
          <a:prstGeom prst="rect">
            <a:avLst/>
          </a:prstGeom>
          <a:noFill/>
          <a:ln/>
        </p:spPr>
        <p:txBody>
          <a:bodyPr wrap="square" lIns="0" tIns="0" rIns="0" bIns="0" rtlCol="0" anchor="t"/>
          <a:lstStyle/>
          <a:p>
            <a:pPr algn="ctr" indent="0" marL="0">
              <a:lnSpc>
                <a:spcPts val="891"/>
              </a:lnSpc>
              <a:buNone/>
            </a:pPr>
            <a:r>
              <a:rPr lang="en-US" sz="660" b="1" spc="140" kern="0" dirty="0">
                <a:solidFill>
                  <a:srgbClr val="96733C"/>
                </a:solidFill>
                <a:latin typeface="Calibri" pitchFamily="34" charset="0"/>
                <a:ea typeface="Calibri" pitchFamily="34" charset="-122"/>
                <a:cs typeface="Calibri" pitchFamily="34" charset="-120"/>
              </a:rPr>
              <a:t>FEEDBACK-INFORMED</a:t>
            </a:r>
            <a:endParaRPr lang="en-US" sz="660" dirty="0"/>
          </a:p>
        </p:txBody>
      </p:sp>
      <p:sp>
        <p:nvSpPr>
          <p:cNvPr id="27" name="Text 25"/>
          <p:cNvSpPr txBox="1"/>
          <p:nvPr/>
        </p:nvSpPr>
        <p:spPr>
          <a:xfrm>
            <a:off x="2432304" y="3675888"/>
            <a:ext cx="1572768" cy="192786"/>
          </a:xfrm>
          <a:prstGeom prst="rect">
            <a:avLst/>
          </a:prstGeom>
          <a:noFill/>
          <a:ln/>
        </p:spPr>
        <p:txBody>
          <a:bodyPr wrap="square" lIns="0" tIns="0" rIns="0" bIns="0" rtlCol="0" anchor="t"/>
          <a:lstStyle/>
          <a:p>
            <a:pPr algn="ctr" indent="0" marL="0">
              <a:lnSpc>
                <a:spcPts val="858"/>
              </a:lnSpc>
              <a:buNone/>
            </a:pPr>
            <a:r>
              <a:rPr lang="en-US" sz="660" i="1" dirty="0">
                <a:solidFill>
                  <a:srgbClr val="5B544A"/>
                </a:solidFill>
                <a:latin typeface="Calibri" pitchFamily="34" charset="0"/>
                <a:ea typeface="Calibri" pitchFamily="34" charset="-122"/>
                <a:cs typeface="Calibri" pitchFamily="34" charset="-120"/>
              </a:rPr>
              <a:t>each session, not each discharge</a:t>
            </a:r>
            <a:endParaRPr lang="en-US" sz="660" dirty="0"/>
          </a:p>
        </p:txBody>
      </p:sp>
      <p:sp>
        <p:nvSpPr>
          <p:cNvPr id="28" name="Shape 26"/>
          <p:cNvSpPr/>
          <p:nvPr/>
        </p:nvSpPr>
        <p:spPr>
          <a:xfrm>
            <a:off x="6858000" y="2221992"/>
            <a:ext cx="91" cy="2514600"/>
          </a:xfrm>
          <a:prstGeom prst="line">
            <a:avLst/>
          </a:prstGeom>
          <a:noFill/>
          <a:ln w="10160">
            <a:solidFill>
              <a:srgbClr val="D9CDB7"/>
            </a:solidFill>
            <a:prstDash val="solid"/>
            <a:headEnd type="none"/>
            <a:tailEnd type="none"/>
          </a:ln>
        </p:spPr>
      </p:sp>
      <p:sp>
        <p:nvSpPr>
          <p:cNvPr id="29" name="Shape 27"/>
          <p:cNvSpPr/>
          <p:nvPr/>
        </p:nvSpPr>
        <p:spPr>
          <a:xfrm>
            <a:off x="6858000" y="4736592"/>
            <a:ext cx="4206240" cy="91"/>
          </a:xfrm>
          <a:prstGeom prst="line">
            <a:avLst/>
          </a:prstGeom>
          <a:noFill/>
          <a:ln w="10160">
            <a:solidFill>
              <a:srgbClr val="D9CDB7"/>
            </a:solidFill>
            <a:prstDash val="solid"/>
            <a:headEnd type="none"/>
            <a:tailEnd type="none"/>
          </a:ln>
        </p:spPr>
      </p:sp>
      <p:sp>
        <p:nvSpPr>
          <p:cNvPr id="30" name="Shape 28"/>
          <p:cNvSpPr/>
          <p:nvPr/>
        </p:nvSpPr>
        <p:spPr>
          <a:xfrm>
            <a:off x="6858000" y="3102102"/>
            <a:ext cx="4206240" cy="553212"/>
          </a:xfrm>
          <a:prstGeom prst="rect">
            <a:avLst/>
          </a:prstGeom>
          <a:solidFill>
            <a:srgbClr val="6E8274">
              <a:alpha val="10000"/>
            </a:srgbClr>
          </a:solidFill>
          <a:ln w="12700">
            <a:solidFill>
              <a:srgbClr val="FFFFFF">
                <a:alpha val="0"/>
              </a:srgbClr>
            </a:solidFill>
            <a:prstDash val="solid"/>
          </a:ln>
        </p:spPr>
      </p:sp>
      <p:sp>
        <p:nvSpPr>
          <p:cNvPr id="31" name="Text 29"/>
          <p:cNvSpPr txBox="1"/>
          <p:nvPr/>
        </p:nvSpPr>
        <p:spPr>
          <a:xfrm>
            <a:off x="6949440" y="3152394"/>
            <a:ext cx="2011680" cy="192786"/>
          </a:xfrm>
          <a:prstGeom prst="rect">
            <a:avLst/>
          </a:prstGeom>
          <a:noFill/>
          <a:ln/>
        </p:spPr>
        <p:txBody>
          <a:bodyPr wrap="square" lIns="0" tIns="0" rIns="0" bIns="0" rtlCol="0" anchor="t"/>
          <a:lstStyle/>
          <a:p>
            <a:pPr algn="l" indent="0" marL="0">
              <a:lnSpc>
                <a:spcPts val="858"/>
              </a:lnSpc>
              <a:buNone/>
            </a:pPr>
            <a:r>
              <a:rPr lang="en-US" sz="660" dirty="0">
                <a:solidFill>
                  <a:srgbClr val="6E8274"/>
                </a:solidFill>
                <a:latin typeface="Calibri" pitchFamily="34" charset="0"/>
                <a:ea typeface="Calibri" pitchFamily="34" charset="-122"/>
                <a:cs typeface="Calibri" pitchFamily="34" charset="-120"/>
              </a:rPr>
              <a:t>expected change band</a:t>
            </a:r>
            <a:endParaRPr lang="en-US" sz="660" dirty="0"/>
          </a:p>
        </p:txBody>
      </p:sp>
      <p:sp>
        <p:nvSpPr>
          <p:cNvPr id="32" name="Shape 30"/>
          <p:cNvSpPr/>
          <p:nvPr/>
        </p:nvSpPr>
        <p:spPr>
          <a:xfrm>
            <a:off x="7040880" y="2555748"/>
            <a:ext cx="699516" cy="210312"/>
          </a:xfrm>
          <a:prstGeom prst="line">
            <a:avLst/>
          </a:prstGeom>
          <a:noFill/>
          <a:ln w="20320">
            <a:solidFill>
              <a:srgbClr val="96733C"/>
            </a:solidFill>
            <a:prstDash val="solid"/>
            <a:headEnd type="none"/>
            <a:tailEnd type="none"/>
          </a:ln>
        </p:spPr>
      </p:sp>
      <p:sp>
        <p:nvSpPr>
          <p:cNvPr id="33" name="Shape 31"/>
          <p:cNvSpPr/>
          <p:nvPr/>
        </p:nvSpPr>
        <p:spPr>
          <a:xfrm>
            <a:off x="7740396" y="2766060"/>
            <a:ext cx="699516" cy="105156"/>
          </a:xfrm>
          <a:prstGeom prst="line">
            <a:avLst/>
          </a:prstGeom>
          <a:noFill/>
          <a:ln w="20320">
            <a:solidFill>
              <a:srgbClr val="96733C"/>
            </a:solidFill>
            <a:prstDash val="solid"/>
            <a:headEnd type="none"/>
            <a:tailEnd type="none"/>
          </a:ln>
        </p:spPr>
      </p:sp>
      <p:sp>
        <p:nvSpPr>
          <p:cNvPr id="34" name="Shape 32"/>
          <p:cNvSpPr/>
          <p:nvPr/>
        </p:nvSpPr>
        <p:spPr>
          <a:xfrm>
            <a:off x="8439912" y="2871216"/>
            <a:ext cx="699516" cy="378562"/>
          </a:xfrm>
          <a:prstGeom prst="line">
            <a:avLst/>
          </a:prstGeom>
          <a:noFill/>
          <a:ln w="20320">
            <a:solidFill>
              <a:srgbClr val="96733C"/>
            </a:solidFill>
            <a:prstDash val="solid"/>
            <a:headEnd type="none"/>
            <a:tailEnd type="none"/>
          </a:ln>
        </p:spPr>
      </p:sp>
      <p:sp>
        <p:nvSpPr>
          <p:cNvPr id="35" name="Shape 33"/>
          <p:cNvSpPr/>
          <p:nvPr/>
        </p:nvSpPr>
        <p:spPr>
          <a:xfrm>
            <a:off x="9139428" y="3249778"/>
            <a:ext cx="699516" cy="147218"/>
          </a:xfrm>
          <a:prstGeom prst="line">
            <a:avLst/>
          </a:prstGeom>
          <a:noFill/>
          <a:ln w="20320">
            <a:solidFill>
              <a:srgbClr val="96733C"/>
            </a:solidFill>
            <a:prstDash val="solid"/>
            <a:headEnd type="none"/>
            <a:tailEnd type="none"/>
          </a:ln>
        </p:spPr>
      </p:sp>
      <p:sp>
        <p:nvSpPr>
          <p:cNvPr id="36" name="Shape 34"/>
          <p:cNvSpPr/>
          <p:nvPr/>
        </p:nvSpPr>
        <p:spPr>
          <a:xfrm>
            <a:off x="9838944" y="3396996"/>
            <a:ext cx="699516" cy="483718"/>
          </a:xfrm>
          <a:prstGeom prst="line">
            <a:avLst/>
          </a:prstGeom>
          <a:noFill/>
          <a:ln w="20320">
            <a:solidFill>
              <a:srgbClr val="96733C"/>
            </a:solidFill>
            <a:prstDash val="solid"/>
            <a:headEnd type="none"/>
            <a:tailEnd type="none"/>
          </a:ln>
        </p:spPr>
      </p:sp>
      <p:sp>
        <p:nvSpPr>
          <p:cNvPr id="37" name="Shape 35"/>
          <p:cNvSpPr/>
          <p:nvPr/>
        </p:nvSpPr>
        <p:spPr>
          <a:xfrm>
            <a:off x="7040880" y="2555748"/>
            <a:ext cx="699516" cy="105156"/>
          </a:xfrm>
          <a:prstGeom prst="line">
            <a:avLst/>
          </a:prstGeom>
          <a:noFill/>
          <a:ln w="17780">
            <a:solidFill>
              <a:srgbClr val="A96A45"/>
            </a:solidFill>
            <a:prstDash val="dash"/>
            <a:headEnd type="none"/>
            <a:tailEnd type="none"/>
          </a:ln>
        </p:spPr>
      </p:sp>
      <p:sp>
        <p:nvSpPr>
          <p:cNvPr id="38" name="Shape 36"/>
          <p:cNvSpPr/>
          <p:nvPr/>
        </p:nvSpPr>
        <p:spPr>
          <a:xfrm>
            <a:off x="7740396" y="2660904"/>
            <a:ext cx="699516" cy="42062"/>
          </a:xfrm>
          <a:prstGeom prst="line">
            <a:avLst/>
          </a:prstGeom>
          <a:noFill/>
          <a:ln w="17780">
            <a:solidFill>
              <a:srgbClr val="A96A45"/>
            </a:solidFill>
            <a:prstDash val="dash"/>
            <a:headEnd type="none"/>
            <a:tailEnd type="none"/>
          </a:ln>
        </p:spPr>
      </p:sp>
      <p:sp>
        <p:nvSpPr>
          <p:cNvPr id="39" name="Shape 37"/>
          <p:cNvSpPr/>
          <p:nvPr/>
        </p:nvSpPr>
        <p:spPr>
          <a:xfrm>
            <a:off x="8439912" y="2702966"/>
            <a:ext cx="699516" cy="84125"/>
          </a:xfrm>
          <a:prstGeom prst="line">
            <a:avLst/>
          </a:prstGeom>
          <a:noFill/>
          <a:ln w="17780">
            <a:solidFill>
              <a:srgbClr val="A96A45"/>
            </a:solidFill>
            <a:prstDash val="dash"/>
            <a:headEnd type="none"/>
            <a:tailEnd type="none"/>
          </a:ln>
        </p:spPr>
      </p:sp>
      <p:sp>
        <p:nvSpPr>
          <p:cNvPr id="40" name="Shape 38"/>
          <p:cNvSpPr/>
          <p:nvPr/>
        </p:nvSpPr>
        <p:spPr>
          <a:xfrm>
            <a:off x="9139428" y="2787091"/>
            <a:ext cx="699516" cy="84125"/>
          </a:xfrm>
          <a:prstGeom prst="line">
            <a:avLst/>
          </a:prstGeom>
          <a:noFill/>
          <a:ln w="17780">
            <a:solidFill>
              <a:srgbClr val="A96A45"/>
            </a:solidFill>
            <a:prstDash val="dash"/>
            <a:headEnd type="none"/>
            <a:tailEnd type="none"/>
          </a:ln>
        </p:spPr>
      </p:sp>
      <p:sp>
        <p:nvSpPr>
          <p:cNvPr id="41" name="Shape 39"/>
          <p:cNvSpPr/>
          <p:nvPr/>
        </p:nvSpPr>
        <p:spPr>
          <a:xfrm>
            <a:off x="9838944" y="2871216"/>
            <a:ext cx="699516" cy="84125"/>
          </a:xfrm>
          <a:prstGeom prst="line">
            <a:avLst/>
          </a:prstGeom>
          <a:noFill/>
          <a:ln w="17780">
            <a:solidFill>
              <a:srgbClr val="A96A45"/>
            </a:solidFill>
            <a:prstDash val="dash"/>
            <a:headEnd type="none"/>
            <a:tailEnd type="none"/>
          </a:ln>
        </p:spPr>
      </p:sp>
      <p:sp>
        <p:nvSpPr>
          <p:cNvPr id="42" name="Text 40"/>
          <p:cNvSpPr txBox="1"/>
          <p:nvPr/>
        </p:nvSpPr>
        <p:spPr>
          <a:xfrm>
            <a:off x="6766560" y="2020824"/>
            <a:ext cx="4023360" cy="321310"/>
          </a:xfrm>
          <a:prstGeom prst="rect">
            <a:avLst/>
          </a:prstGeom>
          <a:noFill/>
          <a:ln/>
        </p:spPr>
        <p:txBody>
          <a:bodyPr wrap="square" lIns="0" tIns="0" rIns="0" bIns="0" rtlCol="0" anchor="t"/>
          <a:lstStyle/>
          <a:p>
            <a:pPr algn="l" indent="0" marL="0">
              <a:lnSpc>
                <a:spcPts val="1430"/>
              </a:lnSpc>
              <a:buNone/>
            </a:pPr>
            <a:r>
              <a:rPr lang="en-US" sz="1100" dirty="0">
                <a:solidFill>
                  <a:srgbClr val="1B1815"/>
                </a:solidFill>
                <a:latin typeface="Georgia" pitchFamily="34" charset="0"/>
                <a:ea typeface="Georgia" pitchFamily="34" charset="-122"/>
                <a:cs typeface="Georgia" pitchFamily="34" charset="-120"/>
              </a:rPr>
              <a:t>Session-by-session change</a:t>
            </a:r>
            <a:endParaRPr lang="en-US" sz="1100" dirty="0"/>
          </a:p>
        </p:txBody>
      </p:sp>
      <p:sp>
        <p:nvSpPr>
          <p:cNvPr id="43" name="Shape 41"/>
          <p:cNvSpPr/>
          <p:nvPr/>
        </p:nvSpPr>
        <p:spPr>
          <a:xfrm>
            <a:off x="9646920" y="2112264"/>
            <a:ext cx="320040" cy="91"/>
          </a:xfrm>
          <a:prstGeom prst="line">
            <a:avLst/>
          </a:prstGeom>
          <a:noFill/>
          <a:ln w="20320">
            <a:solidFill>
              <a:srgbClr val="96733C"/>
            </a:solidFill>
            <a:prstDash val="solid"/>
            <a:headEnd type="none"/>
            <a:tailEnd type="none"/>
          </a:ln>
        </p:spPr>
      </p:sp>
      <p:sp>
        <p:nvSpPr>
          <p:cNvPr id="44" name="Text 42"/>
          <p:cNvSpPr txBox="1"/>
          <p:nvPr/>
        </p:nvSpPr>
        <p:spPr>
          <a:xfrm>
            <a:off x="10058400" y="2020824"/>
            <a:ext cx="1097280" cy="192786"/>
          </a:xfrm>
          <a:prstGeom prst="rect">
            <a:avLst/>
          </a:prstGeom>
          <a:noFill/>
          <a:ln/>
        </p:spPr>
        <p:txBody>
          <a:bodyPr wrap="square" lIns="0" tIns="0" rIns="0" bIns="0" rtlCol="0" anchor="t"/>
          <a:lstStyle/>
          <a:p>
            <a:pPr algn="l" indent="0" marL="0">
              <a:lnSpc>
                <a:spcPts val="858"/>
              </a:lnSpc>
              <a:buNone/>
            </a:pPr>
            <a:r>
              <a:rPr lang="en-US" sz="660" dirty="0">
                <a:solidFill>
                  <a:srgbClr val="5B544A"/>
                </a:solidFill>
                <a:latin typeface="Calibri" pitchFamily="34" charset="0"/>
                <a:ea typeface="Calibri" pitchFamily="34" charset="-122"/>
                <a:cs typeface="Calibri" pitchFamily="34" charset="-120"/>
              </a:rPr>
              <a:t>actual</a:t>
            </a:r>
            <a:endParaRPr lang="en-US" sz="660" dirty="0"/>
          </a:p>
        </p:txBody>
      </p:sp>
      <p:sp>
        <p:nvSpPr>
          <p:cNvPr id="45" name="Shape 43"/>
          <p:cNvSpPr/>
          <p:nvPr/>
        </p:nvSpPr>
        <p:spPr>
          <a:xfrm>
            <a:off x="9646920" y="2240280"/>
            <a:ext cx="320040" cy="91"/>
          </a:xfrm>
          <a:prstGeom prst="line">
            <a:avLst/>
          </a:prstGeom>
          <a:noFill/>
          <a:ln w="17780">
            <a:solidFill>
              <a:srgbClr val="A96A45"/>
            </a:solidFill>
            <a:prstDash val="dash"/>
            <a:headEnd type="none"/>
            <a:tailEnd type="none"/>
          </a:ln>
        </p:spPr>
      </p:sp>
      <p:sp>
        <p:nvSpPr>
          <p:cNvPr id="46" name="Text 44"/>
          <p:cNvSpPr txBox="1"/>
          <p:nvPr/>
        </p:nvSpPr>
        <p:spPr>
          <a:xfrm>
            <a:off x="10058400" y="2167128"/>
            <a:ext cx="1280160" cy="192786"/>
          </a:xfrm>
          <a:prstGeom prst="rect">
            <a:avLst/>
          </a:prstGeom>
          <a:noFill/>
          <a:ln/>
        </p:spPr>
        <p:txBody>
          <a:bodyPr wrap="square" lIns="0" tIns="0" rIns="0" bIns="0" rtlCol="0" anchor="t"/>
          <a:lstStyle/>
          <a:p>
            <a:pPr algn="l" indent="0" marL="0">
              <a:lnSpc>
                <a:spcPts val="858"/>
              </a:lnSpc>
              <a:buNone/>
            </a:pPr>
            <a:r>
              <a:rPr lang="en-US" sz="660" dirty="0">
                <a:solidFill>
                  <a:srgbClr val="5B544A"/>
                </a:solidFill>
                <a:latin typeface="Calibri" pitchFamily="34" charset="0"/>
                <a:ea typeface="Calibri" pitchFamily="34" charset="-122"/>
                <a:cs typeface="Calibri" pitchFamily="34" charset="-120"/>
              </a:rPr>
              <a:t>expected</a:t>
            </a:r>
            <a:endParaRPr lang="en-US" sz="660" dirty="0"/>
          </a:p>
        </p:txBody>
      </p:sp>
      <p:sp>
        <p:nvSpPr>
          <p:cNvPr id="47" name="Text 45"/>
          <p:cNvSpPr txBox="1"/>
          <p:nvPr/>
        </p:nvSpPr>
        <p:spPr>
          <a:xfrm>
            <a:off x="6858000" y="4846320"/>
            <a:ext cx="4206240" cy="192786"/>
          </a:xfrm>
          <a:prstGeom prst="rect">
            <a:avLst/>
          </a:prstGeom>
          <a:noFill/>
          <a:ln/>
        </p:spPr>
        <p:txBody>
          <a:bodyPr wrap="square" lIns="0" tIns="0" rIns="0" bIns="0" rtlCol="0" anchor="t"/>
          <a:lstStyle/>
          <a:p>
            <a:pPr algn="r" indent="0" marL="0">
              <a:lnSpc>
                <a:spcPts val="858"/>
              </a:lnSpc>
              <a:buNone/>
            </a:pPr>
            <a:r>
              <a:rPr lang="en-US" sz="660" dirty="0">
                <a:solidFill>
                  <a:srgbClr val="5B544A"/>
                </a:solidFill>
                <a:latin typeface="Calibri" pitchFamily="34" charset="0"/>
                <a:ea typeface="Calibri" pitchFamily="34" charset="-122"/>
                <a:cs typeface="Calibri" pitchFamily="34" charset="-120"/>
              </a:rPr>
              <a:t>Sessions →</a:t>
            </a:r>
            <a:endParaRPr lang="en-US" sz="660" dirty="0"/>
          </a:p>
        </p:txBody>
      </p:sp>
      <p:sp>
        <p:nvSpPr>
          <p:cNvPr id="48" name="Text 46"/>
          <p:cNvSpPr txBox="1"/>
          <p:nvPr/>
        </p:nvSpPr>
        <p:spPr>
          <a:xfrm>
            <a:off x="6995160" y="2423160"/>
            <a:ext cx="2194560" cy="211455"/>
          </a:xfrm>
          <a:prstGeom prst="rect">
            <a:avLst/>
          </a:prstGeom>
          <a:noFill/>
          <a:ln/>
        </p:spPr>
        <p:txBody>
          <a:bodyPr wrap="square" lIns="0" tIns="0" rIns="0" bIns="0" rtlCol="0" anchor="t"/>
          <a:lstStyle/>
          <a:p>
            <a:pPr algn="l" indent="0" marL="0">
              <a:lnSpc>
                <a:spcPts val="925"/>
              </a:lnSpc>
              <a:buNone/>
            </a:pPr>
            <a:r>
              <a:rPr lang="en-US" sz="740" i="1" dirty="0">
                <a:solidFill>
                  <a:srgbClr val="96733C"/>
                </a:solidFill>
                <a:latin typeface="Calibri" pitchFamily="34" charset="0"/>
                <a:ea typeface="Calibri" pitchFamily="34" charset="-122"/>
                <a:cs typeface="Calibri" pitchFamily="34" charset="-120"/>
              </a:rPr>
              <a:t>Deterioration is visible early — and actionable.</a:t>
            </a:r>
            <a:endParaRPr lang="en-US" sz="740" dirty="0"/>
          </a:p>
        </p:txBody>
      </p:sp>
      <p:sp>
        <p:nvSpPr>
          <p:cNvPr id="49" name="Text 47"/>
          <p:cNvSpPr txBox="1"/>
          <p:nvPr/>
        </p:nvSpPr>
        <p:spPr>
          <a:xfrm>
            <a:off x="822960" y="5852160"/>
            <a:ext cx="9692640" cy="216154"/>
          </a:xfrm>
          <a:prstGeom prst="rect">
            <a:avLst/>
          </a:prstGeom>
          <a:noFill/>
          <a:ln/>
        </p:spPr>
        <p:txBody>
          <a:bodyPr wrap="square" lIns="0" tIns="0" rIns="0" bIns="0" rtlCol="0" anchor="t"/>
          <a:lstStyle/>
          <a:p>
            <a:pPr algn="l" indent="0" marL="0">
              <a:lnSpc>
                <a:spcPts val="962"/>
              </a:lnSpc>
              <a:buNone/>
            </a:pPr>
            <a:r>
              <a:rPr lang="en-US" sz="740" i="1" dirty="0">
                <a:solidFill>
                  <a:srgbClr val="8B8375"/>
                </a:solidFill>
                <a:latin typeface="Calibri" pitchFamily="34" charset="0"/>
                <a:ea typeface="Calibri" pitchFamily="34" charset="-122"/>
                <a:cs typeface="Calibri" pitchFamily="34" charset="-120"/>
              </a:rPr>
              <a:t>ORS — Outcome Rating Scale; SRS — Session Rating Scale.</a:t>
            </a:r>
            <a:endParaRPr lang="en-US" sz="74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48640"/>
            <a:ext cx="8229600" cy="226822"/>
          </a:xfrm>
          <a:prstGeom prst="rect">
            <a:avLst/>
          </a:prstGeom>
          <a:noFill/>
          <a:ln/>
        </p:spPr>
        <p:txBody>
          <a:bodyPr wrap="square" lIns="0" tIns="0" rIns="0" bIns="0" rtlCol="0" anchor="t"/>
          <a:lstStyle/>
          <a:p>
            <a:pPr algn="l" indent="0" marL="0">
              <a:lnSpc>
                <a:spcPts val="1026"/>
              </a:lnSpc>
              <a:buNone/>
            </a:pPr>
            <a:r>
              <a:rPr lang="en-US" sz="760" spc="240" kern="0" dirty="0">
                <a:solidFill>
                  <a:srgbClr val="C2A05F"/>
                </a:solidFill>
                <a:latin typeface="Calibri" pitchFamily="34" charset="0"/>
                <a:ea typeface="Calibri" pitchFamily="34" charset="-122"/>
                <a:cs typeface="Calibri" pitchFamily="34" charset="-120"/>
              </a:rPr>
              <a:t>WEEK 16 · SEMINAR</a:t>
            </a:r>
            <a:endParaRPr lang="en-US" sz="760" dirty="0"/>
          </a:p>
        </p:txBody>
      </p:sp>
      <p:sp>
        <p:nvSpPr>
          <p:cNvPr id="3" name="Text 1"/>
          <p:cNvSpPr txBox="1"/>
          <p:nvPr/>
        </p:nvSpPr>
        <p:spPr>
          <a:xfrm>
            <a:off x="822960" y="1417320"/>
            <a:ext cx="7863840" cy="915416"/>
          </a:xfrm>
          <a:prstGeom prst="rect">
            <a:avLst/>
          </a:prstGeom>
          <a:noFill/>
          <a:ln/>
        </p:spPr>
        <p:txBody>
          <a:bodyPr wrap="square" lIns="0" tIns="0" rIns="0" bIns="0" rtlCol="0" anchor="t"/>
          <a:lstStyle/>
          <a:p>
            <a:pPr algn="l" indent="0" marL="0">
              <a:lnSpc>
                <a:spcPts val="3808"/>
              </a:lnSpc>
              <a:buNone/>
            </a:pPr>
            <a:r>
              <a:rPr lang="en-US" sz="3400" dirty="0">
                <a:solidFill>
                  <a:srgbClr val="F8F3E9"/>
                </a:solidFill>
                <a:latin typeface="Georgia" pitchFamily="34" charset="0"/>
                <a:ea typeface="Georgia" pitchFamily="34" charset="-122"/>
                <a:cs typeface="Georgia" pitchFamily="34" charset="-120"/>
              </a:rPr>
              <a:t>The clinician you are becoming</a:t>
            </a:r>
            <a:endParaRPr lang="en-US" sz="3400" dirty="0"/>
          </a:p>
        </p:txBody>
      </p:sp>
      <p:sp>
        <p:nvSpPr>
          <p:cNvPr id="4" name="Shape 2"/>
          <p:cNvSpPr/>
          <p:nvPr/>
        </p:nvSpPr>
        <p:spPr>
          <a:xfrm>
            <a:off x="822960" y="2395728"/>
            <a:ext cx="1280160" cy="91"/>
          </a:xfrm>
          <a:prstGeom prst="line">
            <a:avLst/>
          </a:prstGeom>
          <a:noFill/>
          <a:ln w="11430">
            <a:solidFill>
              <a:srgbClr val="C2A05F"/>
            </a:solidFill>
            <a:prstDash val="solid"/>
            <a:headEnd type="none"/>
            <a:tailEnd type="none"/>
          </a:ln>
        </p:spPr>
      </p:sp>
      <p:sp>
        <p:nvSpPr>
          <p:cNvPr id="5" name="Text 3"/>
          <p:cNvSpPr txBox="1"/>
          <p:nvPr/>
        </p:nvSpPr>
        <p:spPr>
          <a:xfrm>
            <a:off x="822960" y="2651760"/>
            <a:ext cx="6949440" cy="404495"/>
          </a:xfrm>
          <a:prstGeom prst="rect">
            <a:avLst/>
          </a:prstGeom>
          <a:noFill/>
          <a:ln/>
        </p:spPr>
        <p:txBody>
          <a:bodyPr wrap="square" lIns="0" tIns="0" rIns="0" bIns="0" rtlCol="0" anchor="t"/>
          <a:lstStyle/>
          <a:p>
            <a:pPr algn="l" indent="0" marL="0">
              <a:lnSpc>
                <a:spcPts val="1885"/>
              </a:lnSpc>
              <a:buNone/>
            </a:pPr>
            <a:r>
              <a:rPr lang="en-US" sz="1300" i="1" dirty="0">
                <a:solidFill>
                  <a:srgbClr val="E7D3A9"/>
                </a:solidFill>
                <a:latin typeface="Georgia" pitchFamily="34" charset="0"/>
                <a:ea typeface="Georgia" pitchFamily="34" charset="-122"/>
                <a:cs typeface="Georgia" pitchFamily="34" charset="-120"/>
              </a:rPr>
              <a:t>A closing seminar. Speak from your own experience; listen without advising.</a:t>
            </a:r>
            <a:endParaRPr lang="en-US" sz="1300" dirty="0"/>
          </a:p>
        </p:txBody>
      </p:sp>
      <p:sp>
        <p:nvSpPr>
          <p:cNvPr id="6" name="Text 4"/>
          <p:cNvSpPr txBox="1"/>
          <p:nvPr/>
        </p:nvSpPr>
        <p:spPr>
          <a:xfrm>
            <a:off x="822960" y="374904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01</a:t>
            </a:r>
            <a:endParaRPr lang="en-US" sz="1500" dirty="0"/>
          </a:p>
        </p:txBody>
      </p:sp>
      <p:sp>
        <p:nvSpPr>
          <p:cNvPr id="7" name="Text 5"/>
          <p:cNvSpPr txBox="1"/>
          <p:nvPr/>
        </p:nvSpPr>
        <p:spPr>
          <a:xfrm>
            <a:off x="1280160" y="374904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Which model feels most like you — and what does that reveal?</a:t>
            </a:r>
            <a:endParaRPr lang="en-US" sz="980" dirty="0"/>
          </a:p>
        </p:txBody>
      </p:sp>
      <p:sp>
        <p:nvSpPr>
          <p:cNvPr id="8" name="Text 6"/>
          <p:cNvSpPr txBox="1"/>
          <p:nvPr/>
        </p:nvSpPr>
        <p:spPr>
          <a:xfrm>
            <a:off x="6400800" y="374904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02</a:t>
            </a:r>
            <a:endParaRPr lang="en-US" sz="1500" dirty="0"/>
          </a:p>
        </p:txBody>
      </p:sp>
      <p:sp>
        <p:nvSpPr>
          <p:cNvPr id="9" name="Text 7"/>
          <p:cNvSpPr txBox="1"/>
          <p:nvPr/>
        </p:nvSpPr>
        <p:spPr>
          <a:xfrm>
            <a:off x="6858000" y="374904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Where are you most likely to lose your curiosity?</a:t>
            </a:r>
            <a:endParaRPr lang="en-US" sz="980" dirty="0"/>
          </a:p>
        </p:txBody>
      </p:sp>
      <p:sp>
        <p:nvSpPr>
          <p:cNvPr id="10" name="Text 8"/>
          <p:cNvSpPr txBox="1"/>
          <p:nvPr/>
        </p:nvSpPr>
        <p:spPr>
          <a:xfrm>
            <a:off x="822960" y="480060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03</a:t>
            </a:r>
            <a:endParaRPr lang="en-US" sz="1500" dirty="0"/>
          </a:p>
        </p:txBody>
      </p:sp>
      <p:sp>
        <p:nvSpPr>
          <p:cNvPr id="11" name="Text 9"/>
          <p:cNvSpPr txBox="1"/>
          <p:nvPr/>
        </p:nvSpPr>
        <p:spPr>
          <a:xfrm>
            <a:off x="1280160" y="480060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What would you want a supervisor to notice about you?</a:t>
            </a:r>
            <a:endParaRPr lang="en-US" sz="980" dirty="0"/>
          </a:p>
        </p:txBody>
      </p:sp>
      <p:sp>
        <p:nvSpPr>
          <p:cNvPr id="12" name="Text 10"/>
          <p:cNvSpPr txBox="1"/>
          <p:nvPr/>
        </p:nvSpPr>
        <p:spPr>
          <a:xfrm>
            <a:off x="6400800" y="4800600"/>
            <a:ext cx="457200" cy="447675"/>
          </a:xfrm>
          <a:prstGeom prst="rect">
            <a:avLst/>
          </a:prstGeom>
          <a:noFill/>
          <a:ln/>
        </p:spPr>
        <p:txBody>
          <a:bodyPr wrap="square" lIns="0" tIns="0" rIns="0" bIns="0" rtlCol="0" anchor="t"/>
          <a:lstStyle/>
          <a:p>
            <a:pPr algn="l" indent="0" marL="0">
              <a:lnSpc>
                <a:spcPts val="2025"/>
              </a:lnSpc>
              <a:buNone/>
            </a:pPr>
            <a:r>
              <a:rPr lang="en-US" sz="1500" dirty="0">
                <a:solidFill>
                  <a:srgbClr val="C2A05F"/>
                </a:solidFill>
                <a:latin typeface="Georgia" pitchFamily="34" charset="0"/>
                <a:ea typeface="Georgia" pitchFamily="34" charset="-122"/>
                <a:cs typeface="Georgia" pitchFamily="34" charset="-120"/>
              </a:rPr>
              <a:t>04</a:t>
            </a:r>
            <a:endParaRPr lang="en-US" sz="1500" dirty="0"/>
          </a:p>
        </p:txBody>
      </p:sp>
      <p:sp>
        <p:nvSpPr>
          <p:cNvPr id="13" name="Text 11"/>
          <p:cNvSpPr txBox="1"/>
          <p:nvPr/>
        </p:nvSpPr>
        <p:spPr>
          <a:xfrm>
            <a:off x="6858000" y="4800600"/>
            <a:ext cx="4526280" cy="298704"/>
          </a:xfrm>
          <a:prstGeom prst="rect">
            <a:avLst/>
          </a:prstGeom>
          <a:noFill/>
          <a:ln/>
        </p:spPr>
        <p:txBody>
          <a:bodyPr wrap="square" lIns="0" tIns="0" rIns="0" bIns="0" rtlCol="0" anchor="t"/>
          <a:lstStyle/>
          <a:p>
            <a:pPr algn="l" indent="0" marL="0">
              <a:lnSpc>
                <a:spcPts val="1372"/>
              </a:lnSpc>
              <a:buNone/>
            </a:pPr>
            <a:r>
              <a:rPr lang="en-US" sz="980" dirty="0">
                <a:solidFill>
                  <a:srgbClr val="EFE5D3"/>
                </a:solidFill>
                <a:latin typeface="Calibri" pitchFamily="34" charset="0"/>
                <a:ea typeface="Calibri" pitchFamily="34" charset="-122"/>
                <a:cs typeface="Calibri" pitchFamily="34" charset="-120"/>
              </a:rPr>
              <a:t>What is one commitment you will carry into practicum?</a:t>
            </a:r>
            <a:endParaRPr lang="en-US" sz="980" dirty="0"/>
          </a:p>
        </p:txBody>
      </p:sp>
      <p:sp>
        <p:nvSpPr>
          <p:cNvPr id="14" name="Shape 12"/>
          <p:cNvSpPr/>
          <p:nvPr/>
        </p:nvSpPr>
        <p:spPr>
          <a:xfrm>
            <a:off x="822960" y="5340096"/>
            <a:ext cx="10546050" cy="91"/>
          </a:xfrm>
          <a:prstGeom prst="line">
            <a:avLst/>
          </a:prstGeom>
          <a:noFill/>
          <a:ln w="6350">
            <a:solidFill>
              <a:srgbClr val="3A332A"/>
            </a:solidFill>
            <a:prstDash val="solid"/>
            <a:headEnd type="none"/>
            <a:tailEnd type="none"/>
          </a:ln>
        </p:spPr>
      </p:sp>
      <p:sp>
        <p:nvSpPr>
          <p:cNvPr id="15" name="Text 13"/>
          <p:cNvSpPr txBox="1"/>
          <p:nvPr/>
        </p:nvSpPr>
        <p:spPr>
          <a:xfrm>
            <a:off x="82296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05</a:t>
            </a:r>
            <a:endParaRPr lang="en-US" sz="1100" dirty="0"/>
          </a:p>
        </p:txBody>
      </p:sp>
      <p:sp>
        <p:nvSpPr>
          <p:cNvPr id="16" name="Text 14"/>
          <p:cNvSpPr txBox="1"/>
          <p:nvPr/>
        </p:nvSpPr>
        <p:spPr>
          <a:xfrm>
            <a:off x="120700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SILENT WRITING</a:t>
            </a:r>
            <a:endParaRPr lang="en-US" sz="680" dirty="0"/>
          </a:p>
        </p:txBody>
      </p:sp>
      <p:sp>
        <p:nvSpPr>
          <p:cNvPr id="17" name="Text 15"/>
          <p:cNvSpPr txBox="1"/>
          <p:nvPr/>
        </p:nvSpPr>
        <p:spPr>
          <a:xfrm>
            <a:off x="352044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10</a:t>
            </a:r>
            <a:endParaRPr lang="en-US" sz="1100" dirty="0"/>
          </a:p>
        </p:txBody>
      </p:sp>
      <p:sp>
        <p:nvSpPr>
          <p:cNvPr id="18" name="Text 16"/>
          <p:cNvSpPr txBox="1"/>
          <p:nvPr/>
        </p:nvSpPr>
        <p:spPr>
          <a:xfrm>
            <a:off x="390448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PAIRS</a:t>
            </a:r>
            <a:endParaRPr lang="en-US" sz="680" dirty="0"/>
          </a:p>
        </p:txBody>
      </p:sp>
      <p:sp>
        <p:nvSpPr>
          <p:cNvPr id="19" name="Text 17"/>
          <p:cNvSpPr txBox="1"/>
          <p:nvPr/>
        </p:nvSpPr>
        <p:spPr>
          <a:xfrm>
            <a:off x="621792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20</a:t>
            </a:r>
            <a:endParaRPr lang="en-US" sz="1100" dirty="0"/>
          </a:p>
        </p:txBody>
      </p:sp>
      <p:sp>
        <p:nvSpPr>
          <p:cNvPr id="20" name="Text 18"/>
          <p:cNvSpPr txBox="1"/>
          <p:nvPr/>
        </p:nvSpPr>
        <p:spPr>
          <a:xfrm>
            <a:off x="660196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PLENARY</a:t>
            </a:r>
            <a:endParaRPr lang="en-US" sz="680" dirty="0"/>
          </a:p>
        </p:txBody>
      </p:sp>
      <p:sp>
        <p:nvSpPr>
          <p:cNvPr id="21" name="Text 19"/>
          <p:cNvSpPr txBox="1"/>
          <p:nvPr/>
        </p:nvSpPr>
        <p:spPr>
          <a:xfrm>
            <a:off x="8915400" y="5504688"/>
            <a:ext cx="548640" cy="328295"/>
          </a:xfrm>
          <a:prstGeom prst="rect">
            <a:avLst/>
          </a:prstGeom>
          <a:noFill/>
          <a:ln/>
        </p:spPr>
        <p:txBody>
          <a:bodyPr wrap="square" lIns="0" tIns="0" rIns="0" bIns="0" rtlCol="0" anchor="t"/>
          <a:lstStyle/>
          <a:p>
            <a:pPr algn="l" indent="0" marL="0">
              <a:lnSpc>
                <a:spcPts val="1485"/>
              </a:lnSpc>
              <a:buNone/>
            </a:pPr>
            <a:r>
              <a:rPr lang="en-US" sz="1100" dirty="0">
                <a:solidFill>
                  <a:srgbClr val="C2A05F"/>
                </a:solidFill>
                <a:latin typeface="Georgia" pitchFamily="34" charset="0"/>
                <a:ea typeface="Georgia" pitchFamily="34" charset="-122"/>
                <a:cs typeface="Georgia" pitchFamily="34" charset="-120"/>
              </a:rPr>
              <a:t>05</a:t>
            </a:r>
            <a:endParaRPr lang="en-US" sz="1100" dirty="0"/>
          </a:p>
        </p:txBody>
      </p:sp>
      <p:sp>
        <p:nvSpPr>
          <p:cNvPr id="22" name="Text 20"/>
          <p:cNvSpPr txBox="1"/>
          <p:nvPr/>
        </p:nvSpPr>
        <p:spPr>
          <a:xfrm>
            <a:off x="9299448" y="5522976"/>
            <a:ext cx="2011680" cy="202946"/>
          </a:xfrm>
          <a:prstGeom prst="rect">
            <a:avLst/>
          </a:prstGeom>
          <a:noFill/>
          <a:ln/>
        </p:spPr>
        <p:txBody>
          <a:bodyPr wrap="square" lIns="0" tIns="0" rIns="0" bIns="0" rtlCol="0" anchor="t"/>
          <a:lstStyle/>
          <a:p>
            <a:pPr algn="l" indent="0" marL="0">
              <a:lnSpc>
                <a:spcPts val="918"/>
              </a:lnSpc>
              <a:buNone/>
            </a:pPr>
            <a:r>
              <a:rPr lang="en-US" sz="680" spc="120" kern="0" dirty="0">
                <a:solidFill>
                  <a:srgbClr val="8B8375"/>
                </a:solidFill>
                <a:latin typeface="Calibri" pitchFamily="34" charset="0"/>
                <a:ea typeface="Calibri" pitchFamily="34" charset="-122"/>
                <a:cs typeface="Calibri" pitchFamily="34" charset="-120"/>
              </a:rPr>
              <a:t>CLOSE</a:t>
            </a:r>
            <a:endParaRPr lang="en-US" sz="680" dirty="0"/>
          </a:p>
        </p:txBody>
      </p:sp>
      <p:sp>
        <p:nvSpPr>
          <p:cNvPr id="23" name="Text 21"/>
          <p:cNvSpPr txBox="1"/>
          <p:nvPr/>
        </p:nvSpPr>
        <p:spPr>
          <a:xfrm>
            <a:off x="8442930" y="5522976"/>
            <a:ext cx="2926080" cy="191008"/>
          </a:xfrm>
          <a:prstGeom prst="rect">
            <a:avLst/>
          </a:prstGeom>
          <a:noFill/>
          <a:ln/>
        </p:spPr>
        <p:txBody>
          <a:bodyPr wrap="square" lIns="0" tIns="0" rIns="0" bIns="0" rtlCol="0" anchor="t"/>
          <a:lstStyle/>
          <a:p>
            <a:pPr algn="r" indent="0" marL="0">
              <a:lnSpc>
                <a:spcPts val="864"/>
              </a:lnSpc>
              <a:buNone/>
            </a:pPr>
            <a:r>
              <a:rPr lang="en-US" sz="640" spc="160" kern="0" dirty="0">
                <a:solidFill>
                  <a:srgbClr val="8B8375"/>
                </a:solidFill>
                <a:latin typeface="Calibri" pitchFamily="34" charset="0"/>
                <a:ea typeface="Calibri" pitchFamily="34" charset="-122"/>
                <a:cs typeface="Calibri" pitchFamily="34" charset="-120"/>
              </a:rPr>
              <a:t>MINUTES</a:t>
            </a:r>
            <a:endParaRPr lang="en-US" sz="640" dirty="0"/>
          </a:p>
        </p:txBody>
      </p:sp>
      <p:sp>
        <p:nvSpPr>
          <p:cNvPr id="24" name="Shape 22"/>
          <p:cNvSpPr/>
          <p:nvPr/>
        </p:nvSpPr>
        <p:spPr>
          <a:xfrm>
            <a:off x="822960" y="722376"/>
            <a:ext cx="10546050" cy="91"/>
          </a:xfrm>
          <a:prstGeom prst="line">
            <a:avLst/>
          </a:prstGeom>
          <a:noFill/>
          <a:ln w="6350">
            <a:solidFill>
              <a:srgbClr val="3A332A"/>
            </a:solidFill>
            <a:prstDash val="solid"/>
            <a:headEnd type="none"/>
            <a:tailEnd type="none"/>
          </a:ln>
        </p:spPr>
      </p:sp>
      <p:sp>
        <p:nvSpPr>
          <p:cNvPr id="25" name="Text 23"/>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26" name="Text 24"/>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74</a:t>
            </a:r>
            <a:endParaRPr lang="en-US" sz="9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GLOSSARY OF CORE TERMS</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75</a:t>
            </a:r>
            <a:endParaRPr lang="en-US" sz="950" dirty="0"/>
          </a:p>
        </p:txBody>
      </p:sp>
      <p:sp>
        <p:nvSpPr>
          <p:cNvPr id="8" name="Text 6"/>
          <p:cNvSpPr txBox="1"/>
          <p:nvPr/>
        </p:nvSpPr>
        <p:spPr>
          <a:xfrm>
            <a:off x="822960" y="914400"/>
            <a:ext cx="9692640" cy="835660"/>
          </a:xfrm>
          <a:prstGeom prst="rect">
            <a:avLst/>
          </a:prstGeom>
          <a:noFill/>
          <a:ln/>
        </p:spPr>
        <p:txBody>
          <a:bodyPr wrap="square" lIns="0" tIns="0" rIns="0" bIns="0" rtlCol="0" anchor="t"/>
          <a:lstStyle/>
          <a:p>
            <a:pPr algn="l" indent="0" marL="0">
              <a:lnSpc>
                <a:spcPts val="3780"/>
              </a:lnSpc>
              <a:buNone/>
            </a:pPr>
            <a:r>
              <a:rPr lang="en-US" sz="2800" dirty="0">
                <a:solidFill>
                  <a:srgbClr val="1B1815"/>
                </a:solidFill>
                <a:latin typeface="Georgia" pitchFamily="34" charset="0"/>
                <a:ea typeface="Georgia" pitchFamily="34" charset="-122"/>
                <a:cs typeface="Georgia" pitchFamily="34" charset="-120"/>
              </a:rPr>
              <a:t>A working vocabulary</a:t>
            </a:r>
            <a:endParaRPr lang="en-US" sz="2800" dirty="0"/>
          </a:p>
        </p:txBody>
      </p:sp>
      <p:sp>
        <p:nvSpPr>
          <p:cNvPr id="9" name="Text 7"/>
          <p:cNvSpPr txBox="1"/>
          <p:nvPr/>
        </p:nvSpPr>
        <p:spPr>
          <a:xfrm>
            <a:off x="822960" y="1371600"/>
            <a:ext cx="8778240" cy="316357"/>
          </a:xfrm>
          <a:prstGeom prst="rect">
            <a:avLst/>
          </a:prstGeom>
          <a:noFill/>
          <a:ln/>
        </p:spPr>
        <p:txBody>
          <a:bodyPr wrap="square" lIns="0" tIns="0" rIns="0" bIns="0" rtlCol="0" anchor="t"/>
          <a:lstStyle/>
          <a:p>
            <a:pPr algn="l" indent="0" marL="0">
              <a:lnSpc>
                <a:spcPts val="1431"/>
              </a:lnSpc>
              <a:buNone/>
            </a:pPr>
            <a:r>
              <a:rPr lang="en-US" sz="1060" dirty="0">
                <a:solidFill>
                  <a:srgbClr val="5B544A"/>
                </a:solidFill>
                <a:latin typeface="Calibri" pitchFamily="34" charset="0"/>
                <a:ea typeface="Calibri" pitchFamily="34" charset="-122"/>
                <a:cs typeface="Calibri" pitchFamily="34" charset="-120"/>
              </a:rPr>
              <a:t>Terms you should be able to use precisely, in writing and in supervision.</a:t>
            </a:r>
            <a:endParaRPr lang="en-US" sz="1060" dirty="0"/>
          </a:p>
        </p:txBody>
      </p:sp>
      <p:sp>
        <p:nvSpPr>
          <p:cNvPr id="10" name="Text 8"/>
          <p:cNvSpPr txBox="1"/>
          <p:nvPr/>
        </p:nvSpPr>
        <p:spPr>
          <a:xfrm>
            <a:off x="822960" y="1938528"/>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Circular causality</a:t>
            </a:r>
            <a:endParaRPr lang="en-US" sz="960" dirty="0"/>
          </a:p>
        </p:txBody>
      </p:sp>
      <p:sp>
        <p:nvSpPr>
          <p:cNvPr id="11" name="Text 9"/>
          <p:cNvSpPr txBox="1"/>
          <p:nvPr/>
        </p:nvSpPr>
        <p:spPr>
          <a:xfrm>
            <a:off x="822960" y="2130552"/>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A sequence in which each response becomes the stimulus for the next.</a:t>
            </a:r>
            <a:endParaRPr lang="en-US" sz="730" dirty="0"/>
          </a:p>
        </p:txBody>
      </p:sp>
      <p:sp>
        <p:nvSpPr>
          <p:cNvPr id="12" name="Shape 10"/>
          <p:cNvSpPr/>
          <p:nvPr/>
        </p:nvSpPr>
        <p:spPr>
          <a:xfrm>
            <a:off x="822960" y="2514600"/>
            <a:ext cx="3291840" cy="91"/>
          </a:xfrm>
          <a:prstGeom prst="line">
            <a:avLst/>
          </a:prstGeom>
          <a:noFill/>
          <a:ln w="4445">
            <a:solidFill>
              <a:srgbClr val="D9CDB7">
                <a:alpha val="70000"/>
              </a:srgbClr>
            </a:solidFill>
            <a:prstDash val="solid"/>
            <a:headEnd type="none"/>
            <a:tailEnd type="none"/>
          </a:ln>
        </p:spPr>
      </p:sp>
      <p:sp>
        <p:nvSpPr>
          <p:cNvPr id="13" name="Text 11"/>
          <p:cNvSpPr txBox="1"/>
          <p:nvPr/>
        </p:nvSpPr>
        <p:spPr>
          <a:xfrm>
            <a:off x="822960" y="2633472"/>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Punctuation</a:t>
            </a:r>
            <a:endParaRPr lang="en-US" sz="960" dirty="0"/>
          </a:p>
        </p:txBody>
      </p:sp>
      <p:sp>
        <p:nvSpPr>
          <p:cNvPr id="14" name="Text 12"/>
          <p:cNvSpPr txBox="1"/>
          <p:nvPr/>
        </p:nvSpPr>
        <p:spPr>
          <a:xfrm>
            <a:off x="822960" y="2825496"/>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The arbitrary point at which a member says a circular sequence begins.</a:t>
            </a:r>
            <a:endParaRPr lang="en-US" sz="730" dirty="0"/>
          </a:p>
        </p:txBody>
      </p:sp>
      <p:sp>
        <p:nvSpPr>
          <p:cNvPr id="15" name="Shape 13"/>
          <p:cNvSpPr/>
          <p:nvPr/>
        </p:nvSpPr>
        <p:spPr>
          <a:xfrm>
            <a:off x="822960" y="3209544"/>
            <a:ext cx="3291840" cy="91"/>
          </a:xfrm>
          <a:prstGeom prst="line">
            <a:avLst/>
          </a:prstGeom>
          <a:noFill/>
          <a:ln w="4445">
            <a:solidFill>
              <a:srgbClr val="D9CDB7">
                <a:alpha val="70000"/>
              </a:srgbClr>
            </a:solidFill>
            <a:prstDash val="solid"/>
            <a:headEnd type="none"/>
            <a:tailEnd type="none"/>
          </a:ln>
        </p:spPr>
      </p:sp>
      <p:sp>
        <p:nvSpPr>
          <p:cNvPr id="16" name="Text 14"/>
          <p:cNvSpPr txBox="1"/>
          <p:nvPr/>
        </p:nvSpPr>
        <p:spPr>
          <a:xfrm>
            <a:off x="822960" y="3328416"/>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Homeostasis</a:t>
            </a:r>
            <a:endParaRPr lang="en-US" sz="960" dirty="0"/>
          </a:p>
        </p:txBody>
      </p:sp>
      <p:sp>
        <p:nvSpPr>
          <p:cNvPr id="17" name="Text 15"/>
          <p:cNvSpPr txBox="1"/>
          <p:nvPr/>
        </p:nvSpPr>
        <p:spPr>
          <a:xfrm>
            <a:off x="822960" y="3520440"/>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The system’s tendency to maintain a familiar set point.</a:t>
            </a:r>
            <a:endParaRPr lang="en-US" sz="730" dirty="0"/>
          </a:p>
        </p:txBody>
      </p:sp>
      <p:sp>
        <p:nvSpPr>
          <p:cNvPr id="18" name="Shape 16"/>
          <p:cNvSpPr/>
          <p:nvPr/>
        </p:nvSpPr>
        <p:spPr>
          <a:xfrm>
            <a:off x="822960" y="3904488"/>
            <a:ext cx="3291840" cy="91"/>
          </a:xfrm>
          <a:prstGeom prst="line">
            <a:avLst/>
          </a:prstGeom>
          <a:noFill/>
          <a:ln w="4445">
            <a:solidFill>
              <a:srgbClr val="D9CDB7">
                <a:alpha val="70000"/>
              </a:srgbClr>
            </a:solidFill>
            <a:prstDash val="solid"/>
            <a:headEnd type="none"/>
            <a:tailEnd type="none"/>
          </a:ln>
        </p:spPr>
      </p:sp>
      <p:sp>
        <p:nvSpPr>
          <p:cNvPr id="19" name="Text 17"/>
          <p:cNvSpPr txBox="1"/>
          <p:nvPr/>
        </p:nvSpPr>
        <p:spPr>
          <a:xfrm>
            <a:off x="822960" y="4023360"/>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Feedback</a:t>
            </a:r>
            <a:endParaRPr lang="en-US" sz="960" dirty="0"/>
          </a:p>
        </p:txBody>
      </p:sp>
      <p:sp>
        <p:nvSpPr>
          <p:cNvPr id="20" name="Text 18"/>
          <p:cNvSpPr txBox="1"/>
          <p:nvPr/>
        </p:nvSpPr>
        <p:spPr>
          <a:xfrm>
            <a:off x="822960" y="4215384"/>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Information about the effect of an action that modifies subsequent action.</a:t>
            </a:r>
            <a:endParaRPr lang="en-US" sz="730" dirty="0"/>
          </a:p>
        </p:txBody>
      </p:sp>
      <p:sp>
        <p:nvSpPr>
          <p:cNvPr id="21" name="Shape 19"/>
          <p:cNvSpPr/>
          <p:nvPr/>
        </p:nvSpPr>
        <p:spPr>
          <a:xfrm>
            <a:off x="822960" y="4599432"/>
            <a:ext cx="3291840" cy="91"/>
          </a:xfrm>
          <a:prstGeom prst="line">
            <a:avLst/>
          </a:prstGeom>
          <a:noFill/>
          <a:ln w="4445">
            <a:solidFill>
              <a:srgbClr val="D9CDB7">
                <a:alpha val="70000"/>
              </a:srgbClr>
            </a:solidFill>
            <a:prstDash val="solid"/>
            <a:headEnd type="none"/>
            <a:tailEnd type="none"/>
          </a:ln>
        </p:spPr>
      </p:sp>
      <p:sp>
        <p:nvSpPr>
          <p:cNvPr id="22" name="Text 20"/>
          <p:cNvSpPr txBox="1"/>
          <p:nvPr/>
        </p:nvSpPr>
        <p:spPr>
          <a:xfrm>
            <a:off x="822960" y="4718304"/>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Boundary</a:t>
            </a:r>
            <a:endParaRPr lang="en-US" sz="960" dirty="0"/>
          </a:p>
        </p:txBody>
      </p:sp>
      <p:sp>
        <p:nvSpPr>
          <p:cNvPr id="23" name="Text 21"/>
          <p:cNvSpPr txBox="1"/>
          <p:nvPr/>
        </p:nvSpPr>
        <p:spPr>
          <a:xfrm>
            <a:off x="822960" y="4910328"/>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The invisible rule regulating closeness and distance between subsystems.</a:t>
            </a:r>
            <a:endParaRPr lang="en-US" sz="730" dirty="0"/>
          </a:p>
        </p:txBody>
      </p:sp>
      <p:sp>
        <p:nvSpPr>
          <p:cNvPr id="24" name="Shape 22"/>
          <p:cNvSpPr/>
          <p:nvPr/>
        </p:nvSpPr>
        <p:spPr>
          <a:xfrm>
            <a:off x="822960" y="5294376"/>
            <a:ext cx="3291840" cy="91"/>
          </a:xfrm>
          <a:prstGeom prst="line">
            <a:avLst/>
          </a:prstGeom>
          <a:noFill/>
          <a:ln w="4445">
            <a:solidFill>
              <a:srgbClr val="D9CDB7">
                <a:alpha val="70000"/>
              </a:srgbClr>
            </a:solidFill>
            <a:prstDash val="solid"/>
            <a:headEnd type="none"/>
            <a:tailEnd type="none"/>
          </a:ln>
        </p:spPr>
      </p:sp>
      <p:sp>
        <p:nvSpPr>
          <p:cNvPr id="25" name="Text 23"/>
          <p:cNvSpPr txBox="1"/>
          <p:nvPr/>
        </p:nvSpPr>
        <p:spPr>
          <a:xfrm>
            <a:off x="822960" y="5413248"/>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Triangulation</a:t>
            </a:r>
            <a:endParaRPr lang="en-US" sz="960" dirty="0"/>
          </a:p>
        </p:txBody>
      </p:sp>
      <p:sp>
        <p:nvSpPr>
          <p:cNvPr id="26" name="Text 24"/>
          <p:cNvSpPr txBox="1"/>
          <p:nvPr/>
        </p:nvSpPr>
        <p:spPr>
          <a:xfrm>
            <a:off x="822960" y="5605272"/>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Recruiting a third person to manage tension between two.</a:t>
            </a:r>
            <a:endParaRPr lang="en-US" sz="730" dirty="0"/>
          </a:p>
        </p:txBody>
      </p:sp>
      <p:sp>
        <p:nvSpPr>
          <p:cNvPr id="27" name="Text 25"/>
          <p:cNvSpPr txBox="1"/>
          <p:nvPr/>
        </p:nvSpPr>
        <p:spPr>
          <a:xfrm>
            <a:off x="4443984" y="1938528"/>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Differentiation of self</a:t>
            </a:r>
            <a:endParaRPr lang="en-US" sz="960" dirty="0"/>
          </a:p>
        </p:txBody>
      </p:sp>
      <p:sp>
        <p:nvSpPr>
          <p:cNvPr id="28" name="Text 26"/>
          <p:cNvSpPr txBox="1"/>
          <p:nvPr/>
        </p:nvSpPr>
        <p:spPr>
          <a:xfrm>
            <a:off x="4443984" y="2130552"/>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Staying connected while maintaining one’s own thinking.</a:t>
            </a:r>
            <a:endParaRPr lang="en-US" sz="730" dirty="0"/>
          </a:p>
        </p:txBody>
      </p:sp>
      <p:sp>
        <p:nvSpPr>
          <p:cNvPr id="29" name="Shape 27"/>
          <p:cNvSpPr/>
          <p:nvPr/>
        </p:nvSpPr>
        <p:spPr>
          <a:xfrm>
            <a:off x="4443984" y="2514600"/>
            <a:ext cx="3291840" cy="91"/>
          </a:xfrm>
          <a:prstGeom prst="line">
            <a:avLst/>
          </a:prstGeom>
          <a:noFill/>
          <a:ln w="4445">
            <a:solidFill>
              <a:srgbClr val="D9CDB7">
                <a:alpha val="70000"/>
              </a:srgbClr>
            </a:solidFill>
            <a:prstDash val="solid"/>
            <a:headEnd type="none"/>
            <a:tailEnd type="none"/>
          </a:ln>
        </p:spPr>
      </p:sp>
      <p:sp>
        <p:nvSpPr>
          <p:cNvPr id="30" name="Text 28"/>
          <p:cNvSpPr txBox="1"/>
          <p:nvPr/>
        </p:nvSpPr>
        <p:spPr>
          <a:xfrm>
            <a:off x="4443984" y="2633472"/>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Enactment</a:t>
            </a:r>
            <a:endParaRPr lang="en-US" sz="960" dirty="0"/>
          </a:p>
        </p:txBody>
      </p:sp>
      <p:sp>
        <p:nvSpPr>
          <p:cNvPr id="31" name="Text 29"/>
          <p:cNvSpPr txBox="1"/>
          <p:nvPr/>
        </p:nvSpPr>
        <p:spPr>
          <a:xfrm>
            <a:off x="4443984" y="2825496"/>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Inviting the family to re-enact a problematic interaction in session.</a:t>
            </a:r>
            <a:endParaRPr lang="en-US" sz="730" dirty="0"/>
          </a:p>
        </p:txBody>
      </p:sp>
      <p:sp>
        <p:nvSpPr>
          <p:cNvPr id="32" name="Shape 30"/>
          <p:cNvSpPr/>
          <p:nvPr/>
        </p:nvSpPr>
        <p:spPr>
          <a:xfrm>
            <a:off x="4443984" y="3209544"/>
            <a:ext cx="3291840" cy="91"/>
          </a:xfrm>
          <a:prstGeom prst="line">
            <a:avLst/>
          </a:prstGeom>
          <a:noFill/>
          <a:ln w="4445">
            <a:solidFill>
              <a:srgbClr val="D9CDB7">
                <a:alpha val="70000"/>
              </a:srgbClr>
            </a:solidFill>
            <a:prstDash val="solid"/>
            <a:headEnd type="none"/>
            <a:tailEnd type="none"/>
          </a:ln>
        </p:spPr>
      </p:sp>
      <p:sp>
        <p:nvSpPr>
          <p:cNvPr id="33" name="Text 31"/>
          <p:cNvSpPr txBox="1"/>
          <p:nvPr/>
        </p:nvSpPr>
        <p:spPr>
          <a:xfrm>
            <a:off x="4443984" y="3328416"/>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Genogram</a:t>
            </a:r>
            <a:endParaRPr lang="en-US" sz="960" dirty="0"/>
          </a:p>
        </p:txBody>
      </p:sp>
      <p:sp>
        <p:nvSpPr>
          <p:cNvPr id="34" name="Text 32"/>
          <p:cNvSpPr txBox="1"/>
          <p:nvPr/>
        </p:nvSpPr>
        <p:spPr>
          <a:xfrm>
            <a:off x="4443984" y="3520440"/>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A multigenerational diagram of structure, relationships and patterns.</a:t>
            </a:r>
            <a:endParaRPr lang="en-US" sz="730" dirty="0"/>
          </a:p>
        </p:txBody>
      </p:sp>
      <p:sp>
        <p:nvSpPr>
          <p:cNvPr id="35" name="Shape 33"/>
          <p:cNvSpPr/>
          <p:nvPr/>
        </p:nvSpPr>
        <p:spPr>
          <a:xfrm>
            <a:off x="4443984" y="3904488"/>
            <a:ext cx="3291840" cy="91"/>
          </a:xfrm>
          <a:prstGeom prst="line">
            <a:avLst/>
          </a:prstGeom>
          <a:noFill/>
          <a:ln w="4445">
            <a:solidFill>
              <a:srgbClr val="D9CDB7">
                <a:alpha val="70000"/>
              </a:srgbClr>
            </a:solidFill>
            <a:prstDash val="solid"/>
            <a:headEnd type="none"/>
            <a:tailEnd type="none"/>
          </a:ln>
        </p:spPr>
      </p:sp>
      <p:sp>
        <p:nvSpPr>
          <p:cNvPr id="36" name="Text 34"/>
          <p:cNvSpPr txBox="1"/>
          <p:nvPr/>
        </p:nvSpPr>
        <p:spPr>
          <a:xfrm>
            <a:off x="4443984" y="4023360"/>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Joining</a:t>
            </a:r>
            <a:endParaRPr lang="en-US" sz="960" dirty="0"/>
          </a:p>
        </p:txBody>
      </p:sp>
      <p:sp>
        <p:nvSpPr>
          <p:cNvPr id="37" name="Text 35"/>
          <p:cNvSpPr txBox="1"/>
          <p:nvPr/>
        </p:nvSpPr>
        <p:spPr>
          <a:xfrm>
            <a:off x="4443984" y="4215384"/>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The therapist’s active accommodation to the family’s style and language.</a:t>
            </a:r>
            <a:endParaRPr lang="en-US" sz="730" dirty="0"/>
          </a:p>
        </p:txBody>
      </p:sp>
      <p:sp>
        <p:nvSpPr>
          <p:cNvPr id="38" name="Shape 36"/>
          <p:cNvSpPr/>
          <p:nvPr/>
        </p:nvSpPr>
        <p:spPr>
          <a:xfrm>
            <a:off x="4443984" y="4599432"/>
            <a:ext cx="3291840" cy="91"/>
          </a:xfrm>
          <a:prstGeom prst="line">
            <a:avLst/>
          </a:prstGeom>
          <a:noFill/>
          <a:ln w="4445">
            <a:solidFill>
              <a:srgbClr val="D9CDB7">
                <a:alpha val="70000"/>
              </a:srgbClr>
            </a:solidFill>
            <a:prstDash val="solid"/>
            <a:headEnd type="none"/>
            <a:tailEnd type="none"/>
          </a:ln>
        </p:spPr>
      </p:sp>
      <p:sp>
        <p:nvSpPr>
          <p:cNvPr id="39" name="Text 37"/>
          <p:cNvSpPr txBox="1"/>
          <p:nvPr/>
        </p:nvSpPr>
        <p:spPr>
          <a:xfrm>
            <a:off x="4443984" y="4718304"/>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Alliance</a:t>
            </a:r>
            <a:endParaRPr lang="en-US" sz="960" dirty="0"/>
          </a:p>
        </p:txBody>
      </p:sp>
      <p:sp>
        <p:nvSpPr>
          <p:cNvPr id="40" name="Text 38"/>
          <p:cNvSpPr txBox="1"/>
          <p:nvPr/>
        </p:nvSpPr>
        <p:spPr>
          <a:xfrm>
            <a:off x="4443984" y="4910328"/>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The collaborative bond and agreement on goals and tasks.</a:t>
            </a:r>
            <a:endParaRPr lang="en-US" sz="730" dirty="0"/>
          </a:p>
        </p:txBody>
      </p:sp>
      <p:sp>
        <p:nvSpPr>
          <p:cNvPr id="41" name="Shape 39"/>
          <p:cNvSpPr/>
          <p:nvPr/>
        </p:nvSpPr>
        <p:spPr>
          <a:xfrm>
            <a:off x="4443984" y="5294376"/>
            <a:ext cx="3291840" cy="91"/>
          </a:xfrm>
          <a:prstGeom prst="line">
            <a:avLst/>
          </a:prstGeom>
          <a:noFill/>
          <a:ln w="4445">
            <a:solidFill>
              <a:srgbClr val="D9CDB7">
                <a:alpha val="70000"/>
              </a:srgbClr>
            </a:solidFill>
            <a:prstDash val="solid"/>
            <a:headEnd type="none"/>
            <a:tailEnd type="none"/>
          </a:ln>
        </p:spPr>
      </p:sp>
      <p:sp>
        <p:nvSpPr>
          <p:cNvPr id="42" name="Text 40"/>
          <p:cNvSpPr txBox="1"/>
          <p:nvPr/>
        </p:nvSpPr>
        <p:spPr>
          <a:xfrm>
            <a:off x="4443984" y="5413248"/>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Externalising</a:t>
            </a:r>
            <a:endParaRPr lang="en-US" sz="960" dirty="0"/>
          </a:p>
        </p:txBody>
      </p:sp>
      <p:sp>
        <p:nvSpPr>
          <p:cNvPr id="43" name="Text 41"/>
          <p:cNvSpPr txBox="1"/>
          <p:nvPr/>
        </p:nvSpPr>
        <p:spPr>
          <a:xfrm>
            <a:off x="4443984" y="5605272"/>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Treating the problem as separate from the person.</a:t>
            </a:r>
            <a:endParaRPr lang="en-US" sz="730" dirty="0"/>
          </a:p>
        </p:txBody>
      </p:sp>
      <p:sp>
        <p:nvSpPr>
          <p:cNvPr id="44" name="Text 42"/>
          <p:cNvSpPr txBox="1"/>
          <p:nvPr/>
        </p:nvSpPr>
        <p:spPr>
          <a:xfrm>
            <a:off x="8065008" y="1938528"/>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Circular questioning</a:t>
            </a:r>
            <a:endParaRPr lang="en-US" sz="960" dirty="0"/>
          </a:p>
        </p:txBody>
      </p:sp>
      <p:sp>
        <p:nvSpPr>
          <p:cNvPr id="45" name="Text 43"/>
          <p:cNvSpPr txBox="1"/>
          <p:nvPr/>
        </p:nvSpPr>
        <p:spPr>
          <a:xfrm>
            <a:off x="8065008" y="2130552"/>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Questions that elicit differences and connections within the system.</a:t>
            </a:r>
            <a:endParaRPr lang="en-US" sz="730" dirty="0"/>
          </a:p>
        </p:txBody>
      </p:sp>
      <p:sp>
        <p:nvSpPr>
          <p:cNvPr id="46" name="Shape 44"/>
          <p:cNvSpPr/>
          <p:nvPr/>
        </p:nvSpPr>
        <p:spPr>
          <a:xfrm>
            <a:off x="8065008" y="2514600"/>
            <a:ext cx="3291840" cy="91"/>
          </a:xfrm>
          <a:prstGeom prst="line">
            <a:avLst/>
          </a:prstGeom>
          <a:noFill/>
          <a:ln w="4445">
            <a:solidFill>
              <a:srgbClr val="D9CDB7">
                <a:alpha val="70000"/>
              </a:srgbClr>
            </a:solidFill>
            <a:prstDash val="solid"/>
            <a:headEnd type="none"/>
            <a:tailEnd type="none"/>
          </a:ln>
        </p:spPr>
      </p:sp>
      <p:sp>
        <p:nvSpPr>
          <p:cNvPr id="47" name="Text 45"/>
          <p:cNvSpPr txBox="1"/>
          <p:nvPr/>
        </p:nvSpPr>
        <p:spPr>
          <a:xfrm>
            <a:off x="8065008" y="2633472"/>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Neutrality</a:t>
            </a:r>
            <a:endParaRPr lang="en-US" sz="960" dirty="0"/>
          </a:p>
        </p:txBody>
      </p:sp>
      <p:sp>
        <p:nvSpPr>
          <p:cNvPr id="48" name="Text 46"/>
          <p:cNvSpPr txBox="1"/>
          <p:nvPr/>
        </p:nvSpPr>
        <p:spPr>
          <a:xfrm>
            <a:off x="8065008" y="2825496"/>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A commitment not to align with any one member’s account.</a:t>
            </a:r>
            <a:endParaRPr lang="en-US" sz="730" dirty="0"/>
          </a:p>
        </p:txBody>
      </p:sp>
      <p:sp>
        <p:nvSpPr>
          <p:cNvPr id="49" name="Shape 47"/>
          <p:cNvSpPr/>
          <p:nvPr/>
        </p:nvSpPr>
        <p:spPr>
          <a:xfrm>
            <a:off x="8065008" y="3209544"/>
            <a:ext cx="3291840" cy="91"/>
          </a:xfrm>
          <a:prstGeom prst="line">
            <a:avLst/>
          </a:prstGeom>
          <a:noFill/>
          <a:ln w="4445">
            <a:solidFill>
              <a:srgbClr val="D9CDB7">
                <a:alpha val="70000"/>
              </a:srgbClr>
            </a:solidFill>
            <a:prstDash val="solid"/>
            <a:headEnd type="none"/>
            <a:tailEnd type="none"/>
          </a:ln>
        </p:spPr>
      </p:sp>
      <p:sp>
        <p:nvSpPr>
          <p:cNvPr id="50" name="Text 48"/>
          <p:cNvSpPr txBox="1"/>
          <p:nvPr/>
        </p:nvSpPr>
        <p:spPr>
          <a:xfrm>
            <a:off x="8065008" y="3328416"/>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Cultural humility</a:t>
            </a:r>
            <a:endParaRPr lang="en-US" sz="960" dirty="0"/>
          </a:p>
        </p:txBody>
      </p:sp>
      <p:sp>
        <p:nvSpPr>
          <p:cNvPr id="51" name="Text 49"/>
          <p:cNvSpPr txBox="1"/>
          <p:nvPr/>
        </p:nvSpPr>
        <p:spPr>
          <a:xfrm>
            <a:off x="8065008" y="3520440"/>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A reflexive, lifelong stance toward one’s own cultural location.</a:t>
            </a:r>
            <a:endParaRPr lang="en-US" sz="730" dirty="0"/>
          </a:p>
        </p:txBody>
      </p:sp>
      <p:sp>
        <p:nvSpPr>
          <p:cNvPr id="52" name="Shape 50"/>
          <p:cNvSpPr/>
          <p:nvPr/>
        </p:nvSpPr>
        <p:spPr>
          <a:xfrm>
            <a:off x="8065008" y="3904488"/>
            <a:ext cx="3291840" cy="91"/>
          </a:xfrm>
          <a:prstGeom prst="line">
            <a:avLst/>
          </a:prstGeom>
          <a:noFill/>
          <a:ln w="4445">
            <a:solidFill>
              <a:srgbClr val="D9CDB7">
                <a:alpha val="70000"/>
              </a:srgbClr>
            </a:solidFill>
            <a:prstDash val="solid"/>
            <a:headEnd type="none"/>
            <a:tailEnd type="none"/>
          </a:ln>
        </p:spPr>
      </p:sp>
      <p:sp>
        <p:nvSpPr>
          <p:cNvPr id="53" name="Text 51"/>
          <p:cNvSpPr txBox="1"/>
          <p:nvPr/>
        </p:nvSpPr>
        <p:spPr>
          <a:xfrm>
            <a:off x="8065008" y="4023360"/>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Common factors</a:t>
            </a:r>
            <a:endParaRPr lang="en-US" sz="960" dirty="0"/>
          </a:p>
        </p:txBody>
      </p:sp>
      <p:sp>
        <p:nvSpPr>
          <p:cNvPr id="54" name="Text 52"/>
          <p:cNvSpPr txBox="1"/>
          <p:nvPr/>
        </p:nvSpPr>
        <p:spPr>
          <a:xfrm>
            <a:off x="8065008" y="4215384"/>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Change processes shared across therapeutic models.</a:t>
            </a:r>
            <a:endParaRPr lang="en-US" sz="730" dirty="0"/>
          </a:p>
        </p:txBody>
      </p:sp>
      <p:sp>
        <p:nvSpPr>
          <p:cNvPr id="55" name="Shape 53"/>
          <p:cNvSpPr/>
          <p:nvPr/>
        </p:nvSpPr>
        <p:spPr>
          <a:xfrm>
            <a:off x="8065008" y="4599432"/>
            <a:ext cx="3291840" cy="91"/>
          </a:xfrm>
          <a:prstGeom prst="line">
            <a:avLst/>
          </a:prstGeom>
          <a:noFill/>
          <a:ln w="4445">
            <a:solidFill>
              <a:srgbClr val="D9CDB7">
                <a:alpha val="70000"/>
              </a:srgbClr>
            </a:solidFill>
            <a:prstDash val="solid"/>
            <a:headEnd type="none"/>
            <a:tailEnd type="none"/>
          </a:ln>
        </p:spPr>
      </p:sp>
      <p:sp>
        <p:nvSpPr>
          <p:cNvPr id="56" name="Text 54"/>
          <p:cNvSpPr txBox="1"/>
          <p:nvPr/>
        </p:nvSpPr>
        <p:spPr>
          <a:xfrm>
            <a:off x="8065008" y="4718304"/>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Reflecting team</a:t>
            </a:r>
            <a:endParaRPr lang="en-US" sz="960" dirty="0"/>
          </a:p>
        </p:txBody>
      </p:sp>
      <p:sp>
        <p:nvSpPr>
          <p:cNvPr id="57" name="Text 55"/>
          <p:cNvSpPr txBox="1"/>
          <p:nvPr/>
        </p:nvSpPr>
        <p:spPr>
          <a:xfrm>
            <a:off x="8065008" y="4910328"/>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A team whose conversation is observed by the family.</a:t>
            </a:r>
            <a:endParaRPr lang="en-US" sz="730" dirty="0"/>
          </a:p>
        </p:txBody>
      </p:sp>
      <p:sp>
        <p:nvSpPr>
          <p:cNvPr id="58" name="Shape 56"/>
          <p:cNvSpPr/>
          <p:nvPr/>
        </p:nvSpPr>
        <p:spPr>
          <a:xfrm>
            <a:off x="8065008" y="5294376"/>
            <a:ext cx="3291840" cy="91"/>
          </a:xfrm>
          <a:prstGeom prst="line">
            <a:avLst/>
          </a:prstGeom>
          <a:noFill/>
          <a:ln w="4445">
            <a:solidFill>
              <a:srgbClr val="D9CDB7">
                <a:alpha val="70000"/>
              </a:srgbClr>
            </a:solidFill>
            <a:prstDash val="solid"/>
            <a:headEnd type="none"/>
            <a:tailEnd type="none"/>
          </a:ln>
        </p:spPr>
      </p:sp>
      <p:sp>
        <p:nvSpPr>
          <p:cNvPr id="59" name="Text 57"/>
          <p:cNvSpPr txBox="1"/>
          <p:nvPr/>
        </p:nvSpPr>
        <p:spPr>
          <a:xfrm>
            <a:off x="8065008" y="5413248"/>
            <a:ext cx="3291840" cy="286512"/>
          </a:xfrm>
          <a:prstGeom prst="rect">
            <a:avLst/>
          </a:prstGeom>
          <a:noFill/>
          <a:ln/>
        </p:spPr>
        <p:txBody>
          <a:bodyPr wrap="square" lIns="0" tIns="0" rIns="0" bIns="0" rtlCol="0" anchor="t"/>
          <a:lstStyle/>
          <a:p>
            <a:pPr algn="l" indent="0" marL="0">
              <a:lnSpc>
                <a:spcPts val="1296"/>
              </a:lnSpc>
              <a:buNone/>
            </a:pPr>
            <a:r>
              <a:rPr lang="en-US" sz="960" dirty="0">
                <a:solidFill>
                  <a:srgbClr val="1B1815"/>
                </a:solidFill>
                <a:latin typeface="Georgia" pitchFamily="34" charset="0"/>
                <a:ea typeface="Georgia" pitchFamily="34" charset="-122"/>
                <a:cs typeface="Georgia" pitchFamily="34" charset="-120"/>
              </a:rPr>
              <a:t>Self-of-the-therapist</a:t>
            </a:r>
            <a:endParaRPr lang="en-US" sz="960" dirty="0"/>
          </a:p>
        </p:txBody>
      </p:sp>
      <p:sp>
        <p:nvSpPr>
          <p:cNvPr id="60" name="Text 58"/>
          <p:cNvSpPr txBox="1"/>
          <p:nvPr/>
        </p:nvSpPr>
        <p:spPr>
          <a:xfrm>
            <a:off x="8065008" y="5605272"/>
            <a:ext cx="3291840" cy="213233"/>
          </a:xfrm>
          <a:prstGeom prst="rect">
            <a:avLst/>
          </a:prstGeom>
          <a:noFill/>
          <a:ln/>
        </p:spPr>
        <p:txBody>
          <a:bodyPr wrap="square" lIns="0" tIns="0" rIns="0" bIns="0" rtlCol="0" anchor="t"/>
          <a:lstStyle/>
          <a:p>
            <a:pPr algn="l" indent="0" marL="0">
              <a:lnSpc>
                <a:spcPts val="949"/>
              </a:lnSpc>
              <a:buNone/>
            </a:pPr>
            <a:r>
              <a:rPr lang="en-US" sz="730" dirty="0">
                <a:solidFill>
                  <a:srgbClr val="8B8375"/>
                </a:solidFill>
                <a:latin typeface="Calibri" pitchFamily="34" charset="0"/>
                <a:ea typeface="Calibri" pitchFamily="34" charset="-122"/>
                <a:cs typeface="Calibri" pitchFamily="34" charset="-120"/>
              </a:rPr>
              <a:t>The clinician’s own relational history and reactivity as clinical material.</a:t>
            </a:r>
            <a:endParaRPr lang="en-US" sz="73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420624"/>
            <a:ext cx="8412480" cy="205931"/>
          </a:xfrm>
          <a:prstGeom prst="rect">
            <a:avLst/>
          </a:prstGeom>
          <a:noFill/>
          <a:ln/>
        </p:spPr>
        <p:txBody>
          <a:bodyPr wrap="square" lIns="0" tIns="0" rIns="0" bIns="0" rtlCol="0" anchor="t"/>
          <a:lstStyle/>
          <a:p>
            <a:pPr algn="l" indent="0" marL="0">
              <a:lnSpc>
                <a:spcPts val="932"/>
              </a:lnSpc>
              <a:buNone/>
            </a:pPr>
            <a:r>
              <a:rPr lang="en-US" sz="690" spc="150" kern="0" dirty="0">
                <a:solidFill>
                  <a:srgbClr val="96733C"/>
                </a:solidFill>
                <a:latin typeface="Calibri" pitchFamily="34" charset="0"/>
                <a:ea typeface="Calibri" pitchFamily="34" charset="-122"/>
                <a:cs typeface="Calibri" pitchFamily="34" charset="-120"/>
              </a:rPr>
              <a:t>MFT 701 · FUNDAMENTALS OF MARRIAGE AND FAMILY THERAPY</a:t>
            </a:r>
            <a:endParaRPr lang="en-US" sz="690" dirty="0"/>
          </a:p>
        </p:txBody>
      </p:sp>
      <p:sp>
        <p:nvSpPr>
          <p:cNvPr id="3" name="Text 1"/>
          <p:cNvSpPr txBox="1"/>
          <p:nvPr/>
        </p:nvSpPr>
        <p:spPr>
          <a:xfrm>
            <a:off x="8077170" y="420624"/>
            <a:ext cx="3291840" cy="205931"/>
          </a:xfrm>
          <a:prstGeom prst="rect">
            <a:avLst/>
          </a:prstGeom>
          <a:noFill/>
          <a:ln/>
        </p:spPr>
        <p:txBody>
          <a:bodyPr wrap="square" lIns="0" tIns="0" rIns="0" bIns="0" rtlCol="0" anchor="t"/>
          <a:lstStyle/>
          <a:p>
            <a:pPr algn="r" indent="0" marL="0">
              <a:lnSpc>
                <a:spcPts val="932"/>
              </a:lnSpc>
              <a:buNone/>
            </a:pPr>
            <a:r>
              <a:rPr lang="en-US" sz="690" spc="150" kern="0" dirty="0">
                <a:solidFill>
                  <a:srgbClr val="8B8375"/>
                </a:solidFill>
                <a:latin typeface="Calibri" pitchFamily="34" charset="0"/>
                <a:ea typeface="Calibri" pitchFamily="34" charset="-122"/>
                <a:cs typeface="Calibri" pitchFamily="34" charset="-120"/>
              </a:rPr>
              <a:t>REFERENCES</a:t>
            </a:r>
            <a:endParaRPr lang="en-US" sz="690" dirty="0"/>
          </a:p>
        </p:txBody>
      </p:sp>
      <p:sp>
        <p:nvSpPr>
          <p:cNvPr id="4" name="Shape 2"/>
          <p:cNvSpPr/>
          <p:nvPr/>
        </p:nvSpPr>
        <p:spPr>
          <a:xfrm>
            <a:off x="822960" y="722376"/>
            <a:ext cx="10546050" cy="91"/>
          </a:xfrm>
          <a:prstGeom prst="line">
            <a:avLst/>
          </a:prstGeom>
          <a:noFill/>
          <a:ln w="5715">
            <a:solidFill>
              <a:srgbClr val="D9CDB7">
                <a:alpha val="90000"/>
              </a:srgbClr>
            </a:solidFill>
            <a:prstDash val="solid"/>
            <a:headEnd type="none"/>
            <a:tailEnd type="none"/>
          </a:ln>
        </p:spPr>
      </p:sp>
      <p:sp>
        <p:nvSpPr>
          <p:cNvPr id="5" name="Shape 3"/>
          <p:cNvSpPr/>
          <p:nvPr/>
        </p:nvSpPr>
        <p:spPr>
          <a:xfrm>
            <a:off x="822960" y="6181344"/>
            <a:ext cx="10546050" cy="91"/>
          </a:xfrm>
          <a:prstGeom prst="line">
            <a:avLst/>
          </a:prstGeom>
          <a:noFill/>
          <a:ln w="5715">
            <a:solidFill>
              <a:srgbClr val="D9CDB7">
                <a:alpha val="75000"/>
              </a:srgbClr>
            </a:solidFill>
            <a:prstDash val="solid"/>
            <a:headEnd type="none"/>
            <a:tailEnd type="none"/>
          </a:ln>
        </p:spPr>
      </p:sp>
      <p:sp>
        <p:nvSpPr>
          <p:cNvPr id="6" name="Text 4"/>
          <p:cNvSpPr txBox="1"/>
          <p:nvPr/>
        </p:nvSpPr>
        <p:spPr>
          <a:xfrm>
            <a:off x="822960" y="6281928"/>
            <a:ext cx="6400800" cy="193993"/>
          </a:xfrm>
          <a:prstGeom prst="rect">
            <a:avLst/>
          </a:prstGeom>
          <a:noFill/>
          <a:ln/>
        </p:spPr>
        <p:txBody>
          <a:bodyPr wrap="square" lIns="0" tIns="0" rIns="0" bIns="0" rtlCol="0" anchor="t"/>
          <a:lstStyle/>
          <a:p>
            <a:pPr algn="l" indent="0" marL="0">
              <a:lnSpc>
                <a:spcPts val="878"/>
              </a:lnSpc>
              <a:buNone/>
            </a:pPr>
            <a:r>
              <a:rPr lang="en-US" sz="650" spc="50" kern="0" dirty="0">
                <a:solidFill>
                  <a:srgbClr val="8B8375"/>
                </a:solidFill>
                <a:latin typeface="Calibri" pitchFamily="34" charset="0"/>
                <a:ea typeface="Calibri" pitchFamily="34" charset="-122"/>
                <a:cs typeface="Calibri" pitchFamily="34" charset="-120"/>
              </a:rPr>
              <a:t>Master of Marriage and Family Therapy · 16-Week Seminar</a:t>
            </a:r>
            <a:endParaRPr lang="en-US" sz="650" dirty="0"/>
          </a:p>
        </p:txBody>
      </p:sp>
      <p:sp>
        <p:nvSpPr>
          <p:cNvPr id="7" name="Text 5"/>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3F3A33"/>
                </a:solidFill>
                <a:latin typeface="Georgia" pitchFamily="34" charset="0"/>
                <a:ea typeface="Georgia" pitchFamily="34" charset="-122"/>
                <a:cs typeface="Georgia" pitchFamily="34" charset="-120"/>
              </a:rPr>
              <a:t>76</a:t>
            </a:r>
            <a:endParaRPr lang="en-US" sz="950" dirty="0"/>
          </a:p>
        </p:txBody>
      </p:sp>
      <p:sp>
        <p:nvSpPr>
          <p:cNvPr id="8" name="Text 6"/>
          <p:cNvSpPr txBox="1"/>
          <p:nvPr/>
        </p:nvSpPr>
        <p:spPr>
          <a:xfrm>
            <a:off x="822960" y="914400"/>
            <a:ext cx="9692640" cy="835660"/>
          </a:xfrm>
          <a:prstGeom prst="rect">
            <a:avLst/>
          </a:prstGeom>
          <a:noFill/>
          <a:ln/>
        </p:spPr>
        <p:txBody>
          <a:bodyPr wrap="square" lIns="0" tIns="0" rIns="0" bIns="0" rtlCol="0" anchor="t"/>
          <a:lstStyle/>
          <a:p>
            <a:pPr algn="l" indent="0" marL="0">
              <a:lnSpc>
                <a:spcPts val="3780"/>
              </a:lnSpc>
              <a:buNone/>
            </a:pPr>
            <a:r>
              <a:rPr lang="en-US" sz="2800" dirty="0">
                <a:solidFill>
                  <a:srgbClr val="1B1815"/>
                </a:solidFill>
                <a:latin typeface="Georgia" pitchFamily="34" charset="0"/>
                <a:ea typeface="Georgia" pitchFamily="34" charset="-122"/>
                <a:cs typeface="Georgia" pitchFamily="34" charset="-120"/>
              </a:rPr>
              <a:t>Core readings</a:t>
            </a:r>
            <a:endParaRPr lang="en-US" sz="2800" dirty="0"/>
          </a:p>
        </p:txBody>
      </p:sp>
      <p:sp>
        <p:nvSpPr>
          <p:cNvPr id="9" name="Text 7"/>
          <p:cNvSpPr txBox="1"/>
          <p:nvPr/>
        </p:nvSpPr>
        <p:spPr>
          <a:xfrm>
            <a:off x="822960" y="1371600"/>
            <a:ext cx="8961120" cy="304419"/>
          </a:xfrm>
          <a:prstGeom prst="rect">
            <a:avLst/>
          </a:prstGeom>
          <a:noFill/>
          <a:ln/>
        </p:spPr>
        <p:txBody>
          <a:bodyPr wrap="square" lIns="0" tIns="0" rIns="0" bIns="0" rtlCol="0" anchor="t"/>
          <a:lstStyle/>
          <a:p>
            <a:pPr algn="l" indent="0" marL="0">
              <a:lnSpc>
                <a:spcPts val="1377"/>
              </a:lnSpc>
              <a:buNone/>
            </a:pPr>
            <a:r>
              <a:rPr lang="en-US" sz="1020" dirty="0">
                <a:solidFill>
                  <a:srgbClr val="5B544A"/>
                </a:solidFill>
                <a:latin typeface="Calibri" pitchFamily="34" charset="0"/>
                <a:ea typeface="Calibri" pitchFamily="34" charset="-122"/>
                <a:cs typeface="Calibri" pitchFamily="34" charset="-120"/>
              </a:rPr>
              <a:t>Students are expected to engage the primary texts, not only the summaries in this deck.</a:t>
            </a:r>
            <a:endParaRPr lang="en-US" sz="1020" dirty="0"/>
          </a:p>
        </p:txBody>
      </p:sp>
      <p:sp>
        <p:nvSpPr>
          <p:cNvPr id="10" name="Text 8"/>
          <p:cNvSpPr txBox="1"/>
          <p:nvPr/>
        </p:nvSpPr>
        <p:spPr>
          <a:xfrm>
            <a:off x="822960" y="193852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01</a:t>
            </a:r>
            <a:endParaRPr lang="en-US" sz="660" dirty="0"/>
          </a:p>
        </p:txBody>
      </p:sp>
      <p:sp>
        <p:nvSpPr>
          <p:cNvPr id="11" name="Text 9"/>
          <p:cNvSpPr txBox="1"/>
          <p:nvPr/>
        </p:nvSpPr>
        <p:spPr>
          <a:xfrm>
            <a:off x="1152144" y="192024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AAMFT (2015). Code of Ethics. American Association for Marriage and Family Therapy.</a:t>
            </a:r>
            <a:endParaRPr lang="en-US" sz="735" dirty="0"/>
          </a:p>
        </p:txBody>
      </p:sp>
      <p:sp>
        <p:nvSpPr>
          <p:cNvPr id="12" name="Text 10"/>
          <p:cNvSpPr txBox="1"/>
          <p:nvPr/>
        </p:nvSpPr>
        <p:spPr>
          <a:xfrm>
            <a:off x="822960" y="248716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02</a:t>
            </a:r>
            <a:endParaRPr lang="en-US" sz="660" dirty="0"/>
          </a:p>
        </p:txBody>
      </p:sp>
      <p:sp>
        <p:nvSpPr>
          <p:cNvPr id="13" name="Text 11"/>
          <p:cNvSpPr txBox="1"/>
          <p:nvPr/>
        </p:nvSpPr>
        <p:spPr>
          <a:xfrm>
            <a:off x="1152144" y="246888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Bateson, G. (1972). Steps to an Ecology of Mind. Chandler.</a:t>
            </a:r>
            <a:endParaRPr lang="en-US" sz="735" dirty="0"/>
          </a:p>
        </p:txBody>
      </p:sp>
      <p:sp>
        <p:nvSpPr>
          <p:cNvPr id="14" name="Text 12"/>
          <p:cNvSpPr txBox="1"/>
          <p:nvPr/>
        </p:nvSpPr>
        <p:spPr>
          <a:xfrm>
            <a:off x="822960" y="303580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03</a:t>
            </a:r>
            <a:endParaRPr lang="en-US" sz="660" dirty="0"/>
          </a:p>
        </p:txBody>
      </p:sp>
      <p:sp>
        <p:nvSpPr>
          <p:cNvPr id="15" name="Text 13"/>
          <p:cNvSpPr txBox="1"/>
          <p:nvPr/>
        </p:nvSpPr>
        <p:spPr>
          <a:xfrm>
            <a:off x="1152144" y="301752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Becvar, R. J., &amp; Becvar, D. S. (2018). Systems Theory and Family Therapy: A Primer (3rd ed.). Hamilton.</a:t>
            </a:r>
            <a:endParaRPr lang="en-US" sz="735" dirty="0"/>
          </a:p>
        </p:txBody>
      </p:sp>
      <p:sp>
        <p:nvSpPr>
          <p:cNvPr id="16" name="Text 14"/>
          <p:cNvSpPr txBox="1"/>
          <p:nvPr/>
        </p:nvSpPr>
        <p:spPr>
          <a:xfrm>
            <a:off x="822960" y="358444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04</a:t>
            </a:r>
            <a:endParaRPr lang="en-US" sz="660" dirty="0"/>
          </a:p>
        </p:txBody>
      </p:sp>
      <p:sp>
        <p:nvSpPr>
          <p:cNvPr id="17" name="Text 15"/>
          <p:cNvSpPr txBox="1"/>
          <p:nvPr/>
        </p:nvSpPr>
        <p:spPr>
          <a:xfrm>
            <a:off x="1152144" y="356616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Bowen, M. (1978). Family Therapy in Clinical Practice. Jason Aronson.</a:t>
            </a:r>
            <a:endParaRPr lang="en-US" sz="735" dirty="0"/>
          </a:p>
        </p:txBody>
      </p:sp>
      <p:sp>
        <p:nvSpPr>
          <p:cNvPr id="18" name="Text 16"/>
          <p:cNvSpPr txBox="1"/>
          <p:nvPr/>
        </p:nvSpPr>
        <p:spPr>
          <a:xfrm>
            <a:off x="822960" y="413308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05</a:t>
            </a:r>
            <a:endParaRPr lang="en-US" sz="660" dirty="0"/>
          </a:p>
        </p:txBody>
      </p:sp>
      <p:sp>
        <p:nvSpPr>
          <p:cNvPr id="19" name="Text 17"/>
          <p:cNvSpPr txBox="1"/>
          <p:nvPr/>
        </p:nvSpPr>
        <p:spPr>
          <a:xfrm>
            <a:off x="1152144" y="411480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Carr, A. (2019). Family Therapy: Concepts, Process and Practice (3rd ed.). Wiley.</a:t>
            </a:r>
            <a:endParaRPr lang="en-US" sz="735" dirty="0"/>
          </a:p>
        </p:txBody>
      </p:sp>
      <p:sp>
        <p:nvSpPr>
          <p:cNvPr id="20" name="Text 18"/>
          <p:cNvSpPr txBox="1"/>
          <p:nvPr/>
        </p:nvSpPr>
        <p:spPr>
          <a:xfrm>
            <a:off x="822960" y="468172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06</a:t>
            </a:r>
            <a:endParaRPr lang="en-US" sz="660" dirty="0"/>
          </a:p>
        </p:txBody>
      </p:sp>
      <p:sp>
        <p:nvSpPr>
          <p:cNvPr id="21" name="Text 19"/>
          <p:cNvSpPr txBox="1"/>
          <p:nvPr/>
        </p:nvSpPr>
        <p:spPr>
          <a:xfrm>
            <a:off x="1152144" y="466344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de Shazer, S. (1985). Keys to Solution in Brief Therapy. Norton.</a:t>
            </a:r>
            <a:endParaRPr lang="en-US" sz="735" dirty="0"/>
          </a:p>
        </p:txBody>
      </p:sp>
      <p:sp>
        <p:nvSpPr>
          <p:cNvPr id="22" name="Text 20"/>
          <p:cNvSpPr txBox="1"/>
          <p:nvPr/>
        </p:nvSpPr>
        <p:spPr>
          <a:xfrm>
            <a:off x="822960" y="523036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07</a:t>
            </a:r>
            <a:endParaRPr lang="en-US" sz="660" dirty="0"/>
          </a:p>
        </p:txBody>
      </p:sp>
      <p:sp>
        <p:nvSpPr>
          <p:cNvPr id="23" name="Text 21"/>
          <p:cNvSpPr txBox="1"/>
          <p:nvPr/>
        </p:nvSpPr>
        <p:spPr>
          <a:xfrm>
            <a:off x="1152144" y="521208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Duncan, B. L., Miller, S. D., Wampold, B. E., &amp; Hubble, M. A. (Eds.). (2010). The Heart and Soul of Change (2nd ed.). APA.</a:t>
            </a:r>
            <a:endParaRPr lang="en-US" sz="735" dirty="0"/>
          </a:p>
        </p:txBody>
      </p:sp>
      <p:sp>
        <p:nvSpPr>
          <p:cNvPr id="24" name="Text 22"/>
          <p:cNvSpPr txBox="1"/>
          <p:nvPr/>
        </p:nvSpPr>
        <p:spPr>
          <a:xfrm>
            <a:off x="822960" y="577900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08</a:t>
            </a:r>
            <a:endParaRPr lang="en-US" sz="660" dirty="0"/>
          </a:p>
        </p:txBody>
      </p:sp>
      <p:sp>
        <p:nvSpPr>
          <p:cNvPr id="25" name="Text 23"/>
          <p:cNvSpPr txBox="1"/>
          <p:nvPr/>
        </p:nvSpPr>
        <p:spPr>
          <a:xfrm>
            <a:off x="1152144" y="576072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Haley, J. (1976). Problem-Solving Therapy. Jossey-Bass.</a:t>
            </a:r>
            <a:endParaRPr lang="en-US" sz="735" dirty="0"/>
          </a:p>
        </p:txBody>
      </p:sp>
      <p:sp>
        <p:nvSpPr>
          <p:cNvPr id="26" name="Text 24"/>
          <p:cNvSpPr txBox="1"/>
          <p:nvPr/>
        </p:nvSpPr>
        <p:spPr>
          <a:xfrm>
            <a:off x="6355080" y="193852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09</a:t>
            </a:r>
            <a:endParaRPr lang="en-US" sz="660" dirty="0"/>
          </a:p>
        </p:txBody>
      </p:sp>
      <p:sp>
        <p:nvSpPr>
          <p:cNvPr id="27" name="Text 25"/>
          <p:cNvSpPr txBox="1"/>
          <p:nvPr/>
        </p:nvSpPr>
        <p:spPr>
          <a:xfrm>
            <a:off x="6684264" y="192024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Johnson, S. M. (2019). Attachment Theory in Practice. Guilford.</a:t>
            </a:r>
            <a:endParaRPr lang="en-US" sz="735" dirty="0"/>
          </a:p>
        </p:txBody>
      </p:sp>
      <p:sp>
        <p:nvSpPr>
          <p:cNvPr id="28" name="Text 26"/>
          <p:cNvSpPr txBox="1"/>
          <p:nvPr/>
        </p:nvSpPr>
        <p:spPr>
          <a:xfrm>
            <a:off x="6355080" y="248716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10</a:t>
            </a:r>
            <a:endParaRPr lang="en-US" sz="660" dirty="0"/>
          </a:p>
        </p:txBody>
      </p:sp>
      <p:sp>
        <p:nvSpPr>
          <p:cNvPr id="29" name="Text 27"/>
          <p:cNvSpPr txBox="1"/>
          <p:nvPr/>
        </p:nvSpPr>
        <p:spPr>
          <a:xfrm>
            <a:off x="6684264" y="246888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McGoldrick, M., Gerson, R., &amp; Petry, S. (2008). Genograms: Assessment and Intervention (3rd ed.). Norton.</a:t>
            </a:r>
            <a:endParaRPr lang="en-US" sz="735" dirty="0"/>
          </a:p>
        </p:txBody>
      </p:sp>
      <p:sp>
        <p:nvSpPr>
          <p:cNvPr id="30" name="Text 28"/>
          <p:cNvSpPr txBox="1"/>
          <p:nvPr/>
        </p:nvSpPr>
        <p:spPr>
          <a:xfrm>
            <a:off x="6355080" y="303580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11</a:t>
            </a:r>
            <a:endParaRPr lang="en-US" sz="660" dirty="0"/>
          </a:p>
        </p:txBody>
      </p:sp>
      <p:sp>
        <p:nvSpPr>
          <p:cNvPr id="31" name="Text 29"/>
          <p:cNvSpPr txBox="1"/>
          <p:nvPr/>
        </p:nvSpPr>
        <p:spPr>
          <a:xfrm>
            <a:off x="6684264" y="301752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Minuchin, S. (1974). Families and Family Therapy. Harvard University Press.</a:t>
            </a:r>
            <a:endParaRPr lang="en-US" sz="735" dirty="0"/>
          </a:p>
        </p:txBody>
      </p:sp>
      <p:sp>
        <p:nvSpPr>
          <p:cNvPr id="32" name="Text 30"/>
          <p:cNvSpPr txBox="1"/>
          <p:nvPr/>
        </p:nvSpPr>
        <p:spPr>
          <a:xfrm>
            <a:off x="6355080" y="358444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12</a:t>
            </a:r>
            <a:endParaRPr lang="en-US" sz="660" dirty="0"/>
          </a:p>
        </p:txBody>
      </p:sp>
      <p:sp>
        <p:nvSpPr>
          <p:cNvPr id="33" name="Text 31"/>
          <p:cNvSpPr txBox="1"/>
          <p:nvPr/>
        </p:nvSpPr>
        <p:spPr>
          <a:xfrm>
            <a:off x="6684264" y="356616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Nichols, M. P., &amp; Davis, S. D. (2020). Family Therapy: Concepts and Methods (12th ed.). Pearson.</a:t>
            </a:r>
            <a:endParaRPr lang="en-US" sz="735" dirty="0"/>
          </a:p>
        </p:txBody>
      </p:sp>
      <p:sp>
        <p:nvSpPr>
          <p:cNvPr id="34" name="Text 32"/>
          <p:cNvSpPr txBox="1"/>
          <p:nvPr/>
        </p:nvSpPr>
        <p:spPr>
          <a:xfrm>
            <a:off x="6355080" y="413308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13</a:t>
            </a:r>
            <a:endParaRPr lang="en-US" sz="660" dirty="0"/>
          </a:p>
        </p:txBody>
      </p:sp>
      <p:sp>
        <p:nvSpPr>
          <p:cNvPr id="35" name="Text 33"/>
          <p:cNvSpPr txBox="1"/>
          <p:nvPr/>
        </p:nvSpPr>
        <p:spPr>
          <a:xfrm>
            <a:off x="6684264" y="411480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Satir, V. (1967). Conjoint Family Therapy. Science and Behavior Books.</a:t>
            </a:r>
            <a:endParaRPr lang="en-US" sz="735" dirty="0"/>
          </a:p>
        </p:txBody>
      </p:sp>
      <p:sp>
        <p:nvSpPr>
          <p:cNvPr id="36" name="Text 34"/>
          <p:cNvSpPr txBox="1"/>
          <p:nvPr/>
        </p:nvSpPr>
        <p:spPr>
          <a:xfrm>
            <a:off x="6355080" y="468172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14</a:t>
            </a:r>
            <a:endParaRPr lang="en-US" sz="660" dirty="0"/>
          </a:p>
        </p:txBody>
      </p:sp>
      <p:sp>
        <p:nvSpPr>
          <p:cNvPr id="37" name="Text 35"/>
          <p:cNvSpPr txBox="1"/>
          <p:nvPr/>
        </p:nvSpPr>
        <p:spPr>
          <a:xfrm>
            <a:off x="6684264" y="466344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Watzlawick, P., Beavin, J. H., &amp; Jackson, D. D. (1967). Pragmatics of Human Communication. Norton.</a:t>
            </a:r>
            <a:endParaRPr lang="en-US" sz="735" dirty="0"/>
          </a:p>
        </p:txBody>
      </p:sp>
      <p:sp>
        <p:nvSpPr>
          <p:cNvPr id="38" name="Text 36"/>
          <p:cNvSpPr txBox="1"/>
          <p:nvPr/>
        </p:nvSpPr>
        <p:spPr>
          <a:xfrm>
            <a:off x="6355080" y="523036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15</a:t>
            </a:r>
            <a:endParaRPr lang="en-US" sz="660" dirty="0"/>
          </a:p>
        </p:txBody>
      </p:sp>
      <p:sp>
        <p:nvSpPr>
          <p:cNvPr id="39" name="Text 37"/>
          <p:cNvSpPr txBox="1"/>
          <p:nvPr/>
        </p:nvSpPr>
        <p:spPr>
          <a:xfrm>
            <a:off x="6684264" y="521208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White, M., &amp; Epston, D. (1990). Narrative Means to Therapeutic Ends. Norton.</a:t>
            </a:r>
            <a:endParaRPr lang="en-US" sz="735" dirty="0"/>
          </a:p>
        </p:txBody>
      </p:sp>
      <p:sp>
        <p:nvSpPr>
          <p:cNvPr id="40" name="Text 38"/>
          <p:cNvSpPr txBox="1"/>
          <p:nvPr/>
        </p:nvSpPr>
        <p:spPr>
          <a:xfrm>
            <a:off x="6355080" y="5779008"/>
            <a:ext cx="274320" cy="196977"/>
          </a:xfrm>
          <a:prstGeom prst="rect">
            <a:avLst/>
          </a:prstGeom>
          <a:noFill/>
          <a:ln/>
        </p:spPr>
        <p:txBody>
          <a:bodyPr wrap="square" lIns="0" tIns="0" rIns="0" bIns="0" rtlCol="0" anchor="t"/>
          <a:lstStyle/>
          <a:p>
            <a:pPr algn="l" indent="0" marL="0">
              <a:lnSpc>
                <a:spcPts val="891"/>
              </a:lnSpc>
              <a:buNone/>
            </a:pPr>
            <a:r>
              <a:rPr lang="en-US" sz="660" b="1" dirty="0">
                <a:solidFill>
                  <a:srgbClr val="96733C"/>
                </a:solidFill>
                <a:latin typeface="Calibri" pitchFamily="34" charset="0"/>
                <a:ea typeface="Calibri" pitchFamily="34" charset="-122"/>
                <a:cs typeface="Calibri" pitchFamily="34" charset="-120"/>
              </a:rPr>
              <a:t>16</a:t>
            </a:r>
            <a:endParaRPr lang="en-US" sz="660" dirty="0"/>
          </a:p>
        </p:txBody>
      </p:sp>
      <p:sp>
        <p:nvSpPr>
          <p:cNvPr id="41" name="Text 39"/>
          <p:cNvSpPr txBox="1"/>
          <p:nvPr/>
        </p:nvSpPr>
        <p:spPr>
          <a:xfrm>
            <a:off x="6684264" y="5760720"/>
            <a:ext cx="4800600" cy="214693"/>
          </a:xfrm>
          <a:prstGeom prst="rect">
            <a:avLst/>
          </a:prstGeom>
          <a:noFill/>
          <a:ln/>
        </p:spPr>
        <p:txBody>
          <a:bodyPr wrap="square" lIns="0" tIns="0" rIns="0" bIns="0" rtlCol="0" anchor="t"/>
          <a:lstStyle/>
          <a:p>
            <a:pPr algn="l" indent="0" marL="0">
              <a:lnSpc>
                <a:spcPts val="955"/>
              </a:lnSpc>
              <a:buNone/>
            </a:pPr>
            <a:r>
              <a:rPr lang="en-US" sz="735" dirty="0">
                <a:solidFill>
                  <a:srgbClr val="3F3A33"/>
                </a:solidFill>
                <a:latin typeface="Calibri" pitchFamily="34" charset="0"/>
                <a:ea typeface="Calibri" pitchFamily="34" charset="-122"/>
                <a:cs typeface="Calibri" pitchFamily="34" charset="-120"/>
              </a:rPr>
              <a:t>Wampold, B. E., &amp; Imel, Z. E. (2015). The Great Psychotherapy Debate (2nd ed.). Routledge.</a:t>
            </a:r>
            <a:endParaRPr lang="en-US" sz="735"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365760"/>
            <a:ext cx="11460450" cy="6126480"/>
          </a:xfrm>
          <a:prstGeom prst="rect">
            <a:avLst/>
          </a:prstGeom>
          <a:solidFill>
            <a:srgbClr val="FFFFFF">
              <a:alpha val="0"/>
            </a:srgbClr>
          </a:solidFill>
          <a:ln w="6350">
            <a:solidFill>
              <a:srgbClr val="C2A05F"/>
            </a:solidFill>
            <a:prstDash val="solid"/>
          </a:ln>
        </p:spPr>
      </p:sp>
      <p:sp>
        <p:nvSpPr>
          <p:cNvPr id="3" name="Text 1"/>
          <p:cNvSpPr txBox="1"/>
          <p:nvPr/>
        </p:nvSpPr>
        <p:spPr>
          <a:xfrm>
            <a:off x="1234440" y="1417320"/>
            <a:ext cx="9692640" cy="232791"/>
          </a:xfrm>
          <a:prstGeom prst="rect">
            <a:avLst/>
          </a:prstGeom>
          <a:noFill/>
          <a:ln/>
        </p:spPr>
        <p:txBody>
          <a:bodyPr wrap="square" lIns="0" tIns="0" rIns="0" bIns="0" rtlCol="0" anchor="t"/>
          <a:lstStyle/>
          <a:p>
            <a:pPr algn="ctr" indent="0" marL="0">
              <a:lnSpc>
                <a:spcPts val="1053"/>
              </a:lnSpc>
              <a:buNone/>
            </a:pPr>
            <a:r>
              <a:rPr lang="en-US" sz="780" spc="340" kern="0" dirty="0">
                <a:solidFill>
                  <a:srgbClr val="C2A05F"/>
                </a:solidFill>
                <a:latin typeface="Calibri" pitchFamily="34" charset="0"/>
                <a:ea typeface="Calibri" pitchFamily="34" charset="-122"/>
                <a:cs typeface="Calibri" pitchFamily="34" charset="-120"/>
              </a:rPr>
              <a:t>END OF COURSE</a:t>
            </a:r>
            <a:endParaRPr lang="en-US" sz="780" dirty="0"/>
          </a:p>
        </p:txBody>
      </p:sp>
      <p:sp>
        <p:nvSpPr>
          <p:cNvPr id="4" name="Text 2"/>
          <p:cNvSpPr txBox="1"/>
          <p:nvPr/>
        </p:nvSpPr>
        <p:spPr>
          <a:xfrm>
            <a:off x="1234440" y="1965960"/>
            <a:ext cx="9692640" cy="1037590"/>
          </a:xfrm>
          <a:prstGeom prst="rect">
            <a:avLst/>
          </a:prstGeom>
          <a:noFill/>
          <a:ln/>
        </p:spPr>
        <p:txBody>
          <a:bodyPr wrap="square" lIns="0" tIns="0" rIns="0" bIns="0" rtlCol="0" anchor="t"/>
          <a:lstStyle/>
          <a:p>
            <a:pPr algn="ctr" indent="0" marL="0">
              <a:lnSpc>
                <a:spcPts val="4370"/>
              </a:lnSpc>
              <a:buNone/>
            </a:pPr>
            <a:r>
              <a:rPr lang="en-US" sz="3800" dirty="0">
                <a:solidFill>
                  <a:srgbClr val="F8F3E9"/>
                </a:solidFill>
                <a:latin typeface="Georgia" pitchFamily="34" charset="0"/>
                <a:ea typeface="Georgia" pitchFamily="34" charset="-122"/>
                <a:cs typeface="Georgia" pitchFamily="34" charset="-120"/>
              </a:rPr>
              <a:t>The family is not the context of the problem.</a:t>
            </a:r>
            <a:endParaRPr lang="en-US" sz="3800" dirty="0"/>
          </a:p>
        </p:txBody>
      </p:sp>
      <p:sp>
        <p:nvSpPr>
          <p:cNvPr id="5" name="Shape 3"/>
          <p:cNvSpPr/>
          <p:nvPr/>
        </p:nvSpPr>
        <p:spPr>
          <a:xfrm>
            <a:off x="5074920" y="3794760"/>
            <a:ext cx="2011680" cy="91"/>
          </a:xfrm>
          <a:prstGeom prst="line">
            <a:avLst/>
          </a:prstGeom>
          <a:noFill/>
          <a:ln w="10160">
            <a:solidFill>
              <a:srgbClr val="C2A05F"/>
            </a:solidFill>
            <a:prstDash val="solid"/>
            <a:headEnd type="none"/>
            <a:tailEnd type="none"/>
          </a:ln>
        </p:spPr>
      </p:sp>
      <p:sp>
        <p:nvSpPr>
          <p:cNvPr id="6" name="Text 4"/>
          <p:cNvSpPr txBox="1"/>
          <p:nvPr/>
        </p:nvSpPr>
        <p:spPr>
          <a:xfrm>
            <a:off x="2194560" y="4023360"/>
            <a:ext cx="7772400" cy="437198"/>
          </a:xfrm>
          <a:prstGeom prst="rect">
            <a:avLst/>
          </a:prstGeom>
          <a:noFill/>
          <a:ln/>
        </p:spPr>
        <p:txBody>
          <a:bodyPr wrap="square" lIns="0" tIns="0" rIns="0" bIns="0" rtlCol="0" anchor="t"/>
          <a:lstStyle/>
          <a:p>
            <a:pPr algn="ctr" indent="0" marL="0">
              <a:lnSpc>
                <a:spcPts val="2093"/>
              </a:lnSpc>
              <a:buNone/>
            </a:pPr>
            <a:r>
              <a:rPr lang="en-US" sz="1350" i="1" dirty="0">
                <a:solidFill>
                  <a:srgbClr val="E7D3A9"/>
                </a:solidFill>
                <a:latin typeface="Georgia" pitchFamily="34" charset="0"/>
                <a:ea typeface="Georgia" pitchFamily="34" charset="-122"/>
                <a:cs typeface="Georgia" pitchFamily="34" charset="-120"/>
              </a:rPr>
              <a:t>It is the context of the solution — and the place where a therapist learns to be useful.</a:t>
            </a:r>
            <a:endParaRPr lang="en-US" sz="1350" dirty="0"/>
          </a:p>
        </p:txBody>
      </p:sp>
      <p:sp>
        <p:nvSpPr>
          <p:cNvPr id="7" name="Text 5"/>
          <p:cNvSpPr txBox="1"/>
          <p:nvPr/>
        </p:nvSpPr>
        <p:spPr>
          <a:xfrm>
            <a:off x="1234440" y="5349240"/>
            <a:ext cx="9692640" cy="250698"/>
          </a:xfrm>
          <a:prstGeom prst="rect">
            <a:avLst/>
          </a:prstGeom>
          <a:noFill/>
          <a:ln/>
        </p:spPr>
        <p:txBody>
          <a:bodyPr wrap="square" lIns="0" tIns="0" rIns="0" bIns="0" rtlCol="0" anchor="t"/>
          <a:lstStyle/>
          <a:p>
            <a:pPr algn="ctr" indent="0" marL="0">
              <a:lnSpc>
                <a:spcPts val="1134"/>
              </a:lnSpc>
              <a:buNone/>
            </a:pPr>
            <a:r>
              <a:rPr lang="en-US" sz="840" spc="160" kern="0" dirty="0">
                <a:solidFill>
                  <a:srgbClr val="EFE5D3"/>
                </a:solidFill>
                <a:latin typeface="Calibri" pitchFamily="34" charset="0"/>
                <a:ea typeface="Calibri" pitchFamily="34" charset="-122"/>
                <a:cs typeface="Calibri" pitchFamily="34" charset="-120"/>
              </a:rPr>
              <a:t>NEXT IN THE PROGRAMME · MFT 702 — THEORIES OF FAMILY THERAPY</a:t>
            </a:r>
            <a:endParaRPr lang="en-US" sz="840" dirty="0"/>
          </a:p>
        </p:txBody>
      </p:sp>
      <p:sp>
        <p:nvSpPr>
          <p:cNvPr id="8" name="Text 6"/>
          <p:cNvSpPr txBox="1"/>
          <p:nvPr/>
        </p:nvSpPr>
        <p:spPr>
          <a:xfrm>
            <a:off x="1234440" y="6035040"/>
            <a:ext cx="9692640" cy="220853"/>
          </a:xfrm>
          <a:prstGeom prst="rect">
            <a:avLst/>
          </a:prstGeom>
          <a:noFill/>
          <a:ln/>
        </p:spPr>
        <p:txBody>
          <a:bodyPr wrap="square" lIns="0" tIns="0" rIns="0" bIns="0" rtlCol="0" anchor="t"/>
          <a:lstStyle/>
          <a:p>
            <a:pPr algn="ctr" indent="0" marL="0">
              <a:lnSpc>
                <a:spcPts val="999"/>
              </a:lnSpc>
              <a:buNone/>
            </a:pPr>
            <a:r>
              <a:rPr lang="en-US" sz="740" spc="180" kern="0" dirty="0">
                <a:solidFill>
                  <a:srgbClr val="8B8375"/>
                </a:solidFill>
                <a:latin typeface="Calibri" pitchFamily="34" charset="0"/>
                <a:ea typeface="Calibri" pitchFamily="34" charset="-122"/>
                <a:cs typeface="Calibri" pitchFamily="34" charset="-120"/>
              </a:rPr>
              <a:t>MFT 701 · MASTER OF MARRIAGE AND FAMILY THERAPY</a:t>
            </a:r>
            <a:endParaRPr lang="en-US" sz="740" dirty="0"/>
          </a:p>
        </p:txBody>
      </p:sp>
      <p:sp>
        <p:nvSpPr>
          <p:cNvPr id="9" name="Text 7"/>
          <p:cNvSpPr txBox="1"/>
          <p:nvPr/>
        </p:nvSpPr>
        <p:spPr>
          <a:xfrm>
            <a:off x="10546050" y="6254496"/>
            <a:ext cx="822960" cy="283528"/>
          </a:xfrm>
          <a:prstGeom prst="rect">
            <a:avLst/>
          </a:prstGeom>
          <a:noFill/>
          <a:ln/>
        </p:spPr>
        <p:txBody>
          <a:bodyPr wrap="square" lIns="0" tIns="0" rIns="0" bIns="0" rtlCol="0" anchor="t"/>
          <a:lstStyle/>
          <a:p>
            <a:pPr algn="r" indent="0" marL="0">
              <a:lnSpc>
                <a:spcPts val="1283"/>
              </a:lnSpc>
              <a:buNone/>
            </a:pPr>
            <a:r>
              <a:rPr lang="en-US" sz="950" dirty="0">
                <a:solidFill>
                  <a:srgbClr val="E7D3A9"/>
                </a:solidFill>
                <a:latin typeface="Georgia" pitchFamily="34" charset="0"/>
                <a:ea typeface="Georgia" pitchFamily="34" charset="-122"/>
                <a:cs typeface="Georgia" pitchFamily="34" charset="-120"/>
              </a:rPr>
              <a:t>77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77</Slides>
  <Notes>77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77</vt:i4>
      </vt:variant>
    </vt:vector>
  </HeadingPairs>
  <TitlesOfParts>
    <vt:vector size="8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vector>
  </TitlesOfParts>
  <Company>MFT Programme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MFT 701 — Fundamentals of Marriage and Family Therapy</dc:title>
  <dc:subject>Sixteen-week graduate seminar deck</dc:subject>
  <dc:creator>Master of Marriage and Family Therapy</dc:creator>
  <cp:lastModifiedBy>Master of Marriage and Family Therapy</cp:lastModifiedBy>
  <cp:revision>1</cp:revision>
  <dcterms:created xsi:type="dcterms:W3CDTF">2026-10-19T13:32:25Z</dcterms:created>
  <dcterms:modified xsi:type="dcterms:W3CDTF">2026-10-19T13:32:25Z</dcterms:modified>
</cp:coreProperties>
</file>